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279"/>
  </p:notesMasterIdLst>
  <p:sldIdLst>
    <p:sldId id="256" r:id="rId2"/>
    <p:sldId id="378" r:id="rId3"/>
    <p:sldId id="389" r:id="rId4"/>
    <p:sldId id="597" r:id="rId5"/>
    <p:sldId id="594" r:id="rId6"/>
    <p:sldId id="596" r:id="rId7"/>
    <p:sldId id="443" r:id="rId8"/>
    <p:sldId id="598" r:id="rId9"/>
    <p:sldId id="595" r:id="rId10"/>
    <p:sldId id="663" r:id="rId11"/>
    <p:sldId id="662" r:id="rId12"/>
    <p:sldId id="664" r:id="rId13"/>
    <p:sldId id="599" r:id="rId14"/>
    <p:sldId id="601" r:id="rId15"/>
    <p:sldId id="602" r:id="rId16"/>
    <p:sldId id="603" r:id="rId17"/>
    <p:sldId id="460" r:id="rId18"/>
    <p:sldId id="442" r:id="rId19"/>
    <p:sldId id="561" r:id="rId20"/>
    <p:sldId id="441" r:id="rId21"/>
    <p:sldId id="416" r:id="rId22"/>
    <p:sldId id="444" r:id="rId23"/>
    <p:sldId id="418" r:id="rId24"/>
    <p:sldId id="417" r:id="rId25"/>
    <p:sldId id="566" r:id="rId26"/>
    <p:sldId id="419" r:id="rId27"/>
    <p:sldId id="420" r:id="rId28"/>
    <p:sldId id="404" r:id="rId29"/>
    <p:sldId id="373" r:id="rId30"/>
    <p:sldId id="438" r:id="rId31"/>
    <p:sldId id="555" r:id="rId32"/>
    <p:sldId id="556" r:id="rId33"/>
    <p:sldId id="421" r:id="rId34"/>
    <p:sldId id="562" r:id="rId35"/>
    <p:sldId id="406" r:id="rId36"/>
    <p:sldId id="423" r:id="rId37"/>
    <p:sldId id="424" r:id="rId38"/>
    <p:sldId id="374" r:id="rId39"/>
    <p:sldId id="405" r:id="rId40"/>
    <p:sldId id="445" r:id="rId41"/>
    <p:sldId id="461" r:id="rId42"/>
    <p:sldId id="565" r:id="rId43"/>
    <p:sldId id="426" r:id="rId44"/>
    <p:sldId id="427" r:id="rId45"/>
    <p:sldId id="428" r:id="rId46"/>
    <p:sldId id="429" r:id="rId47"/>
    <p:sldId id="430" r:id="rId48"/>
    <p:sldId id="431" r:id="rId49"/>
    <p:sldId id="432" r:id="rId50"/>
    <p:sldId id="433" r:id="rId51"/>
    <p:sldId id="435" r:id="rId52"/>
    <p:sldId id="434" r:id="rId53"/>
    <p:sldId id="436" r:id="rId54"/>
    <p:sldId id="563" r:id="rId55"/>
    <p:sldId id="604" r:id="rId56"/>
    <p:sldId id="459" r:id="rId57"/>
    <p:sldId id="446" r:id="rId58"/>
    <p:sldId id="447" r:id="rId59"/>
    <p:sldId id="458" r:id="rId60"/>
    <p:sldId id="448" r:id="rId61"/>
    <p:sldId id="605" r:id="rId62"/>
    <p:sldId id="449" r:id="rId63"/>
    <p:sldId id="450" r:id="rId64"/>
    <p:sldId id="465" r:id="rId65"/>
    <p:sldId id="467" r:id="rId66"/>
    <p:sldId id="468" r:id="rId67"/>
    <p:sldId id="454" r:id="rId68"/>
    <p:sldId id="455" r:id="rId69"/>
    <p:sldId id="567" r:id="rId70"/>
    <p:sldId id="568" r:id="rId71"/>
    <p:sldId id="585" r:id="rId72"/>
    <p:sldId id="569" r:id="rId73"/>
    <p:sldId id="570" r:id="rId74"/>
    <p:sldId id="571" r:id="rId75"/>
    <p:sldId id="665" r:id="rId76"/>
    <p:sldId id="572" r:id="rId77"/>
    <p:sldId id="564" r:id="rId78"/>
    <p:sldId id="574" r:id="rId79"/>
    <p:sldId id="576" r:id="rId80"/>
    <p:sldId id="577" r:id="rId81"/>
    <p:sldId id="575" r:id="rId82"/>
    <p:sldId id="457" r:id="rId83"/>
    <p:sldId id="579" r:id="rId84"/>
    <p:sldId id="666" r:id="rId85"/>
    <p:sldId id="462" r:id="rId86"/>
    <p:sldId id="466" r:id="rId87"/>
    <p:sldId id="557" r:id="rId88"/>
    <p:sldId id="469" r:id="rId89"/>
    <p:sldId id="470" r:id="rId90"/>
    <p:sldId id="471" r:id="rId91"/>
    <p:sldId id="472" r:id="rId92"/>
    <p:sldId id="475" r:id="rId93"/>
    <p:sldId id="546" r:id="rId94"/>
    <p:sldId id="473" r:id="rId95"/>
    <p:sldId id="474" r:id="rId96"/>
    <p:sldId id="476" r:id="rId97"/>
    <p:sldId id="477" r:id="rId98"/>
    <p:sldId id="478" r:id="rId99"/>
    <p:sldId id="479" r:id="rId100"/>
    <p:sldId id="480" r:id="rId101"/>
    <p:sldId id="481" r:id="rId102"/>
    <p:sldId id="482" r:id="rId103"/>
    <p:sldId id="483" r:id="rId104"/>
    <p:sldId id="485" r:id="rId105"/>
    <p:sldId id="667" r:id="rId106"/>
    <p:sldId id="668" r:id="rId107"/>
    <p:sldId id="484" r:id="rId108"/>
    <p:sldId id="486" r:id="rId109"/>
    <p:sldId id="487" r:id="rId110"/>
    <p:sldId id="488" r:id="rId111"/>
    <p:sldId id="606" r:id="rId112"/>
    <p:sldId id="489" r:id="rId113"/>
    <p:sldId id="490" r:id="rId114"/>
    <p:sldId id="491" r:id="rId115"/>
    <p:sldId id="580" r:id="rId116"/>
    <p:sldId id="581" r:id="rId117"/>
    <p:sldId id="669" r:id="rId118"/>
    <p:sldId id="716" r:id="rId119"/>
    <p:sldId id="654" r:id="rId120"/>
    <p:sldId id="463" r:id="rId121"/>
    <p:sldId id="494" r:id="rId122"/>
    <p:sldId id="497" r:id="rId123"/>
    <p:sldId id="500" r:id="rId124"/>
    <p:sldId id="703" r:id="rId125"/>
    <p:sldId id="495" r:id="rId126"/>
    <p:sldId id="498" r:id="rId127"/>
    <p:sldId id="499" r:id="rId128"/>
    <p:sldId id="492" r:id="rId129"/>
    <p:sldId id="501" r:id="rId130"/>
    <p:sldId id="513" r:id="rId131"/>
    <p:sldId id="514" r:id="rId132"/>
    <p:sldId id="512" r:id="rId133"/>
    <p:sldId id="515" r:id="rId134"/>
    <p:sldId id="516" r:id="rId135"/>
    <p:sldId id="517" r:id="rId136"/>
    <p:sldId id="509" r:id="rId137"/>
    <p:sldId id="503" r:id="rId138"/>
    <p:sldId id="504" r:id="rId139"/>
    <p:sldId id="502" r:id="rId140"/>
    <p:sldId id="518" r:id="rId141"/>
    <p:sldId id="505" r:id="rId142"/>
    <p:sldId id="536" r:id="rId143"/>
    <p:sldId id="519" r:id="rId144"/>
    <p:sldId id="520" r:id="rId145"/>
    <p:sldId id="550" r:id="rId146"/>
    <p:sldId id="521" r:id="rId147"/>
    <p:sldId id="522" r:id="rId148"/>
    <p:sldId id="523" r:id="rId149"/>
    <p:sldId id="683" r:id="rId150"/>
    <p:sldId id="684" r:id="rId151"/>
    <p:sldId id="685" r:id="rId152"/>
    <p:sldId id="506" r:id="rId153"/>
    <p:sldId id="587" r:id="rId154"/>
    <p:sldId id="586" r:id="rId155"/>
    <p:sldId id="552" r:id="rId156"/>
    <p:sldId id="551" r:id="rId157"/>
    <p:sldId id="507" r:id="rId158"/>
    <p:sldId id="508" r:id="rId159"/>
    <p:sldId id="554" r:id="rId160"/>
    <p:sldId id="553" r:id="rId161"/>
    <p:sldId id="589" r:id="rId162"/>
    <p:sldId id="679" r:id="rId163"/>
    <p:sldId id="464" r:id="rId164"/>
    <p:sldId id="675" r:id="rId165"/>
    <p:sldId id="526" r:id="rId166"/>
    <p:sldId id="677" r:id="rId167"/>
    <p:sldId id="678" r:id="rId168"/>
    <p:sldId id="676" r:id="rId169"/>
    <p:sldId id="527" r:id="rId170"/>
    <p:sldId id="528" r:id="rId171"/>
    <p:sldId id="529" r:id="rId172"/>
    <p:sldId id="530" r:id="rId173"/>
    <p:sldId id="537" r:id="rId174"/>
    <p:sldId id="531" r:id="rId175"/>
    <p:sldId id="588" r:id="rId176"/>
    <p:sldId id="538" r:id="rId177"/>
    <p:sldId id="540" r:id="rId178"/>
    <p:sldId id="558" r:id="rId179"/>
    <p:sldId id="539" r:id="rId180"/>
    <p:sldId id="542" r:id="rId181"/>
    <p:sldId id="541" r:id="rId182"/>
    <p:sldId id="611" r:id="rId183"/>
    <p:sldId id="543" r:id="rId184"/>
    <p:sldId id="582" r:id="rId185"/>
    <p:sldId id="544" r:id="rId186"/>
    <p:sldId id="583" r:id="rId187"/>
    <p:sldId id="584" r:id="rId188"/>
    <p:sldId id="607" r:id="rId189"/>
    <p:sldId id="610" r:id="rId190"/>
    <p:sldId id="609" r:id="rId191"/>
    <p:sldId id="608" r:id="rId192"/>
    <p:sldId id="524" r:id="rId193"/>
    <p:sldId id="525" r:id="rId194"/>
    <p:sldId id="532" r:id="rId195"/>
    <p:sldId id="592" r:id="rId196"/>
    <p:sldId id="593" r:id="rId197"/>
    <p:sldId id="656" r:id="rId198"/>
    <p:sldId id="534" r:id="rId199"/>
    <p:sldId id="560" r:id="rId200"/>
    <p:sldId id="613" r:id="rId201"/>
    <p:sldId id="615" r:id="rId202"/>
    <p:sldId id="616" r:id="rId203"/>
    <p:sldId id="618" r:id="rId204"/>
    <p:sldId id="619" r:id="rId205"/>
    <p:sldId id="620" r:id="rId206"/>
    <p:sldId id="622" r:id="rId207"/>
    <p:sldId id="671" r:id="rId208"/>
    <p:sldId id="672" r:id="rId209"/>
    <p:sldId id="673" r:id="rId210"/>
    <p:sldId id="674" r:id="rId211"/>
    <p:sldId id="626" r:id="rId212"/>
    <p:sldId id="612" r:id="rId213"/>
    <p:sldId id="590" r:id="rId214"/>
    <p:sldId id="591" r:id="rId215"/>
    <p:sldId id="659" r:id="rId216"/>
    <p:sldId id="660" r:id="rId217"/>
    <p:sldId id="661" r:id="rId218"/>
    <p:sldId id="655" r:id="rId219"/>
    <p:sldId id="639" r:id="rId220"/>
    <p:sldId id="648" r:id="rId221"/>
    <p:sldId id="649" r:id="rId222"/>
    <p:sldId id="643" r:id="rId223"/>
    <p:sldId id="644" r:id="rId224"/>
    <p:sldId id="638" r:id="rId225"/>
    <p:sldId id="628" r:id="rId226"/>
    <p:sldId id="647" r:id="rId227"/>
    <p:sldId id="629" r:id="rId228"/>
    <p:sldId id="630" r:id="rId229"/>
    <p:sldId id="631" r:id="rId230"/>
    <p:sldId id="632" r:id="rId231"/>
    <p:sldId id="633" r:id="rId232"/>
    <p:sldId id="634" r:id="rId233"/>
    <p:sldId id="635" r:id="rId234"/>
    <p:sldId id="636" r:id="rId235"/>
    <p:sldId id="637" r:id="rId236"/>
    <p:sldId id="640" r:id="rId237"/>
    <p:sldId id="641" r:id="rId238"/>
    <p:sldId id="642" r:id="rId239"/>
    <p:sldId id="650" r:id="rId240"/>
    <p:sldId id="651" r:id="rId241"/>
    <p:sldId id="652" r:id="rId242"/>
    <p:sldId id="645" r:id="rId243"/>
    <p:sldId id="646" r:id="rId244"/>
    <p:sldId id="653" r:id="rId245"/>
    <p:sldId id="657" r:id="rId246"/>
    <p:sldId id="680" r:id="rId247"/>
    <p:sldId id="681" r:id="rId248"/>
    <p:sldId id="682" r:id="rId249"/>
    <p:sldId id="686" r:id="rId250"/>
    <p:sldId id="687" r:id="rId251"/>
    <p:sldId id="689" r:id="rId252"/>
    <p:sldId id="688" r:id="rId253"/>
    <p:sldId id="690" r:id="rId254"/>
    <p:sldId id="691" r:id="rId255"/>
    <p:sldId id="692" r:id="rId256"/>
    <p:sldId id="693" r:id="rId257"/>
    <p:sldId id="694" r:id="rId258"/>
    <p:sldId id="695" r:id="rId259"/>
    <p:sldId id="705" r:id="rId260"/>
    <p:sldId id="706" r:id="rId261"/>
    <p:sldId id="709" r:id="rId262"/>
    <p:sldId id="710" r:id="rId263"/>
    <p:sldId id="707" r:id="rId264"/>
    <p:sldId id="708" r:id="rId265"/>
    <p:sldId id="711" r:id="rId266"/>
    <p:sldId id="712" r:id="rId267"/>
    <p:sldId id="713" r:id="rId268"/>
    <p:sldId id="714" r:id="rId269"/>
    <p:sldId id="715" r:id="rId270"/>
    <p:sldId id="704" r:id="rId271"/>
    <p:sldId id="696" r:id="rId272"/>
    <p:sldId id="697" r:id="rId273"/>
    <p:sldId id="698" r:id="rId274"/>
    <p:sldId id="699" r:id="rId275"/>
    <p:sldId id="700" r:id="rId276"/>
    <p:sldId id="701" r:id="rId277"/>
    <p:sldId id="702" r:id="rId27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장 효은" initials="장효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2736"/>
    <a:srgbClr val="53372B"/>
    <a:srgbClr val="7D5443"/>
    <a:srgbClr val="9B6B4D"/>
    <a:srgbClr val="765E4A"/>
    <a:srgbClr val="54462A"/>
    <a:srgbClr val="25357C"/>
    <a:srgbClr val="26367D"/>
    <a:srgbClr val="006699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0160" autoAdjust="0"/>
    <p:restoredTop sz="92000" autoAdjust="0"/>
  </p:normalViewPr>
  <p:slideViewPr>
    <p:cSldViewPr snapToGrid="0">
      <p:cViewPr varScale="1">
        <p:scale>
          <a:sx n="93" d="100"/>
          <a:sy n="93" d="100"/>
        </p:scale>
        <p:origin x="450" y="30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63" Type="http://schemas.openxmlformats.org/officeDocument/2006/relationships/slide" Target="slides/slide62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226" Type="http://schemas.openxmlformats.org/officeDocument/2006/relationships/slide" Target="slides/slide225.xml"/><Relationship Id="rId268" Type="http://schemas.openxmlformats.org/officeDocument/2006/relationships/slide" Target="slides/slide267.xml"/><Relationship Id="rId32" Type="http://schemas.openxmlformats.org/officeDocument/2006/relationships/slide" Target="slides/slide31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181" Type="http://schemas.openxmlformats.org/officeDocument/2006/relationships/slide" Target="slides/slide180.xml"/><Relationship Id="rId237" Type="http://schemas.openxmlformats.org/officeDocument/2006/relationships/slide" Target="slides/slide236.xml"/><Relationship Id="rId279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248" Type="http://schemas.openxmlformats.org/officeDocument/2006/relationships/slide" Target="slides/slide247.xml"/><Relationship Id="rId269" Type="http://schemas.openxmlformats.org/officeDocument/2006/relationships/slide" Target="slides/slide268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280" Type="http://schemas.openxmlformats.org/officeDocument/2006/relationships/commentAuthors" Target="commentAuthors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59" Type="http://schemas.openxmlformats.org/officeDocument/2006/relationships/slide" Target="slides/slide258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270" Type="http://schemas.openxmlformats.org/officeDocument/2006/relationships/slide" Target="slides/slide269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249" Type="http://schemas.openxmlformats.org/officeDocument/2006/relationships/slide" Target="slides/slide248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260" Type="http://schemas.openxmlformats.org/officeDocument/2006/relationships/slide" Target="slides/slide259.xml"/><Relationship Id="rId281" Type="http://schemas.openxmlformats.org/officeDocument/2006/relationships/presProps" Target="presProps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slide" Target="slides/slide238.xml"/><Relationship Id="rId250" Type="http://schemas.openxmlformats.org/officeDocument/2006/relationships/slide" Target="slides/slide249.xml"/><Relationship Id="rId271" Type="http://schemas.openxmlformats.org/officeDocument/2006/relationships/slide" Target="slides/slide270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slide" Target="slides/slide239.xml"/><Relationship Id="rId261" Type="http://schemas.openxmlformats.org/officeDocument/2006/relationships/slide" Target="slides/slide260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282" Type="http://schemas.openxmlformats.org/officeDocument/2006/relationships/viewProps" Target="viewProps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1" Type="http://schemas.openxmlformats.org/officeDocument/2006/relationships/slide" Target="slides/slide250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72" Type="http://schemas.openxmlformats.org/officeDocument/2006/relationships/slide" Target="slides/slide271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slide" Target="slides/slide24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262" Type="http://schemas.openxmlformats.org/officeDocument/2006/relationships/slide" Target="slides/slide261.xml"/><Relationship Id="rId283" Type="http://schemas.openxmlformats.org/officeDocument/2006/relationships/theme" Target="theme/theme1.xml"/><Relationship Id="rId78" Type="http://schemas.openxmlformats.org/officeDocument/2006/relationships/slide" Target="slides/slide77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64" Type="http://schemas.openxmlformats.org/officeDocument/2006/relationships/slide" Target="slides/slide163.xml"/><Relationship Id="rId185" Type="http://schemas.openxmlformats.org/officeDocument/2006/relationships/slide" Target="slides/slide184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slide" Target="slides/slide251.xml"/><Relationship Id="rId273" Type="http://schemas.openxmlformats.org/officeDocument/2006/relationships/slide" Target="slides/slide272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263" Type="http://schemas.openxmlformats.org/officeDocument/2006/relationships/slide" Target="slides/slide262.xml"/><Relationship Id="rId284" Type="http://schemas.openxmlformats.org/officeDocument/2006/relationships/tableStyles" Target="tableStyles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slide" Target="slides/slide252.xml"/><Relationship Id="rId274" Type="http://schemas.openxmlformats.org/officeDocument/2006/relationships/slide" Target="slides/slide273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264" Type="http://schemas.openxmlformats.org/officeDocument/2006/relationships/slide" Target="slides/slide263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slide" Target="slides/slide253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275" Type="http://schemas.openxmlformats.org/officeDocument/2006/relationships/slide" Target="slides/slide274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265" Type="http://schemas.openxmlformats.org/officeDocument/2006/relationships/slide" Target="slides/slide264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5" Type="http://schemas.openxmlformats.org/officeDocument/2006/relationships/slide" Target="slides/slide254.xml"/><Relationship Id="rId276" Type="http://schemas.openxmlformats.org/officeDocument/2006/relationships/slide" Target="slides/slide275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slide" Target="slides/slide244.xml"/><Relationship Id="rId266" Type="http://schemas.openxmlformats.org/officeDocument/2006/relationships/slide" Target="slides/slide265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256" Type="http://schemas.openxmlformats.org/officeDocument/2006/relationships/slide" Target="slides/slide255.xml"/><Relationship Id="rId277" Type="http://schemas.openxmlformats.org/officeDocument/2006/relationships/slide" Target="slides/slide27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slide" Target="slides/slide245.xml"/><Relationship Id="rId267" Type="http://schemas.openxmlformats.org/officeDocument/2006/relationships/slide" Target="slides/slide26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slide" Target="slides/slide256.xml"/><Relationship Id="rId278" Type="http://schemas.openxmlformats.org/officeDocument/2006/relationships/slide" Target="slides/slide277.xml"/><Relationship Id="rId42" Type="http://schemas.openxmlformats.org/officeDocument/2006/relationships/slide" Target="slides/slide41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47" Type="http://schemas.openxmlformats.org/officeDocument/2006/relationships/slide" Target="slides/slide246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53" Type="http://schemas.openxmlformats.org/officeDocument/2006/relationships/slide" Target="slides/slide52.xml"/><Relationship Id="rId149" Type="http://schemas.openxmlformats.org/officeDocument/2006/relationships/slide" Target="slides/slide148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16" Type="http://schemas.openxmlformats.org/officeDocument/2006/relationships/slide" Target="slides/slide215.xml"/><Relationship Id="rId258" Type="http://schemas.openxmlformats.org/officeDocument/2006/relationships/slide" Target="slides/slide25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CF6F58-96FD-4864-A281-7D455E118508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A73A8-F51F-4156-A768-408A561098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5406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1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4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5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6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7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8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9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0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1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2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3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4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5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6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7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8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9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0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1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2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3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4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5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6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7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8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9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0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1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2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3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4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5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6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7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8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9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0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1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2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3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4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5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6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7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8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9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0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1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2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3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4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5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6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7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8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9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0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1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2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3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4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5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6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80157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8770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66370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91103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50792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https://repo.spring.io/ui/native/libs-release/org/springframework/spring/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1523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https://repo.spring.io/ui/native/libs-release/org/springframework/spring/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86129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041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08E01-14D8-03E7-934E-35461158E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1C730F-400B-504D-5FD8-21DF5F4273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3012B07-D954-E4C6-40EC-B3422BFD78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7231AC-9FB9-9D60-1B71-3C9C0F759F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2745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5F61D-B5A9-7891-1A85-39858D06A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B3E048-6F6E-789A-199A-19C267FECA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80EB53-7F7C-E29A-2DBC-124A10B19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4BC215-E0FA-FB9D-4E96-B484E21BE0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63717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9D257-7D8A-73B3-0B17-4CA5A1AC1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FC1812-3432-C46E-9B01-0DBDBDB75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983011-EE85-60C8-6004-AA800FEA3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r>
              <a:rPr lang="en-US" altLang="ko-KR" dirty="0"/>
              <a:t>https-content.xml</a:t>
            </a:r>
          </a:p>
          <a:p>
            <a:r>
              <a:rPr lang="en-US" altLang="ko-KR" dirty="0"/>
              <a:t>jdk11</a:t>
            </a:r>
          </a:p>
          <a:p>
            <a:r>
              <a:rPr lang="ko-KR" altLang="en-US" dirty="0"/>
              <a:t>환경변수</a:t>
            </a:r>
          </a:p>
          <a:p>
            <a:r>
              <a:rPr lang="en-US" altLang="ko-KR" dirty="0"/>
              <a:t>STS </a:t>
            </a:r>
            <a:r>
              <a:rPr lang="ko-KR" altLang="en-US" dirty="0" err="1"/>
              <a:t>자바버젼설정</a:t>
            </a:r>
            <a:r>
              <a:rPr lang="ko-KR" altLang="en-US" dirty="0"/>
              <a:t> </a:t>
            </a:r>
          </a:p>
          <a:p>
            <a:endParaRPr lang="en-US" altLang="ko-KR" dirty="0"/>
          </a:p>
          <a:p>
            <a:r>
              <a:rPr lang="en-US" altLang="ko-KR" dirty="0"/>
              <a:t> </a:t>
            </a:r>
          </a:p>
          <a:p>
            <a:r>
              <a:rPr lang="en-US" altLang="ko-KR" dirty="0"/>
              <a:t>		&lt;</a:t>
            </a:r>
            <a:r>
              <a:rPr lang="en-US" altLang="ko-KR" dirty="0" err="1"/>
              <a:t>project.build.sourceEncoding</a:t>
            </a:r>
            <a:r>
              <a:rPr lang="en-US" altLang="ko-KR" dirty="0"/>
              <a:t>&gt;UTF-8&lt;/</a:t>
            </a:r>
            <a:r>
              <a:rPr lang="en-US" altLang="ko-KR" dirty="0" err="1"/>
              <a:t>project.build.sourceEncoding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		&lt;</a:t>
            </a:r>
            <a:r>
              <a:rPr lang="en-US" altLang="ko-KR" dirty="0" err="1"/>
              <a:t>maven.compiler.source</a:t>
            </a:r>
            <a:r>
              <a:rPr lang="en-US" altLang="ko-KR" dirty="0"/>
              <a:t>&gt;1.11&lt;/</a:t>
            </a:r>
            <a:r>
              <a:rPr lang="en-US" altLang="ko-KR" dirty="0" err="1"/>
              <a:t>maven.compiler.source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		&lt;</a:t>
            </a:r>
            <a:r>
              <a:rPr lang="en-US" altLang="ko-KR" dirty="0" err="1"/>
              <a:t>maven.compiler.target</a:t>
            </a:r>
            <a:r>
              <a:rPr lang="en-US" altLang="ko-KR" dirty="0"/>
              <a:t>&gt;1.11&lt;/</a:t>
            </a:r>
            <a:r>
              <a:rPr lang="en-US" altLang="ko-KR" dirty="0" err="1"/>
              <a:t>maven.compiler.target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		&lt;</a:t>
            </a:r>
            <a:r>
              <a:rPr lang="en-US" altLang="ko-KR" dirty="0" err="1"/>
              <a:t>org.springframework</a:t>
            </a:r>
            <a:r>
              <a:rPr lang="en-US" altLang="ko-KR" dirty="0"/>
              <a:t>-version&gt;5.3.18&lt;/</a:t>
            </a:r>
            <a:r>
              <a:rPr lang="en-US" altLang="ko-KR" dirty="0" err="1"/>
              <a:t>org.springframework</a:t>
            </a:r>
            <a:r>
              <a:rPr lang="en-US" altLang="ko-KR" dirty="0"/>
              <a:t>-version&gt;</a:t>
            </a:r>
          </a:p>
          <a:p>
            <a:r>
              <a:rPr lang="en-US" altLang="ko-KR" dirty="0"/>
              <a:t>		&lt;</a:t>
            </a:r>
            <a:r>
              <a:rPr lang="en-US" altLang="ko-KR" dirty="0" err="1"/>
              <a:t>org.aspectj</a:t>
            </a:r>
            <a:r>
              <a:rPr lang="en-US" altLang="ko-KR" dirty="0"/>
              <a:t>-version&gt;1.9.6&lt;/</a:t>
            </a:r>
            <a:r>
              <a:rPr lang="en-US" altLang="ko-KR" dirty="0" err="1"/>
              <a:t>org.aspectj</a:t>
            </a:r>
            <a:r>
              <a:rPr lang="en-US" altLang="ko-KR" dirty="0"/>
              <a:t>-version&gt;</a:t>
            </a:r>
          </a:p>
          <a:p>
            <a:r>
              <a:rPr lang="en-US" altLang="ko-KR" dirty="0"/>
              <a:t>        </a:t>
            </a:r>
          </a:p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C8A7F6-0A9F-16A4-06E7-9E39F8C567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343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20807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35006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22782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01186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03508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38467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Inversion</a:t>
            </a:r>
            <a:r>
              <a:rPr lang="ko-KR" altLang="en-US" dirty="0"/>
              <a:t> </a:t>
            </a:r>
            <a:r>
              <a:rPr lang="en-US" altLang="ko-KR" dirty="0"/>
              <a:t>Of</a:t>
            </a:r>
            <a:r>
              <a:rPr lang="ko-KR" altLang="en-US" dirty="0"/>
              <a:t> </a:t>
            </a:r>
            <a:r>
              <a:rPr lang="en-US" altLang="ko-KR" dirty="0"/>
              <a:t>Control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Dependency Injection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92872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19663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44456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969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3016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35726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4877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6249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//Target...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주관심사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(core concern), </a:t>
            </a:r>
            <a:r>
              <a:rPr lang="ko-KR" alt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업무로직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class Calculator {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void add() { </a:t>
            </a:r>
          </a:p>
          <a:p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System.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out.println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("arg0</a:t>
            </a:r>
            <a:r>
              <a:rPr lang="ko-KR" altLang="en-US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개 </a:t>
            </a:r>
            <a:r>
              <a:rPr lang="ko-KR" altLang="en-US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가지고있는</a:t>
            </a:r>
            <a:r>
              <a:rPr lang="ko-KR" altLang="en-US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add");  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void add(int x) {</a:t>
            </a:r>
          </a:p>
          <a:p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System.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out.println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("arg1</a:t>
            </a:r>
            <a:r>
              <a:rPr lang="ko-KR" altLang="en-US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개 </a:t>
            </a:r>
            <a:r>
              <a:rPr lang="ko-KR" altLang="en-US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가지고있는</a:t>
            </a:r>
            <a:r>
              <a:rPr lang="ko-KR" altLang="en-US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add");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void add(int x, int y) {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 result=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x+y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System.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out.println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("arg2</a:t>
            </a:r>
            <a:r>
              <a:rPr lang="ko-KR" altLang="en-US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개 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 </a:t>
            </a:r>
            <a:r>
              <a:rPr lang="ko-KR" altLang="en-US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결과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:"+ result);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void subtract(int x, int y) {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 result=x - y;</a:t>
            </a:r>
          </a:p>
          <a:p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System.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out.println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</a:t>
            </a:r>
            <a:r>
              <a:rPr lang="ko-KR" altLang="en-US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결과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:"+ result);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void multiply(int x, int y) {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 result=x * y;</a:t>
            </a:r>
          </a:p>
          <a:p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System.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out.println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</a:t>
            </a:r>
            <a:r>
              <a:rPr lang="ko-KR" altLang="en-US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결과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:"+ result);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fr-FR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void divide(int x, int y) {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 result=x / y;</a:t>
            </a:r>
          </a:p>
          <a:p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System.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out.println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</a:t>
            </a:r>
            <a:r>
              <a:rPr lang="ko-KR" altLang="en-US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결과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:"+ result);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74840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68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79020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69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58481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58481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71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617750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72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584815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&lt;bean id=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calcTarget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    class="com.shinhan.myapp.section7.Calculator" /&gt;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&lt;bean id=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"logAdvice1" class="com.shinhan.myapp.section7.LoggingAdvice" /&gt;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&lt;bean id=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watchAdvice"class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="com.shinhan.myapp.section7.StopWatchAdvice" /&gt;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&lt;!--advisor = advice(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보조업무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+ </a:t>
            </a:r>
            <a:r>
              <a:rPr lang="en-US" altLang="ko-KR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pointcut(</a:t>
            </a:r>
            <a:r>
              <a:rPr lang="ko-KR" altLang="en-US" sz="1200" u="sng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보조들어갈</a:t>
            </a:r>
            <a:r>
              <a:rPr lang="ko-KR" altLang="en-US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지점</a:t>
            </a:r>
            <a:r>
              <a:rPr lang="en-US" altLang="ko-KR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--&gt;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&lt;bean id=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"advisor1"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org.springframework.aop.support.DefaultPointcutAdvisor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&lt;property name=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"advice" ref="logAdvice1" /&gt;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&lt;property name=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"pointcut"&gt;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&lt;bean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org.springframework.aop.aspectj.AspectJExpressionPointcut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&lt;property name=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"expression"&gt;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&lt;value&gt;execution(* add(..))&lt;/value&gt;   &lt;!--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모든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add()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함수에 대해 적용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--&gt;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&lt;/property&gt;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&lt;/bean&gt;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&lt;/property&gt;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&lt;/bean&gt;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73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584815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&lt;bean id=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"advisor2"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org.springframework.aop.support.DefaultPointcutAdvisor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&lt;property name=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"advice" ref="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watchAdvice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/&gt;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&lt;property name=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"pointcut"&gt;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&lt;bean id=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"bb"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org.springframework.aop.aspectj.AspectJExpressionPointcut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&lt;property name=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"expression"&gt;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&lt;value&gt;execution(* divide(..))&lt;/value&gt;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&lt;/property&gt;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&lt;/bean&gt;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&lt;/property&gt;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&lt;/bean&gt;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&lt;!-- Aspect..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advisor+target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--&gt;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&lt;bean id=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"proxyCal2"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org.springframework.aop.framework.ProxyFactoryBean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&lt;property name=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"target" ref="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calcTarget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"&gt;&lt;/property&gt;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&lt;property name=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interceptorNames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&lt;list&gt;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&lt;value&gt;advisor1&lt;/value&gt;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&lt;value&gt;advisor2&lt;/value&gt;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&lt;/list&gt;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&lt;/property&gt;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&lt;/bean&gt;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74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584815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6E88E-3070-A3AC-A18B-A9A522CB6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CD0B2E1-2B41-2916-F2C1-F54AE6C702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EF31F6E-1469-F190-9E49-02DEA0E5D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&lt;!-- Aspect..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advisor+target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--&gt;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&lt;bean id=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"proxyCal2"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org.springframework.aop.framework.ProxyFactoryBean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&lt;property name=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"target" ref="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calcTarget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"&gt;&lt;/property&gt;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&lt;property name=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interceptorNames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&lt;list&gt;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&lt;value&gt;advisor1&lt;/value&gt;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&lt;value&gt;advisor2&lt;/value&gt;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&lt;/list&gt;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&lt;/property&gt;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&lt;/bean&gt;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0D0AF8-BDE5-1CA6-00CF-BB5CFCD3C8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75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484209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76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584815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78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790205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79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790205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80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790205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81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790205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package com.shinhan.myapp.section8;</a:t>
            </a:r>
          </a:p>
          <a:p>
            <a:endParaRPr lang="en-US" altLang="ko-KR" dirty="0"/>
          </a:p>
          <a:p>
            <a:r>
              <a:rPr lang="en-US" altLang="ko-KR" dirty="0"/>
              <a:t>import </a:t>
            </a:r>
            <a:r>
              <a:rPr lang="en-US" altLang="ko-KR" dirty="0" err="1"/>
              <a:t>org.aspectj.lang.ProceedingJoinPoint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import </a:t>
            </a:r>
            <a:r>
              <a:rPr lang="en-US" altLang="ko-KR" dirty="0" err="1"/>
              <a:t>org.aspectj.lang.annotation.After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import </a:t>
            </a:r>
            <a:r>
              <a:rPr lang="en-US" altLang="ko-KR" dirty="0" err="1"/>
              <a:t>org.aspectj.lang.annotation.AfterReturning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import </a:t>
            </a:r>
            <a:r>
              <a:rPr lang="en-US" altLang="ko-KR" dirty="0" err="1"/>
              <a:t>org.aspectj.lang.annotation.AfterThrowing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import </a:t>
            </a:r>
            <a:r>
              <a:rPr lang="en-US" altLang="ko-KR" dirty="0" err="1"/>
              <a:t>org.aspectj.lang.annotation.Around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import </a:t>
            </a:r>
            <a:r>
              <a:rPr lang="en-US" altLang="ko-KR" dirty="0" err="1"/>
              <a:t>org.aspectj.lang.annotation.Aspect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import </a:t>
            </a:r>
            <a:r>
              <a:rPr lang="en-US" altLang="ko-KR" dirty="0" err="1"/>
              <a:t>org.aspectj.lang.annotation.Before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import </a:t>
            </a:r>
            <a:r>
              <a:rPr lang="en-US" altLang="ko-KR" dirty="0" err="1"/>
              <a:t>org.aspectj.lang.annotation.Pointcut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import </a:t>
            </a:r>
            <a:r>
              <a:rPr lang="en-US" altLang="ko-KR" dirty="0" err="1"/>
              <a:t>org.springframework.stereotype.Component</a:t>
            </a:r>
            <a:r>
              <a:rPr lang="en-US" altLang="ko-KR" dirty="0"/>
              <a:t>;</a:t>
            </a:r>
          </a:p>
          <a:p>
            <a:endParaRPr lang="en-US" altLang="ko-KR" dirty="0"/>
          </a:p>
          <a:p>
            <a:r>
              <a:rPr lang="en-US" altLang="ko-KR" dirty="0"/>
              <a:t>//</a:t>
            </a:r>
            <a:r>
              <a:rPr lang="ko-KR" altLang="en-US" dirty="0"/>
              <a:t>보조업무</a:t>
            </a:r>
          </a:p>
          <a:p>
            <a:r>
              <a:rPr lang="en-US" altLang="ko-KR" dirty="0"/>
              <a:t>/* @Component : &lt;bean id="</a:t>
            </a:r>
            <a:r>
              <a:rPr lang="en-US" altLang="ko-KR" dirty="0" err="1"/>
              <a:t>loggingAdvice</a:t>
            </a:r>
            <a:r>
              <a:rPr lang="en-US" altLang="ko-KR" dirty="0"/>
              <a:t>" class="</a:t>
            </a:r>
            <a:r>
              <a:rPr lang="ko-KR" altLang="en-US" dirty="0"/>
              <a:t>패키지이름</a:t>
            </a:r>
            <a:r>
              <a:rPr lang="en-US" altLang="ko-KR" dirty="0"/>
              <a:t>.</a:t>
            </a:r>
            <a:r>
              <a:rPr lang="en-US" altLang="ko-KR" dirty="0" err="1"/>
              <a:t>LoggingAdvice</a:t>
            </a:r>
            <a:r>
              <a:rPr lang="en-US" altLang="ko-KR" dirty="0"/>
              <a:t>"&gt;&lt;/bean&gt;</a:t>
            </a:r>
          </a:p>
          <a:p>
            <a:r>
              <a:rPr lang="en-US" altLang="ko-KR" dirty="0"/>
              <a:t> * @Aspect : Pointcut </a:t>
            </a:r>
            <a:r>
              <a:rPr lang="ko-KR" altLang="en-US" dirty="0"/>
              <a:t>과 </a:t>
            </a:r>
            <a:r>
              <a:rPr lang="en-US" altLang="ko-KR" dirty="0"/>
              <a:t>Advise</a:t>
            </a:r>
            <a:r>
              <a:rPr lang="ko-KR" altLang="en-US" dirty="0"/>
              <a:t>를 합쳐 놓은 코드</a:t>
            </a:r>
            <a:r>
              <a:rPr lang="en-US" altLang="ko-KR" dirty="0"/>
              <a:t>(</a:t>
            </a:r>
            <a:r>
              <a:rPr lang="ko-KR" altLang="en-US" dirty="0"/>
              <a:t>보조업무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* </a:t>
            </a:r>
          </a:p>
          <a:p>
            <a:r>
              <a:rPr lang="en-US" altLang="ko-KR" dirty="0"/>
              <a:t> */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@Component</a:t>
            </a:r>
          </a:p>
          <a:p>
            <a:r>
              <a:rPr lang="en-US" altLang="ko-KR" dirty="0"/>
              <a:t>@Aspect</a:t>
            </a:r>
          </a:p>
          <a:p>
            <a:r>
              <a:rPr lang="en-US" altLang="ko-KR" dirty="0"/>
              <a:t>public class </a:t>
            </a:r>
            <a:r>
              <a:rPr lang="en-US" altLang="ko-KR" dirty="0" err="1"/>
              <a:t>LoggingAdvice</a:t>
            </a:r>
            <a:r>
              <a:rPr lang="en-US" altLang="ko-KR" dirty="0"/>
              <a:t>   {	</a:t>
            </a:r>
          </a:p>
          <a:p>
            <a:r>
              <a:rPr lang="en-US" altLang="ko-KR" dirty="0"/>
              <a:t>	@Pointcut("execution(* add*(int)) || execution(* add(</a:t>
            </a:r>
            <a:r>
              <a:rPr lang="en-US" altLang="ko-KR" dirty="0" err="1"/>
              <a:t>int,int</a:t>
            </a:r>
            <a:r>
              <a:rPr lang="en-US" altLang="ko-KR" dirty="0"/>
              <a:t>))")</a:t>
            </a:r>
          </a:p>
          <a:p>
            <a:r>
              <a:rPr lang="en-US" altLang="ko-KR" dirty="0"/>
              <a:t>	public void targetMethod2() {//</a:t>
            </a:r>
            <a:r>
              <a:rPr lang="ko-KR" altLang="en-US" dirty="0" err="1"/>
              <a:t>로직없음</a:t>
            </a:r>
            <a:r>
              <a:rPr lang="ko-KR" altLang="en-US" dirty="0"/>
              <a:t> </a:t>
            </a:r>
          </a:p>
          <a:p>
            <a:r>
              <a:rPr lang="ko-KR" altLang="en-US" dirty="0"/>
              <a:t>	</a:t>
            </a:r>
            <a:r>
              <a:rPr lang="en-US" altLang="ko-KR" dirty="0"/>
              <a:t>}</a:t>
            </a:r>
          </a:p>
          <a:p>
            <a:r>
              <a:rPr lang="en-US" altLang="ko-KR" dirty="0"/>
              <a:t>	// </a:t>
            </a:r>
            <a:r>
              <a:rPr lang="en-US" altLang="ko-KR" dirty="0" err="1"/>
              <a:t>DeptService</a:t>
            </a:r>
            <a:r>
              <a:rPr lang="ko-KR" altLang="en-US" dirty="0"/>
              <a:t>의 모든 메서드가 로그가 보여지도록 </a:t>
            </a:r>
            <a:r>
              <a:rPr lang="en-US" altLang="ko-KR" dirty="0"/>
              <a:t>pointcut	// within()</a:t>
            </a:r>
          </a:p>
          <a:p>
            <a:r>
              <a:rPr lang="en-US" altLang="ko-KR" dirty="0"/>
              <a:t>	@Pointcut("within(com.shinhan.myapp.section8.DeptService)")</a:t>
            </a:r>
          </a:p>
          <a:p>
            <a:r>
              <a:rPr lang="en-US" altLang="ko-KR" dirty="0"/>
              <a:t>	public void </a:t>
            </a:r>
            <a:r>
              <a:rPr lang="en-US" altLang="ko-KR" dirty="0" err="1"/>
              <a:t>deptServicePointcut</a:t>
            </a:r>
            <a:r>
              <a:rPr lang="en-US" altLang="ko-KR" dirty="0"/>
              <a:t>() {}</a:t>
            </a:r>
          </a:p>
          <a:p>
            <a:r>
              <a:rPr lang="en-US" altLang="ko-KR" dirty="0"/>
              <a:t>	</a:t>
            </a:r>
          </a:p>
          <a:p>
            <a:r>
              <a:rPr lang="en-US" altLang="ko-KR" dirty="0"/>
              <a:t>	@Around("deptServicePointcut()")</a:t>
            </a:r>
          </a:p>
          <a:p>
            <a:r>
              <a:rPr lang="en-US" altLang="ko-KR" dirty="0"/>
              <a:t>	public Object f1(</a:t>
            </a:r>
            <a:r>
              <a:rPr lang="en-US" altLang="ko-KR" dirty="0" err="1"/>
              <a:t>ProceedingJoinPoint</a:t>
            </a:r>
            <a:r>
              <a:rPr lang="en-US" altLang="ko-KR" dirty="0"/>
              <a:t> </a:t>
            </a:r>
            <a:r>
              <a:rPr lang="en-US" altLang="ko-KR" dirty="0" err="1"/>
              <a:t>jp</a:t>
            </a:r>
            <a:r>
              <a:rPr lang="en-US" altLang="ko-KR" dirty="0"/>
              <a:t>) throws Throwable {</a:t>
            </a:r>
          </a:p>
          <a:p>
            <a:r>
              <a:rPr lang="en-US" altLang="ko-KR" dirty="0"/>
              <a:t>		</a:t>
            </a:r>
            <a:r>
              <a:rPr lang="en-US" altLang="ko-KR" dirty="0" err="1"/>
              <a:t>System.out.println</a:t>
            </a:r>
            <a:r>
              <a:rPr lang="en-US" altLang="ko-KR" dirty="0"/>
              <a:t>("[before]</a:t>
            </a:r>
            <a:r>
              <a:rPr lang="ko-KR" altLang="en-US" dirty="0"/>
              <a:t>호출된 함수이름</a:t>
            </a:r>
            <a:r>
              <a:rPr lang="en-US" altLang="ko-KR" dirty="0"/>
              <a:t>:" + </a:t>
            </a:r>
            <a:r>
              <a:rPr lang="en-US" altLang="ko-KR" dirty="0" err="1"/>
              <a:t>jp.getSignature</a:t>
            </a:r>
            <a:r>
              <a:rPr lang="en-US" altLang="ko-KR" dirty="0"/>
              <a:t>().</a:t>
            </a:r>
            <a:r>
              <a:rPr lang="en-US" altLang="ko-KR" dirty="0" err="1"/>
              <a:t>getName</a:t>
            </a:r>
            <a:r>
              <a:rPr lang="en-US" altLang="ko-KR" dirty="0"/>
              <a:t>());</a:t>
            </a:r>
          </a:p>
          <a:p>
            <a:r>
              <a:rPr lang="en-US" altLang="ko-KR" dirty="0"/>
              <a:t>		Object obj = </a:t>
            </a:r>
            <a:r>
              <a:rPr lang="en-US" altLang="ko-KR" dirty="0" err="1"/>
              <a:t>jp.proceed</a:t>
            </a:r>
            <a:r>
              <a:rPr lang="en-US" altLang="ko-KR" dirty="0"/>
              <a:t>();</a:t>
            </a:r>
          </a:p>
          <a:p>
            <a:r>
              <a:rPr lang="en-US" altLang="ko-KR" dirty="0"/>
              <a:t>		</a:t>
            </a:r>
            <a:r>
              <a:rPr lang="en-US" altLang="ko-KR" dirty="0" err="1"/>
              <a:t>System.out.println</a:t>
            </a:r>
            <a:r>
              <a:rPr lang="en-US" altLang="ko-KR" dirty="0"/>
              <a:t>("[after]</a:t>
            </a:r>
            <a:r>
              <a:rPr lang="ko-KR" altLang="en-US" dirty="0"/>
              <a:t>호출된 함수이름</a:t>
            </a:r>
            <a:r>
              <a:rPr lang="en-US" altLang="ko-KR" dirty="0"/>
              <a:t>:" + </a:t>
            </a:r>
            <a:r>
              <a:rPr lang="en-US" altLang="ko-KR" dirty="0" err="1"/>
              <a:t>jp.getSignature</a:t>
            </a:r>
            <a:r>
              <a:rPr lang="en-US" altLang="ko-KR" dirty="0"/>
              <a:t>().</a:t>
            </a:r>
            <a:r>
              <a:rPr lang="en-US" altLang="ko-KR" dirty="0" err="1"/>
              <a:t>getName</a:t>
            </a:r>
            <a:r>
              <a:rPr lang="en-US" altLang="ko-KR" dirty="0"/>
              <a:t>());</a:t>
            </a:r>
          </a:p>
          <a:p>
            <a:r>
              <a:rPr lang="en-US" altLang="ko-KR" dirty="0"/>
              <a:t>		return obj;</a:t>
            </a:r>
          </a:p>
          <a:p>
            <a:r>
              <a:rPr lang="en-US" altLang="ko-KR" dirty="0"/>
              <a:t>	}</a:t>
            </a:r>
          </a:p>
          <a:p>
            <a:r>
              <a:rPr lang="en-US" altLang="ko-KR" dirty="0"/>
              <a:t>	</a:t>
            </a:r>
          </a:p>
          <a:p>
            <a:r>
              <a:rPr lang="en-US" altLang="ko-KR" dirty="0"/>
              <a:t>	@Around("targetMethod2()")</a:t>
            </a:r>
          </a:p>
          <a:p>
            <a:r>
              <a:rPr lang="en-US" altLang="ko-KR" dirty="0"/>
              <a:t>	public Object aroundMethod2(</a:t>
            </a:r>
            <a:r>
              <a:rPr lang="en-US" altLang="ko-KR" dirty="0" err="1"/>
              <a:t>ProceedingJoinPoint</a:t>
            </a:r>
            <a:r>
              <a:rPr lang="en-US" altLang="ko-KR" dirty="0"/>
              <a:t> </a:t>
            </a:r>
            <a:r>
              <a:rPr lang="en-US" altLang="ko-KR" dirty="0" err="1"/>
              <a:t>jp</a:t>
            </a:r>
            <a:r>
              <a:rPr lang="en-US" altLang="ko-KR" dirty="0"/>
              <a:t>) throws Throwable {		</a:t>
            </a:r>
          </a:p>
          <a:p>
            <a:r>
              <a:rPr lang="en-US" altLang="ko-KR" dirty="0"/>
              <a:t>		</a:t>
            </a:r>
            <a:r>
              <a:rPr lang="en-US" altLang="ko-KR" dirty="0" err="1"/>
              <a:t>System.out.println</a:t>
            </a:r>
            <a:r>
              <a:rPr lang="en-US" altLang="ko-KR" dirty="0"/>
              <a:t>("[</a:t>
            </a:r>
            <a:r>
              <a:rPr lang="ko-KR" altLang="en-US" dirty="0"/>
              <a:t>메서드 호출 전 </a:t>
            </a:r>
            <a:r>
              <a:rPr lang="en-US" altLang="ko-KR" dirty="0"/>
              <a:t>: </a:t>
            </a:r>
            <a:r>
              <a:rPr lang="en-US" altLang="ko-KR" dirty="0" err="1"/>
              <a:t>LogginAdvice</a:t>
            </a:r>
            <a:r>
              <a:rPr lang="en-US" altLang="ko-KR" dirty="0"/>
              <a:t>");</a:t>
            </a:r>
          </a:p>
          <a:p>
            <a:r>
              <a:rPr lang="en-US" altLang="ko-KR" dirty="0"/>
              <a:t>		</a:t>
            </a:r>
            <a:r>
              <a:rPr lang="en-US" altLang="ko-KR" dirty="0" err="1"/>
              <a:t>System.out.println</a:t>
            </a:r>
            <a:r>
              <a:rPr lang="en-US" altLang="ko-KR" dirty="0"/>
              <a:t>(</a:t>
            </a:r>
            <a:r>
              <a:rPr lang="en-US" altLang="ko-KR" dirty="0" err="1"/>
              <a:t>jp.getSignature</a:t>
            </a:r>
            <a:r>
              <a:rPr lang="en-US" altLang="ko-KR" dirty="0"/>
              <a:t>().</a:t>
            </a:r>
            <a:r>
              <a:rPr lang="en-US" altLang="ko-KR" dirty="0" err="1"/>
              <a:t>getName</a:t>
            </a:r>
            <a:r>
              <a:rPr lang="en-US" altLang="ko-KR" dirty="0"/>
              <a:t>() + "</a:t>
            </a:r>
            <a:r>
              <a:rPr lang="ko-KR" altLang="en-US" dirty="0"/>
              <a:t>메서드 호출 전</a:t>
            </a:r>
            <a:r>
              <a:rPr lang="en-US" altLang="ko-KR" dirty="0"/>
              <a:t>");</a:t>
            </a:r>
          </a:p>
          <a:p>
            <a:r>
              <a:rPr lang="en-US" altLang="ko-KR" dirty="0"/>
              <a:t>        </a:t>
            </a:r>
            <a:r>
              <a:rPr lang="en-US" altLang="ko-KR" dirty="0" err="1"/>
              <a:t>System.out.println</a:t>
            </a:r>
            <a:r>
              <a:rPr lang="en-US" altLang="ko-KR" dirty="0"/>
              <a:t>("--------------------------------");</a:t>
            </a:r>
          </a:p>
          <a:p>
            <a:r>
              <a:rPr lang="en-US" altLang="ko-KR" dirty="0"/>
              <a:t>        //before</a:t>
            </a:r>
          </a:p>
          <a:p>
            <a:r>
              <a:rPr lang="en-US" altLang="ko-KR" dirty="0"/>
              <a:t>        //</a:t>
            </a:r>
            <a:r>
              <a:rPr lang="ko-KR" altLang="en-US" dirty="0" err="1"/>
              <a:t>주업무</a:t>
            </a:r>
            <a:endParaRPr lang="ko-KR" altLang="en-US" dirty="0"/>
          </a:p>
          <a:p>
            <a:r>
              <a:rPr lang="ko-KR" altLang="en-US" dirty="0"/>
              <a:t>        </a:t>
            </a:r>
            <a:r>
              <a:rPr lang="en-US" altLang="ko-KR" dirty="0"/>
              <a:t>Object obj = </a:t>
            </a:r>
            <a:r>
              <a:rPr lang="en-US" altLang="ko-KR" dirty="0" err="1"/>
              <a:t>jp.proceed</a:t>
            </a:r>
            <a:r>
              <a:rPr lang="en-US" altLang="ko-KR" dirty="0"/>
              <a:t>();</a:t>
            </a:r>
          </a:p>
          <a:p>
            <a:r>
              <a:rPr lang="en-US" altLang="ko-KR" dirty="0"/>
              <a:t>		//@AfterReturning</a:t>
            </a:r>
          </a:p>
          <a:p>
            <a:r>
              <a:rPr lang="en-US" altLang="ko-KR" dirty="0"/>
              <a:t>        //@After</a:t>
            </a:r>
          </a:p>
          <a:p>
            <a:r>
              <a:rPr lang="en-US" altLang="ko-KR" dirty="0"/>
              <a:t>        </a:t>
            </a:r>
            <a:r>
              <a:rPr lang="en-US" altLang="ko-KR" dirty="0" err="1"/>
              <a:t>System.out.println</a:t>
            </a:r>
            <a:r>
              <a:rPr lang="en-US" altLang="ko-KR" dirty="0"/>
              <a:t>("--------------------------------");</a:t>
            </a:r>
          </a:p>
          <a:p>
            <a:r>
              <a:rPr lang="en-US" altLang="ko-KR" dirty="0"/>
              <a:t>		</a:t>
            </a:r>
            <a:r>
              <a:rPr lang="en-US" altLang="ko-KR" dirty="0" err="1"/>
              <a:t>System.out.println</a:t>
            </a:r>
            <a:r>
              <a:rPr lang="en-US" altLang="ko-KR" dirty="0"/>
              <a:t>("[</a:t>
            </a:r>
            <a:r>
              <a:rPr lang="ko-KR" altLang="en-US" dirty="0"/>
              <a:t>메서드 호출 후 </a:t>
            </a:r>
            <a:r>
              <a:rPr lang="en-US" altLang="ko-KR" dirty="0"/>
              <a:t>: </a:t>
            </a:r>
            <a:r>
              <a:rPr lang="en-US" altLang="ko-KR" dirty="0" err="1"/>
              <a:t>LogginAdvice</a:t>
            </a:r>
            <a:r>
              <a:rPr lang="en-US" altLang="ko-KR" dirty="0"/>
              <a:t>");</a:t>
            </a:r>
          </a:p>
          <a:p>
            <a:r>
              <a:rPr lang="en-US" altLang="ko-KR" dirty="0"/>
              <a:t>		</a:t>
            </a:r>
            <a:r>
              <a:rPr lang="en-US" altLang="ko-KR" dirty="0" err="1"/>
              <a:t>System.out.println</a:t>
            </a:r>
            <a:r>
              <a:rPr lang="en-US" altLang="ko-KR" dirty="0"/>
              <a:t>(</a:t>
            </a:r>
            <a:r>
              <a:rPr lang="en-US" altLang="ko-KR" dirty="0" err="1"/>
              <a:t>jp.getSignature</a:t>
            </a:r>
            <a:r>
              <a:rPr lang="en-US" altLang="ko-KR" dirty="0"/>
              <a:t>().</a:t>
            </a:r>
            <a:r>
              <a:rPr lang="en-US" altLang="ko-KR" dirty="0" err="1"/>
              <a:t>getName</a:t>
            </a:r>
            <a:r>
              <a:rPr lang="en-US" altLang="ko-KR" dirty="0"/>
              <a:t>() + "</a:t>
            </a:r>
            <a:r>
              <a:rPr lang="ko-KR" altLang="en-US" dirty="0"/>
              <a:t>메서드 호출 후</a:t>
            </a:r>
            <a:r>
              <a:rPr lang="en-US" altLang="ko-KR" dirty="0"/>
              <a:t>");</a:t>
            </a:r>
          </a:p>
          <a:p>
            <a:r>
              <a:rPr lang="en-US" altLang="ko-KR" dirty="0"/>
              <a:t>		return obj;</a:t>
            </a:r>
          </a:p>
          <a:p>
            <a:r>
              <a:rPr lang="en-US" altLang="ko-KR" dirty="0"/>
              <a:t>	}</a:t>
            </a:r>
          </a:p>
          <a:p>
            <a:r>
              <a:rPr lang="en-US" altLang="ko-KR" dirty="0"/>
              <a:t>	</a:t>
            </a:r>
          </a:p>
          <a:p>
            <a:r>
              <a:rPr lang="en-US" altLang="ko-KR" dirty="0"/>
              <a:t>	@Before("targetMethod2()")</a:t>
            </a:r>
          </a:p>
          <a:p>
            <a:r>
              <a:rPr lang="en-US" altLang="ko-KR" dirty="0"/>
              <a:t>	public void f1() {</a:t>
            </a:r>
          </a:p>
          <a:p>
            <a:r>
              <a:rPr lang="en-US" altLang="ko-KR" dirty="0"/>
              <a:t>		</a:t>
            </a:r>
            <a:r>
              <a:rPr lang="en-US" altLang="ko-KR" dirty="0" err="1"/>
              <a:t>System.out.println</a:t>
            </a:r>
            <a:r>
              <a:rPr lang="en-US" altLang="ko-KR" dirty="0"/>
              <a:t>("-----------@Before </a:t>
            </a:r>
            <a:r>
              <a:rPr lang="en-US" altLang="ko-KR" dirty="0" err="1"/>
              <a:t>LoggingAdvice</a:t>
            </a:r>
            <a:r>
              <a:rPr lang="en-US" altLang="ko-KR" dirty="0"/>
              <a:t>");</a:t>
            </a:r>
          </a:p>
          <a:p>
            <a:r>
              <a:rPr lang="en-US" altLang="ko-KR" dirty="0"/>
              <a:t>	}</a:t>
            </a:r>
          </a:p>
          <a:p>
            <a:r>
              <a:rPr lang="en-US" altLang="ko-KR" dirty="0"/>
              <a:t>	@After("targetMethod2()")</a:t>
            </a:r>
          </a:p>
          <a:p>
            <a:r>
              <a:rPr lang="en-US" altLang="ko-KR" dirty="0"/>
              <a:t>	public void f2() {</a:t>
            </a:r>
          </a:p>
          <a:p>
            <a:r>
              <a:rPr lang="en-US" altLang="ko-KR" dirty="0"/>
              <a:t>		</a:t>
            </a:r>
            <a:r>
              <a:rPr lang="en-US" altLang="ko-KR" dirty="0" err="1"/>
              <a:t>System.out.println</a:t>
            </a:r>
            <a:r>
              <a:rPr lang="en-US" altLang="ko-KR" dirty="0"/>
              <a:t>("-----------@After </a:t>
            </a:r>
            <a:r>
              <a:rPr lang="en-US" altLang="ko-KR" dirty="0" err="1"/>
              <a:t>LoggingAdvice</a:t>
            </a:r>
            <a:r>
              <a:rPr lang="en-US" altLang="ko-KR" dirty="0"/>
              <a:t>");</a:t>
            </a:r>
          </a:p>
          <a:p>
            <a:r>
              <a:rPr lang="en-US" altLang="ko-KR" dirty="0"/>
              <a:t>	}</a:t>
            </a:r>
          </a:p>
          <a:p>
            <a:r>
              <a:rPr lang="en-US" altLang="ko-KR" dirty="0"/>
              <a:t>	@AfterReturning("targetMethod2()")</a:t>
            </a:r>
          </a:p>
          <a:p>
            <a:r>
              <a:rPr lang="en-US" altLang="ko-KR" dirty="0"/>
              <a:t>	public void f3() {</a:t>
            </a:r>
          </a:p>
          <a:p>
            <a:r>
              <a:rPr lang="en-US" altLang="ko-KR" dirty="0"/>
              <a:t>		</a:t>
            </a:r>
            <a:r>
              <a:rPr lang="en-US" altLang="ko-KR" dirty="0" err="1"/>
              <a:t>System.out.println</a:t>
            </a:r>
            <a:r>
              <a:rPr lang="en-US" altLang="ko-KR" dirty="0"/>
              <a:t>("-----------@</a:t>
            </a:r>
            <a:r>
              <a:rPr lang="en-US" altLang="ko-KR" dirty="0" err="1"/>
              <a:t>AfterReturning</a:t>
            </a:r>
            <a:r>
              <a:rPr lang="en-US" altLang="ko-KR" dirty="0"/>
              <a:t> </a:t>
            </a:r>
            <a:r>
              <a:rPr lang="en-US" altLang="ko-KR" dirty="0" err="1"/>
              <a:t>LoggingAdvice</a:t>
            </a:r>
            <a:r>
              <a:rPr lang="en-US" altLang="ko-KR" dirty="0"/>
              <a:t>");</a:t>
            </a:r>
          </a:p>
          <a:p>
            <a:r>
              <a:rPr lang="en-US" altLang="ko-KR" dirty="0"/>
              <a:t>	}</a:t>
            </a:r>
          </a:p>
          <a:p>
            <a:r>
              <a:rPr lang="en-US" altLang="ko-KR" dirty="0"/>
              <a:t>	@AfterThrowing("targetMethod2()")</a:t>
            </a:r>
          </a:p>
          <a:p>
            <a:r>
              <a:rPr lang="en-US" altLang="ko-KR" dirty="0"/>
              <a:t>	public void f4() {</a:t>
            </a:r>
          </a:p>
          <a:p>
            <a:r>
              <a:rPr lang="en-US" altLang="ko-KR" dirty="0"/>
              <a:t>		</a:t>
            </a:r>
            <a:r>
              <a:rPr lang="en-US" altLang="ko-KR" dirty="0" err="1"/>
              <a:t>System.out.println</a:t>
            </a:r>
            <a:r>
              <a:rPr lang="en-US" altLang="ko-KR" dirty="0"/>
              <a:t>("-----------@</a:t>
            </a:r>
            <a:r>
              <a:rPr lang="en-US" altLang="ko-KR" dirty="0" err="1"/>
              <a:t>AfterThrowing</a:t>
            </a:r>
            <a:r>
              <a:rPr lang="en-US" altLang="ko-KR" dirty="0"/>
              <a:t> </a:t>
            </a:r>
            <a:r>
              <a:rPr lang="en-US" altLang="ko-KR" dirty="0" err="1"/>
              <a:t>LoggingAdvice</a:t>
            </a:r>
            <a:r>
              <a:rPr lang="en-US" altLang="ko-KR" dirty="0"/>
              <a:t>");</a:t>
            </a:r>
          </a:p>
          <a:p>
            <a:r>
              <a:rPr lang="en-US" altLang="ko-KR" dirty="0"/>
              <a:t>	}</a:t>
            </a:r>
          </a:p>
          <a:p>
            <a:r>
              <a:rPr lang="en-US" altLang="ko-KR" dirty="0"/>
              <a:t>	</a:t>
            </a:r>
          </a:p>
          <a:p>
            <a:r>
              <a:rPr lang="en-US" altLang="ko-KR" dirty="0"/>
              <a:t>	</a:t>
            </a:r>
          </a:p>
          <a:p>
            <a:r>
              <a:rPr lang="en-US" altLang="ko-KR" dirty="0"/>
              <a:t>	</a:t>
            </a:r>
          </a:p>
          <a:p>
            <a:r>
              <a:rPr lang="en-US" altLang="ko-KR" dirty="0"/>
              <a:t>	</a:t>
            </a:r>
          </a:p>
          <a:p>
            <a:r>
              <a:rPr lang="en-US" altLang="ko-KR" dirty="0"/>
              <a:t>	</a:t>
            </a:r>
          </a:p>
          <a:p>
            <a:r>
              <a:rPr lang="en-US" altLang="ko-KR" dirty="0"/>
              <a:t>	</a:t>
            </a:r>
          </a:p>
          <a:p>
            <a:r>
              <a:rPr lang="en-US" altLang="ko-KR" dirty="0"/>
              <a:t>	 </a:t>
            </a:r>
          </a:p>
          <a:p>
            <a:r>
              <a:rPr lang="en-US" altLang="ko-KR"/>
              <a:t>}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82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04897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83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04897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CCFAF-48C2-1234-6019-907E91B77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234F16-895A-5A96-4036-4F1CD0F2EA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990D1D-F559-A846-F7F3-5F88F9F31C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15E12D-0844-3569-1646-873C0CAF1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84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669753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eclipse-jee-2021-09-R-win32-x86_64 : </a:t>
            </a:r>
            <a:r>
              <a:rPr lang="en-US" altLang="ko-KR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Spring MVC Project </a:t>
            </a:r>
            <a:r>
              <a:rPr lang="ko-KR" altLang="en-US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생성</a:t>
            </a:r>
            <a:r>
              <a:rPr lang="en-US" altLang="ko-KR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 오류</a:t>
            </a:r>
            <a:r>
              <a:rPr lang="en-US" altLang="ko-KR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eclipse-jee-2021-03-R-win32-x86_64 : Spring MVC Project </a:t>
            </a:r>
            <a:r>
              <a:rPr lang="ko-KR" altLang="en-US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생성</a:t>
            </a:r>
            <a:r>
              <a:rPr lang="en-US" altLang="ko-KR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정상 </a:t>
            </a:r>
            <a:endParaRPr lang="en-US" altLang="ko-KR" sz="1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en-US" altLang="ko-KR" sz="1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r>
              <a:rPr lang="en-US" altLang="ko-KR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&lt;java-version&gt;1.8&lt;/java-version&gt;		</a:t>
            </a:r>
          </a:p>
          <a:p>
            <a:r>
              <a:rPr lang="en-US" altLang="ko-KR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&lt;</a:t>
            </a:r>
            <a:r>
              <a:rPr lang="en-US" altLang="ko-KR" sz="12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org.springframework</a:t>
            </a:r>
            <a:r>
              <a:rPr lang="en-US" altLang="ko-KR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-version&gt;5.3.5&lt;/</a:t>
            </a:r>
            <a:r>
              <a:rPr lang="en-US" altLang="ko-KR" sz="12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org.springframework</a:t>
            </a:r>
            <a:r>
              <a:rPr lang="en-US" altLang="ko-KR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-version&gt;		</a:t>
            </a:r>
          </a:p>
          <a:p>
            <a:r>
              <a:rPr lang="en-US" altLang="ko-KR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&lt;</a:t>
            </a:r>
            <a:r>
              <a:rPr lang="en-US" altLang="ko-KR" sz="12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org.aspectj</a:t>
            </a:r>
            <a:r>
              <a:rPr lang="en-US" altLang="ko-KR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-version&gt;1.6.10&lt;/</a:t>
            </a:r>
            <a:r>
              <a:rPr lang="en-US" altLang="ko-KR" sz="12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org.aspectj</a:t>
            </a:r>
            <a:r>
              <a:rPr lang="en-US" altLang="ko-KR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-version&gt;		</a:t>
            </a:r>
          </a:p>
          <a:p>
            <a:r>
              <a:rPr lang="en-US" altLang="ko-KR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&lt;org.slf4j-version&gt;1.6.6&lt;/org.slf4j-version&gt;</a:t>
            </a:r>
          </a:p>
          <a:p>
            <a:endParaRPr lang="en-US" altLang="ko-KR" sz="1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r>
              <a:rPr lang="en-US" altLang="ko-KR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lo4j.xml </a:t>
            </a:r>
            <a:r>
              <a:rPr lang="ko-KR" altLang="en-US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에서 </a:t>
            </a:r>
            <a:r>
              <a:rPr lang="en-US" altLang="ko-KR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DTD </a:t>
            </a:r>
            <a:r>
              <a:rPr lang="ko-KR" altLang="en-US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오류 수정 </a:t>
            </a:r>
            <a:endParaRPr lang="en-US" altLang="ko-KR" sz="1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&lt;!DOCTYPE log4j:configuration PUBLIC "-//APACHE//DTD LOG4J 1.2//EN" "http://logging.apache.org/log4j/1.2/apidocs/org/apache/log4j/xml/doc-files/log4j.dtd"&gt;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90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82190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web.xml</a:t>
            </a:r>
            <a:r>
              <a:rPr lang="en-US" altLang="ko-KR" baseline="0" dirty="0"/>
              <a:t> </a:t>
            </a:r>
            <a:r>
              <a:rPr lang="ko-KR" altLang="en-US" baseline="0" dirty="0"/>
              <a:t>오류   </a:t>
            </a:r>
            <a:r>
              <a:rPr lang="en-US" altLang="ko-KR" baseline="0" dirty="0"/>
              <a:t>: </a:t>
            </a:r>
            <a:r>
              <a:rPr lang="ko-KR" altLang="en-US" baseline="0" dirty="0"/>
              <a:t>스키마 </a:t>
            </a:r>
            <a:r>
              <a:rPr lang="en-US" altLang="ko-KR" baseline="0" dirty="0"/>
              <a:t>location</a:t>
            </a:r>
            <a:r>
              <a:rPr lang="ko-KR" altLang="en-US" baseline="0" dirty="0"/>
              <a:t>의 </a:t>
            </a:r>
            <a:r>
              <a:rPr lang="en-US" altLang="ko-KR" baseline="0" dirty="0"/>
              <a:t>URL</a:t>
            </a:r>
            <a:r>
              <a:rPr lang="ko-KR" altLang="en-US" baseline="0" dirty="0"/>
              <a:t>의 주소에서 </a:t>
            </a:r>
            <a:r>
              <a:rPr lang="en-US" altLang="ko-KR" baseline="0" dirty="0"/>
              <a:t>java</a:t>
            </a:r>
            <a:r>
              <a:rPr lang="ko-KR" altLang="en-US" baseline="0" dirty="0"/>
              <a:t>소문자를 대문자</a:t>
            </a:r>
            <a:r>
              <a:rPr lang="en-US" altLang="ko-KR" baseline="0" dirty="0"/>
              <a:t>J</a:t>
            </a:r>
            <a:r>
              <a:rPr lang="ko-KR" altLang="en-US" baseline="0" dirty="0"/>
              <a:t>로 수정하기 </a:t>
            </a:r>
            <a:endParaRPr lang="en-US" altLang="ko-KR" baseline="0" dirty="0"/>
          </a:p>
          <a:p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xsi:schemaLocation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"http://Java.sun.com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92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65461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@WebFilter</a:t>
            </a:r>
            <a:r>
              <a:rPr lang="ko-KR" altLang="en-US" dirty="0"/>
              <a:t>는 </a:t>
            </a:r>
            <a:r>
              <a:rPr lang="ko-KR" altLang="en-US" dirty="0" err="1"/>
              <a:t>톰캣이</a:t>
            </a:r>
            <a:r>
              <a:rPr lang="ko-KR" altLang="en-US" dirty="0"/>
              <a:t> 스캔함  </a:t>
            </a:r>
            <a:r>
              <a:rPr lang="en-US" altLang="ko-KR" dirty="0"/>
              <a:t>web.xml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&lt;!-- Creates the Spring Container shared by all </a:t>
            </a:r>
            <a:r>
              <a:rPr lang="en-US" altLang="ko-KR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Servlets and Filters(</a:t>
            </a:r>
            <a:r>
              <a:rPr lang="ko-KR" altLang="en-US" sz="1200" u="sng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톰캣이</a:t>
            </a:r>
            <a:r>
              <a:rPr lang="ko-KR" altLang="en-US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자동으로 필터를 등록</a:t>
            </a:r>
            <a:r>
              <a:rPr lang="en-US" altLang="ko-KR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--&gt;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&lt;listener&gt;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&lt;listener-class&gt;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org.springframework.web.context.ContextLoaderListener</a:t>
            </a:r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&lt;/listener-class&gt;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&lt;/listener&gt;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93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97403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&lt;filter&gt;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&lt;filter-name&gt;encodingFilter&lt;/filter-name&gt;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&lt;filter-class&gt;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org.springframework.web.filter.CharacterEncodingFilter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&lt;/filter-class&gt;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&lt;init-param&gt;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&lt;param-name&gt;encoding&lt;/param-name&gt;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&lt;param-value&gt;UTF-8&lt;/param-value&gt;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&lt;/init-param&gt;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&lt;/filter&gt;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&lt;filter-mapping&gt;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&lt;filter-name&gt;encodingFilter&lt;/filter-name&gt;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&lt;url-pattern&gt;/*&lt;/url-pattern&gt;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&lt;/filter-mapping&gt;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98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434655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for(Entry&lt;String, String&gt; entry :user.entrySet()) {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System.</a:t>
            </a:r>
            <a:r>
              <a:rPr lang="en-US" altLang="ko-KR" sz="1200" b="1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out.println(entry.getKey() + "==&gt;" + entry.getValue());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103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71162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@RequestMapping(value = "hello7.do"  )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String paramRequest7(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@ModelAttribute("user")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UserVO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user2) {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user2.setUserid("333");</a:t>
            </a:r>
          </a:p>
          <a:p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System.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out.println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(user2);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 "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helloOutputVO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";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104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55634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FC957-2327-70FF-CCEE-8B14ABC62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67C92D-DF51-3B7A-D0FC-9F3A617897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186A08-BE69-8BDD-A502-0E94F97FE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00B16F-89B5-3406-2BD6-909BB1EEFF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105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656496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9369A-AA4D-0D0A-C771-96DA89F51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47A115B-D64D-5386-6FB9-A6CA092F28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33418D-6183-8EA9-8DF0-3DBF2800D3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57B766-05B1-960A-2AC6-CECC9CF013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106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145721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  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107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19964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59420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36464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&lt;filter&gt;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&lt;filter-name&gt;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encodingFilter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&lt;/filter-name&gt;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&lt;filter-class&gt;</a:t>
            </a:r>
          </a:p>
          <a:p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org.springframework.web.filter.CharacterEncodingFilter</a:t>
            </a:r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&lt;/filter-class&gt;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-param&gt;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&lt;param-name&gt;encoding&lt;/param-name&gt;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&lt;param-value&gt;UTF-8&lt;/param-value&gt;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-param&gt;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&lt;/filter&gt;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&lt;filter-mapping&gt;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&lt;filter-name&gt;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encodingFilter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&lt;/filter-name&gt;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url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-pattern&gt;/*&lt;/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url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-pattern&gt;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&lt;/filter-mapping&gt;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67273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연산오류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System.out.println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(10/0);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기타오류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Class.forName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</a:t>
            </a:r>
            <a:r>
              <a:rPr lang="en-US" altLang="ko-KR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aa");</a:t>
            </a:r>
          </a:p>
          <a:p>
            <a:endParaRPr lang="en-US" altLang="ko-KR" sz="1200" u="sng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//@ExceptionHandler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가 하나의 클래스에 대한 것이라면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@ControllerAdvice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는 모든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@Controller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전역에서 발생할 수 있는 예외를 잡아 처리해주는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annotation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이다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//@ControllerAdvice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class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ExceptionAdvice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{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@ExceptionHandler(Exception.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class)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String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processException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(Exception ex) {</a:t>
            </a:r>
          </a:p>
          <a:p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System.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out.println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ex.getClass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());</a:t>
            </a:r>
          </a:p>
          <a:p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System.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out.println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ex.getMessage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());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 "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errorPage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16968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init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-param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param-name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throwExceptionIfNoHandlerFound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param-name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param-value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true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param-value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init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-param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16968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@ControllerAdvice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class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ExceptionHandlerController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{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@ExceptionHandler(NoHandlerFoundException.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class)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ModelAndView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handlerError404(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HttpServletRequest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request) {</a:t>
            </a:r>
          </a:p>
          <a:p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ModelAndView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mv =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ModelAndView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mv.addObject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errorMessage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", "404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오류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");</a:t>
            </a:r>
          </a:p>
          <a:p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mv.addObject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url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",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request.getRequestURL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());</a:t>
            </a:r>
          </a:p>
          <a:p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mv.setViewName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("error/errorPage404");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 mv;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16968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A86EF-DBCD-6DCE-D736-914BD416D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B6C7C1-05FA-6A9D-1C3C-783C08CB2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5DBCBF-B494-831A-6747-18AC2AAE88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A20494-E0A8-97E8-3BAC-947D287B24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948133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54171-6D03-CFA9-9831-A39943AA6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803144-B5A4-0A73-AC57-5D3E36FB30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7EB457-F8C9-A0B8-0745-9B43349B82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22C2DF-AB60-32F2-E5D9-DB09400165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48424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8E511-C8A8-667E-45ED-CB70207F9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AAA1D0-1FBB-63E6-B066-922A42084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445528-50AB-3F08-CF17-C2A52DF803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1BDE85-5949-4C8B-C0A2-2B12CBE948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54093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&lt;!-- spring </a:t>
            </a:r>
            <a:r>
              <a:rPr lang="en-US" altLang="ko-KR" sz="1200" u="sng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jdbc</a:t>
            </a:r>
            <a:r>
              <a:rPr lang="ko-KR" altLang="en-US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를 이용해서 </a:t>
            </a:r>
            <a:r>
              <a:rPr lang="en-US" altLang="ko-KR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DB</a:t>
            </a:r>
            <a:r>
              <a:rPr lang="ko-KR" altLang="en-US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사용 </a:t>
            </a:r>
            <a:r>
              <a:rPr lang="en-US" altLang="ko-KR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--&gt;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&lt;bean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"org.springframework.context.support.PropertySourcesPlaceholderConfigurer"&gt;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&lt;property name=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locations"&gt;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&lt;list&gt;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&lt;value&gt;/WEB-INF/spring/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oracleDB.properties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&lt;/value&gt;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&lt;value&gt;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classpath:jwt.properties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&lt;/value&gt;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&lt;/list&gt;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&lt;/property&gt;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&lt;property name=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u="sng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fileEncoding</a:t>
            </a:r>
            <a:r>
              <a:rPr lang="en-US" altLang="ko-KR" sz="1200" i="1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value="UTF-8" /&gt;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&lt;/bean&gt;</a:t>
            </a:r>
          </a:p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&lt;bean id=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"dataSource2" class="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org.springframework.jdbc.datasource.DriverManagerDataSource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"&gt;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&lt;property name=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u="sng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driverClassName</a:t>
            </a:r>
            <a:r>
              <a:rPr lang="en-US" altLang="ko-KR" sz="1200" i="1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value="${</a:t>
            </a:r>
            <a:r>
              <a:rPr lang="en-US" altLang="ko-KR" sz="1200" i="1" u="sng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oracle.driverClassName</a:t>
            </a:r>
            <a:r>
              <a:rPr lang="en-US" altLang="ko-KR" sz="1200" i="1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}"/&gt;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&lt;property name=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u="sng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url</a:t>
            </a:r>
            <a:r>
              <a:rPr lang="en-US" altLang="ko-KR" sz="1200" i="1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value="${oracle.url}"/&gt;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&lt;property name=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username" value="${</a:t>
            </a:r>
            <a:r>
              <a:rPr lang="en-US" altLang="ko-KR" sz="1200" i="1" u="sng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oracle.username</a:t>
            </a:r>
            <a:r>
              <a:rPr lang="en-US" altLang="ko-KR" sz="1200" i="1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}"/&gt;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&lt;property name=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password" value="${oracle.pwd}"/&gt;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&lt;/bean&gt; 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686246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C7EDD-1E74-C3BF-16C0-684A56175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C54B50F-F4E6-86CB-9146-D4E45BD460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0BBFA7-3242-7DB0-3F9A-2652D0E4A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&lt;!-- spring </a:t>
            </a:r>
            <a:r>
              <a:rPr lang="en-US" altLang="ko-KR" sz="1200" u="sng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jdbc</a:t>
            </a:r>
            <a:r>
              <a:rPr lang="ko-KR" altLang="en-US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를 이용해서 </a:t>
            </a:r>
            <a:r>
              <a:rPr lang="en-US" altLang="ko-KR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DB</a:t>
            </a:r>
            <a:r>
              <a:rPr lang="ko-KR" altLang="en-US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사용 </a:t>
            </a:r>
            <a:r>
              <a:rPr lang="en-US" altLang="ko-KR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--&gt;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&lt;bean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"org.springframework.context.support.PropertySourcesPlaceholderConfigurer"&gt;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&lt;property name=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locations"&gt;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&lt;list&gt;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&lt;value&gt;/WEB-INF/spring/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oracleDB.properties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&lt;/value&gt;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&lt;value&gt;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classpath:jwt.properties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&lt;/value&gt;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&lt;/list&gt;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&lt;/property&gt;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&lt;property name=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u="sng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fileEncoding</a:t>
            </a:r>
            <a:r>
              <a:rPr lang="en-US" altLang="ko-KR" sz="1200" i="1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value="UTF-8" /&gt;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&lt;/bean&gt;</a:t>
            </a:r>
          </a:p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&lt;bean id=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"dataSource2" class="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org.springframework.jdbc.datasource.DriverManagerDataSource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"&gt;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&lt;property name=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u="sng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driverClassName</a:t>
            </a:r>
            <a:r>
              <a:rPr lang="en-US" altLang="ko-KR" sz="1200" i="1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value="${</a:t>
            </a:r>
            <a:r>
              <a:rPr lang="en-US" altLang="ko-KR" sz="1200" i="1" u="sng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oracle.driverClassName</a:t>
            </a:r>
            <a:r>
              <a:rPr lang="en-US" altLang="ko-KR" sz="1200" i="1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}"/&gt;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&lt;property name=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u="sng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url</a:t>
            </a:r>
            <a:r>
              <a:rPr lang="en-US" altLang="ko-KR" sz="1200" i="1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value="${oracle.url}"/&gt;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&lt;property name=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username" value="${</a:t>
            </a:r>
            <a:r>
              <a:rPr lang="en-US" altLang="ko-KR" sz="1200" i="1" u="sng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oracle.username</a:t>
            </a:r>
            <a:r>
              <a:rPr lang="en-US" altLang="ko-KR" sz="1200" i="1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}"/&gt;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&lt;property name=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password" value="${oracle.pwd}"/&gt;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&lt;/bean&gt; 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02FEEA-E758-7E5F-4A2B-45AFEACC3A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72929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&lt;!-- Connection Pooling: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미리 생성된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Connection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을 얻어서 처리가능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--&gt;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&lt;!--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같은 타입의 빈이 </a:t>
            </a:r>
            <a:r>
              <a:rPr lang="ko-KR" alt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여러개인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경우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@Autowired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시 선택되는 빈이라면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primary="true" --&gt;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&lt;bean id=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dataSourceOriginal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primary="true"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"org.apache.commons.dbcp2.BasicDataSource"&gt;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&lt;property name=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u="sng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driverClassName</a:t>
            </a:r>
            <a:r>
              <a:rPr lang="en-US" altLang="ko-KR" sz="1200" i="1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oracle.jdbc.driver.OracleDriver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/&gt;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&lt;property name=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u="sng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url</a:t>
            </a:r>
            <a:r>
              <a:rPr lang="en-US" altLang="ko-KR" sz="1200" i="1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value="</a:t>
            </a:r>
            <a:r>
              <a:rPr lang="en-US" altLang="ko-KR" sz="1200" i="1" u="sng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jdbc:oracle:thin</a:t>
            </a:r>
            <a:r>
              <a:rPr lang="en-US" altLang="ko-KR" sz="1200" i="1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:@localhost:1521:xe" /&gt;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&lt;property name=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username" value="</a:t>
            </a:r>
            <a:r>
              <a:rPr lang="en-US" altLang="ko-KR" sz="1200" i="1" u="sng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hr</a:t>
            </a:r>
            <a:r>
              <a:rPr lang="en-US" altLang="ko-KR" sz="1200" i="1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/&gt;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&lt;property name=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password" value="</a:t>
            </a:r>
            <a:r>
              <a:rPr lang="en-US" altLang="ko-KR" sz="1200" i="1" u="sng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hr</a:t>
            </a:r>
            <a:r>
              <a:rPr lang="en-US" altLang="ko-KR" sz="1200" i="1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/&gt;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&lt;/bean&gt;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141100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LoginCheck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Filter]</a:t>
            </a:r>
            <a:r>
              <a:rPr lang="en-US" altLang="ko-KR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lang="en-US" altLang="ko-KR" sz="1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ko-KR" sz="1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void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doFilter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ServletRequest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request,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ServletResponse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response,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FilterChain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chain) throws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IOException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ServletException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{</a:t>
            </a:r>
          </a:p>
          <a:p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HttpSession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session = ((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HttpServletRequest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)request).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getSession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MemberVO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member =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null;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if(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session.getAttribute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("user")!=null) {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member = (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MemberVO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session.getAttribute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("member");</a:t>
            </a:r>
          </a:p>
          <a:p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System.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out.println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(member);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if(member !=null) {  </a:t>
            </a:r>
          </a:p>
          <a:p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chain.doFilter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(request, response); 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else {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((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HttpServletResponse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)response).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sendRedirect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("/education/login"); 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 pass the request along the filter chain</a:t>
            </a:r>
          </a:p>
          <a:p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chain.doFilter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(request, response);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08877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643710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110976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2607413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046313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3974672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st.setNull</a:t>
            </a:r>
            <a:r>
              <a:rPr lang="en-US" altLang="ko-KR" dirty="0"/>
              <a:t>( 1, </a:t>
            </a:r>
            <a:r>
              <a:rPr lang="en-US" altLang="ko-KR" dirty="0" err="1"/>
              <a:t>Types.INTEGER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013641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&lt;if test=</a:t>
            </a:r>
            <a:r>
              <a:rPr lang="en-US" altLang="ko-KR" sz="1200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"manager_id!=0"&gt;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manager_id=#{manager_id}, 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&lt;/if&gt;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102390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&lt;if test=</a:t>
            </a:r>
            <a:r>
              <a:rPr lang="en-US" altLang="ko-KR" sz="1200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"manager_id!=0"&gt;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manager_id=#{manager_id}, 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&lt;/if&gt;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102390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706036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7728823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62448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7669132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5BF1C-0586-944E-6660-B61E8B7AA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39CFB1-2A46-CD83-18BC-7A98831EBA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7E2B4B-AADD-56C0-E673-4FB29B01DE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8740C1-7333-E26E-884C-1E12B0CB11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714895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&lt;!DOCTYPE log4j:configuration SYSTEM "http://logging.apache.org/log4j/1.2/apidocs/org/apache/log4j/xml/doc-files/log4j.dtd"&gt;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778602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&lt;!DOCTYPE log4j:configuration SYSTEM "http://logging.apache.org/log4j/1.2/apidocs/org/apache/log4j/xml/doc-files/log4j.dtd"&gt;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％</a:t>
            </a:r>
            <a:r>
              <a:rPr lang="ko-KR" alt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ｎ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　：</a:t>
            </a:r>
            <a:r>
              <a:rPr lang="ko-KR" alt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ｎｅｗ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　</a:t>
            </a:r>
            <a:r>
              <a:rPr lang="ko-KR" alt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ｌｉｎｅ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　</a:t>
            </a:r>
            <a:endParaRPr lang="fr-FR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7813776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&lt;!DOCTYPE log4j:configuration SYSTEM "http://logging.apache.org/log4j/1.2/apidocs/org/apache/log4j/xml/doc-files/log4j.dtd"&gt;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0932575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DataSource</a:t>
            </a:r>
            <a:r>
              <a:rPr lang="ko-KR" altLang="en-US"/>
              <a:t>가 </a:t>
            </a:r>
            <a:r>
              <a:rPr lang="en-US" altLang="ko-KR"/>
              <a:t>2</a:t>
            </a:r>
            <a:r>
              <a:rPr lang="ko-KR" altLang="en-US"/>
              <a:t>개이므로 </a:t>
            </a:r>
            <a:r>
              <a:rPr lang="en-US" altLang="ko-KR"/>
              <a:t>JDBC</a:t>
            </a:r>
            <a:r>
              <a:rPr lang="ko-KR" altLang="en-US"/>
              <a:t>로 만든 </a:t>
            </a:r>
            <a:r>
              <a:rPr lang="en-US" altLang="ko-KR"/>
              <a:t>DAO </a:t>
            </a:r>
            <a:r>
              <a:rPr lang="ko-KR" altLang="en-US"/>
              <a:t>기존코드 오류에 주의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9606754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&lt;!--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DailyFile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Appenders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--&gt;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appender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name=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dailyFileAppender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"org.apache.log4j.DailyRollingFileAppender"&gt;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&lt;param name=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"File" value="C:\\spring\\logs\\output.log" /&gt;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&lt;param name=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"Append" value="true" /&gt;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&lt;param name=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"DatePattern" value="'.'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yyyy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-MM-dd" /&gt;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&lt;layout class=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"org.apache.log4j.PatternLayout"&gt;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&lt;param name=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ConversionPattern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"[%d{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HH:mm:ss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}][%-5p](%F:%L)-%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m%n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/&gt;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&lt;/layout&gt;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appender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6363280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7620643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7620643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C3B74-3462-BCBB-9BF9-E7DDC0A9F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3244BC-818F-45E9-66E7-6081CF2D7C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84B39C-E11A-BCC4-FA32-9B7523EF0A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class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ArticleServiceTest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{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@Autowired</a:t>
            </a:r>
          </a:p>
          <a:p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ArticleService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articleService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@Test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selectAll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{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List&lt;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ArticleDTO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 list = articleService.selectAll2();</a:t>
            </a:r>
          </a:p>
          <a:p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System.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out.println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</a:t>
            </a:r>
            <a:r>
              <a:rPr lang="ko-KR" altLang="en-US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건수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:"</a:t>
            </a:r>
            <a:r>
              <a:rPr lang="ko-KR" altLang="en-US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 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list.size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());</a:t>
            </a:r>
          </a:p>
          <a:p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list.forEach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(article-&gt;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System.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out.println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(article));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9A459C-E677-BE54-3243-03CDD9107F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176949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1828D-4D72-5EB0-C34F-C0375CD95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244FDA-CF46-1A90-F514-2B4CDB1C6E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9726D3-9151-B77E-7E86-6F6394EABD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@WebFilter</a:t>
            </a:r>
            <a:r>
              <a:rPr lang="ko-KR" altLang="en-US" dirty="0"/>
              <a:t>는 </a:t>
            </a:r>
            <a:r>
              <a:rPr lang="ko-KR" altLang="en-US" dirty="0" err="1"/>
              <a:t>톰캣이</a:t>
            </a:r>
            <a:r>
              <a:rPr lang="ko-KR" altLang="en-US" dirty="0"/>
              <a:t> 스캔함  </a:t>
            </a:r>
            <a:r>
              <a:rPr lang="en-US" altLang="ko-KR" dirty="0"/>
              <a:t>web.xml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&lt;!-- Creates the Spring Container shared by all </a:t>
            </a:r>
            <a:r>
              <a:rPr lang="en-US" altLang="ko-KR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Servlets and Filters(</a:t>
            </a:r>
            <a:r>
              <a:rPr lang="ko-KR" altLang="en-US" sz="1200" u="sng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톰캣이</a:t>
            </a:r>
            <a:r>
              <a:rPr lang="ko-KR" altLang="en-US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자동으로 필터를 등록</a:t>
            </a:r>
            <a:r>
              <a:rPr lang="en-US" altLang="ko-KR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--&gt;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&lt;listener&gt;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&lt;listener-class&gt;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org.springframework.web.context.ContextLoaderListener</a:t>
            </a:r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&lt;/listener-class&gt;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&lt;/listener&gt;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1004B5-2EB6-42AE-A639-708E5B0067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8612330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8734490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6B607-E01E-B5A1-2755-1BD51538A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2E6031-D3F1-BBF5-6E26-6642A7CC91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4BC5245-5156-3565-016F-E2CA20C24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package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com.shinhan.spring.aop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javax.servlet.http.HttpServletRequest;</a:t>
            </a:r>
          </a:p>
          <a:p>
            <a:r>
              <a:rPr lang="fr-FR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javax.servlet.http.HttpServletResponse;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org.springframework.web.servlet.HandlerInterceptor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lombok.extern.slf4j.Slf4j;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/*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* </a:t>
            </a:r>
            <a:r>
              <a:rPr lang="en-US" altLang="ko-KR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servlet-context.xml</a:t>
            </a:r>
            <a:r>
              <a:rPr lang="ko-KR" altLang="en-US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에 등록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@Slf4j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class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LoggingIntercepter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implements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HandlerInterceptor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{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 Controller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실행 전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@Override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boolean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preHandle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HttpServletRequest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request,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HttpServletResponse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response, Object handler)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throws Exception {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System.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out.println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("[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PreHandle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 </a:t>
            </a:r>
            <a:r>
              <a:rPr lang="ko-KR" altLang="en-US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요청 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URI: " + 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request.getRequestURI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 true; // false 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리턴 시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Controller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로 요청이 전달되지 않음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// Controller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실행 후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ViewResolver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실행 전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@Override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void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postHandle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HttpServletRequest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request,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HttpServletResponse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response, Object handler,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org.springframework.web.servlet.ModelAndView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modelAndView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throws Exception {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System.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out.println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("[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PostHandle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 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viewName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" + (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modelAndView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!= null ? 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modelAndView.getViewName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: "null"));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뷰 렌더링까지 완료된 후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@Override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void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afterCompletion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HttpServletRequest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request,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HttpServletResponse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response, Object handler,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Exception ex)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throws Exception {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System.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out.println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("[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AfterCompletion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 </a:t>
            </a:r>
            <a:r>
              <a:rPr lang="ko-KR" altLang="en-US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요청 완료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");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50F755-C580-8D30-33F8-BBC16C6107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9738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9ACCB-CAF9-548D-EB27-D0CEF3A25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BD269D-D93F-27AE-67BE-E4EBA8DFE3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17C40B4-C7F0-EE03-4C59-C80EBA2E4B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package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com.shinhan.spring.aop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javax.servlet.http.HttpServletRequest;</a:t>
            </a:r>
          </a:p>
          <a:p>
            <a:r>
              <a:rPr lang="fr-FR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javax.servlet.http.HttpServletResponse;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org.springframework.web.servlet.HandlerInterceptor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lombok.extern.slf4j.Slf4j;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/*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* </a:t>
            </a:r>
            <a:r>
              <a:rPr lang="en-US" altLang="ko-KR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servlet-context.xml</a:t>
            </a:r>
            <a:r>
              <a:rPr lang="ko-KR" altLang="en-US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에 등록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@Slf4j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class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LoggingIntercepter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implements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HandlerInterceptor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{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 Controller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실행 전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@Override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boolean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preHandle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HttpServletRequest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request,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HttpServletResponse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response, Object handler)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throws Exception {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System.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out.println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("[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PreHandle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 </a:t>
            </a:r>
            <a:r>
              <a:rPr lang="ko-KR" altLang="en-US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요청 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URI: " + 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request.getRequestURI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 true; // false 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리턴 시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Controller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로 요청이 전달되지 않음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// Controller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실행 후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ViewResolver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실행 전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@Override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void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postHandle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HttpServletRequest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request,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HttpServletResponse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response, Object handler,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org.springframework.web.servlet.ModelAndView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modelAndView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throws Exception {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System.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out.println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("[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PostHandle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 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viewName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" + (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modelAndView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!= null ? 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modelAndView.getViewName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: "null"));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뷰 렌더링까지 완료된 후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@Override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void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afterCompletion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HttpServletRequest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request,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HttpServletResponse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response, Object handler,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Exception ex)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throws Exception {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System.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out.println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("[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AfterCompletion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 </a:t>
            </a:r>
            <a:r>
              <a:rPr lang="ko-KR" altLang="en-US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요청 완료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");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B83E56-9B61-5175-380D-2A79FBF78F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805016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2492452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171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3103155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&lt;!-- AspectJ --&gt;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&lt;dependency&gt;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groupId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org.aspectj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groupId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artifactId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aspectjrt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artifactId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&lt;version&gt;${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org.aspectj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-version}&lt;/version&gt;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&lt;/dependency&gt;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-----------------------------------------------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aspectjrt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이미 </a:t>
            </a:r>
            <a:r>
              <a:rPr lang="ko-KR" alt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설정되어있음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&lt;dependency&gt;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groupId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org.aspectj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groupId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artifactId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aspectjweaver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artifactId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&gt;&lt;!-- Runtime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시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weaving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되면서 메서드 시간을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trace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해준다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--&gt;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&lt;version&gt;${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org.aspectj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-version}&lt;/version&gt;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&lt;/dependency&gt;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&lt;dependency&gt;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groupId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org.aspectj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groupId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artifactId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aspectjtools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artifactId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&gt;&lt;!-- </a:t>
            </a:r>
            <a:r>
              <a:rPr lang="en-US" altLang="ko-KR" sz="1200" u="sng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Aspectj</a:t>
            </a:r>
            <a:r>
              <a:rPr lang="en-US" altLang="ko-KR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컴파일 </a:t>
            </a:r>
            <a:r>
              <a:rPr lang="en-US" altLang="ko-KR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--&gt;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&lt;version&gt;${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org.aspectj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-version}&lt;/version&gt;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&lt;/dependency&gt;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172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3491820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/>
              <a:t>이슈있음</a:t>
            </a:r>
            <a:r>
              <a:rPr lang="en-US" altLang="ko-KR" dirty="0"/>
              <a:t>(</a:t>
            </a:r>
            <a:r>
              <a:rPr lang="ko-KR" altLang="en-US" dirty="0" err="1"/>
              <a:t>확인요함</a:t>
            </a:r>
            <a:r>
              <a:rPr lang="en-US" altLang="ko-KR" dirty="0"/>
              <a:t>) : </a:t>
            </a:r>
            <a:r>
              <a:rPr lang="ko-KR" altLang="en-US" dirty="0"/>
              <a:t>함수이름오류</a:t>
            </a:r>
            <a:r>
              <a:rPr lang="en-US" altLang="ko-KR" dirty="0"/>
              <a:t>  execution(* select(..)) execution(* insert(..)) execution(* update(..))</a:t>
            </a:r>
            <a:endParaRPr lang="ko-KR" altLang="en-US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173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6677460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179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5650606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181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8791842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182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0798228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//</a:t>
            </a:r>
            <a:r>
              <a:rPr lang="ko-KR" altLang="en-US" dirty="0" err="1"/>
              <a:t>배열받기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en-US" altLang="ko-KR" sz="1800" dirty="0">
                <a:solidFill>
                  <a:srgbClr val="646464"/>
                </a:solidFill>
                <a:latin typeface="Courier New" panose="02070309020205020404" pitchFamily="49" charset="0"/>
              </a:rPr>
              <a:t>@</a:t>
            </a:r>
            <a:r>
              <a:rPr lang="en-US" altLang="ko-KR" sz="1800" u="sng" dirty="0">
                <a:solidFill>
                  <a:srgbClr val="000000"/>
                </a:solidFill>
                <a:latin typeface="Courier New" panose="02070309020205020404" pitchFamily="49" charset="0"/>
              </a:rPr>
              <a:t>RequestParam(</a:t>
            </a:r>
            <a:r>
              <a:rPr lang="en-US" altLang="ko-KR" sz="1800" u="sng" dirty="0">
                <a:solidFill>
                  <a:srgbClr val="2A00FF"/>
                </a:solidFill>
                <a:latin typeface="Courier New" panose="02070309020205020404" pitchFamily="49" charset="0"/>
              </a:rPr>
              <a:t>"deptid[]"</a:t>
            </a:r>
            <a:r>
              <a:rPr lang="en-US" altLang="ko-KR" sz="1800" u="sng" dirty="0">
                <a:solidFill>
                  <a:srgbClr val="000000"/>
                </a:solidFill>
                <a:latin typeface="Courier New" panose="02070309020205020404" pitchFamily="49" charset="0"/>
              </a:rPr>
              <a:t>) Integer[] </a:t>
            </a:r>
            <a:r>
              <a:rPr lang="en-US" altLang="ko-KR" sz="1800" u="sng" dirty="0" err="1">
                <a:solidFill>
                  <a:srgbClr val="6A3E3E"/>
                </a:solidFill>
                <a:latin typeface="Courier New" panose="02070309020205020404" pitchFamily="49" charset="0"/>
              </a:rPr>
              <a:t>deptid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185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2252100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$("input[name='hire_date']").val(</a:t>
            </a:r>
            <a:r>
              <a:rPr lang="en-US" altLang="ko-KR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 Date(item.hire_date).toJSON().split('T')[0]);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$("select[name='department_id']").val(item.department_id).prop("selected", </a:t>
            </a:r>
            <a:r>
              <a:rPr lang="en-US" altLang="ko-KR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true); 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$("select[name='manager_id']").val(item.manager_id).prop("selected", </a:t>
            </a:r>
            <a:r>
              <a:rPr lang="en-US" altLang="ko-KR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true);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$("select[name='job_id']").val(item.job_id).prop("selected", </a:t>
            </a:r>
            <a:r>
              <a:rPr lang="en-US" altLang="ko-KR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true); 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$("input[name='employee_id']").val(item["employee_id"]);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187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600985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$("input[name='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hire_date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']").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 Date(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item.hire_date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toJSON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().split('T')[0]);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$("select[name='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department_id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']").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item.department_id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).prop("selected",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true);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$("select[name='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manager_id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']").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item.manager_id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).prop("selected",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$("select[name='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job_id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']").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item.job_id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).prop("selected",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true);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$("input[name='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employee_id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']").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(item["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employee_id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"]);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188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4153852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$("input[name='hire_date']").val(</a:t>
            </a:r>
            <a:r>
              <a:rPr lang="en-US" altLang="ko-KR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 Date(item.hire_date).toJSON().split('T')[0]);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$("select[name='department_id']").val(item.department_id).prop("selected", </a:t>
            </a:r>
            <a:r>
              <a:rPr lang="en-US" altLang="ko-KR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true); 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$("select[name='manager_id']").val(item.manager_id).prop("selected", </a:t>
            </a:r>
            <a:r>
              <a:rPr lang="en-US" altLang="ko-KR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true);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$("select[name='job_id']").val(item.job_id).prop("selected", </a:t>
            </a:r>
            <a:r>
              <a:rPr lang="en-US" altLang="ko-KR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true); 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$("input[name='employee_id']").val(item["employee_id"]);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189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50105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$("input[name='hire_date']").val(</a:t>
            </a:r>
            <a:r>
              <a:rPr lang="en-US" altLang="ko-KR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 Date(item.hire_date).toJSON().split('T')[0]);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$("select[name='department_id']").val(item.department_id).prop("selected", </a:t>
            </a:r>
            <a:r>
              <a:rPr lang="en-US" altLang="ko-KR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true); 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$("select[name='manager_id']").val(item.manager_id).prop("selected", </a:t>
            </a:r>
            <a:r>
              <a:rPr lang="en-US" altLang="ko-KR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true);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$("select[name='job_id']").val(item.job_id).prop("selected", </a:t>
            </a:r>
            <a:r>
              <a:rPr lang="en-US" altLang="ko-KR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true); 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$("input[name='employee_id']").val(item["employee_id"]);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190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216180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$("input[name='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hire_date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']").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 Date(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item.hire_date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toJSON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().split('T')[0]);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$("select[name='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department_id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']").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item.department_id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).prop("selected",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true);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$("select[name='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manager_id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']").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item.manager_id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).prop("selected",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$("select[name='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job_id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']").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item.job_id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).prop("selected",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true);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$("input[name='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employee_id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']").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(item["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employee_id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"]);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191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5228683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1600" dirty="0"/>
              <a:t>DTO</a:t>
            </a:r>
            <a:r>
              <a:rPr lang="ko-KR" altLang="en-US" sz="1600" dirty="0"/>
              <a:t>에 </a:t>
            </a:r>
            <a:r>
              <a:rPr lang="en-US" altLang="ko-KR" sz="1600" dirty="0" err="1"/>
              <a:t>MultipartFile</a:t>
            </a:r>
            <a:r>
              <a:rPr lang="en-US" altLang="ko-KR" sz="1600" dirty="0"/>
              <a:t> </a:t>
            </a:r>
            <a:r>
              <a:rPr lang="ko-KR" altLang="en-US" sz="1600" dirty="0" err="1"/>
              <a:t>파입의</a:t>
            </a:r>
            <a:r>
              <a:rPr lang="ko-KR" altLang="en-US" sz="1600" dirty="0"/>
              <a:t> 변수</a:t>
            </a:r>
            <a:r>
              <a:rPr lang="en-US" altLang="ko-KR" sz="1600" dirty="0"/>
              <a:t>, setter</a:t>
            </a:r>
            <a:r>
              <a:rPr lang="ko-KR" altLang="en-US" sz="1600" dirty="0"/>
              <a:t>추가 </a:t>
            </a:r>
            <a:endParaRPr lang="en-US" altLang="ko-KR" sz="1600" dirty="0"/>
          </a:p>
          <a:p>
            <a:r>
              <a:rPr lang="en-US" altLang="ko-KR" sz="1600" dirty="0"/>
              <a:t>public class </a:t>
            </a:r>
            <a:r>
              <a:rPr lang="en-US" altLang="ko-KR" sz="1600" dirty="0" err="1"/>
              <a:t>MemberDTO</a:t>
            </a:r>
            <a:r>
              <a:rPr lang="en-US" altLang="ko-KR" sz="1600" dirty="0"/>
              <a:t>{ </a:t>
            </a:r>
          </a:p>
          <a:p>
            <a:pPr lvl="1"/>
            <a:r>
              <a:rPr lang="en-US" altLang="ko-KR" sz="1600" dirty="0"/>
              <a:t>private String email, </a:t>
            </a:r>
            <a:r>
              <a:rPr lang="en-US" altLang="ko-KR" sz="1600" dirty="0" err="1"/>
              <a:t>ename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fileName</a:t>
            </a:r>
            <a:r>
              <a:rPr lang="en-US" altLang="ko-KR" sz="1600" dirty="0"/>
              <a:t>; </a:t>
            </a:r>
          </a:p>
          <a:p>
            <a:pPr lvl="1"/>
            <a:r>
              <a:rPr lang="en-US" altLang="ko-KR" sz="1600" b="1" dirty="0">
                <a:solidFill>
                  <a:srgbClr val="C00000"/>
                </a:solidFill>
              </a:rPr>
              <a:t>private </a:t>
            </a:r>
            <a:r>
              <a:rPr lang="en-US" altLang="ko-KR" sz="1600" b="1" dirty="0" err="1">
                <a:solidFill>
                  <a:srgbClr val="C00000"/>
                </a:solidFill>
              </a:rPr>
              <a:t>MultipartFile</a:t>
            </a:r>
            <a:r>
              <a:rPr lang="en-US" altLang="ko-KR" sz="1600" b="1" dirty="0">
                <a:solidFill>
                  <a:srgbClr val="C00000"/>
                </a:solidFill>
              </a:rPr>
              <a:t> </a:t>
            </a:r>
            <a:r>
              <a:rPr lang="en-US" altLang="ko-KR" sz="1600" b="1" dirty="0" err="1">
                <a:solidFill>
                  <a:srgbClr val="C00000"/>
                </a:solidFill>
              </a:rPr>
              <a:t>uploadfile</a:t>
            </a:r>
            <a:r>
              <a:rPr lang="en-US" altLang="ko-KR" sz="1600" b="1" dirty="0">
                <a:solidFill>
                  <a:srgbClr val="C00000"/>
                </a:solidFill>
              </a:rPr>
              <a:t>; </a:t>
            </a:r>
          </a:p>
          <a:p>
            <a:pPr lvl="1"/>
            <a:r>
              <a:rPr lang="en-US" altLang="ko-KR" sz="1600" dirty="0"/>
              <a:t>………… </a:t>
            </a:r>
          </a:p>
          <a:p>
            <a:r>
              <a:rPr lang="en-US" altLang="ko-KR" sz="1600" dirty="0"/>
              <a:t>}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194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4013997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script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function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f_boardInsert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(){</a:t>
            </a:r>
          </a:p>
          <a:p>
            <a:pPr algn="l"/>
            <a:r>
              <a:rPr lang="nn-NO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nn-NO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var</a:t>
            </a:r>
            <a:r>
              <a:rPr lang="nn-NO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formData = </a:t>
            </a:r>
            <a:r>
              <a:rPr lang="nn-NO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new</a:t>
            </a:r>
            <a:r>
              <a:rPr lang="nn-NO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FormData($(</a:t>
            </a:r>
            <a:r>
              <a:rPr lang="nn-NO" altLang="ko-KR" sz="1800" b="1" dirty="0">
                <a:solidFill>
                  <a:srgbClr val="2A00FF"/>
                </a:solidFill>
                <a:latin typeface="Courier New" panose="02070309020205020404" pitchFamily="49" charset="0"/>
              </a:rPr>
              <a:t>'#myfrm'</a:t>
            </a:r>
            <a:r>
              <a:rPr lang="nn-NO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)[0] );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for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(let key of 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formData.keys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()) {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console.log(key, </a:t>
            </a:r>
            <a:r>
              <a:rPr lang="en-US" altLang="ko-KR" sz="1800" dirty="0">
                <a:solidFill>
                  <a:srgbClr val="2A00FF"/>
                </a:solidFill>
                <a:latin typeface="Courier New" panose="02070309020205020404" pitchFamily="49" charset="0"/>
              </a:rPr>
              <a:t>":"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formData.get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(key));}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$.ajax({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  url:</a:t>
            </a:r>
            <a:r>
              <a:rPr lang="en-US" altLang="ko-KR" sz="1800" dirty="0">
                <a:solidFill>
                  <a:srgbClr val="2A00FF"/>
                </a:solidFill>
                <a:latin typeface="Courier New" panose="02070309020205020404" pitchFamily="49" charset="0"/>
              </a:rPr>
              <a:t>"${path}/board/api/insert"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type:</a:t>
            </a:r>
            <a:r>
              <a:rPr lang="en-US" altLang="ko-KR" sz="1800" dirty="0" err="1">
                <a:solidFill>
                  <a:srgbClr val="2A00FF"/>
                </a:solidFill>
                <a:latin typeface="Courier New" panose="02070309020205020404" pitchFamily="49" charset="0"/>
              </a:rPr>
              <a:t>"post</a:t>
            </a:r>
            <a:r>
              <a:rPr lang="en-US" altLang="ko-KR" sz="1800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enctype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: </a:t>
            </a:r>
            <a:r>
              <a:rPr lang="en-US" altLang="ko-KR" sz="1800" dirty="0">
                <a:solidFill>
                  <a:srgbClr val="2A00FF"/>
                </a:solidFill>
                <a:latin typeface="Courier New" panose="02070309020205020404" pitchFamily="49" charset="0"/>
              </a:rPr>
              <a:t>'multipart/form-data'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US" altLang="ko-KR" sz="1800" dirty="0">
                <a:solidFill>
                  <a:srgbClr val="3F7F5F"/>
                </a:solidFill>
                <a:latin typeface="Courier New" panose="02070309020205020404" pitchFamily="49" charset="0"/>
              </a:rPr>
              <a:t>// </a:t>
            </a:r>
            <a:r>
              <a:rPr lang="ko-KR" altLang="en-US" sz="1800" dirty="0">
                <a:solidFill>
                  <a:srgbClr val="3F7F5F"/>
                </a:solidFill>
                <a:latin typeface="Courier New" panose="02070309020205020404" pitchFamily="49" charset="0"/>
              </a:rPr>
              <a:t>필수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processData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: </a:t>
            </a:r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false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800" b="1" dirty="0">
                <a:solidFill>
                  <a:srgbClr val="3F7F5F"/>
                </a:solidFill>
                <a:latin typeface="Courier New" panose="02070309020205020404" pitchFamily="49" charset="0"/>
              </a:rPr>
              <a:t>//</a:t>
            </a:r>
            <a:r>
              <a:rPr lang="ko-KR" altLang="en-US" sz="1800" b="1" dirty="0">
                <a:solidFill>
                  <a:srgbClr val="3F7F5F"/>
                </a:solidFill>
                <a:latin typeface="Courier New" panose="02070309020205020404" pitchFamily="49" charset="0"/>
              </a:rPr>
              <a:t>필수</a:t>
            </a:r>
            <a:r>
              <a:rPr lang="en-US" altLang="ko-KR" sz="1800" b="1" dirty="0">
                <a:solidFill>
                  <a:srgbClr val="3F7F5F"/>
                </a:solidFill>
                <a:latin typeface="Courier New" panose="02070309020205020404" pitchFamily="49" charset="0"/>
              </a:rPr>
              <a:t>)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  cache: </a:t>
            </a:r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false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contentType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: </a:t>
            </a:r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false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800" b="1" dirty="0">
                <a:solidFill>
                  <a:srgbClr val="3F7F5F"/>
                </a:solidFill>
                <a:latin typeface="Courier New" panose="02070309020205020404" pitchFamily="49" charset="0"/>
              </a:rPr>
              <a:t>//</a:t>
            </a:r>
            <a:r>
              <a:rPr lang="ko-KR" altLang="en-US" sz="1800" b="1" dirty="0">
                <a:solidFill>
                  <a:srgbClr val="3F7F5F"/>
                </a:solidFill>
                <a:latin typeface="Courier New" panose="02070309020205020404" pitchFamily="49" charset="0"/>
              </a:rPr>
              <a:t>필수</a:t>
            </a:r>
            <a:r>
              <a:rPr lang="en-US" altLang="ko-KR" sz="1800" b="1" dirty="0">
                <a:solidFill>
                  <a:srgbClr val="3F7F5F"/>
                </a:solidFill>
                <a:latin typeface="Courier New" panose="02070309020205020404" pitchFamily="49" charset="0"/>
              </a:rPr>
              <a:t>)</a:t>
            </a:r>
          </a:p>
          <a:p>
            <a:pPr algn="l"/>
            <a:r>
              <a:rPr lang="fr-FR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fr-FR" altLang="ko-KR" sz="1800" dirty="0">
                <a:solidFill>
                  <a:srgbClr val="3F7F5F"/>
                </a:solidFill>
                <a:latin typeface="Courier New" panose="02070309020205020404" pitchFamily="49" charset="0"/>
              </a:rPr>
              <a:t>//contentType:"application/json;charset=utf-8",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  data: 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formData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,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success:</a:t>
            </a:r>
            <a:r>
              <a:rPr lang="en-US" altLang="ko-KR" sz="1800" b="1" dirty="0" err="1">
                <a:solidFill>
                  <a:srgbClr val="7F0055"/>
                </a:solidFill>
                <a:latin typeface="Courier New" panose="02070309020205020404" pitchFamily="49" charset="0"/>
              </a:rPr>
              <a:t>function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responseData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){ alert(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responseData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);  } </a:t>
            </a:r>
          </a:p>
          <a:p>
            <a:pPr algn="l"/>
            <a:endParaRPr lang="ko-KR" altLang="en-US" sz="1800" dirty="0">
              <a:latin typeface="Courier New" panose="02070309020205020404" pitchFamily="49" charset="0"/>
            </a:endParaRPr>
          </a:p>
          <a:p>
            <a:pPr algn="l"/>
            <a:r>
              <a:rPr lang="ko-KR" alt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});</a:t>
            </a:r>
          </a:p>
          <a:p>
            <a:pPr algn="l"/>
            <a:endParaRPr lang="ko-KR" altLang="en-US" sz="1800" dirty="0">
              <a:latin typeface="Courier New" panose="02070309020205020404" pitchFamily="49" charset="0"/>
            </a:endParaRPr>
          </a:p>
          <a:p>
            <a:pPr algn="l"/>
            <a:r>
              <a:rPr lang="ko-KR" alt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script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195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79011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196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9791914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2FAB3-1DEA-0FE6-90CD-0B820E24A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E151CA-F535-235F-00D5-F1FBF47AF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80B35B-77E6-8B71-2C41-3681F5EA66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ko-KR" sz="1800" dirty="0">
                <a:solidFill>
                  <a:srgbClr val="646464"/>
                </a:solidFill>
                <a:latin typeface="Courier New" panose="02070309020205020404" pitchFamily="49" charset="0"/>
              </a:rPr>
              <a:t>@PostMapping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(value = </a:t>
            </a:r>
            <a:r>
              <a:rPr lang="en-US" altLang="ko-KR" sz="1800" dirty="0">
                <a:solidFill>
                  <a:srgbClr val="2A00FF"/>
                </a:solidFill>
                <a:latin typeface="Courier New" panose="02070309020205020404" pitchFamily="49" charset="0"/>
              </a:rPr>
              <a:t>"/insert"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produces = </a:t>
            </a:r>
            <a:r>
              <a:rPr lang="en-US" altLang="ko-KR" sz="1800" dirty="0">
                <a:solidFill>
                  <a:srgbClr val="2A00FF"/>
                </a:solidFill>
                <a:latin typeface="Courier New" panose="02070309020205020404" pitchFamily="49" charset="0"/>
              </a:rPr>
              <a:t>"text/</a:t>
            </a:r>
            <a:r>
              <a:rPr lang="en-US" altLang="ko-KR" sz="1800" dirty="0" err="1">
                <a:solidFill>
                  <a:srgbClr val="2A00FF"/>
                </a:solidFill>
                <a:latin typeface="Courier New" panose="02070309020205020404" pitchFamily="49" charset="0"/>
              </a:rPr>
              <a:t>plain;charset</a:t>
            </a:r>
            <a:r>
              <a:rPr lang="en-US" altLang="ko-KR" sz="1800" dirty="0">
                <a:solidFill>
                  <a:srgbClr val="2A00FF"/>
                </a:solidFill>
                <a:latin typeface="Courier New" panose="02070309020205020404" pitchFamily="49" charset="0"/>
              </a:rPr>
              <a:t>=utf-8"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algn="l"/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String insert(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MultipartHttpServletRequest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>
                <a:solidFill>
                  <a:srgbClr val="6A3E3E"/>
                </a:solidFill>
                <a:latin typeface="Courier New" panose="02070309020205020404" pitchFamily="49" charset="0"/>
              </a:rPr>
              <a:t>multipart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HttpSession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>
                <a:solidFill>
                  <a:srgbClr val="6A3E3E"/>
                </a:solidFill>
                <a:latin typeface="Courier New" panose="02070309020205020404" pitchFamily="49" charset="0"/>
              </a:rPr>
              <a:t>session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) {</a:t>
            </a:r>
          </a:p>
          <a:p>
            <a:pPr algn="l"/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BoardDTO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dirty="0">
                <a:solidFill>
                  <a:srgbClr val="6A3E3E"/>
                </a:solidFill>
                <a:latin typeface="Courier New" panose="02070309020205020404" pitchFamily="49" charset="0"/>
              </a:rPr>
              <a:t>board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new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BoardDTO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</a:p>
          <a:p>
            <a:pPr algn="l"/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HttpServletRequest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dirty="0">
                <a:solidFill>
                  <a:srgbClr val="6A3E3E"/>
                </a:solidFill>
                <a:latin typeface="Courier New" panose="02070309020205020404" pitchFamily="49" charset="0"/>
              </a:rPr>
              <a:t>request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= (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HttpServletRequest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sz="1800" dirty="0">
                <a:solidFill>
                  <a:srgbClr val="6A3E3E"/>
                </a:solidFill>
                <a:latin typeface="Courier New" panose="02070309020205020404" pitchFamily="49" charset="0"/>
              </a:rPr>
              <a:t>multipart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algn="l"/>
            <a:r>
              <a:rPr lang="en-US" altLang="ko-KR" sz="1800" dirty="0" err="1">
                <a:solidFill>
                  <a:srgbClr val="6A3E3E"/>
                </a:solidFill>
                <a:latin typeface="Courier New" panose="02070309020205020404" pitchFamily="49" charset="0"/>
              </a:rPr>
              <a:t>board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.setTitle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800" dirty="0" err="1">
                <a:solidFill>
                  <a:srgbClr val="6A3E3E"/>
                </a:solidFill>
                <a:latin typeface="Courier New" panose="02070309020205020404" pitchFamily="49" charset="0"/>
              </a:rPr>
              <a:t>request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.getParameter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800" dirty="0">
                <a:solidFill>
                  <a:srgbClr val="2A00FF"/>
                </a:solidFill>
                <a:latin typeface="Courier New" panose="02070309020205020404" pitchFamily="49" charset="0"/>
              </a:rPr>
              <a:t>"title"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));</a:t>
            </a:r>
          </a:p>
          <a:p>
            <a:pPr algn="l"/>
            <a:r>
              <a:rPr lang="en-US" altLang="ko-KR" sz="1800" dirty="0" err="1">
                <a:solidFill>
                  <a:srgbClr val="6A3E3E"/>
                </a:solidFill>
                <a:latin typeface="Courier New" panose="02070309020205020404" pitchFamily="49" charset="0"/>
              </a:rPr>
              <a:t>board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.setContent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800" dirty="0" err="1">
                <a:solidFill>
                  <a:srgbClr val="6A3E3E"/>
                </a:solidFill>
                <a:latin typeface="Courier New" panose="02070309020205020404" pitchFamily="49" charset="0"/>
              </a:rPr>
              <a:t>request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.getParameter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800" dirty="0">
                <a:solidFill>
                  <a:srgbClr val="2A00FF"/>
                </a:solidFill>
                <a:latin typeface="Courier New" panose="02070309020205020404" pitchFamily="49" charset="0"/>
              </a:rPr>
              <a:t>"content"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));</a:t>
            </a:r>
          </a:p>
          <a:p>
            <a:pPr algn="l"/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EmpDTO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dirty="0">
                <a:solidFill>
                  <a:srgbClr val="6A3E3E"/>
                </a:solidFill>
                <a:latin typeface="Courier New" panose="02070309020205020404" pitchFamily="49" charset="0"/>
              </a:rPr>
              <a:t>emp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= (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EmpDTO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r>
              <a:rPr lang="en-US" altLang="ko-KR" sz="1800" dirty="0" err="1">
                <a:solidFill>
                  <a:srgbClr val="6A3E3E"/>
                </a:solidFill>
                <a:latin typeface="Courier New" panose="02070309020205020404" pitchFamily="49" charset="0"/>
              </a:rPr>
              <a:t>session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.getAttribute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800" dirty="0">
                <a:solidFill>
                  <a:srgbClr val="2A00FF"/>
                </a:solidFill>
                <a:latin typeface="Courier New" panose="02070309020205020404" pitchFamily="49" charset="0"/>
              </a:rPr>
              <a:t>"emp"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String </a:t>
            </a:r>
            <a:r>
              <a:rPr lang="en-US" altLang="ko-KR" sz="1800" dirty="0">
                <a:solidFill>
                  <a:srgbClr val="6A3E3E"/>
                </a:solidFill>
                <a:latin typeface="Courier New" panose="02070309020205020404" pitchFamily="49" charset="0"/>
              </a:rPr>
              <a:t>writer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algn="l"/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if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800" b="1" dirty="0">
                <a:solidFill>
                  <a:srgbClr val="6A3E3E"/>
                </a:solidFill>
                <a:latin typeface="Courier New" panose="02070309020205020404" pitchFamily="49" charset="0"/>
              </a:rPr>
              <a:t>emp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==</a:t>
            </a:r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) {</a:t>
            </a:r>
            <a:r>
              <a:rPr lang="en-US" altLang="ko-KR" sz="1800" b="1" dirty="0">
                <a:solidFill>
                  <a:srgbClr val="6A3E3E"/>
                </a:solidFill>
                <a:latin typeface="Courier New" panose="02070309020205020404" pitchFamily="49" charset="0"/>
              </a:rPr>
              <a:t>writer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ko-KR" sz="1800" b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ko-KR" altLang="en-US" sz="1800" b="1" dirty="0">
                <a:solidFill>
                  <a:srgbClr val="2A00FF"/>
                </a:solidFill>
                <a:latin typeface="Courier New" panose="02070309020205020404" pitchFamily="49" charset="0"/>
              </a:rPr>
              <a:t>손님</a:t>
            </a:r>
            <a:r>
              <a:rPr lang="en-US" altLang="ko-KR" sz="1800" b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else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{</a:t>
            </a:r>
            <a:r>
              <a:rPr lang="en-US" altLang="ko-KR" sz="1800" b="1" dirty="0">
                <a:solidFill>
                  <a:srgbClr val="6A3E3E"/>
                </a:solidFill>
                <a:latin typeface="Courier New" panose="02070309020205020404" pitchFamily="49" charset="0"/>
              </a:rPr>
              <a:t>writer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ko-KR" sz="1800" b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emp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.getFirst_name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() + </a:t>
            </a:r>
            <a:r>
              <a:rPr lang="en-US" altLang="ko-KR" sz="1800" b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emp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.getLast_name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();} </a:t>
            </a:r>
          </a:p>
          <a:p>
            <a:pPr algn="l"/>
            <a:r>
              <a:rPr lang="en-US" altLang="ko-KR" sz="1800" dirty="0" err="1">
                <a:solidFill>
                  <a:srgbClr val="6A3E3E"/>
                </a:solidFill>
                <a:latin typeface="Courier New" panose="02070309020205020404" pitchFamily="49" charset="0"/>
              </a:rPr>
              <a:t>board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.setWriter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800" dirty="0">
                <a:solidFill>
                  <a:srgbClr val="6A3E3E"/>
                </a:solidFill>
                <a:latin typeface="Courier New" panose="02070309020205020404" pitchFamily="49" charset="0"/>
              </a:rPr>
              <a:t>writer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algn="l"/>
            <a:r>
              <a:rPr lang="fr-FR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List&lt;MultipartFile&gt; </a:t>
            </a:r>
            <a:r>
              <a:rPr lang="fr-FR" altLang="ko-KR" sz="1800" dirty="0">
                <a:solidFill>
                  <a:srgbClr val="6A3E3E"/>
                </a:solidFill>
                <a:latin typeface="Courier New" panose="02070309020205020404" pitchFamily="49" charset="0"/>
              </a:rPr>
              <a:t>fileList</a:t>
            </a:r>
            <a:r>
              <a:rPr lang="fr-FR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fr-FR" altLang="ko-KR" sz="1800" dirty="0">
                <a:solidFill>
                  <a:srgbClr val="6A3E3E"/>
                </a:solidFill>
                <a:latin typeface="Courier New" panose="02070309020205020404" pitchFamily="49" charset="0"/>
              </a:rPr>
              <a:t>multipart</a:t>
            </a:r>
            <a:r>
              <a:rPr lang="fr-FR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.getFiles(</a:t>
            </a:r>
            <a:r>
              <a:rPr lang="fr-FR" altLang="ko-KR" sz="1800" dirty="0">
                <a:solidFill>
                  <a:srgbClr val="2A00FF"/>
                </a:solidFill>
                <a:latin typeface="Courier New" panose="02070309020205020404" pitchFamily="49" charset="0"/>
              </a:rPr>
              <a:t>"pic"</a:t>
            </a:r>
            <a:r>
              <a:rPr lang="fr-FR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String </a:t>
            </a:r>
            <a:r>
              <a:rPr lang="en-US" altLang="ko-KR" sz="1800" dirty="0">
                <a:solidFill>
                  <a:srgbClr val="6A3E3E"/>
                </a:solidFill>
                <a:latin typeface="Courier New" panose="02070309020205020404" pitchFamily="49" charset="0"/>
              </a:rPr>
              <a:t>path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ko-KR" sz="1800" dirty="0" err="1">
                <a:solidFill>
                  <a:srgbClr val="6A3E3E"/>
                </a:solidFill>
                <a:latin typeface="Courier New" panose="02070309020205020404" pitchFamily="49" charset="0"/>
              </a:rPr>
              <a:t>session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.getServletContext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().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getRealPath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800" dirty="0">
                <a:solidFill>
                  <a:srgbClr val="2A00FF"/>
                </a:solidFill>
                <a:latin typeface="Courier New" panose="02070309020205020404" pitchFamily="49" charset="0"/>
              </a:rPr>
              <a:t>"./resources/uploads"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File </a:t>
            </a:r>
            <a:r>
              <a:rPr lang="en-US" altLang="ko-KR" sz="1800" dirty="0" err="1">
                <a:solidFill>
                  <a:srgbClr val="6A3E3E"/>
                </a:solidFill>
                <a:latin typeface="Courier New" panose="02070309020205020404" pitchFamily="49" charset="0"/>
              </a:rPr>
              <a:t>fileDir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new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File(</a:t>
            </a:r>
            <a:r>
              <a:rPr lang="en-US" altLang="ko-KR" sz="1800" b="1" dirty="0">
                <a:solidFill>
                  <a:srgbClr val="6A3E3E"/>
                </a:solidFill>
                <a:latin typeface="Courier New" panose="02070309020205020404" pitchFamily="49" charset="0"/>
              </a:rPr>
              <a:t>path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algn="l"/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if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(!</a:t>
            </a:r>
            <a:r>
              <a:rPr lang="en-US" altLang="ko-KR" sz="1800" b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fileDir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.exists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()) {</a:t>
            </a:r>
            <a:r>
              <a:rPr lang="en-US" altLang="ko-KR" sz="1800" b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fileDir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.mkdirs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();}</a:t>
            </a:r>
          </a:p>
          <a:p>
            <a:pPr algn="l"/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long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>
                <a:solidFill>
                  <a:srgbClr val="6A3E3E"/>
                </a:solidFill>
                <a:latin typeface="Courier New" panose="02070309020205020404" pitchFamily="49" charset="0"/>
              </a:rPr>
              <a:t>time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</a:t>
            </a:r>
            <a:r>
              <a:rPr lang="en-US" altLang="ko-KR" sz="1800" b="1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currentTimeMillis</a:t>
            </a:r>
            <a:r>
              <a:rPr lang="en-US" altLang="ko-KR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</a:p>
          <a:p>
            <a:pPr algn="l"/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for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(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MultipartFile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>
                <a:solidFill>
                  <a:srgbClr val="6A3E3E"/>
                </a:solidFill>
                <a:latin typeface="Courier New" panose="02070309020205020404" pitchFamily="49" charset="0"/>
              </a:rPr>
              <a:t>mf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: </a:t>
            </a:r>
            <a:r>
              <a:rPr lang="en-US" altLang="ko-KR" sz="1800" b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fileList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) {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String </a:t>
            </a:r>
            <a:r>
              <a:rPr lang="en-US" altLang="ko-KR" sz="1800" dirty="0" err="1">
                <a:solidFill>
                  <a:srgbClr val="6A3E3E"/>
                </a:solidFill>
                <a:latin typeface="Courier New" panose="02070309020205020404" pitchFamily="49" charset="0"/>
              </a:rPr>
              <a:t>originFileName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ko-KR" sz="1800" dirty="0" err="1">
                <a:solidFill>
                  <a:srgbClr val="6A3E3E"/>
                </a:solidFill>
                <a:latin typeface="Courier New" panose="02070309020205020404" pitchFamily="49" charset="0"/>
              </a:rPr>
              <a:t>mf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.getOriginalFilename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(); </a:t>
            </a:r>
            <a:r>
              <a:rPr lang="en-US" altLang="ko-KR" sz="1800" dirty="0">
                <a:solidFill>
                  <a:srgbClr val="3F7F5F"/>
                </a:solidFill>
                <a:latin typeface="Courier New" panose="02070309020205020404" pitchFamily="49" charset="0"/>
              </a:rPr>
              <a:t>//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String </a:t>
            </a:r>
            <a:r>
              <a:rPr lang="en-US" altLang="ko-KR" sz="1800" dirty="0" err="1">
                <a:solidFill>
                  <a:srgbClr val="6A3E3E"/>
                </a:solidFill>
                <a:latin typeface="Courier New" panose="02070309020205020404" pitchFamily="49" charset="0"/>
              </a:rPr>
              <a:t>saveFileName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String.</a:t>
            </a:r>
            <a:r>
              <a:rPr lang="en-US" altLang="ko-KR" sz="1800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format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"%</a:t>
            </a:r>
            <a:r>
              <a:rPr lang="en-US" altLang="ko-KR" sz="1800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d_%s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800" i="1" dirty="0">
                <a:solidFill>
                  <a:srgbClr val="6A3E3E"/>
                </a:solidFill>
                <a:latin typeface="Courier New" panose="02070309020205020404" pitchFamily="49" charset="0"/>
              </a:rPr>
              <a:t>time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800" i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originFileName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algn="l"/>
            <a:r>
              <a:rPr lang="en-US" altLang="ko-KR" sz="1800" dirty="0" err="1">
                <a:solidFill>
                  <a:srgbClr val="6A3E3E"/>
                </a:solidFill>
                <a:latin typeface="Courier New" panose="02070309020205020404" pitchFamily="49" charset="0"/>
              </a:rPr>
              <a:t>board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.setPic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800" dirty="0" err="1">
                <a:solidFill>
                  <a:srgbClr val="6A3E3E"/>
                </a:solidFill>
                <a:latin typeface="Courier New" panose="02070309020205020404" pitchFamily="49" charset="0"/>
              </a:rPr>
              <a:t>saveFileName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algn="l"/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try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{</a:t>
            </a:r>
          </a:p>
          <a:p>
            <a:pPr algn="l"/>
            <a:r>
              <a:rPr lang="en-US" altLang="ko-KR" sz="1800" dirty="0" err="1">
                <a:solidFill>
                  <a:srgbClr val="6A3E3E"/>
                </a:solidFill>
                <a:latin typeface="Courier New" panose="02070309020205020404" pitchFamily="49" charset="0"/>
              </a:rPr>
              <a:t>mf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.transferTo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new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File(</a:t>
            </a:r>
            <a:r>
              <a:rPr lang="en-US" altLang="ko-KR" sz="1800" b="1" dirty="0">
                <a:solidFill>
                  <a:srgbClr val="6A3E3E"/>
                </a:solidFill>
                <a:latin typeface="Courier New" panose="02070309020205020404" pitchFamily="49" charset="0"/>
              </a:rPr>
              <a:t>path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800" b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saveFileName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));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} </a:t>
            </a:r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catch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(Exception </a:t>
            </a:r>
            <a:r>
              <a:rPr lang="en-US" altLang="ko-KR" sz="1800" b="1" dirty="0">
                <a:solidFill>
                  <a:srgbClr val="6A3E3E"/>
                </a:solidFill>
                <a:latin typeface="Courier New" panose="02070309020205020404" pitchFamily="49" charset="0"/>
              </a:rPr>
              <a:t>e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) {</a:t>
            </a:r>
            <a:r>
              <a:rPr lang="en-US" altLang="ko-KR" sz="1800" b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e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.printStackTrace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();}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algn="l"/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>
                <a:solidFill>
                  <a:srgbClr val="6A3E3E"/>
                </a:solidFill>
                <a:latin typeface="Courier New" panose="02070309020205020404" pitchFamily="49" charset="0"/>
              </a:rPr>
              <a:t>result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ko-KR" sz="1800" b="1" dirty="0" err="1">
                <a:solidFill>
                  <a:srgbClr val="0000C0"/>
                </a:solidFill>
                <a:latin typeface="Courier New" panose="02070309020205020404" pitchFamily="49" charset="0"/>
              </a:rPr>
              <a:t>bService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.insertBoard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800" b="1" dirty="0">
                <a:solidFill>
                  <a:srgbClr val="6A3E3E"/>
                </a:solidFill>
                <a:latin typeface="Courier New" panose="02070309020205020404" pitchFamily="49" charset="0"/>
              </a:rPr>
              <a:t>board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algn="l"/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return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>
                <a:solidFill>
                  <a:srgbClr val="6A3E3E"/>
                </a:solidFill>
                <a:latin typeface="Courier New" panose="02070309020205020404" pitchFamily="49" charset="0"/>
              </a:rPr>
              <a:t>result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&gt;0?</a:t>
            </a:r>
            <a:r>
              <a:rPr lang="en-US" altLang="ko-KR" sz="1800" b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ko-KR" altLang="en-US" sz="1800" b="1" dirty="0">
                <a:solidFill>
                  <a:srgbClr val="2A00FF"/>
                </a:solidFill>
                <a:latin typeface="Courier New" panose="02070309020205020404" pitchFamily="49" charset="0"/>
              </a:rPr>
              <a:t>입력성공</a:t>
            </a:r>
            <a:r>
              <a:rPr lang="en-US" altLang="ko-KR" sz="1800" b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:</a:t>
            </a:r>
            <a:r>
              <a:rPr lang="en-US" altLang="ko-KR" sz="1800" b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ko-KR" altLang="en-US" sz="1800" b="1" dirty="0">
                <a:solidFill>
                  <a:srgbClr val="2A00FF"/>
                </a:solidFill>
                <a:latin typeface="Courier New" panose="02070309020205020404" pitchFamily="49" charset="0"/>
              </a:rPr>
              <a:t>입력실패</a:t>
            </a:r>
            <a:r>
              <a:rPr lang="en-US" altLang="ko-KR" sz="1800" b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2CFD67-16C9-BD2E-73B7-E8DA678E4E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197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7368559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ko-KR" sz="1800" dirty="0">
                <a:solidFill>
                  <a:srgbClr val="646464"/>
                </a:solidFill>
                <a:latin typeface="Courier New" panose="02070309020205020404" pitchFamily="49" charset="0"/>
              </a:rPr>
              <a:t>@RequestMapping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800" dirty="0">
                <a:solidFill>
                  <a:srgbClr val="2A00FF"/>
                </a:solidFill>
                <a:latin typeface="Courier New" panose="02070309020205020404" pitchFamily="49" charset="0"/>
              </a:rPr>
              <a:t>"/download"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algn="l"/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void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download(String </a:t>
            </a:r>
            <a:r>
              <a:rPr lang="en-US" altLang="ko-KR" sz="1800" b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fileName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HttpServletRequest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>
                <a:solidFill>
                  <a:srgbClr val="6A3E3E"/>
                </a:solidFill>
                <a:latin typeface="Courier New" panose="02070309020205020404" pitchFamily="49" charset="0"/>
              </a:rPr>
              <a:t>request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HttpServletResponse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>
                <a:solidFill>
                  <a:srgbClr val="6A3E3E"/>
                </a:solidFill>
                <a:latin typeface="Courier New" panose="02070309020205020404" pitchFamily="49" charset="0"/>
              </a:rPr>
              <a:t>response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throws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IOException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{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String </a:t>
            </a:r>
            <a:r>
              <a:rPr lang="en-US" altLang="ko-KR" sz="1800" dirty="0" err="1">
                <a:solidFill>
                  <a:srgbClr val="6A3E3E"/>
                </a:solidFill>
                <a:latin typeface="Courier New" panose="02070309020205020404" pitchFamily="49" charset="0"/>
              </a:rPr>
              <a:t>fname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ko-KR" sz="1800" dirty="0" err="1">
                <a:solidFill>
                  <a:srgbClr val="6A3E3E"/>
                </a:solidFill>
                <a:latin typeface="Courier New" panose="02070309020205020404" pitchFamily="49" charset="0"/>
              </a:rPr>
              <a:t>fileName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algn="l"/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StringBuffer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dirty="0">
                <a:solidFill>
                  <a:srgbClr val="6A3E3E"/>
                </a:solidFill>
                <a:latin typeface="Courier New" panose="02070309020205020404" pitchFamily="49" charset="0"/>
              </a:rPr>
              <a:t>sb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new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StringBuffer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</a:p>
          <a:p>
            <a:pPr algn="l"/>
            <a:r>
              <a:rPr lang="en-US" altLang="ko-KR" sz="1800" dirty="0">
                <a:solidFill>
                  <a:srgbClr val="3F7F5F"/>
                </a:solidFill>
                <a:latin typeface="Courier New" panose="02070309020205020404" pitchFamily="49" charset="0"/>
              </a:rPr>
              <a:t>// </a:t>
            </a:r>
            <a:r>
              <a:rPr lang="ko-KR" altLang="en-US" sz="1800" dirty="0">
                <a:solidFill>
                  <a:srgbClr val="3F7F5F"/>
                </a:solidFill>
                <a:latin typeface="Courier New" panose="02070309020205020404" pitchFamily="49" charset="0"/>
              </a:rPr>
              <a:t>다운로드파일이름 </a:t>
            </a:r>
            <a:r>
              <a:rPr lang="en-US" altLang="ko-KR" sz="1800" dirty="0">
                <a:solidFill>
                  <a:srgbClr val="3F7F5F"/>
                </a:solidFill>
                <a:latin typeface="Courier New" panose="02070309020205020404" pitchFamily="49" charset="0"/>
              </a:rPr>
              <a:t>encoding </a:t>
            </a:r>
            <a:r>
              <a:rPr lang="ko-KR" altLang="en-US" sz="1800" dirty="0">
                <a:solidFill>
                  <a:srgbClr val="3F7F5F"/>
                </a:solidFill>
                <a:latin typeface="Courier New" panose="02070309020205020404" pitchFamily="49" charset="0"/>
              </a:rPr>
              <a:t>하여 </a:t>
            </a:r>
            <a:r>
              <a:rPr lang="en-US" altLang="ko-KR" sz="1800" dirty="0">
                <a:solidFill>
                  <a:srgbClr val="3F7F5F"/>
                </a:solidFill>
                <a:latin typeface="Courier New" panose="02070309020205020404" pitchFamily="49" charset="0"/>
              </a:rPr>
              <a:t>header</a:t>
            </a:r>
            <a:r>
              <a:rPr lang="ko-KR" altLang="en-US" sz="1800" dirty="0">
                <a:solidFill>
                  <a:srgbClr val="3F7F5F"/>
                </a:solidFill>
                <a:latin typeface="Courier New" panose="02070309020205020404" pitchFamily="49" charset="0"/>
              </a:rPr>
              <a:t>에 추가하기</a:t>
            </a:r>
          </a:p>
          <a:p>
            <a:pPr algn="l"/>
            <a:r>
              <a:rPr lang="nn-NO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for</a:t>
            </a:r>
            <a:r>
              <a:rPr lang="nn-NO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(</a:t>
            </a:r>
            <a:r>
              <a:rPr lang="nn-NO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int</a:t>
            </a:r>
            <a:r>
              <a:rPr lang="nn-NO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nn-NO" altLang="ko-KR" sz="1800" b="1" dirty="0">
                <a:solidFill>
                  <a:srgbClr val="6A3E3E"/>
                </a:solidFill>
                <a:latin typeface="Courier New" panose="02070309020205020404" pitchFamily="49" charset="0"/>
              </a:rPr>
              <a:t>i</a:t>
            </a:r>
            <a:r>
              <a:rPr lang="nn-NO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0; </a:t>
            </a:r>
            <a:r>
              <a:rPr lang="nn-NO" altLang="ko-KR" sz="1800" b="1" dirty="0">
                <a:solidFill>
                  <a:srgbClr val="6A3E3E"/>
                </a:solidFill>
                <a:latin typeface="Courier New" panose="02070309020205020404" pitchFamily="49" charset="0"/>
              </a:rPr>
              <a:t>i</a:t>
            </a:r>
            <a:r>
              <a:rPr lang="nn-NO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&lt; </a:t>
            </a:r>
            <a:r>
              <a:rPr lang="nn-NO" altLang="ko-KR" sz="1800" b="1" dirty="0">
                <a:solidFill>
                  <a:srgbClr val="6A3E3E"/>
                </a:solidFill>
                <a:latin typeface="Courier New" panose="02070309020205020404" pitchFamily="49" charset="0"/>
              </a:rPr>
              <a:t>fileName</a:t>
            </a:r>
            <a:r>
              <a:rPr lang="nn-NO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.length(); </a:t>
            </a:r>
            <a:r>
              <a:rPr lang="nn-NO" altLang="ko-KR" sz="1800" b="1" dirty="0">
                <a:solidFill>
                  <a:srgbClr val="6A3E3E"/>
                </a:solidFill>
                <a:latin typeface="Courier New" panose="02070309020205020404" pitchFamily="49" charset="0"/>
              </a:rPr>
              <a:t>i</a:t>
            </a:r>
            <a:r>
              <a:rPr lang="nn-NO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++) {</a:t>
            </a:r>
          </a:p>
          <a:p>
            <a:pPr algn="l"/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char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>
                <a:solidFill>
                  <a:srgbClr val="6A3E3E"/>
                </a:solidFill>
                <a:latin typeface="Courier New" panose="02070309020205020404" pitchFamily="49" charset="0"/>
              </a:rPr>
              <a:t>c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ko-KR" sz="1800" b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fileName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.charAt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800" b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i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algn="l"/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if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(</a:t>
            </a:r>
            <a:r>
              <a:rPr lang="en-US" altLang="ko-KR" sz="1800" b="1" dirty="0">
                <a:solidFill>
                  <a:srgbClr val="6A3E3E"/>
                </a:solidFill>
                <a:latin typeface="Courier New" panose="02070309020205020404" pitchFamily="49" charset="0"/>
              </a:rPr>
              <a:t>c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&gt; </a:t>
            </a:r>
            <a:r>
              <a:rPr lang="en-US" altLang="ko-KR" sz="1800" b="1" dirty="0">
                <a:solidFill>
                  <a:srgbClr val="2A00FF"/>
                </a:solidFill>
                <a:latin typeface="Courier New" panose="02070309020205020404" pitchFamily="49" charset="0"/>
              </a:rPr>
              <a:t>'~'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) {</a:t>
            </a:r>
            <a:r>
              <a:rPr lang="en-US" altLang="ko-KR" sz="1800" b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sb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.append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URLEncoder.</a:t>
            </a:r>
            <a:r>
              <a:rPr lang="en-US" altLang="ko-KR" sz="1800" b="1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encode</a:t>
            </a:r>
            <a:r>
              <a:rPr lang="en-US" altLang="ko-KR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800" b="1" i="1" dirty="0">
                <a:solidFill>
                  <a:srgbClr val="2A00FF"/>
                </a:solidFill>
                <a:latin typeface="Courier New" panose="02070309020205020404" pitchFamily="49" charset="0"/>
              </a:rPr>
              <a:t>""</a:t>
            </a:r>
            <a:r>
              <a:rPr lang="en-US" altLang="ko-KR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 + </a:t>
            </a:r>
            <a:r>
              <a:rPr lang="en-US" altLang="ko-KR" sz="1800" b="1" i="1" dirty="0">
                <a:solidFill>
                  <a:srgbClr val="6A3E3E"/>
                </a:solidFill>
                <a:latin typeface="Courier New" panose="02070309020205020404" pitchFamily="49" charset="0"/>
              </a:rPr>
              <a:t>c</a:t>
            </a:r>
            <a:r>
              <a:rPr lang="en-US" altLang="ko-KR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800" b="1" i="1" dirty="0">
                <a:solidFill>
                  <a:srgbClr val="2A00FF"/>
                </a:solidFill>
                <a:latin typeface="Courier New" panose="02070309020205020404" pitchFamily="49" charset="0"/>
              </a:rPr>
              <a:t>"UTF-8"</a:t>
            </a:r>
            <a:r>
              <a:rPr lang="en-US" altLang="ko-KR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));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} </a:t>
            </a:r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else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{</a:t>
            </a:r>
            <a:r>
              <a:rPr lang="en-US" altLang="ko-KR" sz="1800" b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sb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.append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800" b="1" dirty="0">
                <a:solidFill>
                  <a:srgbClr val="6A3E3E"/>
                </a:solidFill>
                <a:latin typeface="Courier New" panose="02070309020205020404" pitchFamily="49" charset="0"/>
              </a:rPr>
              <a:t>c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);}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algn="l"/>
            <a:r>
              <a:rPr lang="en-US" altLang="ko-KR" sz="1800" dirty="0" err="1">
                <a:solidFill>
                  <a:srgbClr val="6A3E3E"/>
                </a:solidFill>
                <a:latin typeface="Courier New" panose="02070309020205020404" pitchFamily="49" charset="0"/>
              </a:rPr>
              <a:t>fileName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ko-KR" sz="1800" dirty="0" err="1">
                <a:solidFill>
                  <a:srgbClr val="6A3E3E"/>
                </a:solidFill>
                <a:latin typeface="Courier New" panose="02070309020205020404" pitchFamily="49" charset="0"/>
              </a:rPr>
              <a:t>sb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.toString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</a:p>
          <a:p>
            <a:pPr algn="l"/>
            <a:r>
              <a:rPr lang="en-US" altLang="ko-KR" sz="1800" dirty="0" err="1">
                <a:solidFill>
                  <a:srgbClr val="6A3E3E"/>
                </a:solidFill>
                <a:latin typeface="Courier New" panose="02070309020205020404" pitchFamily="49" charset="0"/>
              </a:rPr>
              <a:t>response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.setHeader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800" dirty="0">
                <a:solidFill>
                  <a:srgbClr val="2A00FF"/>
                </a:solidFill>
                <a:latin typeface="Courier New" panose="02070309020205020404" pitchFamily="49" charset="0"/>
              </a:rPr>
              <a:t>"Content-Disposition"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800" dirty="0">
                <a:solidFill>
                  <a:srgbClr val="2A00FF"/>
                </a:solidFill>
                <a:latin typeface="Courier New" panose="02070309020205020404" pitchFamily="49" charset="0"/>
              </a:rPr>
              <a:t>"attachment; filename=\""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+ </a:t>
            </a:r>
            <a:r>
              <a:rPr lang="en-US" altLang="ko-KR" sz="1800" dirty="0" err="1">
                <a:solidFill>
                  <a:srgbClr val="6A3E3E"/>
                </a:solidFill>
                <a:latin typeface="Courier New" panose="02070309020205020404" pitchFamily="49" charset="0"/>
              </a:rPr>
              <a:t>fileName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+ </a:t>
            </a:r>
            <a:r>
              <a:rPr lang="en-US" altLang="ko-KR" sz="1800" dirty="0">
                <a:solidFill>
                  <a:srgbClr val="2A00FF"/>
                </a:solidFill>
                <a:latin typeface="Courier New" panose="02070309020205020404" pitchFamily="49" charset="0"/>
              </a:rPr>
              <a:t>"\""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algn="l"/>
            <a:r>
              <a:rPr lang="en-US" altLang="ko-KR" sz="1800" dirty="0">
                <a:solidFill>
                  <a:srgbClr val="3F7F5F"/>
                </a:solidFill>
                <a:latin typeface="Courier New" panose="02070309020205020404" pitchFamily="49" charset="0"/>
              </a:rPr>
              <a:t>// </a:t>
            </a:r>
            <a:r>
              <a:rPr lang="ko-KR" altLang="en-US" sz="1800" dirty="0" err="1">
                <a:solidFill>
                  <a:srgbClr val="3F7F5F"/>
                </a:solidFill>
                <a:latin typeface="Courier New" panose="02070309020205020404" pitchFamily="49" charset="0"/>
              </a:rPr>
              <a:t>파일찾아서</a:t>
            </a:r>
            <a:r>
              <a:rPr lang="ko-KR" altLang="en-US" sz="1800" dirty="0">
                <a:solidFill>
                  <a:srgbClr val="3F7F5F"/>
                </a:solidFill>
                <a:latin typeface="Courier New" panose="02070309020205020404" pitchFamily="49" charset="0"/>
              </a:rPr>
              <a:t> 다운로드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String </a:t>
            </a:r>
            <a:r>
              <a:rPr lang="en-US" altLang="ko-KR" sz="1800" dirty="0" err="1">
                <a:solidFill>
                  <a:srgbClr val="6A3E3E"/>
                </a:solidFill>
                <a:latin typeface="Courier New" panose="02070309020205020404" pitchFamily="49" charset="0"/>
              </a:rPr>
              <a:t>fullPath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ko-KR" sz="1800" dirty="0" err="1">
                <a:solidFill>
                  <a:srgbClr val="6A3E3E"/>
                </a:solidFill>
                <a:latin typeface="Courier New" panose="02070309020205020404" pitchFamily="49" charset="0"/>
              </a:rPr>
              <a:t>request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.getSession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().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getServletContext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()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.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getRealPath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800" dirty="0">
                <a:solidFill>
                  <a:srgbClr val="2A00FF"/>
                </a:solidFill>
                <a:latin typeface="Courier New" panose="02070309020205020404" pitchFamily="49" charset="0"/>
              </a:rPr>
              <a:t>"/resources/uploads"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+ </a:t>
            </a:r>
            <a:r>
              <a:rPr lang="en-US" altLang="ko-KR" sz="1800" dirty="0">
                <a:solidFill>
                  <a:srgbClr val="2A00FF"/>
                </a:solidFill>
                <a:latin typeface="Courier New" panose="02070309020205020404" pitchFamily="49" charset="0"/>
              </a:rPr>
              <a:t>"/"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+ </a:t>
            </a:r>
            <a:r>
              <a:rPr lang="en-US" altLang="ko-KR" sz="1800" dirty="0" err="1">
                <a:solidFill>
                  <a:srgbClr val="6A3E3E"/>
                </a:solidFill>
                <a:latin typeface="Courier New" panose="02070309020205020404" pitchFamily="49" charset="0"/>
              </a:rPr>
              <a:t>fname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algn="l"/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FileInputStream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dirty="0">
                <a:solidFill>
                  <a:srgbClr val="6A3E3E"/>
                </a:solidFill>
                <a:latin typeface="Courier New" panose="02070309020205020404" pitchFamily="49" charset="0"/>
              </a:rPr>
              <a:t>fi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new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FileInputStream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800" b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fullPath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algn="l"/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ServletOutputStream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dirty="0" err="1">
                <a:solidFill>
                  <a:srgbClr val="6A3E3E"/>
                </a:solidFill>
                <a:latin typeface="Courier New" panose="02070309020205020404" pitchFamily="49" charset="0"/>
              </a:rPr>
              <a:t>sout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ko-KR" sz="1800" dirty="0" err="1">
                <a:solidFill>
                  <a:srgbClr val="6A3E3E"/>
                </a:solidFill>
                <a:latin typeface="Courier New" panose="02070309020205020404" pitchFamily="49" charset="0"/>
              </a:rPr>
              <a:t>response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.getOutputStream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</a:p>
          <a:p>
            <a:pPr algn="l"/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byte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[] </a:t>
            </a:r>
            <a:r>
              <a:rPr lang="en-US" altLang="ko-KR" sz="1800" b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buf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new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byte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[1024];</a:t>
            </a:r>
          </a:p>
          <a:p>
            <a:pPr algn="l"/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>
                <a:solidFill>
                  <a:srgbClr val="6A3E3E"/>
                </a:solidFill>
                <a:latin typeface="Courier New" panose="02070309020205020404" pitchFamily="49" charset="0"/>
              </a:rPr>
              <a:t>size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0;</a:t>
            </a:r>
          </a:p>
          <a:p>
            <a:pPr algn="l"/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while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((</a:t>
            </a:r>
            <a:r>
              <a:rPr lang="en-US" altLang="ko-KR" sz="1800" b="1" dirty="0">
                <a:solidFill>
                  <a:srgbClr val="6A3E3E"/>
                </a:solidFill>
                <a:latin typeface="Courier New" panose="02070309020205020404" pitchFamily="49" charset="0"/>
              </a:rPr>
              <a:t>size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ko-KR" sz="1800" b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fi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.read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800" b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buf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, 0, 1024)) != -1) {</a:t>
            </a:r>
          </a:p>
          <a:p>
            <a:pPr algn="l"/>
            <a:r>
              <a:rPr lang="en-US" altLang="ko-KR" sz="1800" dirty="0" err="1">
                <a:solidFill>
                  <a:srgbClr val="6A3E3E"/>
                </a:solidFill>
                <a:latin typeface="Courier New" panose="02070309020205020404" pitchFamily="49" charset="0"/>
              </a:rPr>
              <a:t>sout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.write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800" dirty="0" err="1">
                <a:solidFill>
                  <a:srgbClr val="6A3E3E"/>
                </a:solidFill>
                <a:latin typeface="Courier New" panose="02070309020205020404" pitchFamily="49" charset="0"/>
              </a:rPr>
              <a:t>buf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0, </a:t>
            </a:r>
            <a:r>
              <a:rPr lang="en-US" altLang="ko-KR" sz="1800" dirty="0">
                <a:solidFill>
                  <a:srgbClr val="6A3E3E"/>
                </a:solidFill>
                <a:latin typeface="Courier New" panose="02070309020205020404" pitchFamily="49" charset="0"/>
              </a:rPr>
              <a:t>size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algn="l"/>
            <a:r>
              <a:rPr lang="en-US" altLang="ko-KR" sz="1800" u="sng" dirty="0" err="1">
                <a:solidFill>
                  <a:srgbClr val="000000"/>
                </a:solidFill>
                <a:latin typeface="Courier New" panose="02070309020205020404" pitchFamily="49" charset="0"/>
              </a:rPr>
              <a:t>fi.close</a:t>
            </a:r>
            <a:r>
              <a:rPr lang="en-US" altLang="ko-KR" sz="1800" u="sng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  <a:r>
              <a:rPr lang="en-US" altLang="ko-KR" sz="1800" u="sng" dirty="0" err="1">
                <a:solidFill>
                  <a:srgbClr val="6A3E3E"/>
                </a:solidFill>
                <a:latin typeface="Courier New" panose="02070309020205020404" pitchFamily="49" charset="0"/>
              </a:rPr>
              <a:t>sout</a:t>
            </a:r>
            <a:r>
              <a:rPr lang="en-US" altLang="ko-KR" sz="1800" u="sng" dirty="0" err="1">
                <a:solidFill>
                  <a:srgbClr val="000000"/>
                </a:solidFill>
                <a:latin typeface="Courier New" panose="02070309020205020404" pitchFamily="49" charset="0"/>
              </a:rPr>
              <a:t>.close</a:t>
            </a:r>
            <a:r>
              <a:rPr lang="en-US" altLang="ko-KR" sz="1800" u="sng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199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9556398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200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6530627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7367179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dependency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groupId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org.springframework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groupId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artifactId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spring-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websocket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artifactId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version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${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org.springframework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-version}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version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dependency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dependency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groupId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javax.websocket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groupId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artifactId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javax.websocket-api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artifactId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version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1.1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version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dependency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dependency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groupId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com.googlecode.json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-simple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groupId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artifactId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json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-simple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artifactId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version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1.1.1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version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dependency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202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1490285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203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1471684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ko-KR" dirty="0"/>
              <a:t>package </a:t>
            </a:r>
            <a:r>
              <a:rPr lang="en-US" altLang="ko-KR" dirty="0" err="1"/>
              <a:t>com.shinhan.spring.socket</a:t>
            </a:r>
            <a:r>
              <a:rPr lang="en-US" altLang="ko-KR" dirty="0"/>
              <a:t>;</a:t>
            </a:r>
          </a:p>
          <a:p>
            <a:pPr algn="l"/>
            <a:endParaRPr lang="en-US" altLang="ko-KR" dirty="0"/>
          </a:p>
          <a:p>
            <a:pPr algn="l"/>
            <a:r>
              <a:rPr lang="en-US" altLang="ko-KR" dirty="0"/>
              <a:t>import </a:t>
            </a:r>
            <a:r>
              <a:rPr lang="en-US" altLang="ko-KR" dirty="0" err="1"/>
              <a:t>java.io.IOException</a:t>
            </a:r>
            <a:r>
              <a:rPr lang="en-US" altLang="ko-KR" dirty="0"/>
              <a:t>;</a:t>
            </a:r>
          </a:p>
          <a:p>
            <a:pPr algn="l"/>
            <a:r>
              <a:rPr lang="en-US" altLang="ko-KR" dirty="0"/>
              <a:t>import </a:t>
            </a:r>
            <a:r>
              <a:rPr lang="en-US" altLang="ko-KR" dirty="0" err="1"/>
              <a:t>java.util.ArrayList</a:t>
            </a:r>
            <a:r>
              <a:rPr lang="en-US" altLang="ko-KR" dirty="0"/>
              <a:t>;</a:t>
            </a:r>
          </a:p>
          <a:p>
            <a:pPr algn="l"/>
            <a:r>
              <a:rPr lang="en-US" altLang="ko-KR" dirty="0"/>
              <a:t>import </a:t>
            </a:r>
            <a:r>
              <a:rPr lang="en-US" altLang="ko-KR" dirty="0" err="1"/>
              <a:t>java.util.List</a:t>
            </a:r>
            <a:r>
              <a:rPr lang="en-US" altLang="ko-KR" dirty="0"/>
              <a:t>;</a:t>
            </a:r>
          </a:p>
          <a:p>
            <a:pPr algn="l"/>
            <a:endParaRPr lang="en-US" altLang="ko-KR" dirty="0"/>
          </a:p>
          <a:p>
            <a:pPr algn="l"/>
            <a:r>
              <a:rPr lang="en-US" altLang="ko-KR" dirty="0"/>
              <a:t>import </a:t>
            </a:r>
            <a:r>
              <a:rPr lang="en-US" altLang="ko-KR" dirty="0" err="1"/>
              <a:t>javax.websocket.OnClose</a:t>
            </a:r>
            <a:r>
              <a:rPr lang="en-US" altLang="ko-KR" dirty="0"/>
              <a:t>;</a:t>
            </a:r>
          </a:p>
          <a:p>
            <a:pPr algn="l"/>
            <a:r>
              <a:rPr lang="en-US" altLang="ko-KR" dirty="0"/>
              <a:t>import </a:t>
            </a:r>
            <a:r>
              <a:rPr lang="en-US" altLang="ko-KR" dirty="0" err="1"/>
              <a:t>javax.websocket.OnError</a:t>
            </a:r>
            <a:r>
              <a:rPr lang="en-US" altLang="ko-KR" dirty="0"/>
              <a:t>;</a:t>
            </a:r>
          </a:p>
          <a:p>
            <a:pPr algn="l"/>
            <a:r>
              <a:rPr lang="en-US" altLang="ko-KR" dirty="0"/>
              <a:t>import </a:t>
            </a:r>
            <a:r>
              <a:rPr lang="en-US" altLang="ko-KR" dirty="0" err="1"/>
              <a:t>javax.websocket.OnMessage</a:t>
            </a:r>
            <a:r>
              <a:rPr lang="en-US" altLang="ko-KR" dirty="0"/>
              <a:t>;</a:t>
            </a:r>
          </a:p>
          <a:p>
            <a:pPr algn="l"/>
            <a:r>
              <a:rPr lang="en-US" altLang="ko-KR" dirty="0"/>
              <a:t>import </a:t>
            </a:r>
            <a:r>
              <a:rPr lang="en-US" altLang="ko-KR" dirty="0" err="1"/>
              <a:t>javax.websocket.OnOpen</a:t>
            </a:r>
            <a:r>
              <a:rPr lang="en-US" altLang="ko-KR" dirty="0"/>
              <a:t>;</a:t>
            </a:r>
          </a:p>
          <a:p>
            <a:pPr algn="l"/>
            <a:r>
              <a:rPr lang="en-US" altLang="ko-KR" dirty="0"/>
              <a:t>import </a:t>
            </a:r>
            <a:r>
              <a:rPr lang="en-US" altLang="ko-KR" dirty="0" err="1"/>
              <a:t>javax.websocket.Session</a:t>
            </a:r>
            <a:r>
              <a:rPr lang="en-US" altLang="ko-KR" dirty="0"/>
              <a:t>;</a:t>
            </a:r>
          </a:p>
          <a:p>
            <a:pPr algn="l"/>
            <a:r>
              <a:rPr lang="en-US" altLang="ko-KR" dirty="0"/>
              <a:t>import </a:t>
            </a:r>
            <a:r>
              <a:rPr lang="en-US" altLang="ko-KR" dirty="0" err="1"/>
              <a:t>javax.websocket.server.ServerEndpoint</a:t>
            </a:r>
            <a:r>
              <a:rPr lang="en-US" altLang="ko-KR" dirty="0"/>
              <a:t>;</a:t>
            </a:r>
          </a:p>
          <a:p>
            <a:pPr algn="l"/>
            <a:endParaRPr lang="en-US" altLang="ko-KR" dirty="0"/>
          </a:p>
          <a:p>
            <a:pPr algn="l"/>
            <a:r>
              <a:rPr lang="en-US" altLang="ko-KR" dirty="0"/>
              <a:t>import </a:t>
            </a:r>
            <a:r>
              <a:rPr lang="en-US" altLang="ko-KR" dirty="0" err="1"/>
              <a:t>com.fasterxml.jackson.databind.ObjectMapper</a:t>
            </a:r>
            <a:r>
              <a:rPr lang="en-US" altLang="ko-KR" dirty="0"/>
              <a:t>;</a:t>
            </a:r>
          </a:p>
          <a:p>
            <a:pPr algn="l"/>
            <a:r>
              <a:rPr lang="en-US" altLang="ko-KR" dirty="0"/>
              <a:t>import </a:t>
            </a:r>
            <a:r>
              <a:rPr lang="en-US" altLang="ko-KR" dirty="0" err="1"/>
              <a:t>com.fasterxml.jackson.databind.node.ObjectNode</a:t>
            </a:r>
            <a:r>
              <a:rPr lang="en-US" altLang="ko-KR" dirty="0"/>
              <a:t>;</a:t>
            </a:r>
          </a:p>
          <a:p>
            <a:pPr algn="l"/>
            <a:endParaRPr lang="en-US" altLang="ko-KR" dirty="0"/>
          </a:p>
          <a:p>
            <a:pPr algn="l"/>
            <a:endParaRPr lang="en-US" altLang="ko-KR" dirty="0"/>
          </a:p>
          <a:p>
            <a:pPr algn="l"/>
            <a:r>
              <a:rPr lang="en-US" altLang="ko-KR" dirty="0"/>
              <a:t>//</a:t>
            </a:r>
            <a:r>
              <a:rPr lang="ko-KR" altLang="en-US" dirty="0" err="1"/>
              <a:t>웹소켓을</a:t>
            </a:r>
            <a:r>
              <a:rPr lang="ko-KR" altLang="en-US" dirty="0"/>
              <a:t> 통한 실시간 양방향 통신을 가능하게 하는 서버 사이드의 연결점</a:t>
            </a:r>
          </a:p>
          <a:p>
            <a:pPr algn="l"/>
            <a:r>
              <a:rPr lang="en-US" altLang="ko-KR" dirty="0"/>
              <a:t>@ServerEndpoint("/chatserver")</a:t>
            </a:r>
          </a:p>
          <a:p>
            <a:pPr algn="l"/>
            <a:r>
              <a:rPr lang="en-US" altLang="ko-KR" dirty="0"/>
              <a:t>public class </a:t>
            </a:r>
            <a:r>
              <a:rPr lang="en-US" altLang="ko-KR" dirty="0" err="1"/>
              <a:t>WebSocketServer</a:t>
            </a:r>
            <a:r>
              <a:rPr lang="en-US" altLang="ko-KR" dirty="0"/>
              <a:t> {</a:t>
            </a:r>
          </a:p>
          <a:p>
            <a:pPr algn="l"/>
            <a:endParaRPr lang="en-US" altLang="ko-KR" dirty="0"/>
          </a:p>
          <a:p>
            <a:pPr algn="l"/>
            <a:r>
              <a:rPr lang="en-US" altLang="ko-KR" dirty="0"/>
              <a:t>	// </a:t>
            </a:r>
            <a:r>
              <a:rPr lang="ko-KR" altLang="en-US" dirty="0"/>
              <a:t>현재 채팅 서버에 접속한 클라이언트</a:t>
            </a:r>
            <a:r>
              <a:rPr lang="en-US" altLang="ko-KR" dirty="0"/>
              <a:t>(WebSocket Session) </a:t>
            </a:r>
            <a:r>
              <a:rPr lang="ko-KR" altLang="en-US" dirty="0"/>
              <a:t>목록</a:t>
            </a:r>
          </a:p>
          <a:p>
            <a:pPr algn="l"/>
            <a:r>
              <a:rPr lang="ko-KR" altLang="en-US" dirty="0"/>
              <a:t>	</a:t>
            </a:r>
            <a:r>
              <a:rPr lang="en-US" altLang="ko-KR" dirty="0"/>
              <a:t>private static List&lt;Session&gt; list = new </a:t>
            </a:r>
            <a:r>
              <a:rPr lang="en-US" altLang="ko-KR" dirty="0" err="1"/>
              <a:t>ArrayList</a:t>
            </a:r>
            <a:r>
              <a:rPr lang="en-US" altLang="ko-KR" dirty="0"/>
              <a:t>&lt;Session&gt;();</a:t>
            </a:r>
          </a:p>
          <a:p>
            <a:pPr algn="l"/>
            <a:r>
              <a:rPr lang="en-US" altLang="ko-KR" dirty="0"/>
              <a:t>	private static final </a:t>
            </a:r>
            <a:r>
              <a:rPr lang="en-US" altLang="ko-KR" dirty="0" err="1"/>
              <a:t>ObjectMapper</a:t>
            </a:r>
            <a:r>
              <a:rPr lang="en-US" altLang="ko-KR" dirty="0"/>
              <a:t> </a:t>
            </a:r>
            <a:r>
              <a:rPr lang="en-US" altLang="ko-KR" dirty="0" err="1"/>
              <a:t>objectMapper</a:t>
            </a:r>
            <a:r>
              <a:rPr lang="en-US" altLang="ko-KR" dirty="0"/>
              <a:t> = new </a:t>
            </a:r>
            <a:r>
              <a:rPr lang="en-US" altLang="ko-KR" dirty="0" err="1"/>
              <a:t>ObjectMapper</a:t>
            </a:r>
            <a:r>
              <a:rPr lang="en-US" altLang="ko-KR" dirty="0"/>
              <a:t>();</a:t>
            </a:r>
          </a:p>
          <a:p>
            <a:pPr algn="l"/>
            <a:r>
              <a:rPr lang="en-US" altLang="ko-KR" dirty="0"/>
              <a:t>	@OnOpen // </a:t>
            </a:r>
            <a:r>
              <a:rPr lang="ko-KR" altLang="en-US" dirty="0"/>
              <a:t>웹 소켓이 연결되면 호출되는 이벤트</a:t>
            </a:r>
          </a:p>
          <a:p>
            <a:pPr algn="l"/>
            <a:r>
              <a:rPr lang="ko-KR" altLang="en-US" dirty="0"/>
              <a:t>	</a:t>
            </a:r>
            <a:r>
              <a:rPr lang="en-US" altLang="ko-KR" dirty="0"/>
              <a:t>public void </a:t>
            </a:r>
            <a:r>
              <a:rPr lang="en-US" altLang="ko-KR" dirty="0" err="1"/>
              <a:t>handleOpen</a:t>
            </a:r>
            <a:r>
              <a:rPr lang="en-US" altLang="ko-KR" dirty="0"/>
              <a:t>(Session session) {</a:t>
            </a:r>
          </a:p>
          <a:p>
            <a:pPr algn="l"/>
            <a:r>
              <a:rPr lang="en-US" altLang="ko-KR" dirty="0"/>
              <a:t>		</a:t>
            </a:r>
            <a:r>
              <a:rPr lang="en-US" altLang="ko-KR" dirty="0" err="1"/>
              <a:t>list.add</a:t>
            </a:r>
            <a:r>
              <a:rPr lang="en-US" altLang="ko-KR" dirty="0"/>
              <a:t>(session); // </a:t>
            </a:r>
            <a:r>
              <a:rPr lang="ko-KR" altLang="en-US" dirty="0" err="1"/>
              <a:t>접속자</a:t>
            </a:r>
            <a:r>
              <a:rPr lang="ko-KR" altLang="en-US" dirty="0"/>
              <a:t> 관리</a:t>
            </a:r>
          </a:p>
          <a:p>
            <a:pPr algn="l"/>
            <a:r>
              <a:rPr lang="ko-KR" altLang="en-US" dirty="0"/>
              <a:t>	</a:t>
            </a:r>
            <a:r>
              <a:rPr lang="en-US" altLang="ko-KR" dirty="0"/>
              <a:t>}</a:t>
            </a:r>
          </a:p>
          <a:p>
            <a:pPr algn="l"/>
            <a:endParaRPr lang="en-US" altLang="ko-KR" dirty="0"/>
          </a:p>
          <a:p>
            <a:pPr algn="l"/>
            <a:r>
              <a:rPr lang="en-US" altLang="ko-KR" dirty="0"/>
              <a:t>	@OnClose</a:t>
            </a:r>
          </a:p>
          <a:p>
            <a:pPr algn="l"/>
            <a:r>
              <a:rPr lang="en-US" altLang="ko-KR" dirty="0"/>
              <a:t>	// </a:t>
            </a:r>
            <a:r>
              <a:rPr lang="ko-KR" altLang="en-US" dirty="0"/>
              <a:t>웹 소켓이 닫히면 호출되는 이벤트</a:t>
            </a:r>
          </a:p>
          <a:p>
            <a:pPr algn="l"/>
            <a:r>
              <a:rPr lang="ko-KR" altLang="en-US" dirty="0"/>
              <a:t>	</a:t>
            </a:r>
            <a:r>
              <a:rPr lang="en-US" altLang="ko-KR" dirty="0"/>
              <a:t>public void </a:t>
            </a:r>
            <a:r>
              <a:rPr lang="en-US" altLang="ko-KR" dirty="0" err="1"/>
              <a:t>handleClose</a:t>
            </a:r>
            <a:r>
              <a:rPr lang="en-US" altLang="ko-KR" dirty="0"/>
              <a:t>(Session session) {</a:t>
            </a:r>
          </a:p>
          <a:p>
            <a:pPr algn="l"/>
            <a:r>
              <a:rPr lang="en-US" altLang="ko-KR" dirty="0"/>
              <a:t>		</a:t>
            </a:r>
            <a:r>
              <a:rPr lang="en-US" altLang="ko-KR" dirty="0" err="1"/>
              <a:t>list.remove</a:t>
            </a:r>
            <a:r>
              <a:rPr lang="en-US" altLang="ko-KR" dirty="0"/>
              <a:t>(session);</a:t>
            </a:r>
          </a:p>
          <a:p>
            <a:pPr algn="l"/>
            <a:r>
              <a:rPr lang="en-US" altLang="ko-KR" dirty="0"/>
              <a:t>	}</a:t>
            </a:r>
          </a:p>
          <a:p>
            <a:pPr algn="l"/>
            <a:endParaRPr lang="en-US" altLang="ko-KR" dirty="0"/>
          </a:p>
          <a:p>
            <a:pPr algn="l"/>
            <a:r>
              <a:rPr lang="en-US" altLang="ko-KR" dirty="0"/>
              <a:t>	@OnError</a:t>
            </a:r>
          </a:p>
          <a:p>
            <a:pPr algn="l"/>
            <a:r>
              <a:rPr lang="en-US" altLang="ko-KR" dirty="0"/>
              <a:t>	// </a:t>
            </a:r>
            <a:r>
              <a:rPr lang="ko-KR" altLang="en-US" dirty="0"/>
              <a:t>웹 소켓 에러가 나면 발생하는 이벤트</a:t>
            </a:r>
          </a:p>
          <a:p>
            <a:pPr algn="l"/>
            <a:r>
              <a:rPr lang="ko-KR" altLang="en-US" dirty="0"/>
              <a:t>	</a:t>
            </a:r>
            <a:r>
              <a:rPr lang="en-US" altLang="ko-KR" dirty="0"/>
              <a:t>public void </a:t>
            </a:r>
            <a:r>
              <a:rPr lang="en-US" altLang="ko-KR" dirty="0" err="1"/>
              <a:t>handleError</a:t>
            </a:r>
            <a:r>
              <a:rPr lang="en-US" altLang="ko-KR" dirty="0"/>
              <a:t>(Throwable t) {</a:t>
            </a:r>
          </a:p>
          <a:p>
            <a:pPr algn="l"/>
            <a:endParaRPr lang="en-US" altLang="ko-KR" dirty="0"/>
          </a:p>
          <a:p>
            <a:pPr algn="l"/>
            <a:r>
              <a:rPr lang="en-US" altLang="ko-KR" dirty="0"/>
              <a:t>	}</a:t>
            </a:r>
          </a:p>
          <a:p>
            <a:pPr algn="l"/>
            <a:endParaRPr lang="en-US" altLang="ko-KR" dirty="0"/>
          </a:p>
          <a:p>
            <a:pPr algn="l"/>
            <a:r>
              <a:rPr lang="en-US" altLang="ko-KR" dirty="0"/>
              <a:t>	@OnMessage</a:t>
            </a:r>
          </a:p>
          <a:p>
            <a:pPr algn="l"/>
            <a:r>
              <a:rPr lang="en-US" altLang="ko-KR" dirty="0"/>
              <a:t>    public void </a:t>
            </a:r>
            <a:r>
              <a:rPr lang="en-US" altLang="ko-KR" dirty="0" err="1"/>
              <a:t>handleMessage</a:t>
            </a:r>
            <a:r>
              <a:rPr lang="en-US" altLang="ko-KR" dirty="0"/>
              <a:t>(String message, Session session) {</a:t>
            </a:r>
          </a:p>
          <a:p>
            <a:pPr algn="l"/>
            <a:r>
              <a:rPr lang="en-US" altLang="ko-KR" dirty="0"/>
              <a:t>        try {</a:t>
            </a:r>
          </a:p>
          <a:p>
            <a:pPr algn="l"/>
            <a:r>
              <a:rPr lang="en-US" altLang="ko-KR" dirty="0"/>
              <a:t>            // </a:t>
            </a:r>
            <a:r>
              <a:rPr lang="ko-KR" altLang="en-US" dirty="0"/>
              <a:t>수신 </a:t>
            </a:r>
            <a:r>
              <a:rPr lang="en-US" altLang="ko-KR" dirty="0"/>
              <a:t>JSON </a:t>
            </a:r>
            <a:r>
              <a:rPr lang="ko-KR" altLang="en-US" dirty="0"/>
              <a:t>문자열 → </a:t>
            </a:r>
            <a:r>
              <a:rPr lang="en-US" altLang="ko-KR" dirty="0" err="1"/>
              <a:t>JsonNode</a:t>
            </a:r>
            <a:r>
              <a:rPr lang="ko-KR" altLang="en-US" dirty="0"/>
              <a:t>로 파싱</a:t>
            </a:r>
          </a:p>
          <a:p>
            <a:pPr algn="l"/>
            <a:r>
              <a:rPr lang="ko-KR" altLang="en-US" dirty="0"/>
              <a:t>            </a:t>
            </a:r>
            <a:r>
              <a:rPr lang="en-US" altLang="ko-KR" dirty="0" err="1"/>
              <a:t>ObjectNode</a:t>
            </a:r>
            <a:r>
              <a:rPr lang="en-US" altLang="ko-KR" dirty="0"/>
              <a:t> received = (</a:t>
            </a:r>
            <a:r>
              <a:rPr lang="en-US" altLang="ko-KR" dirty="0" err="1"/>
              <a:t>ObjectNode</a:t>
            </a:r>
            <a:r>
              <a:rPr lang="en-US" altLang="ko-KR" dirty="0"/>
              <a:t>) </a:t>
            </a:r>
            <a:r>
              <a:rPr lang="en-US" altLang="ko-KR" dirty="0" err="1"/>
              <a:t>objectMapper.readTree</a:t>
            </a:r>
            <a:r>
              <a:rPr lang="en-US" altLang="ko-KR" dirty="0"/>
              <a:t>(message);</a:t>
            </a:r>
          </a:p>
          <a:p>
            <a:pPr algn="l"/>
            <a:r>
              <a:rPr lang="en-US" altLang="ko-KR" dirty="0"/>
              <a:t>            String type = </a:t>
            </a:r>
            <a:r>
              <a:rPr lang="en-US" altLang="ko-KR" dirty="0" err="1"/>
              <a:t>received.get</a:t>
            </a:r>
            <a:r>
              <a:rPr lang="en-US" altLang="ko-KR" dirty="0"/>
              <a:t>("type").</a:t>
            </a:r>
            <a:r>
              <a:rPr lang="en-US" altLang="ko-KR" dirty="0" err="1"/>
              <a:t>asText</a:t>
            </a:r>
            <a:r>
              <a:rPr lang="en-US" altLang="ko-KR" dirty="0"/>
              <a:t>();    // "join" or "chat"</a:t>
            </a:r>
          </a:p>
          <a:p>
            <a:pPr algn="l"/>
            <a:r>
              <a:rPr lang="en-US" altLang="ko-KR" dirty="0"/>
              <a:t>            String user = </a:t>
            </a:r>
            <a:r>
              <a:rPr lang="en-US" altLang="ko-KR" dirty="0" err="1"/>
              <a:t>received.get</a:t>
            </a:r>
            <a:r>
              <a:rPr lang="en-US" altLang="ko-KR" dirty="0"/>
              <a:t>("user").</a:t>
            </a:r>
            <a:r>
              <a:rPr lang="en-US" altLang="ko-KR" dirty="0" err="1"/>
              <a:t>asText</a:t>
            </a:r>
            <a:r>
              <a:rPr lang="en-US" altLang="ko-KR" dirty="0"/>
              <a:t>();</a:t>
            </a:r>
          </a:p>
          <a:p>
            <a:pPr algn="l"/>
            <a:r>
              <a:rPr lang="en-US" altLang="ko-KR" dirty="0"/>
              <a:t>            String </a:t>
            </a:r>
            <a:r>
              <a:rPr lang="en-US" altLang="ko-KR" dirty="0" err="1"/>
              <a:t>msgText</a:t>
            </a:r>
            <a:r>
              <a:rPr lang="en-US" altLang="ko-KR" dirty="0"/>
              <a:t> = </a:t>
            </a:r>
            <a:r>
              <a:rPr lang="en-US" altLang="ko-KR" dirty="0" err="1"/>
              <a:t>received.get</a:t>
            </a:r>
            <a:r>
              <a:rPr lang="en-US" altLang="ko-KR" dirty="0"/>
              <a:t>("message").</a:t>
            </a:r>
            <a:r>
              <a:rPr lang="en-US" altLang="ko-KR" dirty="0" err="1"/>
              <a:t>asText</a:t>
            </a:r>
            <a:r>
              <a:rPr lang="en-US" altLang="ko-KR" dirty="0"/>
              <a:t>();</a:t>
            </a:r>
          </a:p>
          <a:p>
            <a:pPr algn="l"/>
            <a:r>
              <a:rPr lang="en-US" altLang="ko-KR" dirty="0"/>
              <a:t>            for (Session s : list) {</a:t>
            </a:r>
          </a:p>
          <a:p>
            <a:pPr algn="l"/>
            <a:r>
              <a:rPr lang="en-US" altLang="ko-KR" dirty="0"/>
              <a:t>                if (!</a:t>
            </a:r>
            <a:r>
              <a:rPr lang="en-US" altLang="ko-KR" dirty="0" err="1"/>
              <a:t>s.equals</a:t>
            </a:r>
            <a:r>
              <a:rPr lang="en-US" altLang="ko-KR" dirty="0"/>
              <a:t>(session)) {</a:t>
            </a:r>
          </a:p>
          <a:p>
            <a:pPr algn="l"/>
            <a:r>
              <a:rPr lang="en-US" altLang="ko-KR" dirty="0"/>
              <a:t>                    </a:t>
            </a:r>
            <a:r>
              <a:rPr lang="en-US" altLang="ko-KR" dirty="0" err="1"/>
              <a:t>ObjectNode</a:t>
            </a:r>
            <a:r>
              <a:rPr lang="en-US" altLang="ko-KR" dirty="0"/>
              <a:t> </a:t>
            </a:r>
            <a:r>
              <a:rPr lang="en-US" altLang="ko-KR" dirty="0" err="1"/>
              <a:t>sendMsg</a:t>
            </a:r>
            <a:r>
              <a:rPr lang="en-US" altLang="ko-KR" dirty="0"/>
              <a:t> = </a:t>
            </a:r>
            <a:r>
              <a:rPr lang="en-US" altLang="ko-KR" dirty="0" err="1"/>
              <a:t>objectMapper.createObjectNode</a:t>
            </a:r>
            <a:r>
              <a:rPr lang="en-US" altLang="ko-KR" dirty="0"/>
              <a:t>();</a:t>
            </a:r>
          </a:p>
          <a:p>
            <a:pPr algn="l"/>
            <a:r>
              <a:rPr lang="en-US" altLang="ko-KR" dirty="0"/>
              <a:t>                    if ("</a:t>
            </a:r>
            <a:r>
              <a:rPr lang="en-US" altLang="ko-KR" dirty="0" err="1"/>
              <a:t>join".equals</a:t>
            </a:r>
            <a:r>
              <a:rPr lang="en-US" altLang="ko-KR" dirty="0"/>
              <a:t>(type)) {</a:t>
            </a:r>
          </a:p>
          <a:p>
            <a:pPr algn="l"/>
            <a:r>
              <a:rPr lang="en-US" altLang="ko-KR" dirty="0"/>
              <a:t>                        </a:t>
            </a:r>
            <a:r>
              <a:rPr lang="en-US" altLang="ko-KR" dirty="0" err="1"/>
              <a:t>sendMsg.put</a:t>
            </a:r>
            <a:r>
              <a:rPr lang="en-US" altLang="ko-KR" dirty="0"/>
              <a:t>("type", "notice");</a:t>
            </a:r>
          </a:p>
          <a:p>
            <a:pPr algn="l"/>
            <a:r>
              <a:rPr lang="en-US" altLang="ko-KR" dirty="0"/>
              <a:t>                        </a:t>
            </a:r>
            <a:r>
              <a:rPr lang="en-US" altLang="ko-KR" dirty="0" err="1"/>
              <a:t>sendMsg.put</a:t>
            </a:r>
            <a:r>
              <a:rPr lang="en-US" altLang="ko-KR" dirty="0"/>
              <a:t>("message", user + "</a:t>
            </a:r>
            <a:r>
              <a:rPr lang="ko-KR" altLang="en-US" dirty="0"/>
              <a:t>님이 입장하셨습니다</a:t>
            </a:r>
            <a:r>
              <a:rPr lang="en-US" altLang="ko-KR" dirty="0"/>
              <a:t>.");</a:t>
            </a:r>
          </a:p>
          <a:p>
            <a:pPr algn="l"/>
            <a:r>
              <a:rPr lang="en-US" altLang="ko-KR" dirty="0"/>
              <a:t>                    } else if ("</a:t>
            </a:r>
            <a:r>
              <a:rPr lang="en-US" altLang="ko-KR" dirty="0" err="1"/>
              <a:t>chat".equals</a:t>
            </a:r>
            <a:r>
              <a:rPr lang="en-US" altLang="ko-KR" dirty="0"/>
              <a:t>(type)) {</a:t>
            </a:r>
          </a:p>
          <a:p>
            <a:pPr algn="l"/>
            <a:r>
              <a:rPr lang="en-US" altLang="ko-KR" dirty="0"/>
              <a:t>                        </a:t>
            </a:r>
            <a:r>
              <a:rPr lang="en-US" altLang="ko-KR" dirty="0" err="1"/>
              <a:t>sendMsg.put</a:t>
            </a:r>
            <a:r>
              <a:rPr lang="en-US" altLang="ko-KR" dirty="0"/>
              <a:t>("type", "chat");</a:t>
            </a:r>
          </a:p>
          <a:p>
            <a:pPr algn="l"/>
            <a:r>
              <a:rPr lang="en-US" altLang="ko-KR" dirty="0"/>
              <a:t>                        </a:t>
            </a:r>
            <a:r>
              <a:rPr lang="en-US" altLang="ko-KR" dirty="0" err="1"/>
              <a:t>sendMsg.put</a:t>
            </a:r>
            <a:r>
              <a:rPr lang="en-US" altLang="ko-KR" dirty="0"/>
              <a:t>("user", user);</a:t>
            </a:r>
          </a:p>
          <a:p>
            <a:pPr algn="l"/>
            <a:r>
              <a:rPr lang="en-US" altLang="ko-KR" dirty="0"/>
              <a:t>                        </a:t>
            </a:r>
            <a:r>
              <a:rPr lang="en-US" altLang="ko-KR" dirty="0" err="1"/>
              <a:t>sendMsg.put</a:t>
            </a:r>
            <a:r>
              <a:rPr lang="en-US" altLang="ko-KR" dirty="0"/>
              <a:t>("message", </a:t>
            </a:r>
            <a:r>
              <a:rPr lang="en-US" altLang="ko-KR" dirty="0" err="1"/>
              <a:t>msgText</a:t>
            </a:r>
            <a:r>
              <a:rPr lang="en-US" altLang="ko-KR" dirty="0"/>
              <a:t>);</a:t>
            </a:r>
          </a:p>
          <a:p>
            <a:pPr algn="l"/>
            <a:r>
              <a:rPr lang="en-US" altLang="ko-KR" dirty="0"/>
              <a:t>                    } else if ("</a:t>
            </a:r>
            <a:r>
              <a:rPr lang="en-US" altLang="ko-KR" dirty="0" err="1"/>
              <a:t>leave".equals</a:t>
            </a:r>
            <a:r>
              <a:rPr lang="en-US" altLang="ko-KR" dirty="0"/>
              <a:t>(type)) {</a:t>
            </a:r>
          </a:p>
          <a:p>
            <a:pPr algn="l"/>
            <a:r>
              <a:rPr lang="en-US" altLang="ko-KR" dirty="0"/>
              <a:t>                    	</a:t>
            </a:r>
            <a:r>
              <a:rPr lang="en-US" altLang="ko-KR" dirty="0" err="1"/>
              <a:t>sendMsg.put</a:t>
            </a:r>
            <a:r>
              <a:rPr lang="en-US" altLang="ko-KR" dirty="0"/>
              <a:t>("type", "notice");</a:t>
            </a:r>
          </a:p>
          <a:p>
            <a:pPr algn="l"/>
            <a:r>
              <a:rPr lang="en-US" altLang="ko-KR" dirty="0"/>
              <a:t>                    	</a:t>
            </a:r>
            <a:r>
              <a:rPr lang="en-US" altLang="ko-KR" dirty="0" err="1"/>
              <a:t>sendMsg.put</a:t>
            </a:r>
            <a:r>
              <a:rPr lang="en-US" altLang="ko-KR" dirty="0"/>
              <a:t>("message", user + "</a:t>
            </a:r>
            <a:r>
              <a:rPr lang="ko-KR" altLang="en-US" dirty="0"/>
              <a:t>님이 퇴장하셨습니다</a:t>
            </a:r>
            <a:r>
              <a:rPr lang="en-US" altLang="ko-KR" dirty="0"/>
              <a:t>.");</a:t>
            </a:r>
          </a:p>
          <a:p>
            <a:pPr algn="l"/>
            <a:r>
              <a:rPr lang="en-US" altLang="ko-KR" dirty="0"/>
              <a:t>                    }</a:t>
            </a:r>
          </a:p>
          <a:p>
            <a:pPr algn="l"/>
            <a:r>
              <a:rPr lang="en-US" altLang="ko-KR" dirty="0"/>
              <a:t>                    </a:t>
            </a:r>
            <a:r>
              <a:rPr lang="en-US" altLang="ko-KR" dirty="0" err="1"/>
              <a:t>s.getBasicRemote</a:t>
            </a:r>
            <a:r>
              <a:rPr lang="en-US" altLang="ko-KR" dirty="0"/>
              <a:t>().</a:t>
            </a:r>
            <a:r>
              <a:rPr lang="en-US" altLang="ko-KR" dirty="0" err="1"/>
              <a:t>sendText</a:t>
            </a:r>
            <a:r>
              <a:rPr lang="en-US" altLang="ko-KR" dirty="0"/>
              <a:t>(</a:t>
            </a:r>
            <a:r>
              <a:rPr lang="en-US" altLang="ko-KR" dirty="0" err="1"/>
              <a:t>sendMsg.toString</a:t>
            </a:r>
            <a:r>
              <a:rPr lang="en-US" altLang="ko-KR" dirty="0"/>
              <a:t>());</a:t>
            </a:r>
          </a:p>
          <a:p>
            <a:pPr algn="l"/>
            <a:r>
              <a:rPr lang="en-US" altLang="ko-KR" dirty="0"/>
              <a:t>                }</a:t>
            </a:r>
          </a:p>
          <a:p>
            <a:pPr algn="l"/>
            <a:r>
              <a:rPr lang="en-US" altLang="ko-KR" dirty="0"/>
              <a:t>            }</a:t>
            </a:r>
          </a:p>
          <a:p>
            <a:pPr algn="l"/>
            <a:endParaRPr lang="en-US" altLang="ko-KR" dirty="0"/>
          </a:p>
          <a:p>
            <a:pPr algn="l"/>
            <a:r>
              <a:rPr lang="en-US" altLang="ko-KR" dirty="0"/>
              <a:t>        } catch (</a:t>
            </a:r>
            <a:r>
              <a:rPr lang="en-US" altLang="ko-KR" dirty="0" err="1"/>
              <a:t>IOException</a:t>
            </a:r>
            <a:r>
              <a:rPr lang="en-US" altLang="ko-KR" dirty="0"/>
              <a:t> e) {</a:t>
            </a:r>
          </a:p>
          <a:p>
            <a:pPr algn="l"/>
            <a:r>
              <a:rPr lang="en-US" altLang="ko-KR" dirty="0"/>
              <a:t>            </a:t>
            </a:r>
            <a:r>
              <a:rPr lang="en-US" altLang="ko-KR" dirty="0" err="1"/>
              <a:t>e.printStackTrace</a:t>
            </a:r>
            <a:r>
              <a:rPr lang="en-US" altLang="ko-KR" dirty="0"/>
              <a:t>();</a:t>
            </a:r>
          </a:p>
          <a:p>
            <a:pPr algn="l"/>
            <a:r>
              <a:rPr lang="en-US" altLang="ko-KR" dirty="0"/>
              <a:t>        }</a:t>
            </a:r>
          </a:p>
          <a:p>
            <a:pPr algn="l"/>
            <a:r>
              <a:rPr lang="en-US" altLang="ko-KR" dirty="0"/>
              <a:t>    }</a:t>
            </a:r>
          </a:p>
          <a:p>
            <a:pPr algn="l"/>
            <a:endParaRPr lang="en-US" altLang="ko-KR" dirty="0"/>
          </a:p>
          <a:p>
            <a:pPr algn="l"/>
            <a:r>
              <a:rPr lang="en-US" altLang="ko-KR" dirty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204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6307900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205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9586519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&lt;%@ page language="java" contentType="text/html; charset=UTF-8"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pageEncoding="UTF-8"%&gt;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&lt;%@ taglib prefix="c"  uri="http://java.sun.com/jsp/jstl/core"%&gt;	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&lt;c:set var="path" value="${pageContext.servletContext.contextPath}" /&gt;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&lt;!DOCTYPE html&gt;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&lt;html&gt;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&lt;head&gt;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&lt;meta charset="utf-8" /&gt;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&lt;link rel="stylesheet" href="${path}/resources/css/chatting.css" /&gt;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&lt;script  src="https://ajax.googleapis.com/ajax/libs/jquery/3.5.1/jquery.min.js"&gt;&lt;/script&gt;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&lt;/head&gt;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&lt;body&gt;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&lt;div class="container"&gt;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&lt;div class="EnterOut_div"&gt;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&lt;input type="text" id="user" class="form-control" placeholder="</a:t>
            </a:r>
            <a:r>
              <a:rPr lang="ko-KR" altLang="en-US" sz="1800" dirty="0" err="1">
                <a:solidFill>
                  <a:srgbClr val="BF5F3F"/>
                </a:solidFill>
                <a:latin typeface="Courier New" panose="02070309020205020404" pitchFamily="49" charset="0"/>
              </a:rPr>
              <a:t>유저명</a:t>
            </a:r>
            <a:r>
              <a:rPr lang="en-US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"&gt;</a:t>
            </a:r>
          </a:p>
          <a:p>
            <a:pPr algn="l"/>
            <a:r>
              <a:rPr lang="en-US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&lt;</a:t>
            </a:r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button type="button" class="btn btn-default enter_Btn"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id="btnConnect"&gt;</a:t>
            </a:r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연결</a:t>
            </a:r>
            <a:r>
              <a:rPr lang="en-US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&lt;/</a:t>
            </a:r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button&gt;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&lt;button type="button" class="btn btn-default out_Btn"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id="btnDisconnect" disabled&gt;</a:t>
            </a:r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종료</a:t>
            </a:r>
            <a:r>
              <a:rPr lang="en-US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&lt;/</a:t>
            </a:r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button&gt;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&lt;/div&gt;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&lt;div id="chat"&gt;&lt;/div&gt;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&lt;div class="input_Btn input_wrap"&gt;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&lt;input type="text" name="msg" id="msg" placeholder="</a:t>
            </a:r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대화 내용을 입력하세요</a:t>
            </a:r>
            <a:r>
              <a:rPr lang="en-US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."</a:t>
            </a:r>
          </a:p>
          <a:p>
            <a:pPr algn="l"/>
            <a:r>
              <a:rPr lang="en-US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</a:t>
            </a:r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class="form-control" disabled&gt;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&lt;button class="btn_send"&gt;</a:t>
            </a:r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전송</a:t>
            </a:r>
            <a:r>
              <a:rPr lang="en-US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&lt;/</a:t>
            </a:r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button&gt;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&lt;/div&gt;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&lt;/div&gt;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&lt;script&gt;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var ws; //</a:t>
            </a:r>
            <a:r>
              <a:rPr lang="ko-KR" altLang="en-US" sz="1800" dirty="0" err="1">
                <a:solidFill>
                  <a:srgbClr val="BF5F3F"/>
                </a:solidFill>
                <a:latin typeface="Courier New" panose="02070309020205020404" pitchFamily="49" charset="0"/>
              </a:rPr>
              <a:t>웹소켓</a:t>
            </a:r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 변수 선언</a:t>
            </a:r>
          </a:p>
          <a:p>
            <a:pPr algn="l"/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</a:t>
            </a:r>
            <a:r>
              <a:rPr lang="en-US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$('#</a:t>
            </a:r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btnConnect').on("click", f_connect);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function f_connect() {				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if ($('#user').val().trim() == '') {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	alert('</a:t>
            </a:r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유저명을 입력하세요</a:t>
            </a:r>
            <a:r>
              <a:rPr lang="en-US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.');</a:t>
            </a:r>
          </a:p>
          <a:p>
            <a:pPr algn="l"/>
            <a:r>
              <a:rPr lang="en-US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	$('#</a:t>
            </a:r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user').focus(); return;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}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 				ws = new WebSocket("ws://" + location.host + "/${path}/chatserver");						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ws.onopen = f_open;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ws.onmessage = f_message;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ws.onclose = function(evt) { console.log('</a:t>
            </a:r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소켓이 닫힙니다</a:t>
            </a:r>
            <a:r>
              <a:rPr lang="en-US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.');   };</a:t>
            </a:r>
          </a:p>
          <a:p>
            <a:pPr algn="l"/>
            <a:r>
              <a:rPr lang="en-US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</a:t>
            </a:r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ws.onerror = function(evt) {	console.log(evt.data);  };		 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}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 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function f_message(event) {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try {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const data = JSON.parse(event.data);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switch (data.type) {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	case "chat":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		printOther(data.user, data.message); // </a:t>
            </a:r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타인 메시지</a:t>
            </a:r>
          </a:p>
          <a:p>
            <a:pPr algn="l"/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		</a:t>
            </a:r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break;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	case "my":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		print(data.user, data.message); // </a:t>
            </a:r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본인 메시지 </a:t>
            </a:r>
            <a:r>
              <a:rPr lang="en-US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(</a:t>
            </a:r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서버에서 보낼 경우</a:t>
            </a:r>
            <a:r>
              <a:rPr lang="en-US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)</a:t>
            </a:r>
          </a:p>
          <a:p>
            <a:pPr algn="l"/>
            <a:r>
              <a:rPr lang="en-US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		</a:t>
            </a:r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break;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	case "notice":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		printNotice(data.message); // </a:t>
            </a:r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시스템 메시지 </a:t>
            </a:r>
            <a:r>
              <a:rPr lang="en-US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(</a:t>
            </a:r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입장 알림 등</a:t>
            </a:r>
            <a:r>
              <a:rPr lang="en-US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)</a:t>
            </a:r>
          </a:p>
          <a:p>
            <a:pPr algn="l"/>
            <a:r>
              <a:rPr lang="en-US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		</a:t>
            </a:r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break;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	default: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		console.warn("</a:t>
            </a:r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알 수 없는 메시지 유형</a:t>
            </a:r>
            <a:r>
              <a:rPr lang="en-US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:", </a:t>
            </a:r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data.type);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}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} catch (e) {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console.error("</a:t>
            </a:r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메시지 파싱 오류</a:t>
            </a:r>
            <a:r>
              <a:rPr lang="en-US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:", </a:t>
            </a:r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e);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}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}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function printNotice(msg) {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let temp = '&lt;div class="coming_user"&gt;' + msg + '&lt;/div&gt;';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$('#chat').append(temp);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}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        function f_open(evt){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        	    console.log("onopen </a:t>
            </a:r>
            <a:r>
              <a:rPr lang="ko-KR" altLang="en-US" sz="1800" dirty="0" err="1">
                <a:solidFill>
                  <a:srgbClr val="BF5F3F"/>
                </a:solidFill>
                <a:latin typeface="Courier New" panose="02070309020205020404" pitchFamily="49" charset="0"/>
              </a:rPr>
              <a:t>핸들러</a:t>
            </a:r>
            <a:r>
              <a:rPr lang="en-US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");</a:t>
            </a:r>
          </a:p>
          <a:p>
            <a:pPr algn="l"/>
            <a:r>
              <a:rPr lang="en-US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        	    </a:t>
            </a:r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const joinMessage = {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        	        type: "join",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        	        user: $('#user').val(),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        	        message: ""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        	    };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        	    ws.send(JSON.stringify(joinMessage)); // </a:t>
            </a:r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서버에 </a:t>
            </a:r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JSON </a:t>
            </a:r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형태로 전송</a:t>
            </a:r>
          </a:p>
          <a:p>
            <a:pPr algn="l"/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</a:t>
            </a:r>
            <a:r>
              <a:rPr lang="en-US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$('#</a:t>
            </a:r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user').attr('readonly', true); //</a:t>
            </a:r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이미 접속한 </a:t>
            </a:r>
            <a:r>
              <a:rPr lang="ko-KR" altLang="en-US" sz="1800" dirty="0" err="1">
                <a:solidFill>
                  <a:srgbClr val="BF5F3F"/>
                </a:solidFill>
                <a:latin typeface="Courier New" panose="02070309020205020404" pitchFamily="49" charset="0"/>
              </a:rPr>
              <a:t>유저명</a:t>
            </a:r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 수정 못하게 막기</a:t>
            </a:r>
          </a:p>
          <a:p>
            <a:pPr algn="l"/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</a:t>
            </a:r>
            <a:r>
              <a:rPr lang="en-US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$('#</a:t>
            </a:r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btnConnect').attr('disabled', true); //</a:t>
            </a:r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연결 되었으니 연결 버튼 비활성화</a:t>
            </a:r>
          </a:p>
          <a:p>
            <a:pPr algn="l"/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</a:t>
            </a:r>
            <a:r>
              <a:rPr lang="en-US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$('#</a:t>
            </a:r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btnDisconnect').attr('disabled', false); //</a:t>
            </a:r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종료 버튼 활성화</a:t>
            </a:r>
          </a:p>
          <a:p>
            <a:pPr algn="l"/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</a:t>
            </a:r>
            <a:r>
              <a:rPr lang="en-US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$('#</a:t>
            </a:r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msg').attr('disabled', false); //</a:t>
            </a:r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메시지 입력 활성화</a:t>
            </a:r>
          </a:p>
          <a:p>
            <a:pPr algn="l"/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}</a:t>
            </a:r>
          </a:p>
          <a:p>
            <a:pPr algn="l"/>
            <a:r>
              <a:rPr lang="en-US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// </a:t>
            </a:r>
            <a:r>
              <a:rPr lang="ko-KR" altLang="en-US" sz="1800" dirty="0" err="1">
                <a:solidFill>
                  <a:srgbClr val="BF5F3F"/>
                </a:solidFill>
                <a:latin typeface="Courier New" panose="02070309020205020404" pitchFamily="49" charset="0"/>
              </a:rPr>
              <a:t>메세지</a:t>
            </a:r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 전송 및 아이디</a:t>
            </a:r>
          </a:p>
          <a:p>
            <a:pPr algn="l"/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</a:t>
            </a:r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function print(user, txt) {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if (txt.trim() == '') { return;  	}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let temp = '';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temp += '&lt;div class="message_container"&gt;';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temp += ' &lt;span style="font-size:12px;color:#777;margin-bottom: 3px;"&gt;'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	+ new Date().toLocaleTimeString([], {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		hour : '2-digit',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		minute : '2-digit'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	}) + '&lt;/span&gt;';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temp += '&lt;div class="message_background"&gt;';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temp += '&lt;div class="message"&gt;';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temp += txt;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temp += '&lt;/div&gt;';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temp += '&lt;/div&gt;';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temp += '&lt;/div&gt;';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$('#chat').append(temp);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}</a:t>
            </a:r>
          </a:p>
          <a:p>
            <a:pPr algn="l"/>
            <a:endParaRPr lang="fr-FR" altLang="ko-KR" sz="1800" dirty="0">
              <a:solidFill>
                <a:srgbClr val="BF5F3F"/>
              </a:solidFill>
              <a:latin typeface="Courier New" panose="02070309020205020404" pitchFamily="49" charset="0"/>
            </a:endParaRP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// </a:t>
            </a:r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다른 </a:t>
            </a:r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client </a:t>
            </a:r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접속</a:t>
            </a:r>
          </a:p>
          <a:p>
            <a:pPr algn="l"/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</a:t>
            </a:r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var isFirstMessage = {}; // </a:t>
            </a:r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각 사용자가 처음으로 메시지를 보냈는지 저장하는 객체</a:t>
            </a:r>
          </a:p>
          <a:p>
            <a:pPr algn="l"/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</a:t>
            </a:r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function printOther(user, txt) {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if (txt.trim() == '') {	return;  }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let temp = '';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if (!isFirstMessage[user]) { // </a:t>
            </a:r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사용자가 처음으로 메시지를 보냈을 때만 입장 메시지를 출력</a:t>
            </a:r>
          </a:p>
          <a:p>
            <a:pPr algn="l"/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</a:t>
            </a:r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temp += '&lt;div class="coming_user"&gt;';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temp += "'" + user + "' </a:t>
            </a:r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이</a:t>
            </a:r>
            <a:r>
              <a:rPr lang="en-US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(</a:t>
            </a:r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가</a:t>
            </a:r>
            <a:r>
              <a:rPr lang="en-US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) </a:t>
            </a:r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접속했습니다</a:t>
            </a:r>
            <a:r>
              <a:rPr lang="en-US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.";</a:t>
            </a:r>
          </a:p>
          <a:p>
            <a:pPr algn="l"/>
            <a:r>
              <a:rPr lang="en-US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</a:t>
            </a:r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temp += '&lt;/div&gt;';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isFirstMessage[user] = true;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}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temp += '&lt;div class="yourChat_message"&gt;';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temp += '</a:t>
            </a:r>
            <a:r>
              <a:rPr lang="ko-KR" altLang="fr-F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🍟</a:t>
            </a:r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' + user;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temp += '&lt;div class="your_message_background"&gt;';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temp += '&lt;div class="your_message"&gt;' + txt + '&lt;/div&gt;';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temp += ' &lt;span style="font-size:12px;color:#777;margin-bottom: 3px;"&gt;'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	+ new Date().toLocaleTimeString([], {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		hour : '2-digit',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		minute : '2-digit'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	}) + '&lt;/span&gt;';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temp += '&lt;/div&gt;';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temp += '&lt;/div&gt;';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$('#chat').append(temp);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}</a:t>
            </a:r>
          </a:p>
          <a:p>
            <a:pPr algn="l"/>
            <a:endParaRPr lang="fr-FR" altLang="ko-KR" sz="1800" dirty="0">
              <a:solidFill>
                <a:srgbClr val="BF5F3F"/>
              </a:solidFill>
              <a:latin typeface="Courier New" panose="02070309020205020404" pitchFamily="49" charset="0"/>
            </a:endParaRP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$('#user').keydown(function() {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if (event.keyCode == 13) {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$('#btnConnect').click();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}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});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//</a:t>
            </a:r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서버에게 메시지 전달</a:t>
            </a:r>
          </a:p>
          <a:p>
            <a:pPr algn="l"/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</a:t>
            </a:r>
            <a:r>
              <a:rPr lang="en-US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$(".</a:t>
            </a:r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btn_send").on("click", function() {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f_messagePrint();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});</a:t>
            </a:r>
          </a:p>
          <a:p>
            <a:pPr algn="l"/>
            <a:endParaRPr lang="fr-FR" altLang="ko-KR" sz="1800" dirty="0">
              <a:solidFill>
                <a:srgbClr val="BF5F3F"/>
              </a:solidFill>
              <a:latin typeface="Courier New" panose="02070309020205020404" pitchFamily="49" charset="0"/>
            </a:endParaRP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$('#msg').keydown(function(event) {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if (event.keyCode == 13) {			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f_messagePrint();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}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});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        function f_messagePrint() {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        	let message = $("#msg").val().trim();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        	if (!message) return;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        	const msgObj = {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        		type: "chat",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        		user: $('#user').val(),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        		message: message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        	};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        	ws.send(JSON.stringify(msgObj));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        	print($('#user').val(), message); // </a:t>
            </a:r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본인 메시지 즉시 출력</a:t>
            </a:r>
          </a:p>
          <a:p>
            <a:pPr algn="l"/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        	</a:t>
            </a:r>
            <a:r>
              <a:rPr lang="en-US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$('#</a:t>
            </a:r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msg').val('').focus();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        }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$('#btnDisconnect').click(function() {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 const leaveMessage = {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        type: "leave",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        user: $('#user').val(),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        message: ""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    };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ws.send(JSON.stringify(leaveMessage)); // </a:t>
            </a:r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퇴장 메시지 서버로 전송</a:t>
            </a:r>
          </a:p>
          <a:p>
            <a:pPr algn="l"/>
            <a:r>
              <a:rPr lang="ko-KR" altLang="en-US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</a:t>
            </a:r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ws.close();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$('#user').attr('readonly', false);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$('#user').val('');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$('#btnConnect').attr('disabled', false);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$('#btnDisconnect').attr('disabled', true);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$('#msg').val('');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$('#msg').attr('disabled', true);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});</a:t>
            </a:r>
          </a:p>
          <a:p>
            <a:pPr algn="l"/>
            <a:endParaRPr lang="fr-FR" altLang="ko-KR" sz="1800" dirty="0">
              <a:solidFill>
                <a:srgbClr val="BF5F3F"/>
              </a:solidFill>
              <a:latin typeface="Courier New" panose="02070309020205020404" pitchFamily="49" charset="0"/>
            </a:endParaRP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function rand(min, max) {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return Math.floor(Math.random() * (max - min + 1)) + min;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}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$(function() {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var aa = rand(1, 15);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$("#chat").css(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			{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				"background-image" : `url("${path}/resources/images/chat_bg\${aa}.jpg")`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					});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	});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	&lt;/script&gt;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&lt;/body&gt;</a:t>
            </a:r>
          </a:p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&lt;/html&gt;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206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729100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33879-C963-9C8A-5C4A-36A69581C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BA5558-DE4F-0341-1681-CFF6608D9C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96BEB6A-770E-1015-E20F-7383150591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fr-FR" altLang="ko-KR" sz="1800" dirty="0">
              <a:solidFill>
                <a:srgbClr val="BF5F3F"/>
              </a:solidFill>
              <a:latin typeface="Courier New" panose="02070309020205020404" pitchFamily="49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441E93-0A59-3CF8-3537-E23A70581A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207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7354480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C5AD3-62CE-A851-1EAF-E2F27DE51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045A2B4-DB00-300E-BB96-443F775158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A1F8F4-C7B7-E239-6303-223D0E8E0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fr-FR" altLang="ko-KR" sz="1800" dirty="0">
              <a:solidFill>
                <a:srgbClr val="BF5F3F"/>
              </a:solidFill>
              <a:latin typeface="Courier New" panose="02070309020205020404" pitchFamily="49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D7E10B-186B-3B95-CD7F-64C951CC66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208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9031456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12ECB-E5EA-3C1D-D5C1-BD46B29FE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C41FC5-CF65-A821-33F2-714EA05BD3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6641CC-C632-626B-AD94-302817745D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fr-FR" altLang="ko-KR" sz="1800" dirty="0">
              <a:solidFill>
                <a:srgbClr val="BF5F3F"/>
              </a:solidFill>
              <a:latin typeface="Courier New" panose="02070309020205020404" pitchFamily="49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62D5C6-6BEC-C302-ED2C-D802B1FD77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209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81676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A0401-92BF-7422-6DCE-3814B2D06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F56A076-6C15-05E6-B0A8-788AE9E93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0400E1-12BA-037B-A951-9316569335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fr-FR" altLang="ko-KR" sz="1800" dirty="0">
              <a:solidFill>
                <a:srgbClr val="BF5F3F"/>
              </a:solidFill>
              <a:latin typeface="Courier New" panose="02070309020205020404" pitchFamily="49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535AD3-6177-B81F-3E20-9330854D75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2486476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452399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1221675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824715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7691769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029C6-66F6-B44B-2096-932A5D920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5F5317-594E-48EA-9F3A-D2CCC586A0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4A6768-FFE1-F038-D718-96B95CCD18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CCCC6D-0FA8-DD57-7DC1-C1862F7CED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6068523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78AE9-49EA-69CE-BA5B-0DBD43C71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B7EFC62-042F-C82C-CF29-DB3C56F362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04097D4-596C-4452-8A3E-D1983B2C86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7823CB-F314-E1EB-5BF4-5FEFD437C9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9726177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4135F-D9C2-0BFC-E6D1-59A3F5402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41D9F8-0B76-5DC7-6DAD-A2EB7966F3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35B212-16FE-6FB9-AFE6-69AD4A338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ko-KR" sz="1050" b="1" dirty="0">
                <a:solidFill>
                  <a:srgbClr val="7F0055"/>
                </a:solidFill>
                <a:latin typeface="Courier New" panose="02070309020205020404" pitchFamily="49" charset="0"/>
              </a:rPr>
              <a:t>package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5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com.shinhan.myapp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algn="l"/>
            <a:endParaRPr lang="ko-KR" altLang="en-US" sz="1050" dirty="0">
              <a:latin typeface="Courier New" panose="02070309020205020404" pitchFamily="49" charset="0"/>
            </a:endParaRPr>
          </a:p>
          <a:p>
            <a:pPr algn="l"/>
            <a:r>
              <a:rPr lang="en-US" altLang="ko-KR" sz="1050" b="1" dirty="0">
                <a:solidFill>
                  <a:srgbClr val="7F0055"/>
                </a:solidFill>
                <a:latin typeface="Courier New" panose="02070309020205020404" pitchFamily="49" charset="0"/>
              </a:rPr>
              <a:t>import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50" b="1" dirty="0">
                <a:solidFill>
                  <a:srgbClr val="7F0055"/>
                </a:solidFill>
                <a:latin typeface="Courier New" panose="02070309020205020404" pitchFamily="49" charset="0"/>
              </a:rPr>
              <a:t>static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50" b="1" u="sng" dirty="0">
                <a:solidFill>
                  <a:srgbClr val="000000"/>
                </a:solidFill>
                <a:latin typeface="Courier New" panose="02070309020205020404" pitchFamily="49" charset="0"/>
              </a:rPr>
              <a:t>org.springframework.test.web.servlet.request.MockMvcRequestBuilders.</a:t>
            </a:r>
            <a:r>
              <a:rPr lang="en-US" altLang="ko-KR" sz="1050" b="1" i="1" u="sng" dirty="0">
                <a:solidFill>
                  <a:srgbClr val="000000"/>
                </a:solidFill>
                <a:latin typeface="Courier New" panose="02070309020205020404" pitchFamily="49" charset="0"/>
              </a:rPr>
              <a:t>get;</a:t>
            </a:r>
          </a:p>
          <a:p>
            <a:pPr algn="l"/>
            <a:r>
              <a:rPr lang="en-US" altLang="ko-KR" sz="1050" b="1" dirty="0">
                <a:solidFill>
                  <a:srgbClr val="7F0055"/>
                </a:solidFill>
                <a:latin typeface="Courier New" panose="02070309020205020404" pitchFamily="49" charset="0"/>
              </a:rPr>
              <a:t>import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50" b="1" dirty="0">
                <a:solidFill>
                  <a:srgbClr val="7F0055"/>
                </a:solidFill>
                <a:latin typeface="Courier New" panose="02070309020205020404" pitchFamily="49" charset="0"/>
              </a:rPr>
              <a:t>static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org.springframework.test.web.servlet.result.MockMvcResultMatchers.</a:t>
            </a:r>
            <a:r>
              <a:rPr lang="en-US" altLang="ko-KR" sz="105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model;</a:t>
            </a:r>
          </a:p>
          <a:p>
            <a:pPr algn="l"/>
            <a:r>
              <a:rPr lang="en-US" altLang="ko-KR" sz="1050" b="1" dirty="0">
                <a:solidFill>
                  <a:srgbClr val="7F0055"/>
                </a:solidFill>
                <a:latin typeface="Courier New" panose="02070309020205020404" pitchFamily="49" charset="0"/>
              </a:rPr>
              <a:t>import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50" b="1" dirty="0">
                <a:solidFill>
                  <a:srgbClr val="7F0055"/>
                </a:solidFill>
                <a:latin typeface="Courier New" panose="02070309020205020404" pitchFamily="49" charset="0"/>
              </a:rPr>
              <a:t>static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org.springframework.test.web.servlet.result.MockMvcResultMatchers.</a:t>
            </a:r>
            <a:r>
              <a:rPr lang="en-US" altLang="ko-KR" sz="105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status;</a:t>
            </a:r>
          </a:p>
          <a:p>
            <a:pPr algn="l"/>
            <a:r>
              <a:rPr lang="en-US" altLang="ko-KR" sz="1050" b="1" dirty="0">
                <a:solidFill>
                  <a:srgbClr val="7F0055"/>
                </a:solidFill>
                <a:latin typeface="Courier New" panose="02070309020205020404" pitchFamily="49" charset="0"/>
              </a:rPr>
              <a:t>import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50" b="1" dirty="0">
                <a:solidFill>
                  <a:srgbClr val="7F0055"/>
                </a:solidFill>
                <a:latin typeface="Courier New" panose="02070309020205020404" pitchFamily="49" charset="0"/>
              </a:rPr>
              <a:t>static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org.springframework.test.web.servlet.result.MockMvcResultMatchers.</a:t>
            </a:r>
            <a:r>
              <a:rPr lang="en-US" altLang="ko-KR" sz="105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view;</a:t>
            </a:r>
          </a:p>
          <a:p>
            <a:pPr algn="l"/>
            <a:endParaRPr lang="ko-KR" altLang="en-US" sz="1050" dirty="0">
              <a:latin typeface="Courier New" panose="02070309020205020404" pitchFamily="49" charset="0"/>
            </a:endParaRPr>
          </a:p>
          <a:p>
            <a:pPr algn="l"/>
            <a:r>
              <a:rPr lang="en-US" altLang="ko-KR" sz="1050" b="1" dirty="0">
                <a:solidFill>
                  <a:srgbClr val="7F0055"/>
                </a:solidFill>
                <a:latin typeface="Courier New" panose="02070309020205020404" pitchFamily="49" charset="0"/>
              </a:rPr>
              <a:t>import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5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org.junit.jupiter.api.BeforeEach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algn="l"/>
            <a:r>
              <a:rPr lang="en-US" altLang="ko-KR" sz="1050" b="1" dirty="0">
                <a:solidFill>
                  <a:srgbClr val="7F0055"/>
                </a:solidFill>
                <a:latin typeface="Courier New" panose="02070309020205020404" pitchFamily="49" charset="0"/>
              </a:rPr>
              <a:t>import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5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org.junit.jupiter.api.Test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algn="l"/>
            <a:r>
              <a:rPr lang="en-US" altLang="ko-KR" sz="1050" b="1" dirty="0">
                <a:solidFill>
                  <a:srgbClr val="7F0055"/>
                </a:solidFill>
                <a:latin typeface="Courier New" panose="02070309020205020404" pitchFamily="49" charset="0"/>
              </a:rPr>
              <a:t>import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5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org.junit.jupiter.api.extension.ExtendWith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algn="l"/>
            <a:r>
              <a:rPr lang="en-US" altLang="ko-KR" sz="1050" b="1" dirty="0">
                <a:solidFill>
                  <a:srgbClr val="7F0055"/>
                </a:solidFill>
                <a:latin typeface="Courier New" panose="02070309020205020404" pitchFamily="49" charset="0"/>
              </a:rPr>
              <a:t>import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5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org.junit.runner.RunWith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algn="l"/>
            <a:r>
              <a:rPr lang="en-US" altLang="ko-KR" sz="1050" b="1" dirty="0">
                <a:solidFill>
                  <a:srgbClr val="7F0055"/>
                </a:solidFill>
                <a:latin typeface="Courier New" panose="02070309020205020404" pitchFamily="49" charset="0"/>
              </a:rPr>
              <a:t>import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5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org.springframework.beans.factory.annotation.Autowired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algn="l"/>
            <a:r>
              <a:rPr lang="en-US" altLang="ko-KR" sz="1050" b="1" dirty="0">
                <a:solidFill>
                  <a:srgbClr val="7F0055"/>
                </a:solidFill>
                <a:latin typeface="Courier New" panose="02070309020205020404" pitchFamily="49" charset="0"/>
              </a:rPr>
              <a:t>import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5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org.springframework.mock.web.MockHttpServletRequest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algn="l"/>
            <a:r>
              <a:rPr lang="en-US" altLang="ko-KR" sz="1050" b="1" dirty="0">
                <a:solidFill>
                  <a:srgbClr val="7F0055"/>
                </a:solidFill>
                <a:latin typeface="Courier New" panose="02070309020205020404" pitchFamily="49" charset="0"/>
              </a:rPr>
              <a:t>import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5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org.springframework.mock.web.MockHttpSession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algn="l"/>
            <a:r>
              <a:rPr lang="en-US" altLang="ko-KR" sz="1050" b="1" dirty="0">
                <a:solidFill>
                  <a:srgbClr val="7F0055"/>
                </a:solidFill>
                <a:latin typeface="Courier New" panose="02070309020205020404" pitchFamily="49" charset="0"/>
              </a:rPr>
              <a:t>import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5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org.springframework.test.context.ContextConfiguration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algn="l"/>
            <a:r>
              <a:rPr lang="en-US" altLang="ko-KR" sz="1050" b="1" dirty="0">
                <a:solidFill>
                  <a:srgbClr val="7F0055"/>
                </a:solidFill>
                <a:latin typeface="Courier New" panose="02070309020205020404" pitchFamily="49" charset="0"/>
              </a:rPr>
              <a:t>import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5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org.springframework.test.context.junit.jupiter.SpringExtension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algn="l"/>
            <a:r>
              <a:rPr lang="en-US" altLang="ko-KR" sz="1050" b="1" dirty="0">
                <a:solidFill>
                  <a:srgbClr val="7F0055"/>
                </a:solidFill>
                <a:latin typeface="Courier New" panose="02070309020205020404" pitchFamily="49" charset="0"/>
              </a:rPr>
              <a:t>import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org.springframework.test.context.junit4.SpringJUnit4ClassRunner;</a:t>
            </a:r>
          </a:p>
          <a:p>
            <a:pPr algn="l"/>
            <a:r>
              <a:rPr lang="en-US" altLang="ko-KR" sz="1050" b="1" dirty="0">
                <a:solidFill>
                  <a:srgbClr val="7F0055"/>
                </a:solidFill>
                <a:latin typeface="Courier New" panose="02070309020205020404" pitchFamily="49" charset="0"/>
              </a:rPr>
              <a:t>import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5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org.springframework.test.context.web.WebAppConfiguration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algn="l"/>
            <a:r>
              <a:rPr lang="en-US" altLang="ko-KR" sz="1050" b="1" dirty="0">
                <a:solidFill>
                  <a:srgbClr val="7F0055"/>
                </a:solidFill>
                <a:latin typeface="Courier New" panose="02070309020205020404" pitchFamily="49" charset="0"/>
              </a:rPr>
              <a:t>import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5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org.springframework.test.web.servlet.MockMvc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algn="l"/>
            <a:r>
              <a:rPr lang="en-US" altLang="ko-KR" sz="1050" b="1" dirty="0">
                <a:solidFill>
                  <a:srgbClr val="7F0055"/>
                </a:solidFill>
                <a:latin typeface="Courier New" panose="02070309020205020404" pitchFamily="49" charset="0"/>
              </a:rPr>
              <a:t>import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5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org.springframework.test.web.servlet.RequestBuilder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algn="l"/>
            <a:r>
              <a:rPr lang="en-US" altLang="ko-KR" sz="1050" b="1" dirty="0">
                <a:solidFill>
                  <a:srgbClr val="7F0055"/>
                </a:solidFill>
                <a:latin typeface="Courier New" panose="02070309020205020404" pitchFamily="49" charset="0"/>
              </a:rPr>
              <a:t>import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org.springframework.test.web.servlet.request.MockMvcRequestBuilders;</a:t>
            </a:r>
          </a:p>
          <a:p>
            <a:pPr algn="l"/>
            <a:r>
              <a:rPr lang="en-US" altLang="ko-KR" sz="1050" b="1" dirty="0">
                <a:solidFill>
                  <a:srgbClr val="7F0055"/>
                </a:solidFill>
                <a:latin typeface="Courier New" panose="02070309020205020404" pitchFamily="49" charset="0"/>
              </a:rPr>
              <a:t>import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org.springframework.test.web.servlet.result.MockMvcResultHandlers;</a:t>
            </a:r>
          </a:p>
          <a:p>
            <a:pPr algn="l"/>
            <a:r>
              <a:rPr lang="en-US" altLang="ko-KR" sz="1050" b="1" dirty="0">
                <a:solidFill>
                  <a:srgbClr val="7F0055"/>
                </a:solidFill>
                <a:latin typeface="Courier New" panose="02070309020205020404" pitchFamily="49" charset="0"/>
              </a:rPr>
              <a:t>import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5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org.springframework.test.web.servlet.setup.MockMvcBuilders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algn="l"/>
            <a:r>
              <a:rPr lang="en-US" altLang="ko-KR" sz="1050" b="1" dirty="0">
                <a:solidFill>
                  <a:srgbClr val="7F0055"/>
                </a:solidFill>
                <a:latin typeface="Courier New" panose="02070309020205020404" pitchFamily="49" charset="0"/>
              </a:rPr>
              <a:t>import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5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org.springframework.web.context.WebApplicationContext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algn="l"/>
            <a:r>
              <a:rPr lang="en-US" altLang="ko-KR" sz="1050" b="1" dirty="0">
                <a:solidFill>
                  <a:srgbClr val="7F0055"/>
                </a:solidFill>
                <a:latin typeface="Courier New" panose="02070309020205020404" pitchFamily="49" charset="0"/>
              </a:rPr>
              <a:t>import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5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org.springframework.web.context.request.RequestContextHolder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algn="l"/>
            <a:r>
              <a:rPr lang="en-US" altLang="ko-KR" sz="1050" b="1" dirty="0">
                <a:solidFill>
                  <a:srgbClr val="7F0055"/>
                </a:solidFill>
                <a:latin typeface="Courier New" panose="02070309020205020404" pitchFamily="49" charset="0"/>
              </a:rPr>
              <a:t>import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org.springframework.web.context.request.ServletRequestAttributes;</a:t>
            </a:r>
          </a:p>
          <a:p>
            <a:pPr algn="l"/>
            <a:endParaRPr lang="ko-KR" altLang="en-US" sz="1050" dirty="0">
              <a:latin typeface="Courier New" panose="02070309020205020404" pitchFamily="49" charset="0"/>
            </a:endParaRPr>
          </a:p>
          <a:p>
            <a:pPr algn="l"/>
            <a:r>
              <a:rPr lang="en-US" altLang="ko-KR" sz="1050" b="1" dirty="0">
                <a:solidFill>
                  <a:srgbClr val="7F0055"/>
                </a:solidFill>
                <a:latin typeface="Courier New" panose="02070309020205020404" pitchFamily="49" charset="0"/>
              </a:rPr>
              <a:t>import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5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com.shinhan.myapp.vo.MemberDTO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algn="l"/>
            <a:endParaRPr lang="ko-KR" altLang="en-US" sz="1050" dirty="0">
              <a:latin typeface="Courier New" panose="02070309020205020404" pitchFamily="49" charset="0"/>
            </a:endParaRPr>
          </a:p>
          <a:p>
            <a:pPr algn="l"/>
            <a:r>
              <a:rPr lang="en-US" altLang="ko-KR" sz="1050" b="1" dirty="0">
                <a:solidFill>
                  <a:srgbClr val="7F0055"/>
                </a:solidFill>
                <a:latin typeface="Courier New" panose="02070309020205020404" pitchFamily="49" charset="0"/>
              </a:rPr>
              <a:t>import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lombok.extern.slf4j.Slf4j;</a:t>
            </a:r>
          </a:p>
          <a:p>
            <a:pPr algn="l"/>
            <a:endParaRPr lang="ko-KR" altLang="en-US" sz="1050" dirty="0">
              <a:latin typeface="Courier New" panose="02070309020205020404" pitchFamily="49" charset="0"/>
            </a:endParaRPr>
          </a:p>
          <a:p>
            <a:pPr algn="l"/>
            <a:r>
              <a:rPr lang="en-US" altLang="ko-KR" sz="1050" dirty="0">
                <a:solidFill>
                  <a:srgbClr val="646464"/>
                </a:solidFill>
                <a:latin typeface="Courier New" panose="02070309020205020404" pitchFamily="49" charset="0"/>
              </a:rPr>
              <a:t>@Slf4j</a:t>
            </a:r>
          </a:p>
          <a:p>
            <a:pPr algn="l"/>
            <a:r>
              <a:rPr lang="en-US" altLang="ko-KR" sz="1050" dirty="0">
                <a:solidFill>
                  <a:srgbClr val="646464"/>
                </a:solidFill>
                <a:latin typeface="Courier New" panose="02070309020205020404" pitchFamily="49" charset="0"/>
              </a:rPr>
              <a:t>@RunWith</a:t>
            </a:r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(SpringJUnit4ClassRunner.</a:t>
            </a:r>
            <a:r>
              <a:rPr lang="en-US" altLang="ko-KR" sz="1050" b="1" dirty="0">
                <a:solidFill>
                  <a:srgbClr val="7F0055"/>
                </a:solidFill>
                <a:latin typeface="Courier New" panose="02070309020205020404" pitchFamily="49" charset="0"/>
              </a:rPr>
              <a:t>class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r>
              <a:rPr lang="en-US" altLang="ko-KR" sz="1050" b="1" dirty="0">
                <a:solidFill>
                  <a:srgbClr val="3F7F5F"/>
                </a:solidFill>
                <a:latin typeface="Courier New" panose="02070309020205020404" pitchFamily="49" charset="0"/>
              </a:rPr>
              <a:t>// Spring </a:t>
            </a:r>
            <a:r>
              <a:rPr lang="ko-KR" altLang="en-US" sz="1050" b="1" dirty="0">
                <a:solidFill>
                  <a:srgbClr val="3F7F5F"/>
                </a:solidFill>
                <a:latin typeface="Courier New" panose="02070309020205020404" pitchFamily="49" charset="0"/>
              </a:rPr>
              <a:t>테스트 컨텍스트를 사용하여 테스트 실행</a:t>
            </a:r>
            <a:r>
              <a:rPr lang="en-US" altLang="ko-KR" sz="1050" b="1" dirty="0">
                <a:solidFill>
                  <a:srgbClr val="3F7F5F"/>
                </a:solidFill>
                <a:latin typeface="Courier New" panose="02070309020205020404" pitchFamily="49" charset="0"/>
              </a:rPr>
              <a:t>.</a:t>
            </a:r>
          </a:p>
          <a:p>
            <a:pPr algn="l"/>
            <a:r>
              <a:rPr lang="en-US" altLang="ko-KR" sz="1050" dirty="0">
                <a:solidFill>
                  <a:srgbClr val="646464"/>
                </a:solidFill>
                <a:latin typeface="Courier New" panose="02070309020205020404" pitchFamily="49" charset="0"/>
              </a:rPr>
              <a:t>@WebAppConfiguration</a:t>
            </a:r>
            <a:r>
              <a:rPr lang="ko-KR" altLang="en-US" sz="105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ko-KR" sz="1050" dirty="0">
                <a:solidFill>
                  <a:srgbClr val="3F7F5F"/>
                </a:solidFill>
                <a:latin typeface="Courier New" panose="02070309020205020404" pitchFamily="49" charset="0"/>
              </a:rPr>
              <a:t>//</a:t>
            </a:r>
            <a:r>
              <a:rPr lang="ko-KR" altLang="en-US" sz="1050" dirty="0">
                <a:solidFill>
                  <a:srgbClr val="3F7F5F"/>
                </a:solidFill>
                <a:latin typeface="Courier New" panose="02070309020205020404" pitchFamily="49" charset="0"/>
              </a:rPr>
              <a:t>웹 애플리케이션 환경을 설정</a:t>
            </a:r>
          </a:p>
          <a:p>
            <a:pPr algn="l"/>
            <a:r>
              <a:rPr lang="en-US" altLang="ko-KR" sz="1050" dirty="0">
                <a:solidFill>
                  <a:srgbClr val="646464"/>
                </a:solidFill>
                <a:latin typeface="Courier New" panose="02070309020205020404" pitchFamily="49" charset="0"/>
              </a:rPr>
              <a:t>@ExtendWith</a:t>
            </a:r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(SpringExtension.</a:t>
            </a:r>
            <a:r>
              <a:rPr lang="en-US" altLang="ko-KR" sz="1050" b="1" dirty="0">
                <a:solidFill>
                  <a:srgbClr val="7F0055"/>
                </a:solidFill>
                <a:latin typeface="Courier New" panose="02070309020205020404" pitchFamily="49" charset="0"/>
              </a:rPr>
              <a:t>class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r>
              <a:rPr lang="en-US" altLang="ko-KR" sz="1050" b="1" dirty="0">
                <a:solidFill>
                  <a:srgbClr val="3F7F5F"/>
                </a:solidFill>
                <a:latin typeface="Courier New" panose="02070309020205020404" pitchFamily="49" charset="0"/>
              </a:rPr>
              <a:t>//Spring </a:t>
            </a:r>
            <a:r>
              <a:rPr lang="ko-KR" altLang="en-US" sz="1050" b="1" dirty="0">
                <a:solidFill>
                  <a:srgbClr val="3F7F5F"/>
                </a:solidFill>
                <a:latin typeface="Courier New" panose="02070309020205020404" pitchFamily="49" charset="0"/>
              </a:rPr>
              <a:t>관련 기능을 활성화 **</a:t>
            </a:r>
            <a:r>
              <a:rPr lang="en-US" altLang="ko-KR" sz="1050" b="1" dirty="0">
                <a:solidFill>
                  <a:srgbClr val="3F7F5F"/>
                </a:solidFill>
                <a:latin typeface="Courier New" panose="02070309020205020404" pitchFamily="49" charset="0"/>
              </a:rPr>
              <a:t>==&gt; </a:t>
            </a:r>
            <a:r>
              <a:rPr lang="en-US" altLang="ko-KR" sz="1050" b="1" u="sng" dirty="0" err="1">
                <a:solidFill>
                  <a:srgbClr val="3F7F5F"/>
                </a:solidFill>
                <a:latin typeface="Courier New" panose="02070309020205020404" pitchFamily="49" charset="0"/>
              </a:rPr>
              <a:t>ctx</a:t>
            </a:r>
            <a:r>
              <a:rPr lang="en-US" altLang="ko-KR" sz="1050" b="1" u="sng" dirty="0">
                <a:solidFill>
                  <a:srgbClr val="3F7F5F"/>
                </a:solidFill>
                <a:latin typeface="Courier New" panose="02070309020205020404" pitchFamily="49" charset="0"/>
              </a:rPr>
              <a:t> null</a:t>
            </a:r>
            <a:r>
              <a:rPr lang="ko-KR" altLang="en-US" sz="1050" b="1" u="sng" dirty="0">
                <a:solidFill>
                  <a:srgbClr val="3F7F5F"/>
                </a:solidFill>
                <a:latin typeface="Courier New" panose="02070309020205020404" pitchFamily="49" charset="0"/>
              </a:rPr>
              <a:t>오류 해결 </a:t>
            </a:r>
          </a:p>
          <a:p>
            <a:pPr algn="l"/>
            <a:r>
              <a:rPr lang="en-US" altLang="ko-KR" sz="1050" dirty="0">
                <a:solidFill>
                  <a:srgbClr val="646464"/>
                </a:solidFill>
                <a:latin typeface="Courier New" panose="02070309020205020404" pitchFamily="49" charset="0"/>
              </a:rPr>
              <a:t>@ContextConfiguration</a:t>
            </a:r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(locations = </a:t>
            </a:r>
            <a:r>
              <a:rPr lang="en-US" altLang="ko-KR" sz="1050" dirty="0">
                <a:solidFill>
                  <a:srgbClr val="3F7F5F"/>
                </a:solidFill>
                <a:latin typeface="Courier New" panose="02070309020205020404" pitchFamily="49" charset="0"/>
              </a:rPr>
              <a:t>//</a:t>
            </a:r>
            <a:r>
              <a:rPr lang="ko-KR" altLang="en-US" sz="1050" dirty="0">
                <a:solidFill>
                  <a:srgbClr val="3F7F5F"/>
                </a:solidFill>
                <a:latin typeface="Courier New" panose="02070309020205020404" pitchFamily="49" charset="0"/>
              </a:rPr>
              <a:t>테스트 컨텍스트 설정 파일 경로 지정</a:t>
            </a:r>
          </a:p>
          <a:p>
            <a:pPr algn="l"/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{</a:t>
            </a:r>
            <a:r>
              <a:rPr lang="en-US" altLang="ko-KR" sz="1050" dirty="0">
                <a:solidFill>
                  <a:srgbClr val="2A00FF"/>
                </a:solidFill>
                <a:latin typeface="Courier New" panose="02070309020205020404" pitchFamily="49" charset="0"/>
              </a:rPr>
              <a:t>"file:src/main/webapp/WEB-INF/spring/appServlet/*.xml"</a:t>
            </a:r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pPr algn="l"/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     </a:t>
            </a:r>
            <a:r>
              <a:rPr lang="en-US" altLang="ko-KR" sz="1050" dirty="0">
                <a:solidFill>
                  <a:srgbClr val="2A00FF"/>
                </a:solidFill>
                <a:latin typeface="Courier New" panose="02070309020205020404" pitchFamily="49" charset="0"/>
              </a:rPr>
              <a:t>"file:src/main/webapp/WEB-INF/spring/*.xml"</a:t>
            </a:r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})</a:t>
            </a:r>
          </a:p>
          <a:p>
            <a:pPr algn="l"/>
            <a:r>
              <a:rPr lang="en-US" altLang="ko-KR" sz="1050" b="1" dirty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50" b="1" dirty="0">
                <a:solidFill>
                  <a:srgbClr val="7F0055"/>
                </a:solidFill>
                <a:latin typeface="Courier New" panose="02070309020205020404" pitchFamily="49" charset="0"/>
              </a:rPr>
              <a:t>class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5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EmpControllerTest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{</a:t>
            </a:r>
          </a:p>
          <a:p>
            <a:pPr algn="l"/>
            <a:endParaRPr lang="ko-KR" altLang="en-US" sz="1050" dirty="0">
              <a:latin typeface="Courier New" panose="02070309020205020404" pitchFamily="49" charset="0"/>
            </a:endParaRPr>
          </a:p>
          <a:p>
            <a:pPr algn="l"/>
            <a:endParaRPr lang="ko-KR" altLang="en-US" sz="1050" dirty="0">
              <a:latin typeface="Courier New" panose="02070309020205020404" pitchFamily="49" charset="0"/>
            </a:endParaRPr>
          </a:p>
          <a:p>
            <a:pPr algn="l"/>
            <a:r>
              <a:rPr lang="en-US" altLang="ko-KR" sz="1050" dirty="0">
                <a:solidFill>
                  <a:srgbClr val="646464"/>
                </a:solidFill>
                <a:latin typeface="Courier New" panose="02070309020205020404" pitchFamily="49" charset="0"/>
              </a:rPr>
              <a:t>@Autowired</a:t>
            </a:r>
          </a:p>
          <a:p>
            <a:pPr algn="l"/>
            <a:r>
              <a:rPr lang="en-US" altLang="ko-KR" sz="1050" b="1" dirty="0">
                <a:solidFill>
                  <a:srgbClr val="7F0055"/>
                </a:solidFill>
                <a:latin typeface="Courier New" panose="02070309020205020404" pitchFamily="49" charset="0"/>
              </a:rPr>
              <a:t>private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5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WebApplicationContext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50" b="1" dirty="0" err="1">
                <a:solidFill>
                  <a:srgbClr val="0000C0"/>
                </a:solidFill>
                <a:latin typeface="Courier New" panose="02070309020205020404" pitchFamily="49" charset="0"/>
              </a:rPr>
              <a:t>ctx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  <a:r>
              <a:rPr lang="en-US" altLang="ko-KR" sz="1050" b="1" dirty="0">
                <a:solidFill>
                  <a:srgbClr val="3F7F5F"/>
                </a:solidFill>
                <a:latin typeface="Courier New" panose="02070309020205020404" pitchFamily="49" charset="0"/>
              </a:rPr>
              <a:t>//Spring </a:t>
            </a:r>
            <a:r>
              <a:rPr lang="ko-KR" altLang="en-US" sz="1050" b="1" dirty="0">
                <a:solidFill>
                  <a:srgbClr val="3F7F5F"/>
                </a:solidFill>
                <a:latin typeface="Courier New" panose="02070309020205020404" pitchFamily="49" charset="0"/>
              </a:rPr>
              <a:t>컨텍스트</a:t>
            </a:r>
          </a:p>
          <a:p>
            <a:pPr algn="l"/>
            <a:r>
              <a:rPr lang="en-US" altLang="ko-KR" sz="1050" b="1" dirty="0">
                <a:solidFill>
                  <a:srgbClr val="7F0055"/>
                </a:solidFill>
                <a:latin typeface="Courier New" panose="02070309020205020404" pitchFamily="49" charset="0"/>
              </a:rPr>
              <a:t>private</a:t>
            </a:r>
            <a:r>
              <a:rPr lang="ko-KR" altLang="en-US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5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MockMvc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50" b="1" dirty="0" err="1">
                <a:solidFill>
                  <a:srgbClr val="0000C0"/>
                </a:solidFill>
                <a:latin typeface="Courier New" panose="02070309020205020404" pitchFamily="49" charset="0"/>
              </a:rPr>
              <a:t>mockMvc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  <a:r>
              <a:rPr lang="en-US" altLang="ko-KR" sz="1050" b="1" dirty="0">
                <a:solidFill>
                  <a:srgbClr val="3F7F5F"/>
                </a:solidFill>
                <a:latin typeface="Courier New" panose="02070309020205020404" pitchFamily="49" charset="0"/>
              </a:rPr>
              <a:t>//</a:t>
            </a:r>
            <a:r>
              <a:rPr lang="en-US" altLang="ko-KR" sz="1050" b="1" dirty="0" err="1">
                <a:solidFill>
                  <a:srgbClr val="3F7F5F"/>
                </a:solidFill>
                <a:latin typeface="Courier New" panose="02070309020205020404" pitchFamily="49" charset="0"/>
              </a:rPr>
              <a:t>MockMvc</a:t>
            </a:r>
            <a:r>
              <a:rPr lang="en-US" altLang="ko-KR" sz="1050" b="1" dirty="0">
                <a:solidFill>
                  <a:srgbClr val="3F7F5F"/>
                </a:solidFill>
                <a:latin typeface="Courier New" panose="02070309020205020404" pitchFamily="49" charset="0"/>
              </a:rPr>
              <a:t> </a:t>
            </a:r>
            <a:r>
              <a:rPr lang="ko-KR" altLang="en-US" sz="1050" b="1" dirty="0">
                <a:solidFill>
                  <a:srgbClr val="3F7F5F"/>
                </a:solidFill>
                <a:latin typeface="Courier New" panose="02070309020205020404" pitchFamily="49" charset="0"/>
              </a:rPr>
              <a:t>객체를 사용하여 컨트롤러 요청을 가상으로 수행</a:t>
            </a:r>
          </a:p>
          <a:p>
            <a:pPr algn="l"/>
            <a:r>
              <a:rPr lang="en-US" altLang="ko-KR" sz="1050" dirty="0">
                <a:solidFill>
                  <a:srgbClr val="3F7F5F"/>
                </a:solidFill>
                <a:latin typeface="Courier New" panose="02070309020205020404" pitchFamily="49" charset="0"/>
              </a:rPr>
              <a:t>// </a:t>
            </a:r>
            <a:r>
              <a:rPr lang="ko-KR" altLang="en-US" sz="1050" dirty="0">
                <a:solidFill>
                  <a:srgbClr val="3F7F5F"/>
                </a:solidFill>
                <a:latin typeface="Courier New" panose="02070309020205020404" pitchFamily="49" charset="0"/>
              </a:rPr>
              <a:t>세션객체 선언</a:t>
            </a:r>
          </a:p>
          <a:p>
            <a:pPr algn="l"/>
            <a:r>
              <a:rPr lang="en-US" altLang="ko-KR" sz="1050" b="1" dirty="0">
                <a:solidFill>
                  <a:srgbClr val="7F0055"/>
                </a:solidFill>
                <a:latin typeface="Courier New" panose="02070309020205020404" pitchFamily="49" charset="0"/>
              </a:rPr>
              <a:t>private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5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MockHttpSession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50" b="1" dirty="0">
                <a:solidFill>
                  <a:srgbClr val="0000C0"/>
                </a:solidFill>
                <a:latin typeface="Courier New" panose="02070309020205020404" pitchFamily="49" charset="0"/>
              </a:rPr>
              <a:t>session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</a:p>
          <a:p>
            <a:pPr algn="l"/>
            <a:r>
              <a:rPr lang="en-US" altLang="ko-KR" sz="1050" dirty="0">
                <a:solidFill>
                  <a:srgbClr val="646464"/>
                </a:solidFill>
                <a:latin typeface="Courier New" panose="02070309020205020404" pitchFamily="49" charset="0"/>
              </a:rPr>
              <a:t>@BeforeEach</a:t>
            </a:r>
            <a:r>
              <a:rPr lang="ko-KR" altLang="en-US" sz="105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50" dirty="0">
                <a:solidFill>
                  <a:srgbClr val="3F7F5F"/>
                </a:solidFill>
                <a:latin typeface="Courier New" panose="02070309020205020404" pitchFamily="49" charset="0"/>
              </a:rPr>
              <a:t>//</a:t>
            </a:r>
            <a:r>
              <a:rPr lang="ko-KR" altLang="en-US" sz="1050" dirty="0">
                <a:solidFill>
                  <a:srgbClr val="3F7F5F"/>
                </a:solidFill>
                <a:latin typeface="Courier New" panose="02070309020205020404" pitchFamily="49" charset="0"/>
              </a:rPr>
              <a:t>각 테스트 메서드 실행 전에 </a:t>
            </a:r>
            <a:r>
              <a:rPr lang="en-US" altLang="ko-KR" sz="1050" dirty="0" err="1">
                <a:solidFill>
                  <a:srgbClr val="3F7F5F"/>
                </a:solidFill>
                <a:latin typeface="Courier New" panose="02070309020205020404" pitchFamily="49" charset="0"/>
              </a:rPr>
              <a:t>MockMvc</a:t>
            </a:r>
            <a:r>
              <a:rPr lang="ko-KR" altLang="en-US" sz="1050" dirty="0">
                <a:solidFill>
                  <a:srgbClr val="3F7F5F"/>
                </a:solidFill>
                <a:latin typeface="Courier New" panose="02070309020205020404" pitchFamily="49" charset="0"/>
              </a:rPr>
              <a:t>를 초기화</a:t>
            </a:r>
          </a:p>
          <a:p>
            <a:pPr algn="l"/>
            <a:r>
              <a:rPr lang="en-US" altLang="ko-KR" sz="1050" b="1" dirty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50" b="1" dirty="0">
                <a:solidFill>
                  <a:srgbClr val="7F0055"/>
                </a:solidFill>
                <a:latin typeface="Courier New" panose="02070309020205020404" pitchFamily="49" charset="0"/>
              </a:rPr>
              <a:t>void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5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init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() {</a:t>
            </a:r>
          </a:p>
          <a:p>
            <a:pPr algn="l"/>
            <a:r>
              <a:rPr lang="en-US" altLang="ko-KR" sz="1050" b="1" i="1" dirty="0">
                <a:solidFill>
                  <a:srgbClr val="0000C0"/>
                </a:solidFill>
                <a:latin typeface="Courier New" panose="02070309020205020404" pitchFamily="49" charset="0"/>
              </a:rPr>
              <a:t>log</a:t>
            </a:r>
            <a:r>
              <a:rPr lang="en-US" altLang="ko-KR" sz="105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.info(</a:t>
            </a:r>
            <a:r>
              <a:rPr lang="en-US" altLang="ko-KR" sz="1050" b="1" i="1" dirty="0">
                <a:solidFill>
                  <a:srgbClr val="2A00FF"/>
                </a:solidFill>
                <a:latin typeface="Courier New" panose="02070309020205020404" pitchFamily="49" charset="0"/>
              </a:rPr>
              <a:t>"----------@BeforeEach----------"</a:t>
            </a:r>
            <a:r>
              <a:rPr lang="en-US" altLang="ko-KR" sz="105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algn="l"/>
            <a:r>
              <a:rPr lang="en-US" altLang="ko-KR" sz="1050" dirty="0">
                <a:solidFill>
                  <a:srgbClr val="3F7F5F"/>
                </a:solidFill>
                <a:latin typeface="Courier New" panose="02070309020205020404" pitchFamily="49" charset="0"/>
              </a:rPr>
              <a:t>//</a:t>
            </a:r>
            <a:r>
              <a:rPr lang="en-US" altLang="ko-KR" sz="1050" u="sng" dirty="0">
                <a:solidFill>
                  <a:srgbClr val="3F7F5F"/>
                </a:solidFill>
                <a:latin typeface="Courier New" panose="02070309020205020404" pitchFamily="49" charset="0"/>
              </a:rPr>
              <a:t>Mockup Object</a:t>
            </a:r>
          </a:p>
          <a:p>
            <a:pPr algn="l"/>
            <a:r>
              <a:rPr lang="en-US" altLang="ko-KR" sz="1050" dirty="0" err="1">
                <a:solidFill>
                  <a:srgbClr val="0000C0"/>
                </a:solidFill>
                <a:latin typeface="Courier New" panose="02070309020205020404" pitchFamily="49" charset="0"/>
              </a:rPr>
              <a:t>mockMvc</a:t>
            </a:r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ko-KR" sz="1050" dirty="0" err="1">
                <a:solidFill>
                  <a:srgbClr val="000000"/>
                </a:solidFill>
                <a:latin typeface="Courier New" panose="02070309020205020404" pitchFamily="49" charset="0"/>
              </a:rPr>
              <a:t>MockMvcBuilders.</a:t>
            </a:r>
            <a:r>
              <a:rPr lang="en-US" altLang="ko-KR" sz="1050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webAppContextSetup</a:t>
            </a:r>
            <a:r>
              <a:rPr lang="en-US" altLang="ko-KR" sz="1050" i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050" i="1" dirty="0" err="1">
                <a:solidFill>
                  <a:srgbClr val="0000C0"/>
                </a:solidFill>
                <a:latin typeface="Courier New" panose="02070309020205020404" pitchFamily="49" charset="0"/>
              </a:rPr>
              <a:t>ctx</a:t>
            </a:r>
            <a:r>
              <a:rPr lang="en-US" altLang="ko-KR" sz="1050" i="1" dirty="0">
                <a:solidFill>
                  <a:srgbClr val="000000"/>
                </a:solidFill>
                <a:latin typeface="Courier New" panose="02070309020205020404" pitchFamily="49" charset="0"/>
              </a:rPr>
              <a:t>).build();</a:t>
            </a:r>
            <a:r>
              <a:rPr lang="en-US" altLang="ko-KR" sz="1050" i="1" dirty="0">
                <a:solidFill>
                  <a:srgbClr val="3F7F5F"/>
                </a:solidFill>
                <a:latin typeface="Courier New" panose="02070309020205020404" pitchFamily="49" charset="0"/>
              </a:rPr>
              <a:t>//</a:t>
            </a:r>
            <a:r>
              <a:rPr lang="en-US" altLang="ko-KR" sz="1050" i="1" dirty="0" err="1">
                <a:solidFill>
                  <a:srgbClr val="3F7F5F"/>
                </a:solidFill>
                <a:latin typeface="Courier New" panose="02070309020205020404" pitchFamily="49" charset="0"/>
              </a:rPr>
              <a:t>MockMvc</a:t>
            </a:r>
            <a:r>
              <a:rPr lang="en-US" altLang="ko-KR" sz="1050" i="1" dirty="0">
                <a:solidFill>
                  <a:srgbClr val="3F7F5F"/>
                </a:solidFill>
                <a:latin typeface="Courier New" panose="02070309020205020404" pitchFamily="49" charset="0"/>
              </a:rPr>
              <a:t> </a:t>
            </a:r>
            <a:r>
              <a:rPr lang="ko-KR" altLang="en-US" sz="1050" i="1" dirty="0">
                <a:solidFill>
                  <a:srgbClr val="3F7F5F"/>
                </a:solidFill>
                <a:latin typeface="Courier New" panose="02070309020205020404" pitchFamily="49" charset="0"/>
              </a:rPr>
              <a:t>객체를 초기화</a:t>
            </a:r>
          </a:p>
          <a:p>
            <a:pPr algn="l"/>
            <a:r>
              <a:rPr lang="en-US" altLang="ko-KR" sz="1050" dirty="0" err="1">
                <a:solidFill>
                  <a:srgbClr val="000000"/>
                </a:solidFill>
                <a:latin typeface="Courier New" panose="02070309020205020404" pitchFamily="49" charset="0"/>
              </a:rPr>
              <a:t>MockHttpServletRequest</a:t>
            </a:r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50" dirty="0">
                <a:solidFill>
                  <a:srgbClr val="6A3E3E"/>
                </a:solidFill>
                <a:latin typeface="Courier New" panose="02070309020205020404" pitchFamily="49" charset="0"/>
              </a:rPr>
              <a:t>request</a:t>
            </a:r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ko-KR" sz="1050" b="1" dirty="0">
                <a:solidFill>
                  <a:srgbClr val="7F0055"/>
                </a:solidFill>
                <a:latin typeface="Courier New" panose="02070309020205020404" pitchFamily="49" charset="0"/>
              </a:rPr>
              <a:t>new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5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MockHttpServletRequest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</a:p>
          <a:p>
            <a:pPr algn="l"/>
            <a:r>
              <a:rPr lang="en-US" altLang="ko-KR" sz="1050" dirty="0" err="1">
                <a:solidFill>
                  <a:srgbClr val="000000"/>
                </a:solidFill>
                <a:latin typeface="Courier New" panose="02070309020205020404" pitchFamily="49" charset="0"/>
              </a:rPr>
              <a:t>RequestContextHolder.</a:t>
            </a:r>
            <a:r>
              <a:rPr lang="en-US" altLang="ko-KR" sz="1050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setRequestAttributes</a:t>
            </a:r>
            <a:r>
              <a:rPr lang="en-US" altLang="ko-KR" sz="1050" i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050" b="1" i="1" dirty="0">
                <a:solidFill>
                  <a:srgbClr val="7F0055"/>
                </a:solidFill>
                <a:latin typeface="Courier New" panose="02070309020205020404" pitchFamily="49" charset="0"/>
              </a:rPr>
              <a:t>new</a:t>
            </a:r>
            <a:r>
              <a:rPr lang="en-US" altLang="ko-KR" sz="105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50" b="1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ServletRequestAttributes</a:t>
            </a:r>
            <a:r>
              <a:rPr lang="en-US" altLang="ko-KR" sz="105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050" b="1" i="1" dirty="0">
                <a:solidFill>
                  <a:srgbClr val="6A3E3E"/>
                </a:solidFill>
                <a:latin typeface="Courier New" panose="02070309020205020404" pitchFamily="49" charset="0"/>
              </a:rPr>
              <a:t>request</a:t>
            </a:r>
            <a:r>
              <a:rPr lang="en-US" altLang="ko-KR" sz="105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));</a:t>
            </a:r>
          </a:p>
          <a:p>
            <a:pPr algn="l"/>
            <a:endParaRPr lang="ko-KR" altLang="en-US" sz="1050" dirty="0">
              <a:latin typeface="Courier New" panose="02070309020205020404" pitchFamily="49" charset="0"/>
            </a:endParaRPr>
          </a:p>
          <a:p>
            <a:pPr algn="l"/>
            <a:r>
              <a:rPr lang="en-US" altLang="ko-KR" sz="1050" dirty="0">
                <a:solidFill>
                  <a:srgbClr val="3F7F5F"/>
                </a:solidFill>
                <a:latin typeface="Courier New" panose="02070309020205020404" pitchFamily="49" charset="0"/>
              </a:rPr>
              <a:t>// </a:t>
            </a:r>
            <a:r>
              <a:rPr lang="ko-KR" altLang="en-US" sz="1050" dirty="0" err="1">
                <a:solidFill>
                  <a:srgbClr val="3F7F5F"/>
                </a:solidFill>
                <a:latin typeface="Courier New" panose="02070309020205020404" pitchFamily="49" charset="0"/>
              </a:rPr>
              <a:t>로그인세션객체</a:t>
            </a:r>
            <a:r>
              <a:rPr lang="ko-KR" altLang="en-US" sz="1050" dirty="0">
                <a:solidFill>
                  <a:srgbClr val="3F7F5F"/>
                </a:solidFill>
                <a:latin typeface="Courier New" panose="02070309020205020404" pitchFamily="49" charset="0"/>
              </a:rPr>
              <a:t> 생성</a:t>
            </a:r>
          </a:p>
          <a:p>
            <a:pPr algn="l"/>
            <a:r>
              <a:rPr lang="en-US" altLang="ko-KR" sz="1050" dirty="0" err="1">
                <a:solidFill>
                  <a:srgbClr val="000000"/>
                </a:solidFill>
                <a:latin typeface="Courier New" panose="02070309020205020404" pitchFamily="49" charset="0"/>
              </a:rPr>
              <a:t>MemberDTO</a:t>
            </a:r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50" dirty="0">
                <a:solidFill>
                  <a:srgbClr val="6A3E3E"/>
                </a:solidFill>
                <a:latin typeface="Courier New" panose="02070309020205020404" pitchFamily="49" charset="0"/>
              </a:rPr>
              <a:t>member</a:t>
            </a:r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ko-KR" sz="1050" dirty="0" err="1">
                <a:solidFill>
                  <a:srgbClr val="000000"/>
                </a:solidFill>
                <a:latin typeface="Courier New" panose="02070309020205020404" pitchFamily="49" charset="0"/>
              </a:rPr>
              <a:t>MemberDTO.</a:t>
            </a:r>
            <a:r>
              <a:rPr lang="en-US" altLang="ko-KR" sz="1050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builder</a:t>
            </a:r>
            <a:r>
              <a:rPr lang="en-US" altLang="ko-KR" sz="1050" i="1" dirty="0">
                <a:solidFill>
                  <a:srgbClr val="000000"/>
                </a:solidFill>
                <a:latin typeface="Courier New" panose="02070309020205020404" pitchFamily="49" charset="0"/>
              </a:rPr>
              <a:t>()</a:t>
            </a:r>
          </a:p>
          <a:p>
            <a:pPr algn="l"/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.</a:t>
            </a:r>
            <a:r>
              <a:rPr lang="en-US" altLang="ko-KR" sz="1050" dirty="0" err="1">
                <a:solidFill>
                  <a:srgbClr val="000000"/>
                </a:solidFill>
                <a:latin typeface="Courier New" panose="02070309020205020404" pitchFamily="49" charset="0"/>
              </a:rPr>
              <a:t>member_id</a:t>
            </a:r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050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050" dirty="0" err="1">
                <a:solidFill>
                  <a:srgbClr val="2A00FF"/>
                </a:solidFill>
                <a:latin typeface="Courier New" panose="02070309020205020404" pitchFamily="49" charset="0"/>
              </a:rPr>
              <a:t>zzilre</a:t>
            </a:r>
            <a:r>
              <a:rPr lang="en-US" altLang="ko-KR" sz="1050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algn="l"/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.</a:t>
            </a:r>
            <a:r>
              <a:rPr lang="en-US" altLang="ko-KR" sz="1050" dirty="0" err="1">
                <a:solidFill>
                  <a:srgbClr val="000000"/>
                </a:solidFill>
                <a:latin typeface="Courier New" panose="02070309020205020404" pitchFamily="49" charset="0"/>
              </a:rPr>
              <a:t>member_pass</a:t>
            </a:r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050" dirty="0">
                <a:solidFill>
                  <a:srgbClr val="2A00FF"/>
                </a:solidFill>
                <a:latin typeface="Courier New" panose="02070309020205020404" pitchFamily="49" charset="0"/>
              </a:rPr>
              <a:t>"1234"</a:t>
            </a:r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algn="l"/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.build();</a:t>
            </a:r>
          </a:p>
          <a:p>
            <a:pPr algn="l"/>
            <a:r>
              <a:rPr lang="en-US" altLang="ko-KR" sz="1050" dirty="0">
                <a:solidFill>
                  <a:srgbClr val="0000C0"/>
                </a:solidFill>
                <a:latin typeface="Courier New" panose="02070309020205020404" pitchFamily="49" charset="0"/>
              </a:rPr>
              <a:t>session</a:t>
            </a:r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ko-KR" sz="1050" b="1" dirty="0">
                <a:solidFill>
                  <a:srgbClr val="7F0055"/>
                </a:solidFill>
                <a:latin typeface="Courier New" panose="02070309020205020404" pitchFamily="49" charset="0"/>
              </a:rPr>
              <a:t>new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5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MockHttpSession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();  </a:t>
            </a:r>
          </a:p>
          <a:p>
            <a:pPr algn="l"/>
            <a:r>
              <a:rPr lang="en-US" altLang="ko-KR" sz="1050" dirty="0" err="1">
                <a:solidFill>
                  <a:srgbClr val="0000C0"/>
                </a:solidFill>
                <a:latin typeface="Courier New" panose="02070309020205020404" pitchFamily="49" charset="0"/>
              </a:rPr>
              <a:t>session</a:t>
            </a:r>
            <a:r>
              <a:rPr lang="en-US" altLang="ko-KR" sz="1050" dirty="0" err="1">
                <a:solidFill>
                  <a:srgbClr val="000000"/>
                </a:solidFill>
                <a:latin typeface="Courier New" panose="02070309020205020404" pitchFamily="49" charset="0"/>
              </a:rPr>
              <a:t>.setAttribute</a:t>
            </a:r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050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050" dirty="0" err="1">
                <a:solidFill>
                  <a:srgbClr val="2A00FF"/>
                </a:solidFill>
                <a:latin typeface="Courier New" panose="02070309020205020404" pitchFamily="49" charset="0"/>
              </a:rPr>
              <a:t>loginMember</a:t>
            </a:r>
            <a:r>
              <a:rPr lang="en-US" altLang="ko-KR" sz="1050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50" dirty="0">
                <a:solidFill>
                  <a:srgbClr val="6A3E3E"/>
                </a:solidFill>
                <a:latin typeface="Courier New" panose="02070309020205020404" pitchFamily="49" charset="0"/>
              </a:rPr>
              <a:t>member</a:t>
            </a:r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algn="l"/>
            <a:r>
              <a:rPr lang="en-US" altLang="ko-KR" sz="1050" dirty="0" err="1">
                <a:solidFill>
                  <a:srgbClr val="6A3E3E"/>
                </a:solidFill>
                <a:latin typeface="Courier New" panose="02070309020205020404" pitchFamily="49" charset="0"/>
              </a:rPr>
              <a:t>request</a:t>
            </a:r>
            <a:r>
              <a:rPr lang="en-US" altLang="ko-KR" sz="1050" dirty="0" err="1">
                <a:solidFill>
                  <a:srgbClr val="000000"/>
                </a:solidFill>
                <a:latin typeface="Courier New" panose="02070309020205020404" pitchFamily="49" charset="0"/>
              </a:rPr>
              <a:t>.setSession</a:t>
            </a:r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050" dirty="0">
                <a:solidFill>
                  <a:srgbClr val="0000C0"/>
                </a:solidFill>
                <a:latin typeface="Courier New" panose="02070309020205020404" pitchFamily="49" charset="0"/>
              </a:rPr>
              <a:t>session</a:t>
            </a:r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algn="l"/>
            <a:r>
              <a:rPr lang="en-US" altLang="ko-KR" sz="1050" b="1" i="1" dirty="0">
                <a:solidFill>
                  <a:srgbClr val="0000C0"/>
                </a:solidFill>
                <a:latin typeface="Courier New" panose="02070309020205020404" pitchFamily="49" charset="0"/>
              </a:rPr>
              <a:t>log</a:t>
            </a:r>
            <a:r>
              <a:rPr lang="en-US" altLang="ko-KR" sz="105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.info(</a:t>
            </a:r>
            <a:r>
              <a:rPr lang="en-US" altLang="ko-KR" sz="1050" b="1" i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member</a:t>
            </a:r>
            <a:r>
              <a:rPr lang="en-US" altLang="ko-KR" sz="1050" b="1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.toString</a:t>
            </a:r>
            <a:r>
              <a:rPr lang="en-US" altLang="ko-KR" sz="105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());</a:t>
            </a:r>
          </a:p>
          <a:p>
            <a:pPr algn="l"/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algn="l"/>
            <a:endParaRPr lang="ko-KR" altLang="en-US" sz="1050" dirty="0">
              <a:latin typeface="Courier New" panose="02070309020205020404" pitchFamily="49" charset="0"/>
            </a:endParaRPr>
          </a:p>
          <a:p>
            <a:pPr algn="l"/>
            <a:r>
              <a:rPr lang="en-US" altLang="ko-KR" sz="1050" dirty="0">
                <a:solidFill>
                  <a:srgbClr val="3F7F5F"/>
                </a:solidFill>
                <a:latin typeface="Courier New" panose="02070309020205020404" pitchFamily="49" charset="0"/>
              </a:rPr>
              <a:t>//import </a:t>
            </a:r>
            <a:r>
              <a:rPr lang="en-US" altLang="ko-KR" sz="1050" dirty="0" err="1">
                <a:solidFill>
                  <a:srgbClr val="3F7F5F"/>
                </a:solidFill>
                <a:latin typeface="Courier New" panose="02070309020205020404" pitchFamily="49" charset="0"/>
              </a:rPr>
              <a:t>org.junit.jupiter.api.Test</a:t>
            </a:r>
            <a:r>
              <a:rPr lang="en-US" altLang="ko-KR" sz="1050" dirty="0">
                <a:solidFill>
                  <a:srgbClr val="3F7F5F"/>
                </a:solidFill>
                <a:latin typeface="Courier New" panose="02070309020205020404" pitchFamily="49" charset="0"/>
              </a:rPr>
              <a:t>;</a:t>
            </a:r>
          </a:p>
          <a:p>
            <a:pPr algn="l"/>
            <a:r>
              <a:rPr lang="en-US" altLang="ko-KR" sz="1050" dirty="0">
                <a:solidFill>
                  <a:srgbClr val="646464"/>
                </a:solidFill>
                <a:latin typeface="Courier New" panose="02070309020205020404" pitchFamily="49" charset="0"/>
              </a:rPr>
              <a:t>@Test</a:t>
            </a:r>
          </a:p>
          <a:p>
            <a:pPr algn="l"/>
            <a:r>
              <a:rPr lang="en-US" altLang="ko-KR" sz="1050" b="1" dirty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50" b="1" dirty="0">
                <a:solidFill>
                  <a:srgbClr val="7F0055"/>
                </a:solidFill>
                <a:latin typeface="Courier New" panose="02070309020205020404" pitchFamily="49" charset="0"/>
              </a:rPr>
              <a:t>void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5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emplist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() </a:t>
            </a:r>
            <a:r>
              <a:rPr lang="en-US" altLang="ko-KR" sz="1050" b="1" dirty="0">
                <a:solidFill>
                  <a:srgbClr val="7F0055"/>
                </a:solidFill>
                <a:latin typeface="Courier New" panose="02070309020205020404" pitchFamily="49" charset="0"/>
              </a:rPr>
              <a:t>throws</a:t>
            </a:r>
            <a:r>
              <a:rPr lang="en-US" altLang="ko-KR" sz="1050" b="1" dirty="0">
                <a:solidFill>
                  <a:srgbClr val="000000"/>
                </a:solidFill>
                <a:latin typeface="Courier New" panose="02070309020205020404" pitchFamily="49" charset="0"/>
              </a:rPr>
              <a:t> Exception {</a:t>
            </a:r>
          </a:p>
          <a:p>
            <a:pPr algn="l"/>
            <a:r>
              <a:rPr lang="en-US" altLang="ko-KR" sz="1050" b="1" i="1" dirty="0">
                <a:solidFill>
                  <a:srgbClr val="0000C0"/>
                </a:solidFill>
                <a:latin typeface="Courier New" panose="02070309020205020404" pitchFamily="49" charset="0"/>
              </a:rPr>
              <a:t>log</a:t>
            </a:r>
            <a:r>
              <a:rPr lang="en-US" altLang="ko-KR" sz="105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.info(</a:t>
            </a:r>
            <a:r>
              <a:rPr lang="en-US" altLang="ko-KR" sz="1050" b="1" i="1" dirty="0">
                <a:solidFill>
                  <a:srgbClr val="2A00FF"/>
                </a:solidFill>
                <a:latin typeface="Courier New" panose="02070309020205020404" pitchFamily="49" charset="0"/>
              </a:rPr>
              <a:t>"------</a:t>
            </a:r>
            <a:r>
              <a:rPr lang="en-US" altLang="ko-KR" sz="1050" b="1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emplist</a:t>
            </a:r>
            <a:r>
              <a:rPr lang="en-US" altLang="ko-KR" sz="1050" b="1" i="1" dirty="0">
                <a:solidFill>
                  <a:srgbClr val="2A00FF"/>
                </a:solidFill>
                <a:latin typeface="Courier New" panose="02070309020205020404" pitchFamily="49" charset="0"/>
              </a:rPr>
              <a:t>---------"</a:t>
            </a:r>
            <a:r>
              <a:rPr lang="en-US" altLang="ko-KR" sz="105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algn="l"/>
            <a:r>
              <a:rPr lang="en-US" altLang="ko-KR" sz="1050" dirty="0" err="1">
                <a:solidFill>
                  <a:srgbClr val="000000"/>
                </a:solidFill>
                <a:latin typeface="Courier New" panose="02070309020205020404" pitchFamily="49" charset="0"/>
              </a:rPr>
              <a:t>RequestBuilder</a:t>
            </a:r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50" dirty="0">
                <a:solidFill>
                  <a:srgbClr val="6A3E3E"/>
                </a:solidFill>
                <a:latin typeface="Courier New" panose="02070309020205020404" pitchFamily="49" charset="0"/>
              </a:rPr>
              <a:t>req</a:t>
            </a:r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ko-KR" sz="1050" dirty="0" err="1">
                <a:solidFill>
                  <a:srgbClr val="000000"/>
                </a:solidFill>
                <a:latin typeface="Courier New" panose="02070309020205020404" pitchFamily="49" charset="0"/>
              </a:rPr>
              <a:t>MockMvcRequestBuilders.</a:t>
            </a:r>
            <a:r>
              <a:rPr lang="en-US" altLang="ko-KR" sz="1050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get</a:t>
            </a:r>
            <a:r>
              <a:rPr lang="en-US" altLang="ko-KR" sz="1050" i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050" i="1" dirty="0">
                <a:solidFill>
                  <a:srgbClr val="2A00FF"/>
                </a:solidFill>
                <a:latin typeface="Courier New" panose="02070309020205020404" pitchFamily="49" charset="0"/>
              </a:rPr>
              <a:t>"/emp/list2.do"</a:t>
            </a:r>
            <a:r>
              <a:rPr lang="en-US" altLang="ko-KR" sz="1050" i="1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algn="l"/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.param(</a:t>
            </a:r>
            <a:r>
              <a:rPr lang="en-US" altLang="ko-KR" sz="1050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050" dirty="0" err="1">
                <a:solidFill>
                  <a:srgbClr val="2A00FF"/>
                </a:solidFill>
                <a:latin typeface="Courier New" panose="02070309020205020404" pitchFamily="49" charset="0"/>
              </a:rPr>
              <a:t>deptid</a:t>
            </a:r>
            <a:r>
              <a:rPr lang="en-US" altLang="ko-KR" sz="1050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50" dirty="0">
                <a:solidFill>
                  <a:srgbClr val="2A00FF"/>
                </a:solidFill>
                <a:latin typeface="Courier New" panose="02070309020205020404" pitchFamily="49" charset="0"/>
              </a:rPr>
              <a:t>"-1"</a:t>
            </a:r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)  </a:t>
            </a:r>
            <a:r>
              <a:rPr lang="en-US" altLang="ko-KR" sz="1050" dirty="0">
                <a:solidFill>
                  <a:srgbClr val="3F7F5F"/>
                </a:solidFill>
                <a:latin typeface="Courier New" panose="02070309020205020404" pitchFamily="49" charset="0"/>
              </a:rPr>
              <a:t>//</a:t>
            </a:r>
            <a:r>
              <a:rPr lang="ko-KR" altLang="en-US" sz="1050" dirty="0" err="1">
                <a:solidFill>
                  <a:srgbClr val="3F7F5F"/>
                </a:solidFill>
                <a:latin typeface="Courier New" panose="02070309020205020404" pitchFamily="49" charset="0"/>
              </a:rPr>
              <a:t>파라미터전달</a:t>
            </a:r>
            <a:r>
              <a:rPr lang="ko-KR" altLang="en-US" sz="1050" dirty="0">
                <a:solidFill>
                  <a:srgbClr val="3F7F5F"/>
                </a:solidFill>
                <a:latin typeface="Courier New" panose="02070309020205020404" pitchFamily="49" charset="0"/>
              </a:rPr>
              <a:t> </a:t>
            </a:r>
          </a:p>
          <a:p>
            <a:pPr algn="l"/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.param(</a:t>
            </a:r>
            <a:r>
              <a:rPr lang="en-US" altLang="ko-KR" sz="1050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050" dirty="0" err="1">
                <a:solidFill>
                  <a:srgbClr val="2A00FF"/>
                </a:solidFill>
                <a:latin typeface="Courier New" panose="02070309020205020404" pitchFamily="49" charset="0"/>
              </a:rPr>
              <a:t>jobid</a:t>
            </a:r>
            <a:r>
              <a:rPr lang="en-US" altLang="ko-KR" sz="1050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50" dirty="0">
                <a:solidFill>
                  <a:srgbClr val="2A00FF"/>
                </a:solidFill>
                <a:latin typeface="Courier New" panose="02070309020205020404" pitchFamily="49" charset="0"/>
              </a:rPr>
              <a:t>"-1"</a:t>
            </a:r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algn="l"/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.param(</a:t>
            </a:r>
            <a:r>
              <a:rPr lang="en-US" altLang="ko-KR" sz="1050" dirty="0">
                <a:solidFill>
                  <a:srgbClr val="2A00FF"/>
                </a:solidFill>
                <a:latin typeface="Courier New" panose="02070309020205020404" pitchFamily="49" charset="0"/>
              </a:rPr>
              <a:t>"salary"</a:t>
            </a:r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50" dirty="0">
                <a:solidFill>
                  <a:srgbClr val="2A00FF"/>
                </a:solidFill>
                <a:latin typeface="Courier New" panose="02070309020205020404" pitchFamily="49" charset="0"/>
              </a:rPr>
              <a:t>"0"</a:t>
            </a:r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algn="l"/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.param(</a:t>
            </a:r>
            <a:r>
              <a:rPr lang="en-US" altLang="ko-KR" sz="1050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050" dirty="0" err="1">
                <a:solidFill>
                  <a:srgbClr val="2A00FF"/>
                </a:solidFill>
                <a:latin typeface="Courier New" panose="02070309020205020404" pitchFamily="49" charset="0"/>
              </a:rPr>
              <a:t>chk</a:t>
            </a:r>
            <a:r>
              <a:rPr lang="en-US" altLang="ko-KR" sz="1050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50" dirty="0">
                <a:solidFill>
                  <a:srgbClr val="2A00FF"/>
                </a:solidFill>
                <a:latin typeface="Courier New" panose="02070309020205020404" pitchFamily="49" charset="0"/>
              </a:rPr>
              <a:t>"true"</a:t>
            </a:r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algn="l"/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.param(</a:t>
            </a:r>
            <a:r>
              <a:rPr lang="en-US" altLang="ko-KR" sz="1050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050" dirty="0" err="1">
                <a:solidFill>
                  <a:srgbClr val="2A00FF"/>
                </a:solidFill>
                <a:latin typeface="Courier New" panose="02070309020205020404" pitchFamily="49" charset="0"/>
              </a:rPr>
              <a:t>hdate</a:t>
            </a:r>
            <a:r>
              <a:rPr lang="en-US" altLang="ko-KR" sz="1050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sz="1050" dirty="0">
                <a:solidFill>
                  <a:srgbClr val="2A00FF"/>
                </a:solidFill>
                <a:latin typeface="Courier New" panose="02070309020205020404" pitchFamily="49" charset="0"/>
              </a:rPr>
              <a:t>"1900-01-01"</a:t>
            </a:r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algn="l"/>
            <a:r>
              <a:rPr lang="en-US" altLang="ko-KR" sz="1050" dirty="0" err="1">
                <a:solidFill>
                  <a:srgbClr val="0000C0"/>
                </a:solidFill>
                <a:latin typeface="Courier New" panose="02070309020205020404" pitchFamily="49" charset="0"/>
              </a:rPr>
              <a:t>mockMvc</a:t>
            </a:r>
            <a:r>
              <a:rPr lang="en-US" altLang="ko-KR" sz="1050" dirty="0" err="1">
                <a:solidFill>
                  <a:srgbClr val="000000"/>
                </a:solidFill>
                <a:latin typeface="Courier New" panose="02070309020205020404" pitchFamily="49" charset="0"/>
              </a:rPr>
              <a:t>.perform</a:t>
            </a:r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050" dirty="0">
                <a:solidFill>
                  <a:srgbClr val="6A3E3E"/>
                </a:solidFill>
                <a:latin typeface="Courier New" panose="02070309020205020404" pitchFamily="49" charset="0"/>
              </a:rPr>
              <a:t>req</a:t>
            </a:r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algn="l"/>
            <a:r>
              <a:rPr lang="ko-KR" altLang="en-US" sz="105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.</a:t>
            </a:r>
            <a:r>
              <a:rPr lang="en-US" altLang="ko-KR" sz="1050" dirty="0" err="1">
                <a:solidFill>
                  <a:srgbClr val="000000"/>
                </a:solidFill>
                <a:latin typeface="Courier New" panose="02070309020205020404" pitchFamily="49" charset="0"/>
              </a:rPr>
              <a:t>andDo</a:t>
            </a:r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050" dirty="0" err="1">
                <a:solidFill>
                  <a:srgbClr val="000000"/>
                </a:solidFill>
                <a:latin typeface="Courier New" panose="02070309020205020404" pitchFamily="49" charset="0"/>
              </a:rPr>
              <a:t>MockMvcResultHandlers.</a:t>
            </a:r>
            <a:r>
              <a:rPr lang="en-US" altLang="ko-KR" sz="1050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print</a:t>
            </a:r>
            <a:r>
              <a:rPr lang="en-US" altLang="ko-KR" sz="1050" i="1" dirty="0">
                <a:solidFill>
                  <a:srgbClr val="000000"/>
                </a:solidFill>
                <a:latin typeface="Courier New" panose="02070309020205020404" pitchFamily="49" charset="0"/>
              </a:rPr>
              <a:t>()) </a:t>
            </a:r>
            <a:r>
              <a:rPr lang="en-US" altLang="ko-KR" sz="1050" i="1" dirty="0">
                <a:solidFill>
                  <a:srgbClr val="3F7F5F"/>
                </a:solidFill>
                <a:latin typeface="Courier New" panose="02070309020205020404" pitchFamily="49" charset="0"/>
              </a:rPr>
              <a:t>//</a:t>
            </a:r>
            <a:r>
              <a:rPr lang="ko-KR" altLang="en-US" sz="1050" i="1" dirty="0">
                <a:solidFill>
                  <a:srgbClr val="3F7F5F"/>
                </a:solidFill>
                <a:latin typeface="Courier New" panose="02070309020205020404" pitchFamily="49" charset="0"/>
              </a:rPr>
              <a:t>테스트 요청과 응답 디버깅</a:t>
            </a:r>
          </a:p>
          <a:p>
            <a:pPr algn="l"/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 .</a:t>
            </a:r>
            <a:r>
              <a:rPr lang="en-US" altLang="ko-KR" sz="1050" dirty="0" err="1">
                <a:solidFill>
                  <a:srgbClr val="000000"/>
                </a:solidFill>
                <a:latin typeface="Courier New" panose="02070309020205020404" pitchFamily="49" charset="0"/>
              </a:rPr>
              <a:t>andExpect</a:t>
            </a:r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050" i="1" dirty="0">
                <a:solidFill>
                  <a:srgbClr val="000000"/>
                </a:solidFill>
                <a:latin typeface="Courier New" panose="02070309020205020404" pitchFamily="49" charset="0"/>
              </a:rPr>
              <a:t>status().</a:t>
            </a:r>
            <a:r>
              <a:rPr lang="en-US" altLang="ko-KR" sz="1050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isOk</a:t>
            </a:r>
            <a:r>
              <a:rPr lang="en-US" altLang="ko-KR" sz="1050" i="1" dirty="0">
                <a:solidFill>
                  <a:srgbClr val="000000"/>
                </a:solidFill>
                <a:latin typeface="Courier New" panose="02070309020205020404" pitchFamily="49" charset="0"/>
              </a:rPr>
              <a:t>())</a:t>
            </a:r>
          </a:p>
          <a:p>
            <a:pPr algn="l"/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 .</a:t>
            </a:r>
            <a:r>
              <a:rPr lang="en-US" altLang="ko-KR" sz="1050" dirty="0" err="1">
                <a:solidFill>
                  <a:srgbClr val="000000"/>
                </a:solidFill>
                <a:latin typeface="Courier New" panose="02070309020205020404" pitchFamily="49" charset="0"/>
              </a:rPr>
              <a:t>andExpect</a:t>
            </a:r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050" i="1" dirty="0">
                <a:solidFill>
                  <a:srgbClr val="000000"/>
                </a:solidFill>
                <a:latin typeface="Courier New" panose="02070309020205020404" pitchFamily="49" charset="0"/>
              </a:rPr>
              <a:t>view().name(</a:t>
            </a:r>
            <a:r>
              <a:rPr lang="en-US" altLang="ko-KR" sz="1050" i="1" dirty="0">
                <a:solidFill>
                  <a:srgbClr val="2A00FF"/>
                </a:solidFill>
                <a:latin typeface="Courier New" panose="02070309020205020404" pitchFamily="49" charset="0"/>
              </a:rPr>
              <a:t>"emp/</a:t>
            </a:r>
            <a:r>
              <a:rPr lang="en-US" altLang="ko-KR" sz="1050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empListTable</a:t>
            </a:r>
            <a:r>
              <a:rPr lang="en-US" altLang="ko-KR" sz="105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050" i="1" dirty="0">
                <a:solidFill>
                  <a:srgbClr val="000000"/>
                </a:solidFill>
                <a:latin typeface="Courier New" panose="02070309020205020404" pitchFamily="49" charset="0"/>
              </a:rPr>
              <a:t>)) </a:t>
            </a:r>
            <a:r>
              <a:rPr lang="en-US" altLang="ko-KR" sz="1050" i="1" dirty="0">
                <a:solidFill>
                  <a:srgbClr val="3F7F5F"/>
                </a:solidFill>
                <a:latin typeface="Courier New" panose="02070309020205020404" pitchFamily="49" charset="0"/>
              </a:rPr>
              <a:t>//View</a:t>
            </a:r>
            <a:r>
              <a:rPr lang="ko-KR" altLang="en-US" sz="1050" i="1" dirty="0">
                <a:solidFill>
                  <a:srgbClr val="3F7F5F"/>
                </a:solidFill>
                <a:latin typeface="Courier New" panose="02070309020205020404" pitchFamily="49" charset="0"/>
              </a:rPr>
              <a:t>이름 검증</a:t>
            </a:r>
          </a:p>
          <a:p>
            <a:pPr algn="l"/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 .</a:t>
            </a:r>
            <a:r>
              <a:rPr lang="en-US" altLang="ko-KR" sz="1050" dirty="0" err="1">
                <a:solidFill>
                  <a:srgbClr val="000000"/>
                </a:solidFill>
                <a:latin typeface="Courier New" panose="02070309020205020404" pitchFamily="49" charset="0"/>
              </a:rPr>
              <a:t>andExpect</a:t>
            </a:r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050" i="1" dirty="0">
                <a:solidFill>
                  <a:srgbClr val="000000"/>
                </a:solidFill>
                <a:latin typeface="Courier New" panose="02070309020205020404" pitchFamily="49" charset="0"/>
              </a:rPr>
              <a:t>model().</a:t>
            </a:r>
            <a:r>
              <a:rPr lang="en-US" altLang="ko-KR" sz="1050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attributeExists</a:t>
            </a:r>
            <a:r>
              <a:rPr lang="en-US" altLang="ko-KR" sz="1050" i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05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050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empDatas</a:t>
            </a:r>
            <a:r>
              <a:rPr lang="en-US" altLang="ko-KR" sz="105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050" i="1" dirty="0">
                <a:solidFill>
                  <a:srgbClr val="000000"/>
                </a:solidFill>
                <a:latin typeface="Courier New" panose="02070309020205020404" pitchFamily="49" charset="0"/>
              </a:rPr>
              <a:t>)); </a:t>
            </a:r>
            <a:r>
              <a:rPr lang="en-US" altLang="ko-KR" sz="1050" i="1" dirty="0">
                <a:solidFill>
                  <a:srgbClr val="3F7F5F"/>
                </a:solidFill>
                <a:latin typeface="Courier New" panose="02070309020205020404" pitchFamily="49" charset="0"/>
              </a:rPr>
              <a:t>//</a:t>
            </a:r>
          </a:p>
          <a:p>
            <a:pPr algn="l"/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algn="l"/>
            <a:endParaRPr lang="ko-KR" altLang="en-US" sz="1050" dirty="0">
              <a:latin typeface="Courier New" panose="02070309020205020404" pitchFamily="49" charset="0"/>
            </a:endParaRPr>
          </a:p>
          <a:p>
            <a:pPr algn="l"/>
            <a:r>
              <a:rPr lang="ko-KR" altLang="en-US" sz="105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algn="l"/>
            <a:endParaRPr lang="ko-KR" altLang="en-US" sz="1050" dirty="0">
              <a:latin typeface="Courier New" panose="02070309020205020404" pitchFamily="49" charset="0"/>
            </a:endParaRPr>
          </a:p>
          <a:p>
            <a:pPr algn="l"/>
            <a:r>
              <a:rPr lang="ko-KR" altLang="en-US" sz="105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algn="l"/>
            <a:r>
              <a:rPr lang="en-US" altLang="ko-KR" sz="105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endParaRPr lang="ko-KR" altLang="en-US" sz="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636CF4-B1D9-0115-F4BE-9001B8617B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2976043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2EF02-A16A-FF44-E78B-92DE284F6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CA2946-D53B-D105-1204-C893A8E428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9BC6299-E0EF-DDCD-3F0C-566B8FC770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03690B-18F9-E569-CE44-562B69EE41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044797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88249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018523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8036214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5588312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5131879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org.springsecurity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-version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5.7.3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org.springsecurity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-version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algn="l"/>
            <a:endParaRPr lang="en-US" altLang="ko-KR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algn="l"/>
            <a:r>
              <a:rPr lang="en-US" altLang="ko-KR" sz="1800">
                <a:solidFill>
                  <a:srgbClr val="008080"/>
                </a:solidFill>
                <a:latin typeface="Courier New" panose="02070309020205020404" pitchFamily="49" charset="0"/>
              </a:rPr>
              <a:t> </a:t>
            </a:r>
            <a:endParaRPr lang="en-US" altLang="ko-KR" sz="1800" dirty="0">
              <a:solidFill>
                <a:srgbClr val="008080"/>
              </a:solidFill>
              <a:latin typeface="Courier New" panose="02070309020205020404" pitchFamily="49" charset="0"/>
            </a:endParaRPr>
          </a:p>
          <a:p>
            <a:pPr algn="l"/>
            <a:endParaRPr lang="ko-KR" altLang="en-US" sz="1800" dirty="0">
              <a:latin typeface="Courier New" panose="02070309020205020404" pitchFamily="49" charset="0"/>
            </a:endParaRP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dependency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groupId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org.springframework.security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groupId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artifactId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spring-security-web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artifactId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version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${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org.springsecurity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-version}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version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dependency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dependency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groupId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org.springframework.security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groupId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artifactId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spring-security-config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artifactId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version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${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org.springsecurity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-version}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version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dependency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endParaRPr lang="ko-KR" altLang="en-US" sz="1800" dirty="0">
              <a:latin typeface="Courier New" panose="02070309020205020404" pitchFamily="49" charset="0"/>
            </a:endParaRP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dependency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groupId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org.springframework.security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groupId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artifactId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spring-security-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taglibs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artifactId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version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${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org.springsecurity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-version}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version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dependency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endParaRPr lang="en-US" altLang="ko-KR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algn="l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217124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context-param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param-name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contextConfigLocation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param-name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param-value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/WEB-INF/spring/root-context-db.xml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/WEB-INF/spring/security-context.xml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param-value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context-param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endParaRPr lang="ko-KR" altLang="en-US" sz="1800" dirty="0">
              <a:latin typeface="Courier New" panose="02070309020205020404" pitchFamily="49" charset="0"/>
            </a:endParaRPr>
          </a:p>
          <a:p>
            <a:pPr algn="l"/>
            <a:r>
              <a:rPr lang="ko-KR" alt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800" dirty="0">
                <a:solidFill>
                  <a:srgbClr val="3F5FBF"/>
                </a:solidFill>
                <a:latin typeface="Courier New" panose="02070309020205020404" pitchFamily="49" charset="0"/>
              </a:rPr>
              <a:t>&lt;!-- </a:t>
            </a:r>
            <a:r>
              <a:rPr lang="ko-KR" altLang="en-US" sz="1800" dirty="0">
                <a:solidFill>
                  <a:srgbClr val="3F5FBF"/>
                </a:solidFill>
                <a:latin typeface="Courier New" panose="02070309020205020404" pitchFamily="49" charset="0"/>
              </a:rPr>
              <a:t>요청이 들어오면 </a:t>
            </a:r>
            <a:r>
              <a:rPr lang="en-US" altLang="ko-KR" sz="1800" dirty="0" err="1">
                <a:solidFill>
                  <a:srgbClr val="3F5FBF"/>
                </a:solidFill>
                <a:latin typeface="Courier New" panose="02070309020205020404" pitchFamily="49" charset="0"/>
              </a:rPr>
              <a:t>springSecurity</a:t>
            </a:r>
            <a:r>
              <a:rPr lang="ko-KR" altLang="en-US" sz="1800" dirty="0">
                <a:solidFill>
                  <a:srgbClr val="3F5FBF"/>
                </a:solidFill>
                <a:latin typeface="Courier New" panose="02070309020205020404" pitchFamily="49" charset="0"/>
              </a:rPr>
              <a:t>에서 보안 체크</a:t>
            </a:r>
            <a:r>
              <a:rPr lang="en-US" altLang="ko-KR" sz="1800" dirty="0">
                <a:solidFill>
                  <a:srgbClr val="3F5FBF"/>
                </a:solidFill>
                <a:latin typeface="Courier New" panose="02070309020205020404" pitchFamily="49" charset="0"/>
              </a:rPr>
              <a:t>/</a:t>
            </a:r>
            <a:r>
              <a:rPr lang="ko-KR" altLang="en-US" sz="1800" dirty="0">
                <a:solidFill>
                  <a:srgbClr val="3F5FBF"/>
                </a:solidFill>
                <a:latin typeface="Courier New" panose="02070309020205020404" pitchFamily="49" charset="0"/>
              </a:rPr>
              <a:t>로그인 여부 검사  </a:t>
            </a:r>
            <a:r>
              <a:rPr lang="en-US" altLang="ko-KR" sz="1800" dirty="0">
                <a:solidFill>
                  <a:srgbClr val="3F5FBF"/>
                </a:solidFill>
                <a:latin typeface="Courier New" panose="02070309020205020404" pitchFamily="49" charset="0"/>
              </a:rPr>
              <a:t>--&gt;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filter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filter-name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springSecurityFilterChain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filter-name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filter-class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org.springframework.web.filter.DelegatingFilterProxy</a:t>
            </a:r>
            <a:endParaRPr lang="en-US" altLang="ko-KR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filter-class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filter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filter-mapping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filter-name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springSecurityFilterChain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filter-name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url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-pattern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/*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url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-pattern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filter-mapping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3327013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context-param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param-name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contextConfigLocation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param-name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param-value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/WEB-INF/spring/root-context-db.xml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/WEB-INF/spring/security-context.xml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param-value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context-param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endParaRPr lang="ko-KR" altLang="en-US" sz="1800" dirty="0">
              <a:latin typeface="Courier New" panose="02070309020205020404" pitchFamily="49" charset="0"/>
            </a:endParaRPr>
          </a:p>
          <a:p>
            <a:pPr algn="l"/>
            <a:r>
              <a:rPr lang="ko-KR" alt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800" dirty="0">
                <a:solidFill>
                  <a:srgbClr val="3F5FBF"/>
                </a:solidFill>
                <a:latin typeface="Courier New" panose="02070309020205020404" pitchFamily="49" charset="0"/>
              </a:rPr>
              <a:t>&lt;!-- </a:t>
            </a:r>
            <a:r>
              <a:rPr lang="ko-KR" altLang="en-US" sz="1800" dirty="0">
                <a:solidFill>
                  <a:srgbClr val="3F5FBF"/>
                </a:solidFill>
                <a:latin typeface="Courier New" panose="02070309020205020404" pitchFamily="49" charset="0"/>
              </a:rPr>
              <a:t>요청이 들어오면 </a:t>
            </a:r>
            <a:r>
              <a:rPr lang="en-US" altLang="ko-KR" sz="1800" dirty="0" err="1">
                <a:solidFill>
                  <a:srgbClr val="3F5FBF"/>
                </a:solidFill>
                <a:latin typeface="Courier New" panose="02070309020205020404" pitchFamily="49" charset="0"/>
              </a:rPr>
              <a:t>springSecurity</a:t>
            </a:r>
            <a:r>
              <a:rPr lang="ko-KR" altLang="en-US" sz="1800" dirty="0">
                <a:solidFill>
                  <a:srgbClr val="3F5FBF"/>
                </a:solidFill>
                <a:latin typeface="Courier New" panose="02070309020205020404" pitchFamily="49" charset="0"/>
              </a:rPr>
              <a:t>에서 보안 체크</a:t>
            </a:r>
            <a:r>
              <a:rPr lang="en-US" altLang="ko-KR" sz="1800" dirty="0">
                <a:solidFill>
                  <a:srgbClr val="3F5FBF"/>
                </a:solidFill>
                <a:latin typeface="Courier New" panose="02070309020205020404" pitchFamily="49" charset="0"/>
              </a:rPr>
              <a:t>/</a:t>
            </a:r>
            <a:r>
              <a:rPr lang="ko-KR" altLang="en-US" sz="1800" dirty="0">
                <a:solidFill>
                  <a:srgbClr val="3F5FBF"/>
                </a:solidFill>
                <a:latin typeface="Courier New" panose="02070309020205020404" pitchFamily="49" charset="0"/>
              </a:rPr>
              <a:t>로그인 여부 검사  </a:t>
            </a:r>
            <a:r>
              <a:rPr lang="en-US" altLang="ko-KR" sz="1800" dirty="0">
                <a:solidFill>
                  <a:srgbClr val="3F5FBF"/>
                </a:solidFill>
                <a:latin typeface="Courier New" panose="02070309020205020404" pitchFamily="49" charset="0"/>
              </a:rPr>
              <a:t>--&gt;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filter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filter-name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springSecurityFilterChain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filter-name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filter-class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org.springframework.web.filter.DelegatingFilterProxy</a:t>
            </a:r>
            <a:endParaRPr lang="en-US" altLang="ko-KR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filter-class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filter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filter-mapping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filter-name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springSecurityFilterChain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filter-name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url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-pattern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/*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url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-pattern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filter-mapping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5999168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&lt;?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xml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version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"1.0" </a:t>
            </a:r>
            <a:r>
              <a:rPr lang="en-US" altLang="ko-KR" sz="1800" i="1" dirty="0">
                <a:solidFill>
                  <a:srgbClr val="7F007F"/>
                </a:solidFill>
                <a:latin typeface="Courier New" panose="02070309020205020404" pitchFamily="49" charset="0"/>
              </a:rPr>
              <a:t>encoding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"UTF-8"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?&gt;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beans:beans</a:t>
            </a:r>
            <a:endParaRPr lang="en-US" altLang="ko-KR" sz="1800" dirty="0">
              <a:solidFill>
                <a:srgbClr val="3F7F7F"/>
              </a:solidFill>
              <a:latin typeface="Courier New" panose="02070309020205020404" pitchFamily="49" charset="0"/>
            </a:endParaRPr>
          </a:p>
          <a:p>
            <a:pPr algn="l"/>
            <a:r>
              <a:rPr lang="en-US" altLang="ko-KR" sz="1800" dirty="0" err="1">
                <a:solidFill>
                  <a:srgbClr val="7F007F"/>
                </a:solidFill>
                <a:latin typeface="Courier New" panose="02070309020205020404" pitchFamily="49" charset="0"/>
              </a:rPr>
              <a:t>xmlns:beans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"http://www.springframework.org/schema/beans"</a:t>
            </a:r>
          </a:p>
          <a:p>
            <a:pPr algn="l"/>
            <a:r>
              <a:rPr lang="en-US" altLang="ko-KR" sz="1800" dirty="0" err="1">
                <a:solidFill>
                  <a:srgbClr val="7F007F"/>
                </a:solidFill>
                <a:latin typeface="Courier New" panose="02070309020205020404" pitchFamily="49" charset="0"/>
              </a:rPr>
              <a:t>xmlns:xsi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"http://www.w3.org/2001/XMLSchema-instance"</a:t>
            </a:r>
          </a:p>
          <a:p>
            <a:pPr algn="l"/>
            <a:r>
              <a:rPr lang="en-US" altLang="ko-KR" sz="1800" dirty="0" err="1">
                <a:solidFill>
                  <a:srgbClr val="7F007F"/>
                </a:solidFill>
                <a:latin typeface="Courier New" panose="02070309020205020404" pitchFamily="49" charset="0"/>
              </a:rPr>
              <a:t>xmlns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"http://www.springframework.org/schema/security"</a:t>
            </a:r>
          </a:p>
          <a:p>
            <a:pPr algn="l"/>
            <a:r>
              <a:rPr lang="en-US" altLang="ko-KR" sz="1800" dirty="0" err="1">
                <a:solidFill>
                  <a:srgbClr val="7F007F"/>
                </a:solidFill>
                <a:latin typeface="Courier New" panose="02070309020205020404" pitchFamily="49" charset="0"/>
              </a:rPr>
              <a:t>xmlns:context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"http://www.springframework.org/schema/context"</a:t>
            </a:r>
          </a:p>
          <a:p>
            <a:pPr algn="l"/>
            <a:r>
              <a:rPr lang="en-US" altLang="ko-KR" sz="1800" dirty="0" err="1">
                <a:solidFill>
                  <a:srgbClr val="7F007F"/>
                </a:solidFill>
                <a:latin typeface="Courier New" panose="02070309020205020404" pitchFamily="49" charset="0"/>
              </a:rPr>
              <a:t>xsi:schemaLocation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"http://www.springframework.org/schema/security http://www.springframework.org/schema/security/spring-security-5.7.xsd</a:t>
            </a:r>
          </a:p>
          <a:p>
            <a:pPr algn="l"/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http://www.springframework.org/schema/beans http://www.springframework.org/schema/beans/spring-beans.xsd</a:t>
            </a:r>
          </a:p>
          <a:p>
            <a:pPr algn="l"/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http://www.springframework.org/schema/context http://www.springframework.org/schema/context/spring-context-4.3.xsd"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endParaRPr lang="ko-KR" altLang="en-US" sz="1800" dirty="0">
              <a:latin typeface="Courier New" panose="02070309020205020404" pitchFamily="49" charset="0"/>
            </a:endParaRPr>
          </a:p>
          <a:p>
            <a:pPr algn="l"/>
            <a:r>
              <a:rPr lang="en-US" altLang="ko-KR" sz="1800" dirty="0">
                <a:solidFill>
                  <a:srgbClr val="3F5FBF"/>
                </a:solidFill>
                <a:latin typeface="Courier New" panose="02070309020205020404" pitchFamily="49" charset="0"/>
              </a:rPr>
              <a:t>&lt;!-- </a:t>
            </a:r>
            <a:r>
              <a:rPr lang="ko-KR" altLang="en-US" sz="1800" dirty="0">
                <a:solidFill>
                  <a:srgbClr val="3F5FBF"/>
                </a:solidFill>
                <a:latin typeface="Courier New" panose="02070309020205020404" pitchFamily="49" charset="0"/>
              </a:rPr>
              <a:t>기본설정 </a:t>
            </a:r>
            <a:r>
              <a:rPr lang="en-US" altLang="ko-KR" sz="1800" dirty="0">
                <a:solidFill>
                  <a:srgbClr val="3F5FBF"/>
                </a:solidFill>
                <a:latin typeface="Courier New" panose="02070309020205020404" pitchFamily="49" charset="0"/>
              </a:rPr>
              <a:t>--&gt;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http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pattern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"/" </a:t>
            </a:r>
            <a:r>
              <a:rPr lang="en-US" altLang="ko-KR" sz="1800" i="1" dirty="0">
                <a:solidFill>
                  <a:srgbClr val="7F007F"/>
                </a:solidFill>
                <a:latin typeface="Courier New" panose="02070309020205020404" pitchFamily="49" charset="0"/>
              </a:rPr>
              <a:t>security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"none"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&gt;&lt;/</a:t>
            </a:r>
            <a:r>
              <a:rPr lang="en-US" altLang="ko-KR" sz="1800" i="1" dirty="0">
                <a:solidFill>
                  <a:srgbClr val="3F7F7F"/>
                </a:solidFill>
                <a:latin typeface="Courier New" panose="02070309020205020404" pitchFamily="49" charset="0"/>
              </a:rPr>
              <a:t>http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http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pattern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"/resources/**" </a:t>
            </a:r>
            <a:r>
              <a:rPr lang="en-US" altLang="ko-KR" sz="1800" i="1" dirty="0">
                <a:solidFill>
                  <a:srgbClr val="7F007F"/>
                </a:solidFill>
                <a:latin typeface="Courier New" panose="02070309020205020404" pitchFamily="49" charset="0"/>
              </a:rPr>
              <a:t>security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"none"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&gt;&lt;/</a:t>
            </a:r>
            <a:r>
              <a:rPr lang="en-US" altLang="ko-KR" sz="1800" i="1" dirty="0">
                <a:solidFill>
                  <a:srgbClr val="3F7F7F"/>
                </a:solidFill>
                <a:latin typeface="Courier New" panose="02070309020205020404" pitchFamily="49" charset="0"/>
              </a:rPr>
              <a:t>http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http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auto-config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"true"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csrf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disabled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"true" 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/&gt;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intercept-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url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pattern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"/emp/**"    </a:t>
            </a:r>
            <a:r>
              <a:rPr lang="en-US" altLang="ko-KR" sz="1800" i="1" dirty="0">
                <a:solidFill>
                  <a:srgbClr val="7F007F"/>
                </a:solidFill>
                <a:latin typeface="Courier New" panose="02070309020205020404" pitchFamily="49" charset="0"/>
              </a:rPr>
              <a:t>access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hasRole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('ROLE_MANAGER')" 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/&gt;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intercept-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url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pattern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"/dept/**"    </a:t>
            </a:r>
            <a:r>
              <a:rPr lang="en-US" altLang="ko-KR" sz="1800" i="1" dirty="0">
                <a:solidFill>
                  <a:srgbClr val="7F007F"/>
                </a:solidFill>
                <a:latin typeface="Courier New" panose="02070309020205020404" pitchFamily="49" charset="0"/>
              </a:rPr>
              <a:t>access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hasAnyRole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('ROLE_USER', 'ROLE_MANAGER')" 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/&gt;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intercept-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url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pattern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"/board/**"</a:t>
            </a:r>
            <a:r>
              <a:rPr lang="en-US" altLang="ko-KR" sz="1800" i="1" dirty="0">
                <a:solidFill>
                  <a:srgbClr val="7F007F"/>
                </a:solidFill>
                <a:latin typeface="Courier New" panose="02070309020205020404" pitchFamily="49" charset="0"/>
              </a:rPr>
              <a:t>access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isAuthenticated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()" 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/&gt;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intercept-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url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pattern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"/**"        </a:t>
            </a:r>
            <a:r>
              <a:rPr lang="en-US" altLang="ko-KR" sz="1800" i="1" dirty="0">
                <a:solidFill>
                  <a:srgbClr val="7F007F"/>
                </a:solidFill>
                <a:latin typeface="Courier New" panose="02070309020205020404" pitchFamily="49" charset="0"/>
              </a:rPr>
              <a:t>access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permitAll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 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/&gt;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http-basic 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/&gt;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access-denied-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handler</a:t>
            </a:r>
            <a:r>
              <a:rPr lang="en-US" altLang="ko-KR" sz="1800" dirty="0" err="1">
                <a:solidFill>
                  <a:srgbClr val="7F007F"/>
                </a:solidFill>
                <a:latin typeface="Courier New" panose="02070309020205020404" pitchFamily="49" charset="0"/>
              </a:rPr>
              <a:t>error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-page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"/auth2/</a:t>
            </a:r>
            <a:r>
              <a:rPr lang="en-US" altLang="ko-KR" sz="1800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accessDenied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 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/&gt;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form-login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login-page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"/auth2/login"</a:t>
            </a:r>
          </a:p>
          <a:p>
            <a:pPr algn="l"/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login-processing-</a:t>
            </a:r>
            <a:r>
              <a:rPr lang="en-US" altLang="ko-KR" sz="1800" dirty="0" err="1">
                <a:solidFill>
                  <a:srgbClr val="7F007F"/>
                </a:solidFill>
                <a:latin typeface="Courier New" panose="02070309020205020404" pitchFamily="49" charset="0"/>
              </a:rPr>
              <a:t>url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"/auth2/login"</a:t>
            </a:r>
          </a:p>
          <a:p>
            <a:pPr algn="l"/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default-target-</a:t>
            </a:r>
            <a:r>
              <a:rPr lang="en-US" altLang="ko-KR" sz="1800" dirty="0" err="1">
                <a:solidFill>
                  <a:srgbClr val="7F007F"/>
                </a:solidFill>
                <a:latin typeface="Courier New" panose="02070309020205020404" pitchFamily="49" charset="0"/>
              </a:rPr>
              <a:t>url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"/board/selectAll.do" </a:t>
            </a:r>
          </a:p>
          <a:p>
            <a:pPr algn="l"/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username-parameter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"mid"</a:t>
            </a:r>
          </a:p>
          <a:p>
            <a:pPr algn="l"/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password-parameter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"password" 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/&gt;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http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endParaRPr lang="ko-KR" altLang="en-US" sz="1800" dirty="0">
              <a:latin typeface="Courier New" panose="02070309020205020404" pitchFamily="49" charset="0"/>
            </a:endParaRP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beans:bean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id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bcryptPasswordEncoder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</a:p>
          <a:p>
            <a:pPr algn="l"/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class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"org.springframework.security.crypto.bcrypt.BCryptPasswordEncoder" 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/&gt;</a:t>
            </a:r>
          </a:p>
          <a:p>
            <a:pPr algn="l"/>
            <a:endParaRPr lang="ko-KR" altLang="en-US" sz="1800" dirty="0">
              <a:latin typeface="Courier New" panose="02070309020205020404" pitchFamily="49" charset="0"/>
            </a:endParaRP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context:component-scan</a:t>
            </a:r>
            <a:r>
              <a:rPr lang="en-US" altLang="ko-KR" sz="1800" dirty="0" err="1">
                <a:solidFill>
                  <a:srgbClr val="7F007F"/>
                </a:solidFill>
                <a:latin typeface="Courier New" panose="02070309020205020404" pitchFamily="49" charset="0"/>
              </a:rPr>
              <a:t>base-package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com.shinhan.myapp,org.firstzone.myapp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 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/&gt;</a:t>
            </a:r>
          </a:p>
          <a:p>
            <a:pPr algn="l"/>
            <a:r>
              <a:rPr lang="en-US" altLang="ko-KR" sz="1800" dirty="0">
                <a:solidFill>
                  <a:srgbClr val="3F5FBF"/>
                </a:solidFill>
                <a:latin typeface="Courier New" panose="02070309020205020404" pitchFamily="49" charset="0"/>
              </a:rPr>
              <a:t>&lt;!-- </a:t>
            </a:r>
            <a:r>
              <a:rPr lang="ko-KR" altLang="en-US" sz="1800" dirty="0">
                <a:solidFill>
                  <a:srgbClr val="3F5FBF"/>
                </a:solidFill>
                <a:latin typeface="Courier New" panose="02070309020205020404" pitchFamily="49" charset="0"/>
              </a:rPr>
              <a:t>인증관리자 </a:t>
            </a:r>
            <a:r>
              <a:rPr lang="en-US" altLang="ko-KR" sz="1800" dirty="0">
                <a:solidFill>
                  <a:srgbClr val="3F5FBF"/>
                </a:solidFill>
                <a:latin typeface="Courier New" panose="02070309020205020404" pitchFamily="49" charset="0"/>
              </a:rPr>
              <a:t>--&gt;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authentication-manager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authentication-provider 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user-service-ref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memberService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password-encoder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ref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bcryptPasswordEncoder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 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/&gt;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authentication-provider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authentication-manager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endParaRPr lang="ko-KR" altLang="en-US" sz="1800" dirty="0">
              <a:latin typeface="Courier New" panose="02070309020205020404" pitchFamily="49" charset="0"/>
            </a:endParaRPr>
          </a:p>
          <a:p>
            <a:pPr algn="l"/>
            <a:r>
              <a:rPr lang="en-US" altLang="ko-KR" sz="1800" dirty="0">
                <a:solidFill>
                  <a:srgbClr val="3F5FBF"/>
                </a:solidFill>
                <a:latin typeface="Courier New" panose="02070309020205020404" pitchFamily="49" charset="0"/>
              </a:rPr>
              <a:t>&lt;!-- needed to allow double slashes in the URLs </a:t>
            </a:r>
          </a:p>
          <a:p>
            <a:pPr algn="l"/>
            <a:r>
              <a:rPr lang="ko-KR" altLang="en-US" sz="1800" dirty="0" err="1">
                <a:solidFill>
                  <a:srgbClr val="3F5FBF"/>
                </a:solidFill>
                <a:latin typeface="Courier New" panose="02070309020205020404" pitchFamily="49" charset="0"/>
              </a:rPr>
              <a:t>웹소켓을</a:t>
            </a:r>
            <a:r>
              <a:rPr lang="ko-KR" altLang="en-US" sz="1800" dirty="0">
                <a:solidFill>
                  <a:srgbClr val="3F5FBF"/>
                </a:solidFill>
                <a:latin typeface="Courier New" panose="02070309020205020404" pitchFamily="49" charset="0"/>
              </a:rPr>
              <a:t> 통한 실시간 양방향 통신때문에 추가함  </a:t>
            </a:r>
            <a:r>
              <a:rPr lang="en-US" altLang="ko-KR" sz="1800" dirty="0">
                <a:solidFill>
                  <a:srgbClr val="3F5FBF"/>
                </a:solidFill>
                <a:latin typeface="Courier New" panose="02070309020205020404" pitchFamily="49" charset="0"/>
              </a:rPr>
              <a:t>new WebSocket("</a:t>
            </a:r>
            <a:r>
              <a:rPr lang="en-US" altLang="ko-KR" sz="1800" u="sng" dirty="0" err="1">
                <a:solidFill>
                  <a:srgbClr val="3F5FBF"/>
                </a:solidFill>
                <a:latin typeface="Courier New" panose="02070309020205020404" pitchFamily="49" charset="0"/>
              </a:rPr>
              <a:t>ws</a:t>
            </a:r>
            <a:r>
              <a:rPr lang="en-US" altLang="ko-KR" sz="1800" u="sng" dirty="0">
                <a:solidFill>
                  <a:srgbClr val="3F5FBF"/>
                </a:solidFill>
                <a:latin typeface="Courier New" panose="02070309020205020404" pitchFamily="49" charset="0"/>
              </a:rPr>
              <a:t>://" --&gt;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beans:bean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id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httpFirewall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</a:p>
          <a:p>
            <a:pPr algn="l"/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class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org.springframework.security.web.firewall.DefaultHttpFirewall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beans:property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name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u="sng" dirty="0" err="1">
                <a:solidFill>
                  <a:srgbClr val="2A00FF"/>
                </a:solidFill>
                <a:latin typeface="Courier New" panose="02070309020205020404" pitchFamily="49" charset="0"/>
              </a:rPr>
              <a:t>allowUrlEncodedSlash"</a:t>
            </a:r>
            <a:r>
              <a:rPr lang="en-US" altLang="ko-KR" sz="1800" i="1" u="sng" dirty="0" err="1">
                <a:solidFill>
                  <a:srgbClr val="7F007F"/>
                </a:solidFill>
                <a:latin typeface="Courier New" panose="02070309020205020404" pitchFamily="49" charset="0"/>
              </a:rPr>
              <a:t>value</a:t>
            </a:r>
            <a:r>
              <a:rPr lang="en-US" altLang="ko-KR" sz="1800" i="1" u="sng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u="sng" dirty="0">
                <a:solidFill>
                  <a:srgbClr val="2A00FF"/>
                </a:solidFill>
                <a:latin typeface="Courier New" panose="02070309020205020404" pitchFamily="49" charset="0"/>
              </a:rPr>
              <a:t>"true" </a:t>
            </a:r>
            <a:r>
              <a:rPr lang="en-US" altLang="ko-KR" sz="1800" i="1" u="sng" dirty="0">
                <a:solidFill>
                  <a:srgbClr val="008080"/>
                </a:solidFill>
                <a:latin typeface="Courier New" panose="02070309020205020404" pitchFamily="49" charset="0"/>
              </a:rPr>
              <a:t>/&gt;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beans:bean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http-firewall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ref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httpFirewall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 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/&gt;</a:t>
            </a:r>
          </a:p>
          <a:p>
            <a:pPr algn="l"/>
            <a:endParaRPr lang="ko-KR" altLang="en-US" sz="1800" dirty="0">
              <a:latin typeface="Courier New" panose="02070309020205020404" pitchFamily="49" charset="0"/>
            </a:endParaRP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beans:beans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44807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307595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ko-KR" sz="1800" dirty="0">
                <a:solidFill>
                  <a:srgbClr val="646464"/>
                </a:solidFill>
                <a:latin typeface="Courier New" panose="02070309020205020404" pitchFamily="49" charset="0"/>
              </a:rPr>
              <a:t>@Data</a:t>
            </a:r>
          </a:p>
          <a:p>
            <a:pPr algn="l"/>
            <a:r>
              <a:rPr lang="en-US" altLang="ko-KR" sz="1800" dirty="0">
                <a:solidFill>
                  <a:srgbClr val="646464"/>
                </a:solidFill>
                <a:latin typeface="Courier New" panose="02070309020205020404" pitchFamily="49" charset="0"/>
              </a:rPr>
              <a:t>@Builder</a:t>
            </a:r>
          </a:p>
          <a:p>
            <a:pPr algn="l"/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class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MemberDTO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{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String </a:t>
            </a:r>
            <a:r>
              <a:rPr lang="en-US" altLang="ko-KR" sz="1800" dirty="0">
                <a:solidFill>
                  <a:srgbClr val="0000C0"/>
                </a:solidFill>
                <a:latin typeface="Courier New" panose="02070309020205020404" pitchFamily="49" charset="0"/>
              </a:rPr>
              <a:t>mid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String </a:t>
            </a:r>
            <a:r>
              <a:rPr lang="en-US" altLang="ko-KR" sz="1800" dirty="0" err="1">
                <a:solidFill>
                  <a:srgbClr val="0000C0"/>
                </a:solidFill>
                <a:latin typeface="Courier New" panose="02070309020205020404" pitchFamily="49" charset="0"/>
              </a:rPr>
              <a:t>mpassword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String </a:t>
            </a:r>
            <a:r>
              <a:rPr lang="en-US" altLang="ko-KR" sz="1800" dirty="0" err="1">
                <a:solidFill>
                  <a:srgbClr val="0000C0"/>
                </a:solidFill>
                <a:latin typeface="Courier New" panose="02070309020205020404" pitchFamily="49" charset="0"/>
              </a:rPr>
              <a:t>mname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algn="l"/>
            <a:endParaRPr lang="ko-KR" altLang="en-US" sz="1800" dirty="0">
              <a:latin typeface="Courier New" panose="02070309020205020404" pitchFamily="49" charset="0"/>
            </a:endParaRPr>
          </a:p>
          <a:p>
            <a:pPr algn="l"/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MemberRole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dirty="0" err="1">
                <a:solidFill>
                  <a:srgbClr val="0000C0"/>
                </a:solidFill>
                <a:latin typeface="Courier New" panose="02070309020205020404" pitchFamily="49" charset="0"/>
              </a:rPr>
              <a:t>mrole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algn="l"/>
            <a:endParaRPr lang="ko-KR" altLang="en-US" sz="1800" dirty="0">
              <a:latin typeface="Courier New" panose="02070309020205020404" pitchFamily="49" charset="0"/>
            </a:endParaRPr>
          </a:p>
          <a:p>
            <a:endParaRPr lang="ko-KR" altLang="en-US" sz="1800" dirty="0">
              <a:latin typeface="Courier New" panose="02070309020205020404" pitchFamily="49" charset="0"/>
            </a:endParaRPr>
          </a:p>
          <a:p>
            <a:pPr algn="l"/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 err="1">
                <a:solidFill>
                  <a:srgbClr val="7F0055"/>
                </a:solidFill>
                <a:latin typeface="Courier New" panose="02070309020205020404" pitchFamily="49" charset="0"/>
              </a:rPr>
              <a:t>enum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MemberRole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{</a:t>
            </a:r>
          </a:p>
          <a:p>
            <a:pPr algn="l"/>
            <a:endParaRPr lang="ko-KR" altLang="en-US" sz="1800" dirty="0">
              <a:latin typeface="Courier New" panose="02070309020205020404" pitchFamily="49" charset="0"/>
            </a:endParaRPr>
          </a:p>
          <a:p>
            <a:pPr algn="l"/>
            <a:r>
              <a:rPr lang="en-US" altLang="ko-KR" sz="1800" b="1" i="1" dirty="0">
                <a:solidFill>
                  <a:srgbClr val="0000C0"/>
                </a:solidFill>
                <a:latin typeface="Courier New" panose="02070309020205020404" pitchFamily="49" charset="0"/>
              </a:rPr>
              <a:t>ROLE_USER</a:t>
            </a:r>
            <a:r>
              <a:rPr lang="en-US" altLang="ko-KR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US" altLang="ko-KR" sz="1800" b="1" i="1" dirty="0">
                <a:solidFill>
                  <a:srgbClr val="0000C0"/>
                </a:solidFill>
                <a:latin typeface="Courier New" panose="02070309020205020404" pitchFamily="49" charset="0"/>
              </a:rPr>
              <a:t>ROLE_ADMIN</a:t>
            </a:r>
            <a:r>
              <a:rPr lang="en-US" altLang="ko-KR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US" altLang="ko-KR" sz="1800" b="1" i="1" dirty="0">
                <a:solidFill>
                  <a:srgbClr val="0000C0"/>
                </a:solidFill>
                <a:latin typeface="Courier New" panose="02070309020205020404" pitchFamily="49" charset="0"/>
              </a:rPr>
              <a:t>ROLE_MANAGER</a:t>
            </a:r>
            <a:r>
              <a:rPr lang="en-US" altLang="ko-KR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2839820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&lt;?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xml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version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"1.0" </a:t>
            </a:r>
            <a:r>
              <a:rPr lang="en-US" altLang="ko-KR" sz="1800" i="1" dirty="0">
                <a:solidFill>
                  <a:srgbClr val="7F007F"/>
                </a:solidFill>
                <a:latin typeface="Courier New" panose="02070309020205020404" pitchFamily="49" charset="0"/>
              </a:rPr>
              <a:t>encoding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"UTF-8" 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?&gt;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&lt;!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DOCTYPE 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mapper</a:t>
            </a:r>
          </a:p>
          <a:p>
            <a:pPr algn="l"/>
            <a:r>
              <a:rPr lang="en-US" altLang="ko-KR" sz="1800" dirty="0">
                <a:latin typeface="Courier New" panose="02070309020205020404" pitchFamily="49" charset="0"/>
              </a:rPr>
              <a:t>  </a:t>
            </a:r>
            <a:r>
              <a:rPr lang="en-US" altLang="ko-KR" sz="1800" dirty="0">
                <a:solidFill>
                  <a:srgbClr val="808080"/>
                </a:solidFill>
                <a:latin typeface="Courier New" panose="02070309020205020404" pitchFamily="49" charset="0"/>
              </a:rPr>
              <a:t>PUBLIC 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"-//mybatis.org//DTD Mapper 3.0//EN"</a:t>
            </a:r>
          </a:p>
          <a:p>
            <a:pPr algn="l"/>
            <a:r>
              <a:rPr lang="en-US" altLang="ko-KR" sz="1800" dirty="0">
                <a:latin typeface="Courier New" panose="02070309020205020404" pitchFamily="49" charset="0"/>
              </a:rPr>
              <a:t>  </a:t>
            </a:r>
            <a:r>
              <a:rPr lang="en-US" altLang="ko-KR" sz="1800" dirty="0">
                <a:solidFill>
                  <a:srgbClr val="3F7F5F"/>
                </a:solidFill>
                <a:latin typeface="Courier New" panose="02070309020205020404" pitchFamily="49" charset="0"/>
              </a:rPr>
              <a:t>"https://mybatis.org/</a:t>
            </a:r>
            <a:r>
              <a:rPr lang="en-US" altLang="ko-KR" sz="1800" dirty="0" err="1">
                <a:solidFill>
                  <a:srgbClr val="3F7F5F"/>
                </a:solidFill>
                <a:latin typeface="Courier New" panose="02070309020205020404" pitchFamily="49" charset="0"/>
              </a:rPr>
              <a:t>dtd</a:t>
            </a:r>
            <a:r>
              <a:rPr lang="en-US" altLang="ko-KR" sz="1800" dirty="0">
                <a:solidFill>
                  <a:srgbClr val="3F7F5F"/>
                </a:solidFill>
                <a:latin typeface="Courier New" panose="02070309020205020404" pitchFamily="49" charset="0"/>
              </a:rPr>
              <a:t>/mybatis-3-mapper.dtd"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endParaRPr lang="ko-KR" altLang="en-US" sz="1800" dirty="0">
              <a:latin typeface="Courier New" panose="02070309020205020404" pitchFamily="49" charset="0"/>
            </a:endParaRP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mapper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namespace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com.shinhan.member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select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id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selectById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 </a:t>
            </a:r>
            <a:r>
              <a:rPr lang="en-US" altLang="ko-KR" sz="1800" i="1" dirty="0" err="1">
                <a:solidFill>
                  <a:srgbClr val="7F007F"/>
                </a:solidFill>
                <a:latin typeface="Courier New" panose="02070309020205020404" pitchFamily="49" charset="0"/>
              </a:rPr>
              <a:t>parameterType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"string" </a:t>
            </a:r>
          </a:p>
          <a:p>
            <a:pPr algn="l"/>
            <a:r>
              <a:rPr lang="en-US" altLang="ko-KR" sz="1800" dirty="0">
                <a:latin typeface="Courier New" panose="02070309020205020404" pitchFamily="49" charset="0"/>
              </a:rPr>
              <a:t>         </a:t>
            </a:r>
            <a:r>
              <a:rPr lang="en-US" altLang="ko-KR" sz="1800" dirty="0" err="1">
                <a:solidFill>
                  <a:srgbClr val="7F007F"/>
                </a:solidFill>
                <a:latin typeface="Courier New" panose="02070309020205020404" pitchFamily="49" charset="0"/>
              </a:rPr>
              <a:t>resultType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com.shinhan.myapp.security.MemberDTO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select * 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from 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tbl_member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where mid = #{</a:t>
            </a:r>
            <a:r>
              <a:rPr lang="en-US" altLang="ko-KR" sz="1800" u="sng" dirty="0">
                <a:solidFill>
                  <a:srgbClr val="000000"/>
                </a:solidFill>
                <a:latin typeface="Courier New" panose="02070309020205020404" pitchFamily="49" charset="0"/>
              </a:rPr>
              <a:t>aa}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select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ko-KR" alt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insert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id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"insert" </a:t>
            </a:r>
            <a:r>
              <a:rPr lang="en-US" altLang="ko-KR" sz="1800" i="1" dirty="0" err="1">
                <a:solidFill>
                  <a:srgbClr val="7F007F"/>
                </a:solidFill>
                <a:latin typeface="Courier New" panose="02070309020205020404" pitchFamily="49" charset="0"/>
              </a:rPr>
              <a:t>parameterType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com.shinhan.myapp.security.MemberDTO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INSERT INTO 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tbl_member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(mid ,</a:t>
            </a:r>
            <a:r>
              <a:rPr lang="en-US" altLang="ko-KR" sz="1800" u="sng" dirty="0" err="1">
                <a:solidFill>
                  <a:srgbClr val="000000"/>
                </a:solidFill>
                <a:latin typeface="Courier New" panose="02070309020205020404" pitchFamily="49" charset="0"/>
              </a:rPr>
              <a:t>mpassword</a:t>
            </a:r>
            <a:r>
              <a:rPr lang="en-US" altLang="ko-KR" sz="1800" u="sng" dirty="0">
                <a:solidFill>
                  <a:srgbClr val="000000"/>
                </a:solidFill>
                <a:latin typeface="Courier New" panose="02070309020205020404" pitchFamily="49" charset="0"/>
              </a:rPr>
              <a:t> ,</a:t>
            </a:r>
            <a:r>
              <a:rPr lang="en-US" altLang="ko-KR" sz="1800" u="sng" dirty="0" err="1">
                <a:solidFill>
                  <a:srgbClr val="000000"/>
                </a:solidFill>
                <a:latin typeface="Courier New" panose="02070309020205020404" pitchFamily="49" charset="0"/>
              </a:rPr>
              <a:t>mname,mrole</a:t>
            </a:r>
            <a:r>
              <a:rPr lang="en-US" altLang="ko-KR" sz="1800" u="sng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VALUES(#{mid},#{</a:t>
            </a:r>
            <a:r>
              <a:rPr lang="en-US" altLang="ko-KR" sz="1800" u="sng" dirty="0">
                <a:solidFill>
                  <a:srgbClr val="000000"/>
                </a:solidFill>
                <a:latin typeface="Courier New" panose="02070309020205020404" pitchFamily="49" charset="0"/>
              </a:rPr>
              <a:t>mpassword},#{mname},#{mrole})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insert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ko-KR" alt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mapper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711904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404166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ko-KR" sz="1800" dirty="0">
                <a:solidFill>
                  <a:srgbClr val="646464"/>
                </a:solidFill>
                <a:latin typeface="Courier New" panose="02070309020205020404" pitchFamily="49" charset="0"/>
              </a:rPr>
              <a:t>@Getter</a:t>
            </a:r>
          </a:p>
          <a:p>
            <a:pPr algn="l"/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class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u="sng" dirty="0" err="1">
                <a:solidFill>
                  <a:srgbClr val="000000"/>
                </a:solidFill>
                <a:latin typeface="Courier New" panose="02070309020205020404" pitchFamily="49" charset="0"/>
              </a:rPr>
              <a:t>UserSecurityDetails</a:t>
            </a:r>
            <a:r>
              <a:rPr lang="en-US" altLang="ko-KR" sz="1800" b="1" u="sng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u="sng" dirty="0">
                <a:solidFill>
                  <a:srgbClr val="7F0055"/>
                </a:solidFill>
                <a:latin typeface="Courier New" panose="02070309020205020404" pitchFamily="49" charset="0"/>
              </a:rPr>
              <a:t>extends</a:t>
            </a:r>
            <a:r>
              <a:rPr lang="en-US" altLang="ko-KR" sz="1800" b="1" u="sng" dirty="0">
                <a:solidFill>
                  <a:srgbClr val="000000"/>
                </a:solidFill>
                <a:latin typeface="Courier New" panose="02070309020205020404" pitchFamily="49" charset="0"/>
              </a:rPr>
              <a:t> User{</a:t>
            </a:r>
          </a:p>
          <a:p>
            <a:pPr algn="l"/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MemberDTO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dirty="0">
                <a:solidFill>
                  <a:srgbClr val="0000C0"/>
                </a:solidFill>
                <a:latin typeface="Courier New" panose="02070309020205020404" pitchFamily="49" charset="0"/>
              </a:rPr>
              <a:t>member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UserSecurityDetails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MemberDTO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>
                <a:solidFill>
                  <a:srgbClr val="6A3E3E"/>
                </a:solidFill>
                <a:latin typeface="Courier New" panose="02070309020205020404" pitchFamily="49" charset="0"/>
              </a:rPr>
              <a:t>member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) {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super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ko-KR" sz="1800" dirty="0" err="1">
                <a:solidFill>
                  <a:srgbClr val="6A3E3E"/>
                </a:solidFill>
                <a:latin typeface="Courier New" panose="02070309020205020404" pitchFamily="49" charset="0"/>
              </a:rPr>
              <a:t>member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.getMid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(), 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ko-KR" sz="1800" dirty="0" err="1">
                <a:solidFill>
                  <a:srgbClr val="6A3E3E"/>
                </a:solidFill>
                <a:latin typeface="Courier New" panose="02070309020205020404" pitchFamily="49" charset="0"/>
              </a:rPr>
              <a:t>member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</a:t>
            </a:r>
            <a:r>
              <a:rPr lang="en-US" altLang="ko-KR" sz="1800" dirty="0" err="1">
                <a:solidFill>
                  <a:srgbClr val="0000C0"/>
                </a:solidFill>
                <a:latin typeface="Courier New" panose="02070309020205020404" pitchFamily="49" charset="0"/>
              </a:rPr>
              <a:t>mpassword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</a:t>
            </a:r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new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ArrayList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GrantedAuthority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&gt;(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Arrays.</a:t>
            </a:r>
            <a:r>
              <a:rPr lang="en-US" altLang="ko-KR" sz="1800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asList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 </a:t>
            </a:r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new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SimpleGrantedAuthority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800" b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member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.getMrole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().name())</a:t>
            </a:r>
          </a:p>
          <a:p>
            <a:pPr algn="l"/>
            <a:r>
              <a:rPr lang="ko-KR" alt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algn="l"/>
            <a:r>
              <a:rPr lang="ko-KR" alt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algn="l"/>
            <a:r>
              <a:rPr lang="ko-KR" alt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ko-KR" sz="1800" b="1" dirty="0" err="1">
                <a:solidFill>
                  <a:srgbClr val="7F0055"/>
                </a:solidFill>
                <a:latin typeface="Courier New" panose="02070309020205020404" pitchFamily="49" charset="0"/>
              </a:rPr>
              <a:t>this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</a:t>
            </a:r>
            <a:r>
              <a:rPr lang="en-US" altLang="ko-KR" sz="1800" b="1" dirty="0" err="1">
                <a:solidFill>
                  <a:srgbClr val="0000C0"/>
                </a:solidFill>
                <a:latin typeface="Courier New" panose="02070309020205020404" pitchFamily="49" charset="0"/>
              </a:rPr>
              <a:t>member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ko-KR" sz="1800" b="1" dirty="0">
                <a:solidFill>
                  <a:srgbClr val="6A3E3E"/>
                </a:solidFill>
                <a:latin typeface="Courier New" panose="02070309020205020404" pitchFamily="49" charset="0"/>
              </a:rPr>
              <a:t>member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algn="l"/>
            <a:r>
              <a:rPr lang="ko-KR" alt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} 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algn="l"/>
            <a:endParaRPr lang="ko-KR" altLang="en-US" sz="1800" dirty="0">
              <a:latin typeface="Courier New" panose="02070309020205020404" pitchFamily="49" charset="0"/>
            </a:endParaRPr>
          </a:p>
          <a:p>
            <a:pPr algn="l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2841473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972016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package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com.shinhan.myapp.security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algn="l"/>
            <a:endParaRPr lang="ko-KR" altLang="en-US" sz="1800" dirty="0">
              <a:latin typeface="Courier New" panose="02070309020205020404" pitchFamily="49" charset="0"/>
            </a:endParaRPr>
          </a:p>
          <a:p>
            <a:pPr algn="l"/>
            <a:r>
              <a:rPr lang="fr-FR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import</a:t>
            </a:r>
            <a:r>
              <a:rPr lang="fr-FR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altLang="ko-KR" sz="1800" b="1" u="sng" dirty="0">
                <a:solidFill>
                  <a:srgbClr val="000000"/>
                </a:solidFill>
                <a:latin typeface="Courier New" panose="02070309020205020404" pitchFamily="49" charset="0"/>
              </a:rPr>
              <a:t>javax.servlet.http.HttpSession;</a:t>
            </a:r>
          </a:p>
          <a:p>
            <a:pPr algn="l"/>
            <a:endParaRPr lang="ko-KR" altLang="en-US" sz="1800" dirty="0">
              <a:latin typeface="Courier New" panose="02070309020205020404" pitchFamily="49" charset="0"/>
            </a:endParaRPr>
          </a:p>
          <a:p>
            <a:pPr algn="l"/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import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org.springframework.beans.factory.annotation.Autowired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algn="l"/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import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org.springframework.security.core.userdetails.UserDetails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algn="l"/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import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org.springframework.security.core.userdetails.UserDetailsService;</a:t>
            </a:r>
          </a:p>
          <a:p>
            <a:pPr algn="l"/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import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org.springframework.security.core.userdetails.UsernameNotFoundException;</a:t>
            </a:r>
          </a:p>
          <a:p>
            <a:pPr algn="l"/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import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org.springframework.security.crypto.bcrypt.BCryptPasswordEncoder;</a:t>
            </a:r>
          </a:p>
          <a:p>
            <a:pPr algn="l"/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import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org.springframework.stereotype.Service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algn="l"/>
            <a:endParaRPr lang="ko-KR" altLang="en-US" sz="1800" dirty="0">
              <a:latin typeface="Courier New" panose="02070309020205020404" pitchFamily="49" charset="0"/>
            </a:endParaRPr>
          </a:p>
          <a:p>
            <a:pPr algn="l"/>
            <a:r>
              <a:rPr lang="en-US" altLang="ko-KR" sz="1800" dirty="0">
                <a:solidFill>
                  <a:srgbClr val="646464"/>
                </a:solidFill>
                <a:latin typeface="Courier New" panose="02070309020205020404" pitchFamily="49" charset="0"/>
              </a:rPr>
              <a:t>@Service</a:t>
            </a:r>
          </a:p>
          <a:p>
            <a:pPr algn="l"/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class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MemberService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implements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UserDetailsService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{</a:t>
            </a:r>
          </a:p>
          <a:p>
            <a:pPr algn="l"/>
            <a:r>
              <a:rPr lang="en-US" altLang="ko-KR" sz="1800" dirty="0">
                <a:solidFill>
                  <a:srgbClr val="646464"/>
                </a:solidFill>
                <a:latin typeface="Courier New" panose="02070309020205020404" pitchFamily="49" charset="0"/>
              </a:rPr>
              <a:t>@Autowired</a:t>
            </a:r>
          </a:p>
          <a:p>
            <a:pPr algn="l"/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private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MemberDAO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 err="1">
                <a:solidFill>
                  <a:srgbClr val="0000C0"/>
                </a:solidFill>
                <a:latin typeface="Courier New" panose="02070309020205020404" pitchFamily="49" charset="0"/>
              </a:rPr>
              <a:t>mrepo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algn="l"/>
            <a:r>
              <a:rPr lang="en-US" altLang="ko-KR" sz="1800" dirty="0">
                <a:solidFill>
                  <a:srgbClr val="646464"/>
                </a:solidFill>
                <a:latin typeface="Courier New" panose="02070309020205020404" pitchFamily="49" charset="0"/>
              </a:rPr>
              <a:t>@Autowired</a:t>
            </a:r>
          </a:p>
          <a:p>
            <a:pPr algn="l"/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BCryptPasswordEncoder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dirty="0" err="1">
                <a:solidFill>
                  <a:srgbClr val="0000C0"/>
                </a:solidFill>
                <a:latin typeface="Courier New" panose="02070309020205020404" pitchFamily="49" charset="0"/>
              </a:rPr>
              <a:t>passwordEncoder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  <a:r>
              <a:rPr lang="en-US" altLang="ko-KR" sz="1800" dirty="0">
                <a:solidFill>
                  <a:srgbClr val="3F7F5F"/>
                </a:solidFill>
                <a:latin typeface="Courier New" panose="02070309020205020404" pitchFamily="49" charset="0"/>
              </a:rPr>
              <a:t>// security </a:t>
            </a:r>
            <a:r>
              <a:rPr lang="en-US" altLang="ko-KR" sz="1800" u="sng" dirty="0">
                <a:solidFill>
                  <a:srgbClr val="3F7F5F"/>
                </a:solidFill>
                <a:latin typeface="Courier New" panose="02070309020205020404" pitchFamily="49" charset="0"/>
              </a:rPr>
              <a:t>config</a:t>
            </a:r>
            <a:r>
              <a:rPr lang="ko-KR" altLang="en-US" sz="1800" u="sng" dirty="0">
                <a:solidFill>
                  <a:srgbClr val="3F7F5F"/>
                </a:solidFill>
                <a:latin typeface="Courier New" panose="02070309020205020404" pitchFamily="49" charset="0"/>
              </a:rPr>
              <a:t>에서 </a:t>
            </a:r>
            <a:r>
              <a:rPr lang="en-US" altLang="ko-KR" sz="1800" u="sng" dirty="0">
                <a:solidFill>
                  <a:srgbClr val="3F7F5F"/>
                </a:solidFill>
                <a:latin typeface="Courier New" panose="02070309020205020404" pitchFamily="49" charset="0"/>
              </a:rPr>
              <a:t>Bean</a:t>
            </a:r>
            <a:r>
              <a:rPr lang="ko-KR" altLang="en-US" sz="1800" u="sng" dirty="0">
                <a:solidFill>
                  <a:srgbClr val="3F7F5F"/>
                </a:solidFill>
                <a:latin typeface="Courier New" panose="02070309020205020404" pitchFamily="49" charset="0"/>
              </a:rPr>
              <a:t>생성</a:t>
            </a:r>
          </a:p>
          <a:p>
            <a:pPr algn="l"/>
            <a:r>
              <a:rPr lang="en-US" altLang="ko-KR" sz="1800" dirty="0">
                <a:solidFill>
                  <a:srgbClr val="3F7F5F"/>
                </a:solidFill>
                <a:latin typeface="Courier New" panose="02070309020205020404" pitchFamily="49" charset="0"/>
              </a:rPr>
              <a:t>// </a:t>
            </a:r>
            <a:r>
              <a:rPr lang="ko-KR" altLang="en-US" sz="1800" dirty="0">
                <a:solidFill>
                  <a:srgbClr val="3F7F5F"/>
                </a:solidFill>
                <a:latin typeface="Courier New" panose="02070309020205020404" pitchFamily="49" charset="0"/>
              </a:rPr>
              <a:t>회원가입</a:t>
            </a:r>
          </a:p>
          <a:p>
            <a:pPr algn="l"/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MemberDTO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joinUser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MemberDTO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>
                <a:solidFill>
                  <a:srgbClr val="6A3E3E"/>
                </a:solidFill>
                <a:latin typeface="Courier New" panose="02070309020205020404" pitchFamily="49" charset="0"/>
              </a:rPr>
              <a:t>member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) {</a:t>
            </a:r>
          </a:p>
          <a:p>
            <a:pPr algn="l"/>
            <a:r>
              <a:rPr lang="en-US" altLang="ko-KR" sz="1800" dirty="0">
                <a:solidFill>
                  <a:srgbClr val="3F7F5F"/>
                </a:solidFill>
                <a:latin typeface="Courier New" panose="02070309020205020404" pitchFamily="49" charset="0"/>
              </a:rPr>
              <a:t>// </a:t>
            </a:r>
            <a:r>
              <a:rPr lang="ko-KR" altLang="en-US" sz="1800" dirty="0">
                <a:solidFill>
                  <a:srgbClr val="3F7F5F"/>
                </a:solidFill>
                <a:latin typeface="Courier New" panose="02070309020205020404" pitchFamily="49" charset="0"/>
              </a:rPr>
              <a:t>비밀번호 암호화</a:t>
            </a:r>
            <a:r>
              <a:rPr lang="en-US" altLang="ko-KR" sz="1800" dirty="0">
                <a:solidFill>
                  <a:srgbClr val="3F7F5F"/>
                </a:solidFill>
                <a:latin typeface="Courier New" panose="02070309020205020404" pitchFamily="49" charset="0"/>
              </a:rPr>
              <a:t>...</a:t>
            </a:r>
            <a:r>
              <a:rPr lang="ko-KR" altLang="en-US" sz="1800" dirty="0" err="1">
                <a:solidFill>
                  <a:srgbClr val="3F7F5F"/>
                </a:solidFill>
                <a:latin typeface="Courier New" panose="02070309020205020404" pitchFamily="49" charset="0"/>
              </a:rPr>
              <a:t>암호화되지않으면</a:t>
            </a:r>
            <a:r>
              <a:rPr lang="ko-KR" altLang="en-US" sz="1800" dirty="0">
                <a:solidFill>
                  <a:srgbClr val="3F7F5F"/>
                </a:solidFill>
                <a:latin typeface="Courier New" panose="02070309020205020404" pitchFamily="49" charset="0"/>
              </a:rPr>
              <a:t> </a:t>
            </a:r>
            <a:r>
              <a:rPr lang="ko-KR" altLang="en-US" sz="1800" dirty="0" err="1">
                <a:solidFill>
                  <a:srgbClr val="3F7F5F"/>
                </a:solidFill>
                <a:latin typeface="Courier New" panose="02070309020205020404" pitchFamily="49" charset="0"/>
              </a:rPr>
              <a:t>로그인되지않는다</a:t>
            </a:r>
            <a:r>
              <a:rPr lang="en-US" altLang="ko-KR" sz="1800" dirty="0">
                <a:solidFill>
                  <a:srgbClr val="3F7F5F"/>
                </a:solidFill>
                <a:latin typeface="Courier New" panose="02070309020205020404" pitchFamily="49" charset="0"/>
              </a:rPr>
              <a:t>.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String </a:t>
            </a:r>
            <a:r>
              <a:rPr lang="en-US" altLang="ko-KR" sz="1800" dirty="0" err="1">
                <a:solidFill>
                  <a:srgbClr val="6A3E3E"/>
                </a:solidFill>
                <a:latin typeface="Courier New" panose="02070309020205020404" pitchFamily="49" charset="0"/>
              </a:rPr>
              <a:t>pwd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ko-KR" sz="1800" dirty="0" err="1">
                <a:solidFill>
                  <a:srgbClr val="0000C0"/>
                </a:solidFill>
                <a:latin typeface="Courier New" panose="02070309020205020404" pitchFamily="49" charset="0"/>
              </a:rPr>
              <a:t>passwordEncoder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.encode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800" dirty="0" err="1">
                <a:solidFill>
                  <a:srgbClr val="6A3E3E"/>
                </a:solidFill>
                <a:latin typeface="Courier New" panose="02070309020205020404" pitchFamily="49" charset="0"/>
              </a:rPr>
              <a:t>member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.getMpassword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());</a:t>
            </a:r>
          </a:p>
          <a:p>
            <a:pPr algn="l"/>
            <a:r>
              <a:rPr lang="en-US" altLang="ko-KR" sz="1800" dirty="0" err="1">
                <a:solidFill>
                  <a:srgbClr val="6A3E3E"/>
                </a:solidFill>
                <a:latin typeface="Courier New" panose="02070309020205020404" pitchFamily="49" charset="0"/>
              </a:rPr>
              <a:t>member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.setMpassword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800" dirty="0" err="1">
                <a:solidFill>
                  <a:srgbClr val="6A3E3E"/>
                </a:solidFill>
                <a:latin typeface="Courier New" panose="02070309020205020404" pitchFamily="49" charset="0"/>
              </a:rPr>
              <a:t>pwd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algn="l"/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u="sng" dirty="0">
                <a:solidFill>
                  <a:srgbClr val="6A3E3E"/>
                </a:solidFill>
                <a:latin typeface="Courier New" panose="02070309020205020404" pitchFamily="49" charset="0"/>
              </a:rPr>
              <a:t>ret</a:t>
            </a:r>
            <a:r>
              <a:rPr lang="en-US" altLang="ko-KR" sz="1800" b="1" u="sng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ko-KR" sz="1800" b="1" u="sng" dirty="0" err="1">
                <a:solidFill>
                  <a:srgbClr val="0000C0"/>
                </a:solidFill>
                <a:latin typeface="Courier New" panose="02070309020205020404" pitchFamily="49" charset="0"/>
              </a:rPr>
              <a:t>mrepo</a:t>
            </a:r>
            <a:r>
              <a:rPr lang="en-US" altLang="ko-KR" sz="1800" b="1" u="sng" dirty="0" err="1">
                <a:solidFill>
                  <a:srgbClr val="000000"/>
                </a:solidFill>
                <a:latin typeface="Courier New" panose="02070309020205020404" pitchFamily="49" charset="0"/>
              </a:rPr>
              <a:t>.insert</a:t>
            </a:r>
            <a:r>
              <a:rPr lang="en-US" altLang="ko-KR" sz="1800" b="1" u="sng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800" b="1" u="sng" dirty="0">
                <a:solidFill>
                  <a:srgbClr val="6A3E3E"/>
                </a:solidFill>
                <a:latin typeface="Courier New" panose="02070309020205020404" pitchFamily="49" charset="0"/>
              </a:rPr>
              <a:t>member</a:t>
            </a:r>
            <a:r>
              <a:rPr lang="en-US" altLang="ko-KR" sz="1800" b="1" u="sng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algn="l"/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return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>
                <a:solidFill>
                  <a:srgbClr val="6A3E3E"/>
                </a:solidFill>
                <a:latin typeface="Courier New" panose="02070309020205020404" pitchFamily="49" charset="0"/>
              </a:rPr>
              <a:t>member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algn="l"/>
            <a:endParaRPr lang="ko-KR" altLang="en-US" sz="1800" dirty="0">
              <a:latin typeface="Courier New" panose="02070309020205020404" pitchFamily="49" charset="0"/>
            </a:endParaRPr>
          </a:p>
          <a:p>
            <a:pPr algn="l"/>
            <a:r>
              <a:rPr lang="en-US" altLang="ko-KR" sz="1800" dirty="0">
                <a:solidFill>
                  <a:srgbClr val="3F7F5F"/>
                </a:solidFill>
                <a:latin typeface="Courier New" panose="02070309020205020404" pitchFamily="49" charset="0"/>
              </a:rPr>
              <a:t>//!!!!</a:t>
            </a:r>
            <a:r>
              <a:rPr lang="ko-KR" altLang="en-US" sz="1800" dirty="0">
                <a:solidFill>
                  <a:srgbClr val="3F7F5F"/>
                </a:solidFill>
                <a:latin typeface="Courier New" panose="02070309020205020404" pitchFamily="49" charset="0"/>
              </a:rPr>
              <a:t>반드시 </a:t>
            </a:r>
            <a:r>
              <a:rPr lang="ko-KR" altLang="en-US" sz="1800" dirty="0" err="1">
                <a:solidFill>
                  <a:srgbClr val="3F7F5F"/>
                </a:solidFill>
                <a:latin typeface="Courier New" panose="02070309020205020404" pitchFamily="49" charset="0"/>
              </a:rPr>
              <a:t>구현해야한다</a:t>
            </a:r>
            <a:r>
              <a:rPr lang="en-US" altLang="ko-KR" sz="1800" dirty="0">
                <a:solidFill>
                  <a:srgbClr val="3F7F5F"/>
                </a:solidFill>
                <a:latin typeface="Courier New" panose="02070309020205020404" pitchFamily="49" charset="0"/>
              </a:rPr>
              <a:t>. </a:t>
            </a:r>
          </a:p>
          <a:p>
            <a:pPr algn="l"/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UserDetails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loadUserByUsername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(String </a:t>
            </a:r>
            <a:r>
              <a:rPr lang="en-US" altLang="ko-KR" sz="1800" b="1" dirty="0">
                <a:solidFill>
                  <a:srgbClr val="6A3E3E"/>
                </a:solidFill>
                <a:latin typeface="Courier New" panose="02070309020205020404" pitchFamily="49" charset="0"/>
              </a:rPr>
              <a:t>mid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throws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UsernameNotFoundException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{</a:t>
            </a:r>
          </a:p>
          <a:p>
            <a:pPr algn="l"/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MemberDTO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dirty="0" err="1">
                <a:solidFill>
                  <a:srgbClr val="6A3E3E"/>
                </a:solidFill>
                <a:latin typeface="Courier New" panose="02070309020205020404" pitchFamily="49" charset="0"/>
              </a:rPr>
              <a:t>loginUser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=  </a:t>
            </a:r>
            <a:r>
              <a:rPr lang="en-US" altLang="ko-KR" sz="1800" dirty="0" err="1">
                <a:solidFill>
                  <a:srgbClr val="0000C0"/>
                </a:solidFill>
                <a:latin typeface="Courier New" panose="02070309020205020404" pitchFamily="49" charset="0"/>
              </a:rPr>
              <a:t>mrepo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.selectById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800" dirty="0">
                <a:solidFill>
                  <a:srgbClr val="6A3E3E"/>
                </a:solidFill>
                <a:latin typeface="Courier New" panose="02070309020205020404" pitchFamily="49" charset="0"/>
              </a:rPr>
              <a:t>mid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algn="l"/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</a:t>
            </a:r>
            <a:r>
              <a:rPr lang="en-US" altLang="ko-KR" sz="1800" b="1" i="1" dirty="0" err="1">
                <a:solidFill>
                  <a:srgbClr val="0000C0"/>
                </a:solidFill>
                <a:latin typeface="Courier New" panose="02070309020205020404" pitchFamily="49" charset="0"/>
              </a:rPr>
              <a:t>out</a:t>
            </a:r>
            <a:r>
              <a:rPr lang="en-US" altLang="ko-KR" sz="1800" b="1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.println</a:t>
            </a:r>
            <a:r>
              <a:rPr lang="en-US" altLang="ko-KR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800" b="1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b="1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loadUserByUsername</a:t>
            </a:r>
            <a:r>
              <a:rPr lang="en-US" altLang="ko-KR" sz="1800" b="1" i="1" dirty="0">
                <a:solidFill>
                  <a:srgbClr val="2A00FF"/>
                </a:solidFill>
                <a:latin typeface="Courier New" panose="02070309020205020404" pitchFamily="49" charset="0"/>
              </a:rPr>
              <a:t> mid:"</a:t>
            </a:r>
            <a:r>
              <a:rPr lang="en-US" altLang="ko-KR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 + </a:t>
            </a:r>
            <a:r>
              <a:rPr lang="en-US" altLang="ko-KR" sz="1800" b="1" i="1" dirty="0">
                <a:solidFill>
                  <a:srgbClr val="6A3E3E"/>
                </a:solidFill>
                <a:latin typeface="Courier New" panose="02070309020205020404" pitchFamily="49" charset="0"/>
              </a:rPr>
              <a:t>mid</a:t>
            </a:r>
            <a:r>
              <a:rPr lang="en-US" altLang="ko-KR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 + </a:t>
            </a:r>
            <a:r>
              <a:rPr lang="en-US" altLang="ko-KR" sz="1800" b="1" i="1" dirty="0">
                <a:solidFill>
                  <a:srgbClr val="2A00FF"/>
                </a:solidFill>
                <a:latin typeface="Courier New" panose="02070309020205020404" pitchFamily="49" charset="0"/>
              </a:rPr>
              <a:t>" </a:t>
            </a:r>
            <a:r>
              <a:rPr lang="en-US" altLang="ko-KR" sz="1800" b="1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loginUser</a:t>
            </a:r>
            <a:r>
              <a:rPr lang="en-US" altLang="ko-KR" sz="1800" b="1" i="1" dirty="0">
                <a:solidFill>
                  <a:srgbClr val="2A00FF"/>
                </a:solidFill>
                <a:latin typeface="Courier New" panose="02070309020205020404" pitchFamily="49" charset="0"/>
              </a:rPr>
              <a:t>:"</a:t>
            </a:r>
            <a:r>
              <a:rPr lang="en-US" altLang="ko-KR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+</a:t>
            </a:r>
            <a:r>
              <a:rPr lang="en-US" altLang="ko-KR" sz="1800" b="1" i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loginUser</a:t>
            </a:r>
            <a:r>
              <a:rPr lang="en-US" altLang="ko-KR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algn="l"/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UserDetails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dirty="0">
                <a:solidFill>
                  <a:srgbClr val="6A3E3E"/>
                </a:solidFill>
                <a:latin typeface="Courier New" panose="02070309020205020404" pitchFamily="49" charset="0"/>
              </a:rPr>
              <a:t>member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algn="l"/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if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800" b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loginUser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!=</a:t>
            </a:r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) {</a:t>
            </a:r>
          </a:p>
          <a:p>
            <a:pPr algn="l"/>
            <a:r>
              <a:rPr lang="en-US" altLang="ko-KR" sz="1800" dirty="0">
                <a:solidFill>
                  <a:srgbClr val="6A3E3E"/>
                </a:solidFill>
                <a:latin typeface="Courier New" panose="02070309020205020404" pitchFamily="49" charset="0"/>
              </a:rPr>
              <a:t>member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=  </a:t>
            </a:r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new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UserSecurityDetails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800" b="1" dirty="0" err="1">
                <a:solidFill>
                  <a:srgbClr val="6A3E3E"/>
                </a:solidFill>
                <a:latin typeface="Courier New" panose="02070309020205020404" pitchFamily="49" charset="0"/>
              </a:rPr>
              <a:t>loginUser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algn="l"/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</a:t>
            </a:r>
            <a:r>
              <a:rPr lang="en-US" altLang="ko-KR" sz="1800" b="1" i="1" dirty="0" err="1">
                <a:solidFill>
                  <a:srgbClr val="0000C0"/>
                </a:solidFill>
                <a:latin typeface="Courier New" panose="02070309020205020404" pitchFamily="49" charset="0"/>
              </a:rPr>
              <a:t>out</a:t>
            </a:r>
            <a:r>
              <a:rPr lang="en-US" altLang="ko-KR" sz="1800" b="1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.println</a:t>
            </a:r>
            <a:r>
              <a:rPr lang="en-US" altLang="ko-KR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800" b="1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b="1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UserDetails</a:t>
            </a:r>
            <a:r>
              <a:rPr lang="en-US" altLang="ko-KR" sz="1800" b="1" i="1" dirty="0">
                <a:solidFill>
                  <a:srgbClr val="2A00FF"/>
                </a:solidFill>
                <a:latin typeface="Courier New" panose="02070309020205020404" pitchFamily="49" charset="0"/>
              </a:rPr>
              <a:t> member:"</a:t>
            </a:r>
            <a:r>
              <a:rPr lang="en-US" altLang="ko-KR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 + </a:t>
            </a:r>
            <a:r>
              <a:rPr lang="en-US" altLang="ko-KR" sz="1800" b="1" i="1" dirty="0">
                <a:solidFill>
                  <a:srgbClr val="6A3E3E"/>
                </a:solidFill>
                <a:latin typeface="Courier New" panose="02070309020205020404" pitchFamily="49" charset="0"/>
              </a:rPr>
              <a:t>member</a:t>
            </a:r>
            <a:r>
              <a:rPr lang="en-US" altLang="ko-KR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 algn="l"/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return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>
                <a:solidFill>
                  <a:srgbClr val="6A3E3E"/>
                </a:solidFill>
                <a:latin typeface="Courier New" panose="02070309020205020404" pitchFamily="49" charset="0"/>
              </a:rPr>
              <a:t>member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algn="l"/>
            <a:endParaRPr lang="ko-KR" altLang="en-US" sz="1800" dirty="0">
              <a:latin typeface="Courier New" panose="02070309020205020404" pitchFamily="49" charset="0"/>
            </a:endParaRPr>
          </a:p>
          <a:p>
            <a:pPr algn="l"/>
            <a:endParaRPr lang="ko-KR" altLang="en-US" sz="1800" dirty="0">
              <a:latin typeface="Courier New" panose="02070309020205020404" pitchFamily="49" charset="0"/>
            </a:endParaRPr>
          </a:p>
          <a:p>
            <a:pPr algn="l"/>
            <a:endParaRPr lang="ko-KR" altLang="en-US" sz="1800" dirty="0">
              <a:latin typeface="Courier New" panose="02070309020205020404" pitchFamily="49" charset="0"/>
            </a:endParaRPr>
          </a:p>
          <a:p>
            <a:pPr algn="l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3704496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ko-KR" dirty="0"/>
              <a:t>package </a:t>
            </a:r>
            <a:r>
              <a:rPr lang="en-US" altLang="ko-KR" dirty="0" err="1"/>
              <a:t>com.shinhan.myapp.security</a:t>
            </a:r>
            <a:r>
              <a:rPr lang="en-US" altLang="ko-KR" dirty="0"/>
              <a:t>;</a:t>
            </a:r>
          </a:p>
          <a:p>
            <a:pPr algn="l"/>
            <a:endParaRPr lang="en-US" altLang="ko-KR" dirty="0"/>
          </a:p>
          <a:p>
            <a:pPr algn="l"/>
            <a:r>
              <a:rPr lang="en-US" altLang="ko-KR" dirty="0"/>
              <a:t>import </a:t>
            </a:r>
            <a:r>
              <a:rPr lang="en-US" altLang="ko-KR" dirty="0" err="1"/>
              <a:t>org.springframework.stereotype.Controller</a:t>
            </a:r>
            <a:r>
              <a:rPr lang="en-US" altLang="ko-KR" dirty="0"/>
              <a:t>;</a:t>
            </a:r>
          </a:p>
          <a:p>
            <a:pPr algn="l"/>
            <a:r>
              <a:rPr lang="en-US" altLang="ko-KR" dirty="0"/>
              <a:t>import </a:t>
            </a:r>
            <a:r>
              <a:rPr lang="en-US" altLang="ko-KR" dirty="0" err="1"/>
              <a:t>org.springframework.web.bind.annotation.GetMapping</a:t>
            </a:r>
            <a:r>
              <a:rPr lang="en-US" altLang="ko-KR" dirty="0"/>
              <a:t>;</a:t>
            </a:r>
          </a:p>
          <a:p>
            <a:pPr algn="l"/>
            <a:r>
              <a:rPr lang="en-US" altLang="ko-KR" dirty="0"/>
              <a:t>import </a:t>
            </a:r>
            <a:r>
              <a:rPr lang="en-US" altLang="ko-KR" dirty="0" err="1"/>
              <a:t>org.springframework.web.bind.annotation.PostMapping</a:t>
            </a:r>
            <a:r>
              <a:rPr lang="en-US" altLang="ko-KR" dirty="0"/>
              <a:t>;</a:t>
            </a:r>
          </a:p>
          <a:p>
            <a:pPr algn="l"/>
            <a:r>
              <a:rPr lang="en-US" altLang="ko-KR" dirty="0"/>
              <a:t>import </a:t>
            </a:r>
            <a:r>
              <a:rPr lang="en-US" altLang="ko-KR" dirty="0" err="1"/>
              <a:t>org.springframework.web.bind.annotation.RequestMapping</a:t>
            </a:r>
            <a:r>
              <a:rPr lang="en-US" altLang="ko-KR" dirty="0"/>
              <a:t>;</a:t>
            </a:r>
          </a:p>
          <a:p>
            <a:pPr algn="l"/>
            <a:r>
              <a:rPr lang="en-US" altLang="ko-KR" dirty="0"/>
              <a:t>import </a:t>
            </a:r>
            <a:r>
              <a:rPr lang="en-US" altLang="ko-KR" dirty="0" err="1"/>
              <a:t>org.springframework.web.bind.annotation.ResponseBody</a:t>
            </a:r>
            <a:r>
              <a:rPr lang="en-US" altLang="ko-KR" dirty="0"/>
              <a:t>;</a:t>
            </a:r>
          </a:p>
          <a:p>
            <a:pPr algn="l"/>
            <a:endParaRPr lang="en-US" altLang="ko-KR" dirty="0"/>
          </a:p>
          <a:p>
            <a:pPr algn="l"/>
            <a:r>
              <a:rPr lang="en-US" altLang="ko-KR" dirty="0"/>
              <a:t>import </a:t>
            </a:r>
            <a:r>
              <a:rPr lang="en-US" altLang="ko-KR" dirty="0" err="1"/>
              <a:t>lombok.RequiredArgsConstructor</a:t>
            </a:r>
            <a:r>
              <a:rPr lang="en-US" altLang="ko-KR" dirty="0"/>
              <a:t>;</a:t>
            </a:r>
          </a:p>
          <a:p>
            <a:pPr algn="l"/>
            <a:endParaRPr lang="en-US" altLang="ko-KR" dirty="0"/>
          </a:p>
          <a:p>
            <a:pPr algn="l"/>
            <a:r>
              <a:rPr lang="en-US" altLang="ko-KR" dirty="0"/>
              <a:t>@Controller</a:t>
            </a:r>
          </a:p>
          <a:p>
            <a:pPr algn="l"/>
            <a:r>
              <a:rPr lang="en-US" altLang="ko-KR" dirty="0"/>
              <a:t>@RequiredArgsConstructor</a:t>
            </a:r>
          </a:p>
          <a:p>
            <a:pPr algn="l"/>
            <a:r>
              <a:rPr lang="en-US" altLang="ko-KR" dirty="0"/>
              <a:t>@RequestMapping("/auth2")</a:t>
            </a:r>
          </a:p>
          <a:p>
            <a:pPr algn="l"/>
            <a:r>
              <a:rPr lang="en-US" altLang="ko-KR" dirty="0"/>
              <a:t>public class </a:t>
            </a:r>
            <a:r>
              <a:rPr lang="en-US" altLang="ko-KR" dirty="0" err="1"/>
              <a:t>MemberController</a:t>
            </a:r>
            <a:r>
              <a:rPr lang="en-US" altLang="ko-KR" dirty="0"/>
              <a:t> {</a:t>
            </a:r>
          </a:p>
          <a:p>
            <a:pPr algn="l"/>
            <a:r>
              <a:rPr lang="en-US" altLang="ko-KR" dirty="0"/>
              <a:t>    private final </a:t>
            </a:r>
            <a:r>
              <a:rPr lang="en-US" altLang="ko-KR" dirty="0" err="1"/>
              <a:t>MemberService</a:t>
            </a:r>
            <a:r>
              <a:rPr lang="en-US" altLang="ko-KR" dirty="0"/>
              <a:t> </a:t>
            </a:r>
            <a:r>
              <a:rPr lang="en-US" altLang="ko-KR" dirty="0" err="1"/>
              <a:t>memberService</a:t>
            </a:r>
            <a:r>
              <a:rPr lang="en-US" altLang="ko-KR" dirty="0"/>
              <a:t>;</a:t>
            </a:r>
          </a:p>
          <a:p>
            <a:pPr algn="l"/>
            <a:r>
              <a:rPr lang="en-US" altLang="ko-KR" dirty="0"/>
              <a:t>    //</a:t>
            </a:r>
            <a:r>
              <a:rPr lang="ko-KR" altLang="en-US" dirty="0"/>
              <a:t>회원가입</a:t>
            </a:r>
            <a:r>
              <a:rPr lang="en-US" altLang="ko-KR" dirty="0"/>
              <a:t>Form</a:t>
            </a:r>
            <a:r>
              <a:rPr lang="ko-KR" altLang="en-US" dirty="0"/>
              <a:t>보여주기</a:t>
            </a:r>
          </a:p>
          <a:p>
            <a:pPr algn="l"/>
            <a:r>
              <a:rPr lang="ko-KR" altLang="en-US" dirty="0"/>
              <a:t>    </a:t>
            </a:r>
            <a:r>
              <a:rPr lang="en-US" altLang="ko-KR" dirty="0"/>
              <a:t>@GetMapping("/signup")</a:t>
            </a:r>
          </a:p>
          <a:p>
            <a:pPr algn="l"/>
            <a:r>
              <a:rPr lang="en-US" altLang="ko-KR" dirty="0"/>
              <a:t>    public String </a:t>
            </a:r>
            <a:r>
              <a:rPr lang="en-US" altLang="ko-KR" dirty="0" err="1"/>
              <a:t>signUp</a:t>
            </a:r>
            <a:r>
              <a:rPr lang="en-US" altLang="ko-KR" dirty="0"/>
              <a:t>() {</a:t>
            </a:r>
          </a:p>
          <a:p>
            <a:pPr algn="l"/>
            <a:r>
              <a:rPr lang="en-US" altLang="ko-KR" dirty="0"/>
              <a:t>    	 return "auth2/</a:t>
            </a:r>
            <a:r>
              <a:rPr lang="en-US" altLang="ko-KR" dirty="0" err="1"/>
              <a:t>joinForm</a:t>
            </a:r>
            <a:r>
              <a:rPr lang="en-US" altLang="ko-KR" dirty="0"/>
              <a:t>";</a:t>
            </a:r>
          </a:p>
          <a:p>
            <a:pPr algn="l"/>
            <a:r>
              <a:rPr lang="en-US" altLang="ko-KR" dirty="0"/>
              <a:t>    }</a:t>
            </a:r>
          </a:p>
          <a:p>
            <a:pPr algn="l"/>
            <a:r>
              <a:rPr lang="en-US" altLang="ko-KR" dirty="0"/>
              <a:t>    //DB</a:t>
            </a:r>
            <a:r>
              <a:rPr lang="ko-KR" altLang="en-US" dirty="0"/>
              <a:t>에 </a:t>
            </a:r>
            <a:r>
              <a:rPr lang="en-US" altLang="ko-KR" dirty="0"/>
              <a:t>pass</a:t>
            </a:r>
            <a:r>
              <a:rPr lang="ko-KR" altLang="en-US" dirty="0"/>
              <a:t>암호화하여 회원가입저장 </a:t>
            </a:r>
          </a:p>
          <a:p>
            <a:pPr algn="l"/>
            <a:r>
              <a:rPr lang="ko-KR" altLang="en-US" dirty="0"/>
              <a:t>    </a:t>
            </a:r>
            <a:r>
              <a:rPr lang="en-US" altLang="ko-KR" dirty="0"/>
              <a:t>@PostMapping("/joinProc")</a:t>
            </a:r>
          </a:p>
          <a:p>
            <a:pPr algn="l"/>
            <a:r>
              <a:rPr lang="en-US" altLang="ko-KR" dirty="0"/>
              <a:t>    public @ResponseBody String </a:t>
            </a:r>
            <a:r>
              <a:rPr lang="en-US" altLang="ko-KR" dirty="0" err="1"/>
              <a:t>signUp</a:t>
            </a:r>
            <a:r>
              <a:rPr lang="en-US" altLang="ko-KR" dirty="0"/>
              <a:t>(</a:t>
            </a:r>
            <a:r>
              <a:rPr lang="en-US" altLang="ko-KR" dirty="0" err="1"/>
              <a:t>MemberDTO</a:t>
            </a:r>
            <a:r>
              <a:rPr lang="en-US" altLang="ko-KR" dirty="0"/>
              <a:t> member) {</a:t>
            </a:r>
          </a:p>
          <a:p>
            <a:pPr algn="l"/>
            <a:r>
              <a:rPr lang="en-US" altLang="ko-KR" dirty="0"/>
              <a:t>    	</a:t>
            </a:r>
            <a:r>
              <a:rPr lang="en-US" altLang="ko-KR" dirty="0" err="1"/>
              <a:t>memberService.joinUser</a:t>
            </a:r>
            <a:r>
              <a:rPr lang="en-US" altLang="ko-KR" dirty="0"/>
              <a:t>(member);  </a:t>
            </a:r>
          </a:p>
          <a:p>
            <a:pPr algn="l"/>
            <a:r>
              <a:rPr lang="en-US" altLang="ko-KR" dirty="0"/>
              <a:t>        return "OK" ;</a:t>
            </a:r>
          </a:p>
          <a:p>
            <a:pPr algn="l"/>
            <a:r>
              <a:rPr lang="en-US" altLang="ko-KR" dirty="0"/>
              <a:t>    }</a:t>
            </a:r>
          </a:p>
          <a:p>
            <a:pPr algn="l"/>
            <a:r>
              <a:rPr lang="en-US" altLang="ko-KR" dirty="0"/>
              <a:t>    @GetMapping("/login")</a:t>
            </a:r>
          </a:p>
          <a:p>
            <a:pPr algn="l"/>
            <a:r>
              <a:rPr lang="en-US" altLang="ko-KR" dirty="0"/>
              <a:t>    public void f1() {}</a:t>
            </a:r>
          </a:p>
          <a:p>
            <a:pPr algn="l"/>
            <a:r>
              <a:rPr lang="en-US" altLang="ko-KR" dirty="0"/>
              <a:t>    </a:t>
            </a:r>
          </a:p>
          <a:p>
            <a:pPr algn="l"/>
            <a:r>
              <a:rPr lang="en-US" altLang="ko-KR" dirty="0"/>
              <a:t>    @GetMapping("/loginSuccess")</a:t>
            </a:r>
          </a:p>
          <a:p>
            <a:pPr algn="l"/>
            <a:r>
              <a:rPr lang="en-US" altLang="ko-KR" dirty="0"/>
              <a:t>    public void f3() { }</a:t>
            </a:r>
          </a:p>
          <a:p>
            <a:pPr algn="l"/>
            <a:r>
              <a:rPr lang="en-US" altLang="ko-KR" dirty="0"/>
              <a:t>    </a:t>
            </a:r>
          </a:p>
          <a:p>
            <a:pPr algn="l"/>
            <a:r>
              <a:rPr lang="en-US" altLang="ko-KR" dirty="0"/>
              <a:t>    @GetMapping("/logout")</a:t>
            </a:r>
          </a:p>
          <a:p>
            <a:pPr algn="l"/>
            <a:r>
              <a:rPr lang="en-US" altLang="ko-KR" dirty="0"/>
              <a:t>    public void f4() { }</a:t>
            </a:r>
          </a:p>
          <a:p>
            <a:pPr algn="l"/>
            <a:r>
              <a:rPr lang="en-US" altLang="ko-KR" dirty="0"/>
              <a:t>    </a:t>
            </a:r>
          </a:p>
          <a:p>
            <a:pPr algn="l"/>
            <a:r>
              <a:rPr lang="en-US" altLang="ko-KR" dirty="0"/>
              <a:t>    @GetMapping("/accessDenied")</a:t>
            </a:r>
          </a:p>
          <a:p>
            <a:pPr algn="l"/>
            <a:r>
              <a:rPr lang="en-US" altLang="ko-KR" dirty="0"/>
              <a:t>    public void f5(){}</a:t>
            </a:r>
          </a:p>
          <a:p>
            <a:pPr algn="l"/>
            <a:endParaRPr lang="en-US" altLang="ko-KR" dirty="0"/>
          </a:p>
          <a:p>
            <a:pPr algn="l"/>
            <a:r>
              <a:rPr lang="en-US" altLang="ko-KR" dirty="0"/>
              <a:t>}</a:t>
            </a:r>
          </a:p>
          <a:p>
            <a:pPr algn="l"/>
            <a:endParaRPr lang="en-US" altLang="ko-KR" dirty="0"/>
          </a:p>
          <a:p>
            <a:pPr algn="l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0182699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&lt;%@ </a:t>
            </a:r>
            <a:r>
              <a:rPr lang="fr-FR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page </a:t>
            </a:r>
            <a:r>
              <a:rPr lang="fr-FR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language</a:t>
            </a:r>
            <a:r>
              <a:rPr lang="fr-FR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fr-FR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"java" </a:t>
            </a:r>
            <a:r>
              <a:rPr lang="fr-FR" altLang="ko-KR" sz="1800" i="1" dirty="0">
                <a:solidFill>
                  <a:srgbClr val="7F007F"/>
                </a:solidFill>
                <a:latin typeface="Courier New" panose="02070309020205020404" pitchFamily="49" charset="0"/>
              </a:rPr>
              <a:t>contentType</a:t>
            </a:r>
            <a:r>
              <a:rPr lang="fr-FR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fr-FR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"text/html; charset=UTF-8"</a:t>
            </a:r>
          </a:p>
          <a:p>
            <a:pPr algn="l"/>
            <a:r>
              <a:rPr lang="en-US" altLang="ko-KR" sz="1800" dirty="0">
                <a:latin typeface="Courier New" panose="02070309020205020404" pitchFamily="49" charset="0"/>
              </a:rPr>
              <a:t>    </a:t>
            </a:r>
            <a:r>
              <a:rPr lang="en-US" altLang="ko-KR" sz="1800" dirty="0" err="1">
                <a:solidFill>
                  <a:srgbClr val="7F007F"/>
                </a:solidFill>
                <a:latin typeface="Courier New" panose="02070309020205020404" pitchFamily="49" charset="0"/>
              </a:rPr>
              <a:t>pageEncoding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"UTF-8"</a:t>
            </a:r>
            <a:r>
              <a:rPr lang="en-US" altLang="ko-KR" sz="1800" i="1" dirty="0">
                <a:solidFill>
                  <a:srgbClr val="BF5F3F"/>
                </a:solidFill>
                <a:latin typeface="Courier New" panose="02070309020205020404" pitchFamily="49" charset="0"/>
              </a:rPr>
              <a:t>%&gt;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&lt;!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DOCTYPE 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html&gt;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html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head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title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ko-KR" alt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회원가입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title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head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body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div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class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"panel panel-default" 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div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class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"panel-body"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h2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ko-KR" alt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회원가입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h2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form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method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"post" </a:t>
            </a:r>
            <a:r>
              <a:rPr lang="en-US" altLang="ko-KR" sz="1800" i="1" dirty="0">
                <a:solidFill>
                  <a:srgbClr val="7F007F"/>
                </a:solidFill>
                <a:latin typeface="Courier New" panose="02070309020205020404" pitchFamily="49" charset="0"/>
              </a:rPr>
              <a:t>action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joinProc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  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p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label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for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"mid"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mid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i="1" dirty="0">
                <a:solidFill>
                  <a:srgbClr val="3F7F7F"/>
                </a:solidFill>
                <a:latin typeface="Courier New" panose="02070309020205020404" pitchFamily="49" charset="0"/>
              </a:rPr>
              <a:t>label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input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type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"text" </a:t>
            </a:r>
            <a:r>
              <a:rPr lang="en-US" altLang="ko-KR" sz="1800" i="1" dirty="0">
                <a:solidFill>
                  <a:srgbClr val="7F007F"/>
                </a:solidFill>
                <a:latin typeface="Courier New" panose="02070309020205020404" pitchFamily="49" charset="0"/>
              </a:rPr>
              <a:t>id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"mid" </a:t>
            </a:r>
            <a:r>
              <a:rPr lang="en-US" altLang="ko-KR" sz="1800" i="1" dirty="0">
                <a:solidFill>
                  <a:srgbClr val="7F007F"/>
                </a:solidFill>
                <a:latin typeface="Courier New" panose="02070309020205020404" pitchFamily="49" charset="0"/>
              </a:rPr>
              <a:t>name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"mid" </a:t>
            </a:r>
            <a:r>
              <a:rPr lang="en-US" altLang="ko-KR" sz="1800" i="1" dirty="0">
                <a:solidFill>
                  <a:srgbClr val="7F007F"/>
                </a:solidFill>
                <a:latin typeface="Courier New" panose="02070309020205020404" pitchFamily="49" charset="0"/>
              </a:rPr>
              <a:t>value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"zzilre1" 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/&gt;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p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p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label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for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mname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i="1" u="sng" dirty="0" err="1">
                <a:solidFill>
                  <a:srgbClr val="000000"/>
                </a:solidFill>
                <a:latin typeface="Courier New" panose="02070309020205020404" pitchFamily="49" charset="0"/>
              </a:rPr>
              <a:t>mname</a:t>
            </a:r>
            <a:r>
              <a:rPr lang="en-US" altLang="ko-KR" sz="1800" i="1" u="sng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i="1" u="sng" dirty="0">
                <a:solidFill>
                  <a:srgbClr val="3F7F7F"/>
                </a:solidFill>
                <a:latin typeface="Courier New" panose="02070309020205020404" pitchFamily="49" charset="0"/>
              </a:rPr>
              <a:t>label</a:t>
            </a:r>
            <a:r>
              <a:rPr lang="en-US" altLang="ko-KR" sz="1800" i="1" u="sng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i="1" u="sng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input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type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"text"  </a:t>
            </a:r>
            <a:r>
              <a:rPr lang="en-US" altLang="ko-KR" sz="1800" i="1" dirty="0">
                <a:solidFill>
                  <a:srgbClr val="7F007F"/>
                </a:solidFill>
                <a:latin typeface="Courier New" panose="02070309020205020404" pitchFamily="49" charset="0"/>
              </a:rPr>
              <a:t>id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mname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 </a:t>
            </a:r>
            <a:r>
              <a:rPr lang="en-US" altLang="ko-KR" sz="1800" i="1" dirty="0">
                <a:solidFill>
                  <a:srgbClr val="7F007F"/>
                </a:solidFill>
                <a:latin typeface="Courier New" panose="02070309020205020404" pitchFamily="49" charset="0"/>
              </a:rPr>
              <a:t>name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mname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 </a:t>
            </a:r>
            <a:r>
              <a:rPr lang="en-US" altLang="ko-KR" sz="1800" i="1" dirty="0">
                <a:solidFill>
                  <a:srgbClr val="7F007F"/>
                </a:solidFill>
                <a:latin typeface="Courier New" panose="02070309020205020404" pitchFamily="49" charset="0"/>
              </a:rPr>
              <a:t>value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jin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 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/&gt;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p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p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label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for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mpassword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i="1" u="sng" dirty="0" err="1">
                <a:solidFill>
                  <a:srgbClr val="000000"/>
                </a:solidFill>
                <a:latin typeface="Courier New" panose="02070309020205020404" pitchFamily="49" charset="0"/>
              </a:rPr>
              <a:t>mpassword</a:t>
            </a:r>
            <a:r>
              <a:rPr lang="en-US" altLang="ko-KR" sz="1800" i="1" u="sng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i="1" u="sng" dirty="0">
                <a:solidFill>
                  <a:srgbClr val="3F7F7F"/>
                </a:solidFill>
                <a:latin typeface="Courier New" panose="02070309020205020404" pitchFamily="49" charset="0"/>
              </a:rPr>
              <a:t>label</a:t>
            </a:r>
            <a:r>
              <a:rPr lang="en-US" altLang="ko-KR" sz="1800" i="1" u="sng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i="1" u="sng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input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type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"password"  </a:t>
            </a:r>
            <a:r>
              <a:rPr lang="en-US" altLang="ko-KR" sz="1800" i="1" dirty="0">
                <a:solidFill>
                  <a:srgbClr val="7F007F"/>
                </a:solidFill>
                <a:latin typeface="Courier New" panose="02070309020205020404" pitchFamily="49" charset="0"/>
              </a:rPr>
              <a:t>id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mpassword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 </a:t>
            </a:r>
            <a:r>
              <a:rPr lang="en-US" altLang="ko-KR" sz="1800" i="1" dirty="0">
                <a:solidFill>
                  <a:srgbClr val="7F007F"/>
                </a:solidFill>
                <a:latin typeface="Courier New" panose="02070309020205020404" pitchFamily="49" charset="0"/>
              </a:rPr>
              <a:t>name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mpassword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 </a:t>
            </a:r>
            <a:r>
              <a:rPr lang="en-US" altLang="ko-KR" sz="1800" i="1" dirty="0">
                <a:solidFill>
                  <a:srgbClr val="7F007F"/>
                </a:solidFill>
                <a:latin typeface="Courier New" panose="02070309020205020404" pitchFamily="49" charset="0"/>
              </a:rPr>
              <a:t>value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"1234" 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/&gt;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p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p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input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type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radio"</a:t>
            </a:r>
            <a:r>
              <a:rPr lang="en-US" altLang="ko-KR" sz="1800" i="1" dirty="0" err="1">
                <a:solidFill>
                  <a:srgbClr val="7F007F"/>
                </a:solidFill>
                <a:latin typeface="Courier New" panose="02070309020205020404" pitchFamily="49" charset="0"/>
              </a:rPr>
              <a:t>name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mrole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  </a:t>
            </a:r>
            <a:r>
              <a:rPr lang="en-US" altLang="ko-KR" sz="1800" i="1" dirty="0">
                <a:solidFill>
                  <a:srgbClr val="7F007F"/>
                </a:solidFill>
                <a:latin typeface="Courier New" panose="02070309020205020404" pitchFamily="49" charset="0"/>
              </a:rPr>
              <a:t>value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"ROLE_ADMIN" 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/&gt;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ADMIN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input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type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radio"</a:t>
            </a:r>
            <a:r>
              <a:rPr lang="en-US" altLang="ko-KR" sz="1800" i="1" dirty="0" err="1">
                <a:solidFill>
                  <a:srgbClr val="7F007F"/>
                </a:solidFill>
                <a:latin typeface="Courier New" panose="02070309020205020404" pitchFamily="49" charset="0"/>
              </a:rPr>
              <a:t>name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mrole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  </a:t>
            </a:r>
            <a:r>
              <a:rPr lang="en-US" altLang="ko-KR" sz="1800" i="1" dirty="0">
                <a:solidFill>
                  <a:srgbClr val="7F007F"/>
                </a:solidFill>
                <a:latin typeface="Courier New" panose="02070309020205020404" pitchFamily="49" charset="0"/>
              </a:rPr>
              <a:t>value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"ROLE_MANAGER" 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/&gt;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MANAGER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input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type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radio"</a:t>
            </a:r>
            <a:r>
              <a:rPr lang="en-US" altLang="ko-KR" sz="1800" i="1" dirty="0" err="1">
                <a:solidFill>
                  <a:srgbClr val="7F007F"/>
                </a:solidFill>
                <a:latin typeface="Courier New" panose="02070309020205020404" pitchFamily="49" charset="0"/>
              </a:rPr>
              <a:t>name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mrole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  </a:t>
            </a:r>
            <a:r>
              <a:rPr lang="en-US" altLang="ko-KR" sz="1800" i="1" dirty="0">
                <a:solidFill>
                  <a:srgbClr val="7F007F"/>
                </a:solidFill>
                <a:latin typeface="Courier New" panose="02070309020205020404" pitchFamily="49" charset="0"/>
              </a:rPr>
              <a:t>value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"ROLE_USER" </a:t>
            </a:r>
            <a:r>
              <a:rPr lang="en-US" altLang="ko-KR" sz="1800" i="1" dirty="0">
                <a:solidFill>
                  <a:srgbClr val="7F007F"/>
                </a:solidFill>
                <a:latin typeface="Courier New" panose="02070309020205020404" pitchFamily="49" charset="0"/>
              </a:rPr>
              <a:t>checked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"checked" 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/&gt;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USER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p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button 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class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btn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ko-KR" altLang="en-US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가입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i="1" dirty="0">
                <a:solidFill>
                  <a:srgbClr val="3F7F7F"/>
                </a:solidFill>
                <a:latin typeface="Courier New" panose="02070309020205020404" pitchFamily="49" charset="0"/>
              </a:rPr>
              <a:t>button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form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endParaRPr lang="ko-KR" altLang="en-US" sz="1800" dirty="0">
              <a:latin typeface="Courier New" panose="02070309020205020404" pitchFamily="49" charset="0"/>
            </a:endParaRP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div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div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endParaRPr lang="ko-KR" altLang="en-US" sz="1800" dirty="0">
              <a:latin typeface="Courier New" panose="02070309020205020404" pitchFamily="49" charset="0"/>
            </a:endParaRP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html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8343200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fr-FR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&lt;%@ </a:t>
            </a:r>
            <a:r>
              <a:rPr lang="fr-FR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page </a:t>
            </a:r>
            <a:r>
              <a:rPr lang="fr-FR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language</a:t>
            </a:r>
            <a:r>
              <a:rPr lang="fr-FR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fr-FR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"java" </a:t>
            </a:r>
            <a:r>
              <a:rPr lang="fr-FR" altLang="ko-KR" sz="1800" i="1" dirty="0">
                <a:solidFill>
                  <a:srgbClr val="7F007F"/>
                </a:solidFill>
                <a:latin typeface="Courier New" panose="02070309020205020404" pitchFamily="49" charset="0"/>
              </a:rPr>
              <a:t>contentType</a:t>
            </a:r>
            <a:r>
              <a:rPr lang="fr-FR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fr-FR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"text/html; charset=UTF-8"</a:t>
            </a:r>
          </a:p>
          <a:p>
            <a:pPr algn="l"/>
            <a:r>
              <a:rPr lang="en-US" altLang="ko-KR" sz="1800" dirty="0" err="1">
                <a:solidFill>
                  <a:srgbClr val="7F007F"/>
                </a:solidFill>
                <a:latin typeface="Courier New" panose="02070309020205020404" pitchFamily="49" charset="0"/>
              </a:rPr>
              <a:t>pageEncoding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"UTF-8"</a:t>
            </a:r>
            <a:r>
              <a:rPr lang="en-US" altLang="ko-KR" sz="1800" i="1" dirty="0">
                <a:solidFill>
                  <a:srgbClr val="BF5F3F"/>
                </a:solidFill>
                <a:latin typeface="Courier New" panose="02070309020205020404" pitchFamily="49" charset="0"/>
              </a:rPr>
              <a:t>%&gt;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&lt;!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DOCTYPE 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html&gt;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html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head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meta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charset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"UTF-8"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title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Insert title here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title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head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body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h1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ko-KR" alt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로그인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h1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div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class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"panel panel-default" 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div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class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"panel-body"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pt-BR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pt-BR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h2</a:t>
            </a:r>
            <a:r>
              <a:rPr lang="pt-BR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pt-BR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Member LOGIN PAGE</a:t>
            </a:r>
            <a:r>
              <a:rPr lang="pt-BR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pt-BR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h2</a:t>
            </a:r>
            <a:r>
              <a:rPr lang="pt-BR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form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method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"post" 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label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for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"username"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i="1" u="sng" dirty="0">
                <a:solidFill>
                  <a:srgbClr val="000000"/>
                </a:solidFill>
                <a:latin typeface="Courier New" panose="02070309020205020404" pitchFamily="49" charset="0"/>
              </a:rPr>
              <a:t>Username</a:t>
            </a:r>
            <a:r>
              <a:rPr lang="en-US" altLang="ko-KR" sz="1800" i="1" u="sng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i="1" u="sng" dirty="0">
                <a:solidFill>
                  <a:srgbClr val="3F7F7F"/>
                </a:solidFill>
                <a:latin typeface="Courier New" panose="02070309020205020404" pitchFamily="49" charset="0"/>
              </a:rPr>
              <a:t>label</a:t>
            </a:r>
            <a:r>
              <a:rPr lang="en-US" altLang="ko-KR" sz="1800" i="1" u="sng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i="1" u="sng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input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type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"text" </a:t>
            </a:r>
            <a:r>
              <a:rPr lang="en-US" altLang="ko-KR" sz="1800" i="1" dirty="0">
                <a:solidFill>
                  <a:srgbClr val="7F007F"/>
                </a:solidFill>
                <a:latin typeface="Courier New" panose="02070309020205020404" pitchFamily="49" charset="0"/>
              </a:rPr>
              <a:t>id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"username" </a:t>
            </a:r>
            <a:r>
              <a:rPr lang="en-US" altLang="ko-KR" sz="1800" i="1" dirty="0">
                <a:solidFill>
                  <a:srgbClr val="7F007F"/>
                </a:solidFill>
                <a:latin typeface="Courier New" panose="02070309020205020404" pitchFamily="49" charset="0"/>
              </a:rPr>
              <a:t>name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"mid" </a:t>
            </a:r>
            <a:r>
              <a:rPr lang="en-US" altLang="ko-KR" sz="1800" i="1" dirty="0">
                <a:solidFill>
                  <a:srgbClr val="7F007F"/>
                </a:solidFill>
                <a:latin typeface="Courier New" panose="02070309020205020404" pitchFamily="49" charset="0"/>
              </a:rPr>
              <a:t>value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"zzilre1" 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/&gt;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label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for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"password"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Password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i="1" dirty="0">
                <a:solidFill>
                  <a:srgbClr val="3F7F7F"/>
                </a:solidFill>
                <a:latin typeface="Courier New" panose="02070309020205020404" pitchFamily="49" charset="0"/>
              </a:rPr>
              <a:t>label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input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type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password"</a:t>
            </a:r>
            <a:r>
              <a:rPr lang="en-US" altLang="ko-KR" sz="1800" i="1" dirty="0" err="1">
                <a:solidFill>
                  <a:srgbClr val="7F007F"/>
                </a:solidFill>
                <a:latin typeface="Courier New" panose="02070309020205020404" pitchFamily="49" charset="0"/>
              </a:rPr>
              <a:t>id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"password" </a:t>
            </a:r>
            <a:r>
              <a:rPr lang="en-US" altLang="ko-KR" sz="1800" i="1" dirty="0">
                <a:solidFill>
                  <a:srgbClr val="7F007F"/>
                </a:solidFill>
                <a:latin typeface="Courier New" panose="02070309020205020404" pitchFamily="49" charset="0"/>
              </a:rPr>
              <a:t>name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"password" </a:t>
            </a:r>
            <a:r>
              <a:rPr lang="en-US" altLang="ko-KR" sz="1800" i="1" dirty="0">
                <a:solidFill>
                  <a:srgbClr val="7F007F"/>
                </a:solidFill>
                <a:latin typeface="Courier New" panose="02070309020205020404" pitchFamily="49" charset="0"/>
              </a:rPr>
              <a:t>value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"1234" 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/&gt;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button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type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"submit" </a:t>
            </a:r>
            <a:r>
              <a:rPr lang="en-US" altLang="ko-KR" sz="1800" i="1" dirty="0">
                <a:solidFill>
                  <a:srgbClr val="7F007F"/>
                </a:solidFill>
                <a:latin typeface="Courier New" panose="02070309020205020404" pitchFamily="49" charset="0"/>
              </a:rPr>
              <a:t>class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btn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btn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-primary"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Log in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i="1" dirty="0">
                <a:solidFill>
                  <a:srgbClr val="3F7F7F"/>
                </a:solidFill>
                <a:latin typeface="Courier New" panose="02070309020205020404" pitchFamily="49" charset="0"/>
              </a:rPr>
              <a:t>button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form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div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div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body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html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3362558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it-IT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&lt;%@ </a:t>
            </a:r>
            <a:r>
              <a:rPr lang="it-IT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taglib </a:t>
            </a:r>
            <a:r>
              <a:rPr lang="it-IT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prefix</a:t>
            </a:r>
            <a:r>
              <a:rPr lang="it-IT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it-IT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"sec" </a:t>
            </a:r>
            <a:r>
              <a:rPr lang="it-IT" altLang="ko-KR" sz="1800" i="1" dirty="0">
                <a:solidFill>
                  <a:srgbClr val="7F007F"/>
                </a:solidFill>
                <a:latin typeface="Courier New" panose="02070309020205020404" pitchFamily="49" charset="0"/>
              </a:rPr>
              <a:t>uri</a:t>
            </a:r>
            <a:r>
              <a:rPr lang="it-IT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it-IT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"http://www.springframework.org/security/tags" </a:t>
            </a:r>
            <a:r>
              <a:rPr lang="it-IT" altLang="ko-KR" sz="1800" i="1" dirty="0">
                <a:solidFill>
                  <a:srgbClr val="BF5F3F"/>
                </a:solidFill>
                <a:latin typeface="Courier New" panose="02070309020205020404" pitchFamily="49" charset="0"/>
              </a:rPr>
              <a:t>%&gt;</a:t>
            </a:r>
          </a:p>
          <a:p>
            <a:pPr algn="l"/>
            <a:endParaRPr lang="it-IT" altLang="ko-KR" sz="1800" i="1" dirty="0">
              <a:solidFill>
                <a:srgbClr val="BF5F3F"/>
              </a:solidFill>
              <a:latin typeface="Courier New" panose="02070309020205020404" pitchFamily="49" charset="0"/>
            </a:endParaRP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p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 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sec:authorize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access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isAuthenticated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()"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sec:authentication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property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"principal" </a:t>
            </a:r>
            <a:r>
              <a:rPr lang="en-US" altLang="ko-KR" sz="1800" i="1" dirty="0">
                <a:solidFill>
                  <a:srgbClr val="7F007F"/>
                </a:solidFill>
                <a:latin typeface="Courier New" panose="02070309020205020404" pitchFamily="49" charset="0"/>
              </a:rPr>
              <a:t>var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"member"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/&gt;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Spring Security</a:t>
            </a:r>
            <a:r>
              <a:rPr lang="ko-KR" alt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이용 로그인 사용자이름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: ${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member.username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} 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br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ko-KR" alt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가지고 있는 권한 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: ${</a:t>
            </a:r>
            <a:r>
              <a:rPr lang="en-US" altLang="ko-KR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member.authorities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} *****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   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sec:authorize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access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hasRole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('ROLE_USER')"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User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i="1" dirty="0" err="1">
                <a:solidFill>
                  <a:srgbClr val="3F7F7F"/>
                </a:solidFill>
                <a:latin typeface="Courier New" panose="02070309020205020404" pitchFamily="49" charset="0"/>
              </a:rPr>
              <a:t>sec:authorize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sec:authorize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access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i="1" dirty="0" err="1">
                <a:solidFill>
                  <a:srgbClr val="2A00FF"/>
                </a:solidFill>
                <a:latin typeface="Courier New" panose="02070309020205020404" pitchFamily="49" charset="0"/>
              </a:rPr>
              <a:t>hasRole</a:t>
            </a:r>
            <a:r>
              <a:rPr lang="en-US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('ROLE_MANAGER')"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Manager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i="1" dirty="0" err="1">
                <a:solidFill>
                  <a:srgbClr val="3F7F7F"/>
                </a:solidFill>
                <a:latin typeface="Courier New" panose="02070309020205020404" pitchFamily="49" charset="0"/>
              </a:rPr>
              <a:t>sec:authorize</a:t>
            </a:r>
            <a:r>
              <a:rPr lang="en-US" altLang="ko-KR" sz="1800" i="1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 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 err="1">
                <a:solidFill>
                  <a:srgbClr val="3F7F7F"/>
                </a:solidFill>
                <a:latin typeface="Courier New" panose="02070309020205020404" pitchFamily="49" charset="0"/>
              </a:rPr>
              <a:t>sec:authorize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ko-KR" alt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    </a:t>
            </a:r>
          </a:p>
          <a:p>
            <a:pPr algn="l"/>
            <a:r>
              <a:rPr lang="en-US" altLang="ko-KR" sz="180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ko-KR" sz="180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>
                <a:solidFill>
                  <a:srgbClr val="3F7F7F"/>
                </a:solidFill>
                <a:latin typeface="Courier New" panose="02070309020205020404" pitchFamily="49" charset="0"/>
              </a:rPr>
              <a:t>p</a:t>
            </a:r>
            <a:r>
              <a:rPr lang="en-US" altLang="ko-KR" sz="180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1810198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0998426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9940696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905435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8723758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6060479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9717422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8E7B2-5AD5-1048-AACC-43BBAC7BF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6460F6-3F48-4EF9-6D01-E2C3FD4F6B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D0EBB1-26E8-B328-AABD-8CCD257735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C48EFB-CAEB-F625-9912-BDFE7B968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6911360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4A86E-00F1-6EC7-CF52-A2CBF64AF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55522E-3974-088F-C458-4A07FC3BCA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DF5C600-072C-421A-894C-FC1D6291EB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1C6E3B-9D03-5738-8745-46902095C5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016844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38542-5D53-D978-19D8-0540A078F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10B170-F2C2-AF35-8DCD-A7C4ABF73B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E5C58C-D720-1909-2D94-AFDD001314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ko-KR" dirty="0"/>
              <a:t>import </a:t>
            </a:r>
            <a:r>
              <a:rPr lang="en-US" altLang="ko-KR" dirty="0" err="1"/>
              <a:t>java.security.Key</a:t>
            </a:r>
            <a:r>
              <a:rPr lang="en-US" altLang="ko-KR" dirty="0"/>
              <a:t>;</a:t>
            </a:r>
          </a:p>
          <a:p>
            <a:pPr algn="l"/>
            <a:r>
              <a:rPr lang="en-US" altLang="ko-KR" dirty="0"/>
              <a:t>import </a:t>
            </a:r>
            <a:r>
              <a:rPr lang="en-US" altLang="ko-KR" dirty="0" err="1"/>
              <a:t>java.time.ZonedDateTime</a:t>
            </a:r>
            <a:r>
              <a:rPr lang="en-US" altLang="ko-KR" dirty="0"/>
              <a:t>;</a:t>
            </a:r>
          </a:p>
          <a:p>
            <a:pPr algn="l"/>
            <a:r>
              <a:rPr lang="en-US" altLang="ko-KR" dirty="0"/>
              <a:t>import </a:t>
            </a:r>
            <a:r>
              <a:rPr lang="en-US" altLang="ko-KR" dirty="0" err="1"/>
              <a:t>java.util.Date</a:t>
            </a:r>
            <a:r>
              <a:rPr lang="en-US" altLang="ko-KR" dirty="0"/>
              <a:t>;</a:t>
            </a:r>
          </a:p>
          <a:p>
            <a:pPr algn="l"/>
            <a:endParaRPr lang="en-US" altLang="ko-KR" dirty="0"/>
          </a:p>
          <a:p>
            <a:pPr algn="l"/>
            <a:r>
              <a:rPr lang="en-US" altLang="ko-KR" dirty="0"/>
              <a:t>import </a:t>
            </a:r>
            <a:r>
              <a:rPr lang="en-US" altLang="ko-KR" dirty="0" err="1"/>
              <a:t>org.springframework.beans.factory.annotation.Value</a:t>
            </a:r>
            <a:r>
              <a:rPr lang="en-US" altLang="ko-KR" dirty="0"/>
              <a:t>;</a:t>
            </a:r>
          </a:p>
          <a:p>
            <a:pPr algn="l"/>
            <a:r>
              <a:rPr lang="en-US" altLang="ko-KR" dirty="0"/>
              <a:t>import </a:t>
            </a:r>
            <a:r>
              <a:rPr lang="en-US" altLang="ko-KR" dirty="0" err="1"/>
              <a:t>org.springframework.stereotype.Component</a:t>
            </a:r>
            <a:r>
              <a:rPr lang="en-US" altLang="ko-KR" dirty="0"/>
              <a:t>;</a:t>
            </a:r>
          </a:p>
          <a:p>
            <a:pPr algn="l"/>
            <a:endParaRPr lang="en-US" altLang="ko-KR" dirty="0"/>
          </a:p>
          <a:p>
            <a:pPr algn="l"/>
            <a:r>
              <a:rPr lang="en-US" altLang="ko-KR" dirty="0"/>
              <a:t>import </a:t>
            </a:r>
            <a:r>
              <a:rPr lang="en-US" altLang="ko-KR" dirty="0" err="1"/>
              <a:t>io.jsonwebtoken.Claims</a:t>
            </a:r>
            <a:r>
              <a:rPr lang="en-US" altLang="ko-KR" dirty="0"/>
              <a:t>;</a:t>
            </a:r>
          </a:p>
          <a:p>
            <a:pPr algn="l"/>
            <a:r>
              <a:rPr lang="en-US" altLang="ko-KR" dirty="0"/>
              <a:t>import </a:t>
            </a:r>
            <a:r>
              <a:rPr lang="en-US" altLang="ko-KR" dirty="0" err="1"/>
              <a:t>io.jsonwebtoken.ExpiredJwtException</a:t>
            </a:r>
            <a:r>
              <a:rPr lang="en-US" altLang="ko-KR" dirty="0"/>
              <a:t>;</a:t>
            </a:r>
          </a:p>
          <a:p>
            <a:pPr algn="l"/>
            <a:r>
              <a:rPr lang="en-US" altLang="ko-KR" dirty="0"/>
              <a:t>import </a:t>
            </a:r>
            <a:r>
              <a:rPr lang="en-US" altLang="ko-KR" dirty="0" err="1"/>
              <a:t>io.jsonwebtoken.Jwts</a:t>
            </a:r>
            <a:r>
              <a:rPr lang="en-US" altLang="ko-KR" dirty="0"/>
              <a:t>;</a:t>
            </a:r>
          </a:p>
          <a:p>
            <a:pPr algn="l"/>
            <a:r>
              <a:rPr lang="en-US" altLang="ko-KR" dirty="0"/>
              <a:t>import </a:t>
            </a:r>
            <a:r>
              <a:rPr lang="en-US" altLang="ko-KR" dirty="0" err="1"/>
              <a:t>io.jsonwebtoken.MalformedJwtException</a:t>
            </a:r>
            <a:r>
              <a:rPr lang="en-US" altLang="ko-KR" dirty="0"/>
              <a:t>;</a:t>
            </a:r>
          </a:p>
          <a:p>
            <a:pPr algn="l"/>
            <a:r>
              <a:rPr lang="en-US" altLang="ko-KR" dirty="0"/>
              <a:t>import </a:t>
            </a:r>
            <a:r>
              <a:rPr lang="en-US" altLang="ko-KR" dirty="0" err="1"/>
              <a:t>io.jsonwebtoken.SignatureAlgorithm</a:t>
            </a:r>
            <a:r>
              <a:rPr lang="en-US" altLang="ko-KR" dirty="0"/>
              <a:t>;</a:t>
            </a:r>
          </a:p>
          <a:p>
            <a:pPr algn="l"/>
            <a:r>
              <a:rPr lang="en-US" altLang="ko-KR" dirty="0"/>
              <a:t>import </a:t>
            </a:r>
            <a:r>
              <a:rPr lang="en-US" altLang="ko-KR" dirty="0" err="1"/>
              <a:t>io.jsonwebtoken.UnsupportedJwtException</a:t>
            </a:r>
            <a:r>
              <a:rPr lang="en-US" altLang="ko-KR" dirty="0"/>
              <a:t>;</a:t>
            </a:r>
          </a:p>
          <a:p>
            <a:pPr algn="l"/>
            <a:r>
              <a:rPr lang="en-US" altLang="ko-KR" dirty="0"/>
              <a:t>import </a:t>
            </a:r>
            <a:r>
              <a:rPr lang="en-US" altLang="ko-KR" dirty="0" err="1"/>
              <a:t>io.jsonwebtoken.io.Decoders</a:t>
            </a:r>
            <a:r>
              <a:rPr lang="en-US" altLang="ko-KR" dirty="0"/>
              <a:t>;</a:t>
            </a:r>
          </a:p>
          <a:p>
            <a:pPr algn="l"/>
            <a:r>
              <a:rPr lang="en-US" altLang="ko-KR" dirty="0"/>
              <a:t>import </a:t>
            </a:r>
            <a:r>
              <a:rPr lang="en-US" altLang="ko-KR" dirty="0" err="1"/>
              <a:t>io.jsonwebtoken.security.Keys</a:t>
            </a:r>
            <a:r>
              <a:rPr lang="en-US" altLang="ko-KR" dirty="0"/>
              <a:t>;</a:t>
            </a:r>
          </a:p>
          <a:p>
            <a:pPr algn="l"/>
            <a:r>
              <a:rPr lang="en-US" altLang="ko-KR" dirty="0"/>
              <a:t>import lombok.extern.slf4j.Slf4j;</a:t>
            </a:r>
          </a:p>
          <a:p>
            <a:pPr algn="l"/>
            <a:endParaRPr lang="en-US" altLang="ko-KR" dirty="0"/>
          </a:p>
          <a:p>
            <a:pPr algn="l"/>
            <a:r>
              <a:rPr lang="en-US" altLang="ko-KR" dirty="0"/>
              <a:t>@Slf4j</a:t>
            </a:r>
          </a:p>
          <a:p>
            <a:pPr algn="l"/>
            <a:r>
              <a:rPr lang="en-US" altLang="ko-KR" dirty="0"/>
              <a:t>@Component</a:t>
            </a:r>
          </a:p>
          <a:p>
            <a:pPr algn="l"/>
            <a:r>
              <a:rPr lang="en-US" altLang="ko-KR" dirty="0"/>
              <a:t>public class </a:t>
            </a:r>
            <a:r>
              <a:rPr lang="en-US" altLang="ko-KR" dirty="0" err="1"/>
              <a:t>JwtUtil</a:t>
            </a:r>
            <a:r>
              <a:rPr lang="en-US" altLang="ko-KR" dirty="0"/>
              <a:t> {</a:t>
            </a:r>
          </a:p>
          <a:p>
            <a:pPr algn="l"/>
            <a:r>
              <a:rPr lang="en-US" altLang="ko-KR" dirty="0"/>
              <a:t> </a:t>
            </a:r>
          </a:p>
          <a:p>
            <a:pPr algn="l"/>
            <a:r>
              <a:rPr lang="en-US" altLang="ko-KR" dirty="0"/>
              <a:t>	private final Key </a:t>
            </a:r>
            <a:r>
              <a:rPr lang="en-US" altLang="ko-KR" dirty="0" err="1"/>
              <a:t>key</a:t>
            </a:r>
            <a:r>
              <a:rPr lang="en-US" altLang="ko-KR" dirty="0"/>
              <a:t>;</a:t>
            </a:r>
          </a:p>
          <a:p>
            <a:pPr algn="l"/>
            <a:r>
              <a:rPr lang="en-US" altLang="ko-KR" dirty="0"/>
              <a:t>	private final long </a:t>
            </a:r>
            <a:r>
              <a:rPr lang="en-US" altLang="ko-KR" dirty="0" err="1"/>
              <a:t>accessTokenExpTime</a:t>
            </a:r>
            <a:r>
              <a:rPr lang="en-US" altLang="ko-KR" dirty="0"/>
              <a:t>;</a:t>
            </a:r>
          </a:p>
          <a:p>
            <a:pPr algn="l"/>
            <a:endParaRPr lang="en-US" altLang="ko-KR" dirty="0"/>
          </a:p>
          <a:p>
            <a:pPr algn="l"/>
            <a:r>
              <a:rPr lang="en-US" altLang="ko-KR" dirty="0"/>
              <a:t>	public </a:t>
            </a:r>
            <a:r>
              <a:rPr lang="en-US" altLang="ko-KR" dirty="0" err="1"/>
              <a:t>JwtUtil</a:t>
            </a:r>
            <a:r>
              <a:rPr lang="en-US" altLang="ko-KR" dirty="0"/>
              <a:t>(@Value("${jwt.secret}") String </a:t>
            </a:r>
            <a:r>
              <a:rPr lang="en-US" altLang="ko-KR" dirty="0" err="1"/>
              <a:t>secretKey</a:t>
            </a:r>
            <a:r>
              <a:rPr lang="en-US" altLang="ko-KR" dirty="0"/>
              <a:t>, @Value("${jwt.expiration_time}") long </a:t>
            </a:r>
            <a:r>
              <a:rPr lang="en-US" altLang="ko-KR" dirty="0" err="1"/>
              <a:t>accessTokenExpTime</a:t>
            </a:r>
            <a:r>
              <a:rPr lang="en-US" altLang="ko-KR" dirty="0"/>
              <a:t>) {</a:t>
            </a:r>
          </a:p>
          <a:p>
            <a:pPr algn="l"/>
            <a:r>
              <a:rPr lang="en-US" altLang="ko-KR" dirty="0"/>
              <a:t>		</a:t>
            </a:r>
            <a:r>
              <a:rPr lang="en-US" altLang="ko-KR" dirty="0" err="1"/>
              <a:t>System.out.println</a:t>
            </a:r>
            <a:r>
              <a:rPr lang="en-US" altLang="ko-KR" dirty="0"/>
              <a:t>("!!!!!!!!!</a:t>
            </a:r>
            <a:r>
              <a:rPr lang="en-US" altLang="ko-KR" dirty="0" err="1"/>
              <a:t>secretKey</a:t>
            </a:r>
            <a:r>
              <a:rPr lang="en-US" altLang="ko-KR" dirty="0"/>
              <a:t>:" + </a:t>
            </a:r>
            <a:r>
              <a:rPr lang="en-US" altLang="ko-KR" dirty="0" err="1"/>
              <a:t>secretKey</a:t>
            </a:r>
            <a:r>
              <a:rPr lang="en-US" altLang="ko-KR" dirty="0"/>
              <a:t>);</a:t>
            </a:r>
          </a:p>
          <a:p>
            <a:pPr algn="l"/>
            <a:r>
              <a:rPr lang="en-US" altLang="ko-KR" dirty="0"/>
              <a:t>		</a:t>
            </a:r>
            <a:r>
              <a:rPr lang="en-US" altLang="ko-KR" dirty="0" err="1"/>
              <a:t>System.out.println</a:t>
            </a:r>
            <a:r>
              <a:rPr lang="en-US" altLang="ko-KR" dirty="0"/>
              <a:t>("!!!!!!!!!</a:t>
            </a:r>
            <a:r>
              <a:rPr lang="en-US" altLang="ko-KR" dirty="0" err="1"/>
              <a:t>accessTokenExpTime</a:t>
            </a:r>
            <a:r>
              <a:rPr lang="en-US" altLang="ko-KR" dirty="0"/>
              <a:t>:" + </a:t>
            </a:r>
            <a:r>
              <a:rPr lang="en-US" altLang="ko-KR" dirty="0" err="1"/>
              <a:t>accessTokenExpTime</a:t>
            </a:r>
            <a:r>
              <a:rPr lang="en-US" altLang="ko-KR" dirty="0"/>
              <a:t>);</a:t>
            </a:r>
          </a:p>
          <a:p>
            <a:pPr algn="l"/>
            <a:r>
              <a:rPr lang="en-US" altLang="ko-KR" dirty="0"/>
              <a:t>		</a:t>
            </a:r>
          </a:p>
          <a:p>
            <a:pPr algn="l"/>
            <a:r>
              <a:rPr lang="en-US" altLang="ko-KR" dirty="0"/>
              <a:t>		byte[] </a:t>
            </a:r>
            <a:r>
              <a:rPr lang="en-US" altLang="ko-KR" dirty="0" err="1"/>
              <a:t>keyBytes</a:t>
            </a:r>
            <a:r>
              <a:rPr lang="en-US" altLang="ko-KR" dirty="0"/>
              <a:t> = Decoders.BASE64.decode(</a:t>
            </a:r>
            <a:r>
              <a:rPr lang="en-US" altLang="ko-KR" dirty="0" err="1"/>
              <a:t>secretKey</a:t>
            </a:r>
            <a:r>
              <a:rPr lang="en-US" altLang="ko-KR" dirty="0"/>
              <a:t>);</a:t>
            </a:r>
          </a:p>
          <a:p>
            <a:pPr algn="l"/>
            <a:r>
              <a:rPr lang="en-US" altLang="ko-KR" dirty="0"/>
              <a:t>		</a:t>
            </a:r>
            <a:r>
              <a:rPr lang="en-US" altLang="ko-KR" dirty="0" err="1"/>
              <a:t>this.key</a:t>
            </a:r>
            <a:r>
              <a:rPr lang="en-US" altLang="ko-KR" dirty="0"/>
              <a:t> = </a:t>
            </a:r>
            <a:r>
              <a:rPr lang="en-US" altLang="ko-KR" dirty="0" err="1"/>
              <a:t>Keys.hmacShaKeyFor</a:t>
            </a:r>
            <a:r>
              <a:rPr lang="en-US" altLang="ko-KR" dirty="0"/>
              <a:t>(</a:t>
            </a:r>
            <a:r>
              <a:rPr lang="en-US" altLang="ko-KR" dirty="0" err="1"/>
              <a:t>keyBytes</a:t>
            </a:r>
            <a:r>
              <a:rPr lang="en-US" altLang="ko-KR" dirty="0"/>
              <a:t>);</a:t>
            </a:r>
          </a:p>
          <a:p>
            <a:pPr algn="l"/>
            <a:r>
              <a:rPr lang="en-US" altLang="ko-KR" dirty="0"/>
              <a:t>		</a:t>
            </a:r>
            <a:r>
              <a:rPr lang="en-US" altLang="ko-KR" dirty="0" err="1"/>
              <a:t>this.accessTokenExpTime</a:t>
            </a:r>
            <a:r>
              <a:rPr lang="en-US" altLang="ko-KR" dirty="0"/>
              <a:t> = </a:t>
            </a:r>
            <a:r>
              <a:rPr lang="en-US" altLang="ko-KR" dirty="0" err="1"/>
              <a:t>accessTokenExpTime</a:t>
            </a:r>
            <a:r>
              <a:rPr lang="en-US" altLang="ko-KR" dirty="0"/>
              <a:t>;</a:t>
            </a:r>
          </a:p>
          <a:p>
            <a:pPr algn="l"/>
            <a:r>
              <a:rPr lang="en-US" altLang="ko-KR" dirty="0"/>
              <a:t>	}</a:t>
            </a:r>
          </a:p>
          <a:p>
            <a:pPr algn="l"/>
            <a:endParaRPr lang="en-US" altLang="ko-KR" dirty="0"/>
          </a:p>
          <a:p>
            <a:pPr algn="l"/>
            <a:r>
              <a:rPr lang="en-US" altLang="ko-KR" dirty="0"/>
              <a:t>	/**</a:t>
            </a:r>
          </a:p>
          <a:p>
            <a:pPr algn="l"/>
            <a:r>
              <a:rPr lang="en-US" altLang="ko-KR" dirty="0"/>
              <a:t>	 * Access Token </a:t>
            </a:r>
            <a:r>
              <a:rPr lang="ko-KR" altLang="en-US" dirty="0"/>
              <a:t>생성</a:t>
            </a:r>
          </a:p>
          <a:p>
            <a:pPr algn="l"/>
            <a:r>
              <a:rPr lang="ko-KR" altLang="en-US" dirty="0"/>
              <a:t>	 * </a:t>
            </a:r>
          </a:p>
          <a:p>
            <a:pPr algn="l"/>
            <a:r>
              <a:rPr lang="ko-KR" altLang="en-US" dirty="0"/>
              <a:t>	 * </a:t>
            </a:r>
            <a:r>
              <a:rPr lang="en-US" altLang="ko-KR" dirty="0"/>
              <a:t>@param member</a:t>
            </a:r>
          </a:p>
          <a:p>
            <a:pPr algn="l"/>
            <a:r>
              <a:rPr lang="en-US" altLang="ko-KR" dirty="0"/>
              <a:t>	 * @return Access Token String</a:t>
            </a:r>
          </a:p>
          <a:p>
            <a:pPr algn="l"/>
            <a:r>
              <a:rPr lang="en-US" altLang="ko-KR" dirty="0"/>
              <a:t>	 */</a:t>
            </a:r>
          </a:p>
          <a:p>
            <a:pPr algn="l"/>
            <a:r>
              <a:rPr lang="en-US" altLang="ko-KR" dirty="0"/>
              <a:t>	public String </a:t>
            </a:r>
            <a:r>
              <a:rPr lang="en-US" altLang="ko-KR" dirty="0" err="1"/>
              <a:t>createAccessToken</a:t>
            </a:r>
            <a:r>
              <a:rPr lang="en-US" altLang="ko-KR" dirty="0"/>
              <a:t>(</a:t>
            </a:r>
            <a:r>
              <a:rPr lang="en-US" altLang="ko-KR" dirty="0" err="1"/>
              <a:t>MemberEntity</a:t>
            </a:r>
            <a:r>
              <a:rPr lang="en-US" altLang="ko-KR" dirty="0"/>
              <a:t> member) {</a:t>
            </a:r>
          </a:p>
          <a:p>
            <a:pPr algn="l"/>
            <a:r>
              <a:rPr lang="en-US" altLang="ko-KR" dirty="0"/>
              <a:t>		return </a:t>
            </a:r>
            <a:r>
              <a:rPr lang="en-US" altLang="ko-KR" dirty="0" err="1"/>
              <a:t>createToken</a:t>
            </a:r>
            <a:r>
              <a:rPr lang="en-US" altLang="ko-KR" dirty="0"/>
              <a:t>(member, </a:t>
            </a:r>
            <a:r>
              <a:rPr lang="en-US" altLang="ko-KR" dirty="0" err="1"/>
              <a:t>accessTokenExpTime</a:t>
            </a:r>
            <a:r>
              <a:rPr lang="en-US" altLang="ko-KR" dirty="0"/>
              <a:t>);</a:t>
            </a:r>
          </a:p>
          <a:p>
            <a:pPr algn="l"/>
            <a:r>
              <a:rPr lang="en-US" altLang="ko-KR" dirty="0"/>
              <a:t>	}</a:t>
            </a:r>
          </a:p>
          <a:p>
            <a:pPr algn="l"/>
            <a:endParaRPr lang="en-US" altLang="ko-KR" dirty="0"/>
          </a:p>
          <a:p>
            <a:pPr algn="l"/>
            <a:r>
              <a:rPr lang="en-US" altLang="ko-KR" dirty="0"/>
              <a:t>	/**</a:t>
            </a:r>
          </a:p>
          <a:p>
            <a:pPr algn="l"/>
            <a:r>
              <a:rPr lang="en-US" altLang="ko-KR" dirty="0"/>
              <a:t>	 * JWT </a:t>
            </a:r>
            <a:r>
              <a:rPr lang="ko-KR" altLang="en-US" dirty="0"/>
              <a:t>생성</a:t>
            </a:r>
          </a:p>
          <a:p>
            <a:pPr algn="l"/>
            <a:r>
              <a:rPr lang="ko-KR" altLang="en-US" dirty="0"/>
              <a:t>	 * </a:t>
            </a:r>
          </a:p>
          <a:p>
            <a:pPr algn="l"/>
            <a:r>
              <a:rPr lang="ko-KR" altLang="en-US" dirty="0"/>
              <a:t>	 * </a:t>
            </a:r>
            <a:r>
              <a:rPr lang="en-US" altLang="ko-KR" dirty="0"/>
              <a:t>@param member</a:t>
            </a:r>
          </a:p>
          <a:p>
            <a:pPr algn="l"/>
            <a:r>
              <a:rPr lang="en-US" altLang="ko-KR" dirty="0"/>
              <a:t>	 * @param </a:t>
            </a:r>
            <a:r>
              <a:rPr lang="en-US" altLang="ko-KR" dirty="0" err="1"/>
              <a:t>expireTime</a:t>
            </a:r>
            <a:endParaRPr lang="en-US" altLang="ko-KR" dirty="0"/>
          </a:p>
          <a:p>
            <a:pPr algn="l"/>
            <a:r>
              <a:rPr lang="en-US" altLang="ko-KR" dirty="0"/>
              <a:t>	 * @return JWT String</a:t>
            </a:r>
          </a:p>
          <a:p>
            <a:pPr algn="l"/>
            <a:r>
              <a:rPr lang="en-US" altLang="ko-KR" dirty="0"/>
              <a:t>	 */</a:t>
            </a:r>
          </a:p>
          <a:p>
            <a:pPr algn="l"/>
            <a:r>
              <a:rPr lang="en-US" altLang="ko-KR" dirty="0"/>
              <a:t>	private String </a:t>
            </a:r>
            <a:r>
              <a:rPr lang="en-US" altLang="ko-KR" dirty="0" err="1"/>
              <a:t>createToken</a:t>
            </a:r>
            <a:r>
              <a:rPr lang="en-US" altLang="ko-KR" dirty="0"/>
              <a:t>(</a:t>
            </a:r>
            <a:r>
              <a:rPr lang="en-US" altLang="ko-KR" dirty="0" err="1"/>
              <a:t>MemberEntity</a:t>
            </a:r>
            <a:r>
              <a:rPr lang="en-US" altLang="ko-KR" dirty="0"/>
              <a:t> member, long </a:t>
            </a:r>
            <a:r>
              <a:rPr lang="en-US" altLang="ko-KR" dirty="0" err="1"/>
              <a:t>expireTime</a:t>
            </a:r>
            <a:r>
              <a:rPr lang="en-US" altLang="ko-KR" dirty="0"/>
              <a:t>) {</a:t>
            </a:r>
          </a:p>
          <a:p>
            <a:pPr algn="l"/>
            <a:r>
              <a:rPr lang="en-US" altLang="ko-KR" dirty="0"/>
              <a:t>		Claims </a:t>
            </a:r>
            <a:r>
              <a:rPr lang="en-US" altLang="ko-KR" dirty="0" err="1"/>
              <a:t>claims</a:t>
            </a:r>
            <a:r>
              <a:rPr lang="en-US" altLang="ko-KR" dirty="0"/>
              <a:t> = </a:t>
            </a:r>
            <a:r>
              <a:rPr lang="en-US" altLang="ko-KR" dirty="0" err="1"/>
              <a:t>Jwts.claims</a:t>
            </a:r>
            <a:r>
              <a:rPr lang="en-US" altLang="ko-KR" dirty="0"/>
              <a:t>();</a:t>
            </a:r>
          </a:p>
          <a:p>
            <a:pPr algn="l"/>
            <a:r>
              <a:rPr lang="en-US" altLang="ko-KR" dirty="0"/>
              <a:t>		</a:t>
            </a:r>
            <a:r>
              <a:rPr lang="en-US" altLang="ko-KR" dirty="0" err="1"/>
              <a:t>claims.put</a:t>
            </a:r>
            <a:r>
              <a:rPr lang="en-US" altLang="ko-KR" dirty="0"/>
              <a:t>("</a:t>
            </a:r>
            <a:r>
              <a:rPr lang="en-US" altLang="ko-KR" dirty="0" err="1"/>
              <a:t>memberId</a:t>
            </a:r>
            <a:r>
              <a:rPr lang="en-US" altLang="ko-KR" dirty="0"/>
              <a:t>", </a:t>
            </a:r>
            <a:r>
              <a:rPr lang="en-US" altLang="ko-KR" dirty="0" err="1"/>
              <a:t>member.getMid</a:t>
            </a:r>
            <a:r>
              <a:rPr lang="en-US" altLang="ko-KR" dirty="0"/>
              <a:t>());</a:t>
            </a:r>
          </a:p>
          <a:p>
            <a:pPr algn="l"/>
            <a:r>
              <a:rPr lang="en-US" altLang="ko-KR" dirty="0"/>
              <a:t>		</a:t>
            </a:r>
            <a:r>
              <a:rPr lang="en-US" altLang="ko-KR" dirty="0" err="1"/>
              <a:t>claims.put</a:t>
            </a:r>
            <a:r>
              <a:rPr lang="en-US" altLang="ko-KR" dirty="0"/>
              <a:t>("</a:t>
            </a:r>
            <a:r>
              <a:rPr lang="en-US" altLang="ko-KR" dirty="0" err="1"/>
              <a:t>mname</a:t>
            </a:r>
            <a:r>
              <a:rPr lang="en-US" altLang="ko-KR" dirty="0"/>
              <a:t>", </a:t>
            </a:r>
            <a:r>
              <a:rPr lang="en-US" altLang="ko-KR" dirty="0" err="1"/>
              <a:t>member.getMname</a:t>
            </a:r>
            <a:r>
              <a:rPr lang="en-US" altLang="ko-KR" dirty="0"/>
              <a:t>());</a:t>
            </a:r>
          </a:p>
          <a:p>
            <a:pPr algn="l"/>
            <a:r>
              <a:rPr lang="en-US" altLang="ko-KR" dirty="0"/>
              <a:t>		</a:t>
            </a:r>
            <a:r>
              <a:rPr lang="en-US" altLang="ko-KR" dirty="0" err="1"/>
              <a:t>claims.put</a:t>
            </a:r>
            <a:r>
              <a:rPr lang="en-US" altLang="ko-KR" dirty="0"/>
              <a:t>("</a:t>
            </a:r>
            <a:r>
              <a:rPr lang="en-US" altLang="ko-KR" dirty="0" err="1"/>
              <a:t>mrole</a:t>
            </a:r>
            <a:r>
              <a:rPr lang="en-US" altLang="ko-KR" dirty="0"/>
              <a:t>", </a:t>
            </a:r>
            <a:r>
              <a:rPr lang="en-US" altLang="ko-KR" dirty="0" err="1"/>
              <a:t>member.getMrole</a:t>
            </a:r>
            <a:r>
              <a:rPr lang="en-US" altLang="ko-KR" dirty="0"/>
              <a:t>());</a:t>
            </a:r>
          </a:p>
          <a:p>
            <a:pPr algn="l"/>
            <a:endParaRPr lang="en-US" altLang="ko-KR" dirty="0"/>
          </a:p>
          <a:p>
            <a:pPr algn="l"/>
            <a:r>
              <a:rPr lang="en-US" altLang="ko-KR" dirty="0"/>
              <a:t>		</a:t>
            </a:r>
            <a:r>
              <a:rPr lang="en-US" altLang="ko-KR" dirty="0" err="1"/>
              <a:t>ZonedDateTime</a:t>
            </a:r>
            <a:r>
              <a:rPr lang="en-US" altLang="ko-KR" dirty="0"/>
              <a:t> now = </a:t>
            </a:r>
            <a:r>
              <a:rPr lang="en-US" altLang="ko-KR" dirty="0" err="1"/>
              <a:t>ZonedDateTime.now</a:t>
            </a:r>
            <a:r>
              <a:rPr lang="en-US" altLang="ko-KR" dirty="0"/>
              <a:t>();</a:t>
            </a:r>
          </a:p>
          <a:p>
            <a:pPr algn="l"/>
            <a:r>
              <a:rPr lang="en-US" altLang="ko-KR" dirty="0"/>
              <a:t>		</a:t>
            </a:r>
            <a:r>
              <a:rPr lang="en-US" altLang="ko-KR" dirty="0" err="1"/>
              <a:t>ZonedDateTime</a:t>
            </a:r>
            <a:r>
              <a:rPr lang="en-US" altLang="ko-KR" dirty="0"/>
              <a:t> </a:t>
            </a:r>
            <a:r>
              <a:rPr lang="en-US" altLang="ko-KR" dirty="0" err="1"/>
              <a:t>tokenValidity</a:t>
            </a:r>
            <a:r>
              <a:rPr lang="en-US" altLang="ko-KR" dirty="0"/>
              <a:t> = </a:t>
            </a:r>
            <a:r>
              <a:rPr lang="en-US" altLang="ko-KR" dirty="0" err="1"/>
              <a:t>now.plusSeconds</a:t>
            </a:r>
            <a:r>
              <a:rPr lang="en-US" altLang="ko-KR" dirty="0"/>
              <a:t>(</a:t>
            </a:r>
            <a:r>
              <a:rPr lang="en-US" altLang="ko-KR" dirty="0" err="1"/>
              <a:t>expireTime</a:t>
            </a:r>
            <a:r>
              <a:rPr lang="en-US" altLang="ko-KR" dirty="0"/>
              <a:t>);</a:t>
            </a:r>
          </a:p>
          <a:p>
            <a:pPr algn="l"/>
            <a:r>
              <a:rPr lang="en-US" altLang="ko-KR" dirty="0"/>
              <a:t>        </a:t>
            </a:r>
          </a:p>
          <a:p>
            <a:pPr algn="l"/>
            <a:r>
              <a:rPr lang="en-US" altLang="ko-KR" dirty="0"/>
              <a:t>		</a:t>
            </a:r>
            <a:r>
              <a:rPr lang="en-US" altLang="ko-KR" dirty="0" err="1"/>
              <a:t>System.out.println</a:t>
            </a:r>
            <a:r>
              <a:rPr lang="en-US" altLang="ko-KR" dirty="0"/>
              <a:t>(</a:t>
            </a:r>
            <a:r>
              <a:rPr lang="en-US" altLang="ko-KR" dirty="0" err="1"/>
              <a:t>Date.from</a:t>
            </a:r>
            <a:r>
              <a:rPr lang="en-US" altLang="ko-KR" dirty="0"/>
              <a:t>(</a:t>
            </a:r>
            <a:r>
              <a:rPr lang="en-US" altLang="ko-KR" dirty="0" err="1"/>
              <a:t>now.toInstant</a:t>
            </a:r>
            <a:r>
              <a:rPr lang="en-US" altLang="ko-KR" dirty="0"/>
              <a:t>()));</a:t>
            </a:r>
          </a:p>
          <a:p>
            <a:pPr algn="l"/>
            <a:r>
              <a:rPr lang="en-US" altLang="ko-KR" dirty="0"/>
              <a:t>		</a:t>
            </a:r>
            <a:r>
              <a:rPr lang="en-US" altLang="ko-KR" dirty="0" err="1"/>
              <a:t>System.out.println</a:t>
            </a:r>
            <a:r>
              <a:rPr lang="en-US" altLang="ko-KR" dirty="0"/>
              <a:t>(</a:t>
            </a:r>
            <a:r>
              <a:rPr lang="en-US" altLang="ko-KR" dirty="0" err="1"/>
              <a:t>Date.from</a:t>
            </a:r>
            <a:r>
              <a:rPr lang="en-US" altLang="ko-KR" dirty="0"/>
              <a:t>(</a:t>
            </a:r>
            <a:r>
              <a:rPr lang="en-US" altLang="ko-KR" dirty="0" err="1"/>
              <a:t>tokenValidity.toInstant</a:t>
            </a:r>
            <a:r>
              <a:rPr lang="en-US" altLang="ko-KR" dirty="0"/>
              <a:t>()));</a:t>
            </a:r>
          </a:p>
          <a:p>
            <a:pPr algn="l"/>
            <a:r>
              <a:rPr lang="en-US" altLang="ko-KR" dirty="0"/>
              <a:t>		return </a:t>
            </a:r>
            <a:r>
              <a:rPr lang="en-US" altLang="ko-KR" dirty="0" err="1"/>
              <a:t>Jwts.builder</a:t>
            </a:r>
            <a:r>
              <a:rPr lang="en-US" altLang="ko-KR" dirty="0"/>
              <a:t>()</a:t>
            </a:r>
          </a:p>
          <a:p>
            <a:pPr algn="l"/>
            <a:r>
              <a:rPr lang="en-US" altLang="ko-KR" dirty="0"/>
              <a:t>				.</a:t>
            </a:r>
            <a:r>
              <a:rPr lang="en-US" altLang="ko-KR" dirty="0" err="1"/>
              <a:t>setClaims</a:t>
            </a:r>
            <a:r>
              <a:rPr lang="en-US" altLang="ko-KR" dirty="0"/>
              <a:t>(claims) //</a:t>
            </a:r>
            <a:r>
              <a:rPr lang="ko-KR" altLang="en-US" dirty="0"/>
              <a:t>정보 저장</a:t>
            </a:r>
          </a:p>
          <a:p>
            <a:pPr algn="l"/>
            <a:r>
              <a:rPr lang="ko-KR" altLang="en-US" dirty="0"/>
              <a:t>				</a:t>
            </a:r>
            <a:r>
              <a:rPr lang="en-US" altLang="ko-KR" dirty="0"/>
              <a:t>.</a:t>
            </a:r>
            <a:r>
              <a:rPr lang="en-US" altLang="ko-KR" dirty="0" err="1"/>
              <a:t>setIssuedAt</a:t>
            </a:r>
            <a:r>
              <a:rPr lang="en-US" altLang="ko-KR" dirty="0"/>
              <a:t>(</a:t>
            </a:r>
            <a:r>
              <a:rPr lang="en-US" altLang="ko-KR" dirty="0" err="1"/>
              <a:t>Date.from</a:t>
            </a:r>
            <a:r>
              <a:rPr lang="en-US" altLang="ko-KR" dirty="0"/>
              <a:t>(</a:t>
            </a:r>
            <a:r>
              <a:rPr lang="en-US" altLang="ko-KR" dirty="0" err="1"/>
              <a:t>now.toInstant</a:t>
            </a:r>
            <a:r>
              <a:rPr lang="en-US" altLang="ko-KR" dirty="0"/>
              <a:t>()))</a:t>
            </a:r>
          </a:p>
          <a:p>
            <a:pPr algn="l"/>
            <a:r>
              <a:rPr lang="en-US" altLang="ko-KR" dirty="0"/>
              <a:t>				.</a:t>
            </a:r>
            <a:r>
              <a:rPr lang="en-US" altLang="ko-KR" dirty="0" err="1"/>
              <a:t>setExpiration</a:t>
            </a:r>
            <a:r>
              <a:rPr lang="en-US" altLang="ko-KR" dirty="0"/>
              <a:t>(</a:t>
            </a:r>
            <a:r>
              <a:rPr lang="en-US" altLang="ko-KR" dirty="0" err="1"/>
              <a:t>Date.from</a:t>
            </a:r>
            <a:r>
              <a:rPr lang="en-US" altLang="ko-KR" dirty="0"/>
              <a:t>(</a:t>
            </a:r>
            <a:r>
              <a:rPr lang="en-US" altLang="ko-KR" dirty="0" err="1"/>
              <a:t>tokenValidity.toInstant</a:t>
            </a:r>
            <a:r>
              <a:rPr lang="en-US" altLang="ko-KR" dirty="0"/>
              <a:t>())) //// set Expire Time</a:t>
            </a:r>
          </a:p>
          <a:p>
            <a:pPr algn="l"/>
            <a:r>
              <a:rPr lang="en-US" altLang="ko-KR" dirty="0"/>
              <a:t>				.</a:t>
            </a:r>
            <a:r>
              <a:rPr lang="en-US" altLang="ko-KR" dirty="0" err="1"/>
              <a:t>signWith</a:t>
            </a:r>
            <a:r>
              <a:rPr lang="en-US" altLang="ko-KR" dirty="0"/>
              <a:t>(key, SignatureAlgorithm.HS256) // </a:t>
            </a:r>
            <a:r>
              <a:rPr lang="ko-KR" altLang="en-US" dirty="0"/>
              <a:t>사용할 암호화 알고리즘과 </a:t>
            </a:r>
            <a:r>
              <a:rPr lang="en-US" altLang="ko-KR" dirty="0"/>
              <a:t>signature </a:t>
            </a:r>
            <a:r>
              <a:rPr lang="ko-KR" altLang="en-US" dirty="0"/>
              <a:t>에 들어갈 </a:t>
            </a:r>
            <a:r>
              <a:rPr lang="en-US" altLang="ko-KR" dirty="0"/>
              <a:t>secret</a:t>
            </a:r>
            <a:r>
              <a:rPr lang="ko-KR" altLang="en-US" dirty="0"/>
              <a:t>값 세팅</a:t>
            </a:r>
          </a:p>
          <a:p>
            <a:pPr algn="l"/>
            <a:r>
              <a:rPr lang="ko-KR" altLang="en-US" dirty="0"/>
              <a:t>				</a:t>
            </a:r>
            <a:r>
              <a:rPr lang="en-US" altLang="ko-KR" dirty="0"/>
              <a:t>.compact();</a:t>
            </a:r>
          </a:p>
          <a:p>
            <a:pPr algn="l"/>
            <a:r>
              <a:rPr lang="en-US" altLang="ko-KR" dirty="0"/>
              <a:t>		</a:t>
            </a:r>
          </a:p>
          <a:p>
            <a:pPr algn="l"/>
            <a:r>
              <a:rPr lang="en-US" altLang="ko-KR" dirty="0"/>
              <a:t>		 </a:t>
            </a:r>
          </a:p>
          <a:p>
            <a:pPr algn="l"/>
            <a:r>
              <a:rPr lang="en-US" altLang="ko-KR" dirty="0"/>
              <a:t>        </a:t>
            </a:r>
          </a:p>
          <a:p>
            <a:pPr algn="l"/>
            <a:r>
              <a:rPr lang="en-US" altLang="ko-KR" dirty="0"/>
              <a:t>	}</a:t>
            </a:r>
          </a:p>
          <a:p>
            <a:pPr algn="l"/>
            <a:r>
              <a:rPr lang="en-US" altLang="ko-KR" dirty="0"/>
              <a:t>	</a:t>
            </a:r>
          </a:p>
          <a:p>
            <a:pPr algn="l"/>
            <a:r>
              <a:rPr lang="en-US" altLang="ko-KR" dirty="0"/>
              <a:t>	</a:t>
            </a:r>
          </a:p>
          <a:p>
            <a:pPr algn="l"/>
            <a:endParaRPr lang="en-US" altLang="ko-KR" dirty="0"/>
          </a:p>
          <a:p>
            <a:pPr algn="l"/>
            <a:r>
              <a:rPr lang="en-US" altLang="ko-KR" dirty="0"/>
              <a:t>	/**</a:t>
            </a:r>
          </a:p>
          <a:p>
            <a:pPr algn="l"/>
            <a:r>
              <a:rPr lang="en-US" altLang="ko-KR" dirty="0"/>
              <a:t>	 * Token</a:t>
            </a:r>
            <a:r>
              <a:rPr lang="ko-KR" altLang="en-US" dirty="0"/>
              <a:t>에서 </a:t>
            </a:r>
            <a:r>
              <a:rPr lang="en-US" altLang="ko-KR" dirty="0"/>
              <a:t>User ID </a:t>
            </a:r>
            <a:r>
              <a:rPr lang="ko-KR" altLang="en-US" dirty="0"/>
              <a:t>추출</a:t>
            </a:r>
          </a:p>
          <a:p>
            <a:pPr algn="l"/>
            <a:r>
              <a:rPr lang="ko-KR" altLang="en-US" dirty="0"/>
              <a:t>	 * </a:t>
            </a:r>
          </a:p>
          <a:p>
            <a:pPr algn="l"/>
            <a:r>
              <a:rPr lang="ko-KR" altLang="en-US" dirty="0"/>
              <a:t>	 * </a:t>
            </a:r>
            <a:r>
              <a:rPr lang="en-US" altLang="ko-KR" dirty="0"/>
              <a:t>@param token</a:t>
            </a:r>
          </a:p>
          <a:p>
            <a:pPr algn="l"/>
            <a:r>
              <a:rPr lang="en-US" altLang="ko-KR" dirty="0"/>
              <a:t>	 * @return User ID</a:t>
            </a:r>
          </a:p>
          <a:p>
            <a:pPr algn="l"/>
            <a:r>
              <a:rPr lang="en-US" altLang="ko-KR" dirty="0"/>
              <a:t>	 */</a:t>
            </a:r>
          </a:p>
          <a:p>
            <a:pPr algn="l"/>
            <a:r>
              <a:rPr lang="en-US" altLang="ko-KR" dirty="0"/>
              <a:t>	public String </a:t>
            </a:r>
            <a:r>
              <a:rPr lang="en-US" altLang="ko-KR" dirty="0" err="1"/>
              <a:t>getUserId</a:t>
            </a:r>
            <a:r>
              <a:rPr lang="en-US" altLang="ko-KR" dirty="0"/>
              <a:t>(String token) {</a:t>
            </a:r>
          </a:p>
          <a:p>
            <a:pPr algn="l"/>
            <a:r>
              <a:rPr lang="en-US" altLang="ko-KR" dirty="0"/>
              <a:t>		return </a:t>
            </a:r>
            <a:r>
              <a:rPr lang="en-US" altLang="ko-KR" dirty="0" err="1"/>
              <a:t>parseClaims</a:t>
            </a:r>
            <a:r>
              <a:rPr lang="en-US" altLang="ko-KR" dirty="0"/>
              <a:t>(token).get("</a:t>
            </a:r>
            <a:r>
              <a:rPr lang="en-US" altLang="ko-KR" dirty="0" err="1"/>
              <a:t>memberId</a:t>
            </a:r>
            <a:r>
              <a:rPr lang="en-US" altLang="ko-KR" dirty="0"/>
              <a:t>", </a:t>
            </a:r>
            <a:r>
              <a:rPr lang="en-US" altLang="ko-KR" dirty="0" err="1"/>
              <a:t>String.class</a:t>
            </a:r>
            <a:r>
              <a:rPr lang="en-US" altLang="ko-KR" dirty="0"/>
              <a:t>);</a:t>
            </a:r>
          </a:p>
          <a:p>
            <a:pPr algn="l"/>
            <a:r>
              <a:rPr lang="en-US" altLang="ko-KR" dirty="0"/>
              <a:t>	}</a:t>
            </a:r>
          </a:p>
          <a:p>
            <a:pPr algn="l"/>
            <a:endParaRPr lang="en-US" altLang="ko-KR" dirty="0"/>
          </a:p>
          <a:p>
            <a:pPr algn="l"/>
            <a:r>
              <a:rPr lang="en-US" altLang="ko-KR" dirty="0"/>
              <a:t>	/**</a:t>
            </a:r>
          </a:p>
          <a:p>
            <a:pPr algn="l"/>
            <a:r>
              <a:rPr lang="en-US" altLang="ko-KR" dirty="0"/>
              <a:t>	 * JWT </a:t>
            </a:r>
            <a:r>
              <a:rPr lang="ko-KR" altLang="en-US" dirty="0"/>
              <a:t>검증</a:t>
            </a:r>
          </a:p>
          <a:p>
            <a:pPr algn="l"/>
            <a:r>
              <a:rPr lang="ko-KR" altLang="en-US" dirty="0"/>
              <a:t>	 * </a:t>
            </a:r>
          </a:p>
          <a:p>
            <a:pPr algn="l"/>
            <a:r>
              <a:rPr lang="ko-KR" altLang="en-US" dirty="0"/>
              <a:t>	 * </a:t>
            </a:r>
            <a:r>
              <a:rPr lang="en-US" altLang="ko-KR" dirty="0"/>
              <a:t>@param token</a:t>
            </a:r>
          </a:p>
          <a:p>
            <a:pPr algn="l"/>
            <a:r>
              <a:rPr lang="en-US" altLang="ko-KR" dirty="0"/>
              <a:t>	 * @return </a:t>
            </a:r>
            <a:r>
              <a:rPr lang="en-US" altLang="ko-KR" dirty="0" err="1"/>
              <a:t>IsValidate</a:t>
            </a:r>
            <a:endParaRPr lang="en-US" altLang="ko-KR" dirty="0"/>
          </a:p>
          <a:p>
            <a:pPr algn="l"/>
            <a:r>
              <a:rPr lang="en-US" altLang="ko-KR" dirty="0"/>
              <a:t>	 */</a:t>
            </a:r>
          </a:p>
          <a:p>
            <a:pPr algn="l"/>
            <a:r>
              <a:rPr lang="en-US" altLang="ko-KR" dirty="0"/>
              <a:t>	public </a:t>
            </a:r>
            <a:r>
              <a:rPr lang="en-US" altLang="ko-KR" dirty="0" err="1"/>
              <a:t>boolean</a:t>
            </a:r>
            <a:r>
              <a:rPr lang="en-US" altLang="ko-KR" dirty="0"/>
              <a:t> </a:t>
            </a:r>
            <a:r>
              <a:rPr lang="en-US" altLang="ko-KR" dirty="0" err="1"/>
              <a:t>validateToken</a:t>
            </a:r>
            <a:r>
              <a:rPr lang="en-US" altLang="ko-KR" dirty="0"/>
              <a:t>(String token) {</a:t>
            </a:r>
          </a:p>
          <a:p>
            <a:pPr algn="l"/>
            <a:r>
              <a:rPr lang="en-US" altLang="ko-KR" dirty="0"/>
              <a:t>		try {</a:t>
            </a:r>
          </a:p>
          <a:p>
            <a:pPr algn="l"/>
            <a:r>
              <a:rPr lang="en-US" altLang="ko-KR" dirty="0"/>
              <a:t>			</a:t>
            </a:r>
            <a:r>
              <a:rPr lang="en-US" altLang="ko-KR" dirty="0" err="1"/>
              <a:t>Jwts.parserBuilder</a:t>
            </a:r>
            <a:r>
              <a:rPr lang="en-US" altLang="ko-KR" dirty="0"/>
              <a:t>().</a:t>
            </a:r>
            <a:r>
              <a:rPr lang="en-US" altLang="ko-KR" dirty="0" err="1"/>
              <a:t>setSigningKey</a:t>
            </a:r>
            <a:r>
              <a:rPr lang="en-US" altLang="ko-KR" dirty="0"/>
              <a:t>(key).build().</a:t>
            </a:r>
            <a:r>
              <a:rPr lang="en-US" altLang="ko-KR" dirty="0" err="1"/>
              <a:t>parseClaimsJws</a:t>
            </a:r>
            <a:r>
              <a:rPr lang="en-US" altLang="ko-KR" dirty="0"/>
              <a:t>(token);</a:t>
            </a:r>
          </a:p>
          <a:p>
            <a:pPr algn="l"/>
            <a:r>
              <a:rPr lang="en-US" altLang="ko-KR" dirty="0"/>
              <a:t>			return true;</a:t>
            </a:r>
          </a:p>
          <a:p>
            <a:pPr algn="l"/>
            <a:r>
              <a:rPr lang="en-US" altLang="ko-KR" dirty="0"/>
              <a:t>		} catch (</a:t>
            </a:r>
            <a:r>
              <a:rPr lang="en-US" altLang="ko-KR" dirty="0" err="1"/>
              <a:t>io.jsonwebtoken.security.SecurityException</a:t>
            </a:r>
            <a:r>
              <a:rPr lang="en-US" altLang="ko-KR" dirty="0"/>
              <a:t> | </a:t>
            </a:r>
            <a:r>
              <a:rPr lang="en-US" altLang="ko-KR" dirty="0" err="1"/>
              <a:t>MalformedJwtException</a:t>
            </a:r>
            <a:r>
              <a:rPr lang="en-US" altLang="ko-KR" dirty="0"/>
              <a:t> e) {</a:t>
            </a:r>
          </a:p>
          <a:p>
            <a:pPr algn="l"/>
            <a:r>
              <a:rPr lang="en-US" altLang="ko-KR" dirty="0"/>
              <a:t>			log.info("Invalid JWT Token", e);</a:t>
            </a:r>
          </a:p>
          <a:p>
            <a:pPr algn="l"/>
            <a:r>
              <a:rPr lang="en-US" altLang="ko-KR" dirty="0"/>
              <a:t>		} catch (</a:t>
            </a:r>
            <a:r>
              <a:rPr lang="en-US" altLang="ko-KR" dirty="0" err="1"/>
              <a:t>ExpiredJwtException</a:t>
            </a:r>
            <a:r>
              <a:rPr lang="en-US" altLang="ko-KR" dirty="0"/>
              <a:t> e) {</a:t>
            </a:r>
          </a:p>
          <a:p>
            <a:pPr algn="l"/>
            <a:r>
              <a:rPr lang="en-US" altLang="ko-KR" dirty="0"/>
              <a:t>			log.info("Expired JWT Token", e);</a:t>
            </a:r>
          </a:p>
          <a:p>
            <a:pPr algn="l"/>
            <a:r>
              <a:rPr lang="en-US" altLang="ko-KR" dirty="0"/>
              <a:t>		} catch (</a:t>
            </a:r>
            <a:r>
              <a:rPr lang="en-US" altLang="ko-KR" dirty="0" err="1"/>
              <a:t>UnsupportedJwtException</a:t>
            </a:r>
            <a:r>
              <a:rPr lang="en-US" altLang="ko-KR" dirty="0"/>
              <a:t> e) {</a:t>
            </a:r>
          </a:p>
          <a:p>
            <a:pPr algn="l"/>
            <a:r>
              <a:rPr lang="en-US" altLang="ko-KR" dirty="0"/>
              <a:t>			log.info("Unsupported JWT Token", e);</a:t>
            </a:r>
          </a:p>
          <a:p>
            <a:pPr algn="l"/>
            <a:r>
              <a:rPr lang="en-US" altLang="ko-KR" dirty="0"/>
              <a:t>		} catch (</a:t>
            </a:r>
            <a:r>
              <a:rPr lang="en-US" altLang="ko-KR" dirty="0" err="1"/>
              <a:t>IllegalArgumentException</a:t>
            </a:r>
            <a:r>
              <a:rPr lang="en-US" altLang="ko-KR" dirty="0"/>
              <a:t> e) {</a:t>
            </a:r>
          </a:p>
          <a:p>
            <a:pPr algn="l"/>
            <a:r>
              <a:rPr lang="en-US" altLang="ko-KR" dirty="0"/>
              <a:t>			log.info("JWT claims string is empty.", e);</a:t>
            </a:r>
          </a:p>
          <a:p>
            <a:pPr algn="l"/>
            <a:r>
              <a:rPr lang="en-US" altLang="ko-KR" dirty="0"/>
              <a:t>		}</a:t>
            </a:r>
          </a:p>
          <a:p>
            <a:pPr algn="l"/>
            <a:r>
              <a:rPr lang="en-US" altLang="ko-KR" dirty="0"/>
              <a:t>		return false;</a:t>
            </a:r>
          </a:p>
          <a:p>
            <a:pPr algn="l"/>
            <a:r>
              <a:rPr lang="en-US" altLang="ko-KR" dirty="0"/>
              <a:t>	}</a:t>
            </a:r>
          </a:p>
          <a:p>
            <a:pPr algn="l"/>
            <a:endParaRPr lang="en-US" altLang="ko-KR" dirty="0"/>
          </a:p>
          <a:p>
            <a:pPr algn="l"/>
            <a:r>
              <a:rPr lang="en-US" altLang="ko-KR" dirty="0"/>
              <a:t>	/**</a:t>
            </a:r>
          </a:p>
          <a:p>
            <a:pPr algn="l"/>
            <a:r>
              <a:rPr lang="en-US" altLang="ko-KR" dirty="0"/>
              <a:t>	 * JWT Claims </a:t>
            </a:r>
            <a:r>
              <a:rPr lang="ko-KR" altLang="en-US" dirty="0"/>
              <a:t>추출</a:t>
            </a:r>
          </a:p>
          <a:p>
            <a:pPr algn="l"/>
            <a:r>
              <a:rPr lang="ko-KR" altLang="en-US" dirty="0"/>
              <a:t>	 * </a:t>
            </a:r>
          </a:p>
          <a:p>
            <a:pPr algn="l"/>
            <a:r>
              <a:rPr lang="ko-KR" altLang="en-US" dirty="0"/>
              <a:t>	 * </a:t>
            </a:r>
            <a:r>
              <a:rPr lang="en-US" altLang="ko-KR" dirty="0"/>
              <a:t>@param </a:t>
            </a:r>
            <a:r>
              <a:rPr lang="en-US" altLang="ko-KR" dirty="0" err="1"/>
              <a:t>accessToken</a:t>
            </a:r>
            <a:endParaRPr lang="en-US" altLang="ko-KR" dirty="0"/>
          </a:p>
          <a:p>
            <a:pPr algn="l"/>
            <a:r>
              <a:rPr lang="en-US" altLang="ko-KR" dirty="0"/>
              <a:t>	 * @return JWT Claims</a:t>
            </a:r>
          </a:p>
          <a:p>
            <a:pPr algn="l"/>
            <a:r>
              <a:rPr lang="en-US" altLang="ko-KR" dirty="0"/>
              <a:t>	 */</a:t>
            </a:r>
          </a:p>
          <a:p>
            <a:pPr algn="l"/>
            <a:r>
              <a:rPr lang="en-US" altLang="ko-KR" dirty="0"/>
              <a:t>	public Claims </a:t>
            </a:r>
            <a:r>
              <a:rPr lang="en-US" altLang="ko-KR" dirty="0" err="1"/>
              <a:t>parseClaims</a:t>
            </a:r>
            <a:r>
              <a:rPr lang="en-US" altLang="ko-KR" dirty="0"/>
              <a:t>(String </a:t>
            </a:r>
            <a:r>
              <a:rPr lang="en-US" altLang="ko-KR" dirty="0" err="1"/>
              <a:t>accessToken</a:t>
            </a:r>
            <a:r>
              <a:rPr lang="en-US" altLang="ko-KR" dirty="0"/>
              <a:t>) {</a:t>
            </a:r>
          </a:p>
          <a:p>
            <a:pPr algn="l"/>
            <a:r>
              <a:rPr lang="en-US" altLang="ko-KR" dirty="0"/>
              <a:t>		try {</a:t>
            </a:r>
          </a:p>
          <a:p>
            <a:pPr algn="l"/>
            <a:r>
              <a:rPr lang="en-US" altLang="ko-KR" dirty="0"/>
              <a:t>			return </a:t>
            </a:r>
            <a:r>
              <a:rPr lang="en-US" altLang="ko-KR" dirty="0" err="1"/>
              <a:t>Jwts.parserBuilder</a:t>
            </a:r>
            <a:r>
              <a:rPr lang="en-US" altLang="ko-KR" dirty="0"/>
              <a:t>().</a:t>
            </a:r>
            <a:r>
              <a:rPr lang="en-US" altLang="ko-KR" dirty="0" err="1"/>
              <a:t>setSigningKey</a:t>
            </a:r>
            <a:r>
              <a:rPr lang="en-US" altLang="ko-KR" dirty="0"/>
              <a:t>(key).build().</a:t>
            </a:r>
            <a:r>
              <a:rPr lang="en-US" altLang="ko-KR" dirty="0" err="1"/>
              <a:t>parseClaimsJws</a:t>
            </a:r>
            <a:r>
              <a:rPr lang="en-US" altLang="ko-KR" dirty="0"/>
              <a:t>(</a:t>
            </a:r>
            <a:r>
              <a:rPr lang="en-US" altLang="ko-KR" dirty="0" err="1"/>
              <a:t>accessToken</a:t>
            </a:r>
            <a:r>
              <a:rPr lang="en-US" altLang="ko-KR" dirty="0"/>
              <a:t>).</a:t>
            </a:r>
            <a:r>
              <a:rPr lang="en-US" altLang="ko-KR" dirty="0" err="1"/>
              <a:t>getBody</a:t>
            </a:r>
            <a:r>
              <a:rPr lang="en-US" altLang="ko-KR" dirty="0"/>
              <a:t>();</a:t>
            </a:r>
          </a:p>
          <a:p>
            <a:pPr algn="l"/>
            <a:r>
              <a:rPr lang="en-US" altLang="ko-KR" dirty="0"/>
              <a:t>		} catch (</a:t>
            </a:r>
            <a:r>
              <a:rPr lang="en-US" altLang="ko-KR" dirty="0" err="1"/>
              <a:t>ExpiredJwtException</a:t>
            </a:r>
            <a:r>
              <a:rPr lang="en-US" altLang="ko-KR" dirty="0"/>
              <a:t> e) {</a:t>
            </a:r>
          </a:p>
          <a:p>
            <a:pPr algn="l"/>
            <a:r>
              <a:rPr lang="en-US" altLang="ko-KR" dirty="0"/>
              <a:t>			return </a:t>
            </a:r>
            <a:r>
              <a:rPr lang="en-US" altLang="ko-KR" dirty="0" err="1"/>
              <a:t>e.getClaims</a:t>
            </a:r>
            <a:r>
              <a:rPr lang="en-US" altLang="ko-KR" dirty="0"/>
              <a:t>();</a:t>
            </a:r>
          </a:p>
          <a:p>
            <a:pPr algn="l"/>
            <a:r>
              <a:rPr lang="en-US" altLang="ko-KR" dirty="0"/>
              <a:t>		}</a:t>
            </a:r>
          </a:p>
          <a:p>
            <a:pPr algn="l"/>
            <a:r>
              <a:rPr lang="en-US" altLang="ko-KR" dirty="0"/>
              <a:t>	}</a:t>
            </a:r>
          </a:p>
          <a:p>
            <a:pPr algn="l"/>
            <a:endParaRPr lang="en-US" altLang="ko-KR" dirty="0"/>
          </a:p>
          <a:p>
            <a:pPr algn="l"/>
            <a:r>
              <a:rPr lang="en-US" altLang="ko-KR" dirty="0"/>
              <a:t>}</a:t>
            </a:r>
          </a:p>
          <a:p>
            <a:pPr algn="l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85AA0A-99EC-A7A8-E819-4EB6821FE8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527107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120E0-0FA4-47BC-ACAE-5147DD860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BDD3D4-280F-CF89-CD66-7E06E3C861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458D91-C91A-31D6-9E91-B06D6DDD54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@ExtendWith(SpringExtension.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class)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@ContextConfiguration(locations = {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"file:src/main/webapp/WEB-INF/spring/root-context-oracle.xml",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"file:src/main/webapp/WEB-INF/spring/root-context-tx.xml",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"file:src/main/webapp/WEB-INF/spring/appServlet/servlet-context.xml",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"file:src/main/webapp/WEB-INF/spring/appServlet/servlet-context-no.xml" })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@TestInstance(Lifecycle.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PER_CLASS)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class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JWTTest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{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@Autowired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private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JwtUtil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jwtUtil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테스트용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secretKey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(HS256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을 위해 최소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256bit = 32bytes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이상 필요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 private final String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secretKey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 Base64.getEncoder().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encodeToString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("my-test-</a:t>
            </a:r>
            <a:r>
              <a:rPr lang="en-US" altLang="ko-KR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jwt-secret-key-1234567890".getBytes());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@BeforeAll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setUp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{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 60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초 유효기간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jwtUtil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new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JwtUtil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secretKey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60);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@Test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void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testJwtUtilIsLoaded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{</a:t>
            </a:r>
          </a:p>
          <a:p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assertNotNull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jwtUtil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필요시 </a:t>
            </a:r>
            <a:r>
              <a:rPr lang="ko-KR" alt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리플렉션이나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메서드 추가로 내부 필드 확인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@Test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testCreateAccessToken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{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 given</a:t>
            </a:r>
          </a:p>
          <a:p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MemberEntity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member =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MemberEntity.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builder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().mid("user123").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mname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</a:t>
            </a:r>
            <a:r>
              <a:rPr lang="ko-KR" altLang="en-US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").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mrole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("USER").build();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 when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 token =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jwtUtil.createAccessToken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(member);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 then</a:t>
            </a:r>
          </a:p>
          <a:p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assertNotNull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(token);</a:t>
            </a:r>
          </a:p>
          <a:p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System.</a:t>
            </a:r>
            <a:r>
              <a:rPr lang="en-US" altLang="ko-KR" sz="1200" b="1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out.println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</a:t>
            </a:r>
            <a:r>
              <a:rPr lang="ko-KR" altLang="en-US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생성된 토큰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"</a:t>
            </a:r>
            <a:r>
              <a:rPr lang="ko-KR" altLang="en-US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 token);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Claims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claims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jwtUtil.parseClaims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(token);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assertEquals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("user123", 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claims.get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memberId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"));</a:t>
            </a:r>
          </a:p>
          <a:p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assertEquals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</a:t>
            </a:r>
            <a:r>
              <a:rPr lang="ko-KR" altLang="en-US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", 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claims.get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mname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"));</a:t>
            </a:r>
          </a:p>
          <a:p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assertEquals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("USER", 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claims.get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mrole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"));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@Test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testValidateToken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{</a:t>
            </a:r>
          </a:p>
          <a:p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MemberEntity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member =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MemberEntity.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builder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().mid("admin001").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mname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</a:t>
            </a:r>
            <a:r>
              <a:rPr lang="ko-KR" altLang="en-US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관리자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").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mrole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("ADMIN").build();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 token =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jwtUtil.createAccessToken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(member);</a:t>
            </a:r>
          </a:p>
          <a:p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boolean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result =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jwtUtil.validateToken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(token);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assertTrue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(result, "</a:t>
            </a:r>
            <a:r>
              <a:rPr lang="ko-KR" altLang="en-US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토큰이 유효해야 합니다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.");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C567F0-506F-0037-E61B-7C20FD2ABF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526895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B4852-66C4-2491-FB61-3A132A6D5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45F0235-2820-5902-8AC5-D69C4BEAB0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28C6FB-E622-C83D-9E70-0F47E9F300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690A4D-73BB-B479-8078-A52C319AD5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3680924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C6C9A-9970-7C9D-6DCD-B40589AFC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0235C7-177E-404C-9B88-2EE19C0AD1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3CF9C9C-8A99-8106-61A7-D9BA79CCC8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B429E1-35E1-1595-9818-3101DCE51E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0784364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4D3B7-871B-D0F2-0192-57F7E055E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AFD43C-FAD9-4C9D-C3C6-E689844244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A1C036-4FCD-4E32-DD16-0FE4919DB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E3DA13-0B02-84AC-FD51-0CC1C732BF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8033490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14DA9-BA08-C687-2CDA-0D1AD09A0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0A456C-9386-D5E8-F197-E6FBC8790E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94B38C-AA5A-56BE-F62C-6FA48BD4B4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DD78BD-9E5A-426D-32F8-744CCB49F5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438760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3A8A2-993B-F81C-1216-25FEA192F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CD7032-1D8C-46B1-F541-2989A7C208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7990FA-39E3-B209-69D7-836B2AAA18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2398B7-CCF3-A672-48CA-EDA2757BC9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65685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6EF5A-3BFA-6379-E78E-AE167E94B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7E3D027-99CA-73EE-617B-204723A780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514AFC-8FB6-24BF-9824-5E5415D69F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###MariaDB</a:t>
            </a:r>
          </a:p>
          <a:p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sudo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apt install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mariadb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-server -y</a:t>
            </a:r>
          </a:p>
          <a:p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sudo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systemctl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status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mariadb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</a:t>
            </a:r>
          </a:p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접속 </a:t>
            </a:r>
          </a:p>
          <a:p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sudo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mariadb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-- 1.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데이터베이스 생성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 DATABASE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xe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DEFAULT CHARACTER SET utf8mb4 COLLATE utf8mb4_unicode_ci;</a:t>
            </a:r>
          </a:p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-- 2.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사용자 계정 생성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모든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에서 접속 허용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운영 시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제한 권장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 USER '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hr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'@'%' IDENTIFIED BY '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hr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';</a:t>
            </a:r>
          </a:p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-- 3.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권한 부여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GRANT ALL PRIVILEGES ON xe.* TO '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hr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'@'%';</a:t>
            </a:r>
          </a:p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-- 4.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권한 적용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FLUSH PRIVILEGES;</a:t>
            </a:r>
          </a:p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MariaDB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설정 파일 열기</a:t>
            </a:r>
          </a:p>
          <a:p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sudo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nano /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etc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mysql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mariadb.conf.d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/50-server.cnf</a:t>
            </a:r>
          </a:p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기본값은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127.0.0.1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이므로 외부 접속 불가 상태입니다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bind-address = 0.0.0.0</a:t>
            </a:r>
          </a:p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방화벽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(Ubuntu UFW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사용 중이라면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sudo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ufw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allow 3306</a:t>
            </a:r>
          </a:p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 AWS EC2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보안 그룹 </a:t>
            </a:r>
            <a:r>
              <a:rPr lang="ko-KR" alt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인바운드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규칙에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3306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포트 추가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포트 범위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3306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소스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0.0.0.0/0 (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테스트 용도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운영 시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제한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5CA23A-FE54-A2DA-20D0-8E444280F8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0541159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5DC68-C344-F432-7B15-7C3B5F557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FB6D6BF-1E42-26AE-35FF-A25E215098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E3649F-5A7B-F3D6-0C7F-C88B7C9D9D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#pc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에서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sql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파일을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aws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에 복사 </a:t>
            </a:r>
          </a:p>
          <a:p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scp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/c/temp/EC2shinhan5.pem /c/temp/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mariadb_data_converted.sql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ubuntu@13.239.3.22:/home/ubuntu/</a:t>
            </a:r>
          </a:p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#aws console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접속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ssh -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/c/temp/EC2shinhan5.pem ubuntu@13.239.3.22</a:t>
            </a:r>
          </a:p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#sql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파일 실행 </a:t>
            </a:r>
          </a:p>
          <a:p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sudo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mariadb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-u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hr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-p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xe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/home/ubuntu/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mariadb_data_converted.sql</a:t>
            </a:r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096C20-32C1-D5D8-4A32-8BBDAE0A54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0072528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3DB09-9190-BDE1-8583-C17B4F169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AF72CF4-1AF2-51C6-A81B-5EF5AEE98F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0BC1B75-3998-A30F-F0D6-B809DB0F92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-- regions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 TABLE regions (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region_id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INT NOT NULL,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region_name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VARCHAR(25),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PRIMARY KEY (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region_id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-- countries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 TABLE countries (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country_id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CHAR(2) NOT NULL,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country_name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VARCHAR(40),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region_id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INT,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PRIMARY KEY (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country_id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FOREIGN KEY (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region_id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REFERENCES regions(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region_id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-- locations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 TABLE locations (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location_id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INT,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street_address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VARCHAR(40),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postal_code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VARCHAR(12),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city VARCHAR(30) NOT NULL,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state_province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VARCHAR(25),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country_id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CHAR(2),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PRIMARY KEY (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location_id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FOREIGN KEY (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country_id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REFERENCES countries(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country_id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-- departments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 TABLE departments (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department_id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INT,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department_name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VARCHAR(30) NOT NULL,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manager_id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INT,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location_id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INT,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PRIMARY KEY (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department_id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FOREIGN KEY (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location_id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REFERENCES locations(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location_id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-- jobs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 TABLE jobs (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job_id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VARCHAR(10),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job_title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VARCHAR(35) NOT NULL,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min_salary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INT,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max_salary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INT,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PRIMARY KEY (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job_id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-- employees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 TABLE employees (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employee_id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INT,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first_name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VARCHAR(20),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last_name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VARCHAR(25) NOT NULL,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email VARCHAR(25) NOT NULL UNIQUE,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phone_number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VARCHAR(20),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hire_date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DATE NOT NULL,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job_id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VARCHAR(10) NOT NULL,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salary DECIMAL(8,2),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commission_pct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DECIMAL(2,2),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manager_id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INT,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department_id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INT,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PRIMARY KEY (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employee_id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CHECK (salary &gt; 0),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FOREIGN KEY (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department_id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REFERENCES departments(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department_id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FOREIGN KEY (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job_id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REFERENCES jobs(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job_id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FOREIGN KEY (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manager_id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REFERENCES employees(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employee_id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B7E6E0-2BDA-46E4-CB8B-9D7C72064F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4138017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24581-6DBC-70C1-2219-3992CF932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D583A7-6746-BED3-3746-BEF750A91A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B587FD-0B68-B96E-8882-6C994E795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8117A6-B810-B49E-9C71-31950070C2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836068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1E25B-C483-673C-454C-DA96DB3C3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7B0EC0-A8F8-5A29-6B4C-CED08EAF02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1808D6-957B-C861-3C2C-27A9E8CFF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87616B-205D-39F7-1C88-73BBF0D62A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1697597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918AE-D36E-CECB-F9C6-22746A4A7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ED3B1E-7F5B-5532-3BBC-F1A0B2551A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9D492A0-009D-A28F-9939-CB3A2C232B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EC2_HOST: EC2 </a:t>
            </a:r>
            <a:r>
              <a:rPr lang="ko-KR" altLang="en-US" dirty="0"/>
              <a:t>퍼블릭 </a:t>
            </a:r>
            <a:r>
              <a:rPr lang="en-US" altLang="ko-KR" dirty="0"/>
              <a:t>IP</a:t>
            </a:r>
          </a:p>
          <a:p>
            <a:r>
              <a:rPr lang="en-US" altLang="ko-KR" dirty="0"/>
              <a:t>EC2_KEY: </a:t>
            </a:r>
            <a:r>
              <a:rPr lang="ko-KR" altLang="en-US" dirty="0"/>
              <a:t>위에서 생성한 개인키 내용 전체</a:t>
            </a:r>
          </a:p>
          <a:p>
            <a:r>
              <a:rPr lang="ko-KR" altLang="en-US" dirty="0"/>
              <a:t>필요시 </a:t>
            </a:r>
            <a:r>
              <a:rPr lang="en-US" altLang="ko-KR" dirty="0"/>
              <a:t>EC2_USER (</a:t>
            </a:r>
            <a:r>
              <a:rPr lang="ko-KR" altLang="en-US" dirty="0"/>
              <a:t>기본은 </a:t>
            </a:r>
            <a:r>
              <a:rPr lang="en-US" altLang="ko-KR" dirty="0"/>
              <a:t>ubuntu)</a:t>
            </a:r>
          </a:p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1FF637-8D70-B764-5C31-6117A92F7C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5902963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474AC-9E2C-4E5C-76B5-B81B529DA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C6DB7BB-F728-06A1-3DF2-B0580053E4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FB185A-70C6-307A-4749-ED04DEC13A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name: Deploy to EC2</a:t>
            </a:r>
          </a:p>
          <a:p>
            <a:endParaRPr lang="en-US" altLang="ko-KR" dirty="0"/>
          </a:p>
          <a:p>
            <a:r>
              <a:rPr lang="en-US" altLang="ko-KR" dirty="0"/>
              <a:t>on:</a:t>
            </a:r>
          </a:p>
          <a:p>
            <a:r>
              <a:rPr lang="en-US" altLang="ko-KR" dirty="0"/>
              <a:t>  push:</a:t>
            </a:r>
          </a:p>
          <a:p>
            <a:r>
              <a:rPr lang="en-US" altLang="ko-KR" dirty="0"/>
              <a:t>    branches:</a:t>
            </a:r>
          </a:p>
          <a:p>
            <a:r>
              <a:rPr lang="en-US" altLang="ko-KR" dirty="0"/>
              <a:t>      - master</a:t>
            </a:r>
          </a:p>
          <a:p>
            <a:endParaRPr lang="en-US" altLang="ko-KR" dirty="0"/>
          </a:p>
          <a:p>
            <a:r>
              <a:rPr lang="en-US" altLang="ko-KR" dirty="0"/>
              <a:t>jobs:</a:t>
            </a:r>
          </a:p>
          <a:p>
            <a:r>
              <a:rPr lang="en-US" altLang="ko-KR" dirty="0"/>
              <a:t>  deploy:</a:t>
            </a:r>
          </a:p>
          <a:p>
            <a:r>
              <a:rPr lang="en-US" altLang="ko-KR" dirty="0"/>
              <a:t>    runs-on: ubuntu-latest</a:t>
            </a:r>
          </a:p>
          <a:p>
            <a:endParaRPr lang="en-US" altLang="ko-KR" dirty="0"/>
          </a:p>
          <a:p>
            <a:r>
              <a:rPr lang="en-US" altLang="ko-KR" dirty="0"/>
              <a:t>    steps:</a:t>
            </a:r>
          </a:p>
          <a:p>
            <a:r>
              <a:rPr lang="en-US" altLang="ko-KR" dirty="0"/>
              <a:t>    - name: Checkout code</a:t>
            </a:r>
          </a:p>
          <a:p>
            <a:r>
              <a:rPr lang="en-US" altLang="ko-KR" dirty="0"/>
              <a:t>      uses: actions/checkout@v3</a:t>
            </a:r>
          </a:p>
          <a:p>
            <a:endParaRPr lang="en-US" altLang="ko-KR" dirty="0"/>
          </a:p>
          <a:p>
            <a:r>
              <a:rPr lang="en-US" altLang="ko-KR" dirty="0"/>
              <a:t>    - name: Set up JDK 11</a:t>
            </a:r>
          </a:p>
          <a:p>
            <a:r>
              <a:rPr lang="en-US" altLang="ko-KR" dirty="0"/>
              <a:t>      uses: actions/setup-java@v3</a:t>
            </a:r>
          </a:p>
          <a:p>
            <a:r>
              <a:rPr lang="en-US" altLang="ko-KR" dirty="0"/>
              <a:t>      with:</a:t>
            </a:r>
          </a:p>
          <a:p>
            <a:r>
              <a:rPr lang="en-US" altLang="ko-KR" dirty="0"/>
              <a:t>          java-version: '11'</a:t>
            </a:r>
          </a:p>
          <a:p>
            <a:r>
              <a:rPr lang="en-US" altLang="ko-KR" dirty="0"/>
              <a:t>          distribution: '</a:t>
            </a:r>
            <a:r>
              <a:rPr lang="en-US" altLang="ko-KR" dirty="0" err="1"/>
              <a:t>temurin</a:t>
            </a:r>
            <a:r>
              <a:rPr lang="en-US" altLang="ko-KR" dirty="0"/>
              <a:t>'</a:t>
            </a:r>
          </a:p>
          <a:p>
            <a:endParaRPr lang="en-US" altLang="ko-KR" dirty="0"/>
          </a:p>
          <a:p>
            <a:r>
              <a:rPr lang="en-US" altLang="ko-KR" dirty="0"/>
              <a:t>    - name: Build WAR using Maven</a:t>
            </a:r>
          </a:p>
          <a:p>
            <a:r>
              <a:rPr lang="en-US" altLang="ko-KR" dirty="0"/>
              <a:t>      run: </a:t>
            </a:r>
            <a:r>
              <a:rPr lang="en-US" altLang="ko-KR" dirty="0" err="1"/>
              <a:t>mvn</a:t>
            </a:r>
            <a:r>
              <a:rPr lang="en-US" altLang="ko-KR" dirty="0"/>
              <a:t> clean package -</a:t>
            </a:r>
            <a:r>
              <a:rPr lang="en-US" altLang="ko-KR" dirty="0" err="1"/>
              <a:t>Dmaven.test.skip</a:t>
            </a:r>
            <a:r>
              <a:rPr lang="en-US" altLang="ko-KR" dirty="0"/>
              <a:t>=true --file pom.xml</a:t>
            </a:r>
          </a:p>
          <a:p>
            <a:endParaRPr lang="en-US" altLang="ko-KR" dirty="0"/>
          </a:p>
          <a:p>
            <a:r>
              <a:rPr lang="en-US" altLang="ko-KR" dirty="0"/>
              <a:t>    - name: Check WAR file exists</a:t>
            </a:r>
          </a:p>
          <a:p>
            <a:r>
              <a:rPr lang="en-US" altLang="ko-KR" dirty="0"/>
              <a:t>      run: ls -</a:t>
            </a:r>
            <a:r>
              <a:rPr lang="en-US" altLang="ko-KR" dirty="0" err="1"/>
              <a:t>lh</a:t>
            </a:r>
            <a:r>
              <a:rPr lang="en-US" altLang="ko-KR" dirty="0"/>
              <a:t> target/</a:t>
            </a:r>
          </a:p>
          <a:p>
            <a:r>
              <a:rPr lang="en-US" altLang="ko-KR" dirty="0"/>
              <a:t>    </a:t>
            </a:r>
          </a:p>
          <a:p>
            <a:r>
              <a:rPr lang="en-US" altLang="ko-KR" dirty="0"/>
              <a:t>    - name: Upload WAR artifact</a:t>
            </a:r>
          </a:p>
          <a:p>
            <a:r>
              <a:rPr lang="en-US" altLang="ko-KR" dirty="0"/>
              <a:t>      uses: actions/upload-artifact@v4</a:t>
            </a:r>
          </a:p>
          <a:p>
            <a:r>
              <a:rPr lang="en-US" altLang="ko-KR" dirty="0"/>
              <a:t>      with:</a:t>
            </a:r>
          </a:p>
          <a:p>
            <a:r>
              <a:rPr lang="en-US" altLang="ko-KR" dirty="0"/>
              <a:t>        name: </a:t>
            </a:r>
            <a:r>
              <a:rPr lang="en-US" altLang="ko-KR" dirty="0" err="1"/>
              <a:t>springLegacyProject.war</a:t>
            </a:r>
            <a:endParaRPr lang="en-US" altLang="ko-KR" dirty="0"/>
          </a:p>
          <a:p>
            <a:r>
              <a:rPr lang="en-US" altLang="ko-KR" dirty="0"/>
              <a:t>        path: target/*.war    </a:t>
            </a:r>
          </a:p>
          <a:p>
            <a:r>
              <a:rPr lang="en-US" altLang="ko-KR" dirty="0"/>
              <a:t>    </a:t>
            </a:r>
          </a:p>
          <a:p>
            <a:r>
              <a:rPr lang="en-US" altLang="ko-KR" dirty="0"/>
              <a:t>    </a:t>
            </a:r>
          </a:p>
          <a:p>
            <a:r>
              <a:rPr lang="en-US" altLang="ko-KR" dirty="0"/>
              <a:t>    - name: Upload WAR to EC2</a:t>
            </a:r>
          </a:p>
          <a:p>
            <a:r>
              <a:rPr lang="en-US" altLang="ko-KR" dirty="0"/>
              <a:t>      uses: </a:t>
            </a:r>
            <a:r>
              <a:rPr lang="en-US" altLang="ko-KR" dirty="0" err="1"/>
              <a:t>appleboy</a:t>
            </a:r>
            <a:r>
              <a:rPr lang="en-US" altLang="ko-KR" dirty="0"/>
              <a:t>/scp-action@v0.1.4</a:t>
            </a:r>
          </a:p>
          <a:p>
            <a:r>
              <a:rPr lang="en-US" altLang="ko-KR" dirty="0"/>
              <a:t>      with:</a:t>
            </a:r>
          </a:p>
          <a:p>
            <a:r>
              <a:rPr lang="en-US" altLang="ko-KR" dirty="0"/>
              <a:t>        host: ${{ secrets.EC2_HOST }}</a:t>
            </a:r>
          </a:p>
          <a:p>
            <a:r>
              <a:rPr lang="en-US" altLang="ko-KR" dirty="0"/>
              <a:t>        username: ubuntu</a:t>
            </a:r>
          </a:p>
          <a:p>
            <a:r>
              <a:rPr lang="en-US" altLang="ko-KR" dirty="0"/>
              <a:t>        key: ${{ secrets.EC2_KEY }}</a:t>
            </a:r>
          </a:p>
          <a:p>
            <a:r>
              <a:rPr lang="en-US" altLang="ko-KR" dirty="0"/>
              <a:t>        source: "target/</a:t>
            </a:r>
            <a:r>
              <a:rPr lang="en-US" altLang="ko-KR" dirty="0" err="1"/>
              <a:t>springLegacyProject.war</a:t>
            </a:r>
            <a:r>
              <a:rPr lang="en-US" altLang="ko-KR" dirty="0"/>
              <a:t>"</a:t>
            </a:r>
          </a:p>
          <a:p>
            <a:r>
              <a:rPr lang="en-US" altLang="ko-KR" dirty="0"/>
              <a:t>        target: "/home/ubuntu/build/"</a:t>
            </a:r>
          </a:p>
          <a:p>
            <a:r>
              <a:rPr lang="en-US" altLang="ko-KR" dirty="0"/>
              <a:t>        </a:t>
            </a:r>
            <a:r>
              <a:rPr lang="en-US" altLang="ko-KR" dirty="0" err="1"/>
              <a:t>strip_components</a:t>
            </a:r>
            <a:r>
              <a:rPr lang="en-US" altLang="ko-KR" dirty="0"/>
              <a:t>: 1</a:t>
            </a:r>
          </a:p>
          <a:p>
            <a:endParaRPr lang="en-US" altLang="ko-KR" dirty="0"/>
          </a:p>
          <a:p>
            <a:r>
              <a:rPr lang="en-US" altLang="ko-KR" dirty="0"/>
              <a:t>   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   - name: Run deploy script</a:t>
            </a:r>
          </a:p>
          <a:p>
            <a:r>
              <a:rPr lang="en-US" altLang="ko-KR" dirty="0"/>
              <a:t>      uses: </a:t>
            </a:r>
            <a:r>
              <a:rPr lang="en-US" altLang="ko-KR" dirty="0" err="1"/>
              <a:t>appleboy</a:t>
            </a:r>
            <a:r>
              <a:rPr lang="en-US" altLang="ko-KR" dirty="0"/>
              <a:t>/ssh-action@v1.0.0</a:t>
            </a:r>
          </a:p>
          <a:p>
            <a:r>
              <a:rPr lang="en-US" altLang="ko-KR" dirty="0"/>
              <a:t>      with:</a:t>
            </a:r>
          </a:p>
          <a:p>
            <a:r>
              <a:rPr lang="en-US" altLang="ko-KR" dirty="0"/>
              <a:t>        host: ${{ secrets.EC2_HOST }}</a:t>
            </a:r>
          </a:p>
          <a:p>
            <a:r>
              <a:rPr lang="en-US" altLang="ko-KR" dirty="0"/>
              <a:t>        username: ubuntu</a:t>
            </a:r>
          </a:p>
          <a:p>
            <a:r>
              <a:rPr lang="en-US" altLang="ko-KR" dirty="0"/>
              <a:t>        key: ${{ secrets.EC2_KEY }}</a:t>
            </a:r>
          </a:p>
          <a:p>
            <a:r>
              <a:rPr lang="en-US" altLang="ko-KR" dirty="0"/>
              <a:t>        script: |</a:t>
            </a:r>
          </a:p>
          <a:p>
            <a:r>
              <a:rPr lang="en-US" altLang="ko-KR" dirty="0"/>
              <a:t>          </a:t>
            </a:r>
            <a:r>
              <a:rPr lang="en-US" altLang="ko-KR" dirty="0" err="1"/>
              <a:t>chmod</a:t>
            </a:r>
            <a:r>
              <a:rPr lang="en-US" altLang="ko-KR" dirty="0"/>
              <a:t> +x /home/ubuntu/deploy.sh</a:t>
            </a:r>
          </a:p>
          <a:p>
            <a:r>
              <a:rPr lang="en-US" altLang="ko-KR" dirty="0"/>
              <a:t>          /home/ubuntu/deploy.sh</a:t>
            </a:r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963154-2A84-98C2-379F-B8A58A45FE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3629369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41BF8-3ADF-C996-88BA-5CC86B44F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7EF67D-E679-166C-4873-43951F8EEC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B22B688-869C-5EDC-3012-630F5E0B68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name: Deploy to EC2</a:t>
            </a:r>
          </a:p>
          <a:p>
            <a:endParaRPr lang="en-US" altLang="ko-KR" dirty="0"/>
          </a:p>
          <a:p>
            <a:r>
              <a:rPr lang="en-US" altLang="ko-KR" dirty="0"/>
              <a:t>on:</a:t>
            </a:r>
          </a:p>
          <a:p>
            <a:r>
              <a:rPr lang="en-US" altLang="ko-KR" dirty="0"/>
              <a:t>  push:</a:t>
            </a:r>
          </a:p>
          <a:p>
            <a:r>
              <a:rPr lang="en-US" altLang="ko-KR" dirty="0"/>
              <a:t>    branches:</a:t>
            </a:r>
          </a:p>
          <a:p>
            <a:r>
              <a:rPr lang="en-US" altLang="ko-KR" dirty="0"/>
              <a:t>      - master</a:t>
            </a:r>
          </a:p>
          <a:p>
            <a:endParaRPr lang="en-US" altLang="ko-KR" dirty="0"/>
          </a:p>
          <a:p>
            <a:r>
              <a:rPr lang="en-US" altLang="ko-KR" dirty="0"/>
              <a:t>jobs:</a:t>
            </a:r>
          </a:p>
          <a:p>
            <a:r>
              <a:rPr lang="en-US" altLang="ko-KR" dirty="0"/>
              <a:t>  deploy:</a:t>
            </a:r>
          </a:p>
          <a:p>
            <a:r>
              <a:rPr lang="en-US" altLang="ko-KR" dirty="0"/>
              <a:t>    runs-on: ubuntu-latest</a:t>
            </a:r>
          </a:p>
          <a:p>
            <a:endParaRPr lang="en-US" altLang="ko-KR" dirty="0"/>
          </a:p>
          <a:p>
            <a:r>
              <a:rPr lang="en-US" altLang="ko-KR" dirty="0"/>
              <a:t>    steps:</a:t>
            </a:r>
          </a:p>
          <a:p>
            <a:r>
              <a:rPr lang="en-US" altLang="ko-KR" dirty="0"/>
              <a:t>    - name: Checkout code</a:t>
            </a:r>
          </a:p>
          <a:p>
            <a:r>
              <a:rPr lang="en-US" altLang="ko-KR" dirty="0"/>
              <a:t>      uses: actions/checkout@v3</a:t>
            </a:r>
          </a:p>
          <a:p>
            <a:endParaRPr lang="en-US" altLang="ko-KR" dirty="0"/>
          </a:p>
          <a:p>
            <a:r>
              <a:rPr lang="en-US" altLang="ko-KR" dirty="0"/>
              <a:t>    - name: Set up JDK 11</a:t>
            </a:r>
          </a:p>
          <a:p>
            <a:r>
              <a:rPr lang="en-US" altLang="ko-KR" dirty="0"/>
              <a:t>      uses: actions/setup-java@v3</a:t>
            </a:r>
          </a:p>
          <a:p>
            <a:r>
              <a:rPr lang="en-US" altLang="ko-KR" dirty="0"/>
              <a:t>      with:</a:t>
            </a:r>
          </a:p>
          <a:p>
            <a:r>
              <a:rPr lang="en-US" altLang="ko-KR" dirty="0"/>
              <a:t>          java-version: '11'</a:t>
            </a:r>
          </a:p>
          <a:p>
            <a:r>
              <a:rPr lang="en-US" altLang="ko-KR" dirty="0"/>
              <a:t>          distribution: '</a:t>
            </a:r>
            <a:r>
              <a:rPr lang="en-US" altLang="ko-KR" dirty="0" err="1"/>
              <a:t>temurin</a:t>
            </a:r>
            <a:r>
              <a:rPr lang="en-US" altLang="ko-KR" dirty="0"/>
              <a:t>'</a:t>
            </a:r>
          </a:p>
          <a:p>
            <a:endParaRPr lang="en-US" altLang="ko-KR" dirty="0"/>
          </a:p>
          <a:p>
            <a:r>
              <a:rPr lang="en-US" altLang="ko-KR" dirty="0"/>
              <a:t>    - name: Build WAR using Maven</a:t>
            </a:r>
          </a:p>
          <a:p>
            <a:r>
              <a:rPr lang="en-US" altLang="ko-KR" dirty="0"/>
              <a:t>      run: </a:t>
            </a:r>
            <a:r>
              <a:rPr lang="en-US" altLang="ko-KR" dirty="0" err="1"/>
              <a:t>mvn</a:t>
            </a:r>
            <a:r>
              <a:rPr lang="en-US" altLang="ko-KR" dirty="0"/>
              <a:t> clean package -</a:t>
            </a:r>
            <a:r>
              <a:rPr lang="en-US" altLang="ko-KR" dirty="0" err="1"/>
              <a:t>Dmaven.test.skip</a:t>
            </a:r>
            <a:r>
              <a:rPr lang="en-US" altLang="ko-KR" dirty="0"/>
              <a:t>=true --file pom.xml</a:t>
            </a:r>
          </a:p>
          <a:p>
            <a:endParaRPr lang="en-US" altLang="ko-KR" dirty="0"/>
          </a:p>
          <a:p>
            <a:r>
              <a:rPr lang="en-US" altLang="ko-KR" dirty="0"/>
              <a:t>    - name: Check WAR file exists</a:t>
            </a:r>
          </a:p>
          <a:p>
            <a:r>
              <a:rPr lang="en-US" altLang="ko-KR" dirty="0"/>
              <a:t>      run: ls -</a:t>
            </a:r>
            <a:r>
              <a:rPr lang="en-US" altLang="ko-KR" dirty="0" err="1"/>
              <a:t>lh</a:t>
            </a:r>
            <a:r>
              <a:rPr lang="en-US" altLang="ko-KR" dirty="0"/>
              <a:t> target/</a:t>
            </a:r>
          </a:p>
          <a:p>
            <a:r>
              <a:rPr lang="en-US" altLang="ko-KR" dirty="0"/>
              <a:t>    </a:t>
            </a:r>
          </a:p>
          <a:p>
            <a:r>
              <a:rPr lang="en-US" altLang="ko-KR" dirty="0"/>
              <a:t>    - name: Upload WAR artifact</a:t>
            </a:r>
          </a:p>
          <a:p>
            <a:r>
              <a:rPr lang="en-US" altLang="ko-KR" dirty="0"/>
              <a:t>      uses: actions/upload-artifact@v4</a:t>
            </a:r>
          </a:p>
          <a:p>
            <a:r>
              <a:rPr lang="en-US" altLang="ko-KR" dirty="0"/>
              <a:t>      with:</a:t>
            </a:r>
          </a:p>
          <a:p>
            <a:r>
              <a:rPr lang="en-US" altLang="ko-KR" dirty="0"/>
              <a:t>        name: </a:t>
            </a:r>
            <a:r>
              <a:rPr lang="en-US" altLang="ko-KR" dirty="0" err="1"/>
              <a:t>springLegacyProject.war</a:t>
            </a:r>
            <a:endParaRPr lang="en-US" altLang="ko-KR" dirty="0"/>
          </a:p>
          <a:p>
            <a:r>
              <a:rPr lang="en-US" altLang="ko-KR" dirty="0"/>
              <a:t>        path: target/*.war    </a:t>
            </a:r>
          </a:p>
          <a:p>
            <a:r>
              <a:rPr lang="en-US" altLang="ko-KR" dirty="0"/>
              <a:t>    </a:t>
            </a:r>
          </a:p>
          <a:p>
            <a:r>
              <a:rPr lang="en-US" altLang="ko-KR" dirty="0"/>
              <a:t>    </a:t>
            </a:r>
          </a:p>
          <a:p>
            <a:r>
              <a:rPr lang="en-US" altLang="ko-KR" dirty="0"/>
              <a:t>    - name: Upload WAR to EC2</a:t>
            </a:r>
          </a:p>
          <a:p>
            <a:r>
              <a:rPr lang="en-US" altLang="ko-KR" dirty="0"/>
              <a:t>      uses: </a:t>
            </a:r>
            <a:r>
              <a:rPr lang="en-US" altLang="ko-KR" dirty="0" err="1"/>
              <a:t>appleboy</a:t>
            </a:r>
            <a:r>
              <a:rPr lang="en-US" altLang="ko-KR" dirty="0"/>
              <a:t>/scp-action@v0.1.4</a:t>
            </a:r>
          </a:p>
          <a:p>
            <a:r>
              <a:rPr lang="en-US" altLang="ko-KR" dirty="0"/>
              <a:t>      with:</a:t>
            </a:r>
          </a:p>
          <a:p>
            <a:r>
              <a:rPr lang="en-US" altLang="ko-KR" dirty="0"/>
              <a:t>        host: ${{ secrets.EC2_HOST }}</a:t>
            </a:r>
          </a:p>
          <a:p>
            <a:r>
              <a:rPr lang="en-US" altLang="ko-KR" dirty="0"/>
              <a:t>        username: ubuntu</a:t>
            </a:r>
          </a:p>
          <a:p>
            <a:r>
              <a:rPr lang="en-US" altLang="ko-KR" dirty="0"/>
              <a:t>        key: ${{ secrets.EC2_KEY }}</a:t>
            </a:r>
          </a:p>
          <a:p>
            <a:r>
              <a:rPr lang="en-US" altLang="ko-KR" dirty="0"/>
              <a:t>        source: "target/</a:t>
            </a:r>
            <a:r>
              <a:rPr lang="en-US" altLang="ko-KR" dirty="0" err="1"/>
              <a:t>springLegacyProject.war</a:t>
            </a:r>
            <a:r>
              <a:rPr lang="en-US" altLang="ko-KR" dirty="0"/>
              <a:t>"</a:t>
            </a:r>
          </a:p>
          <a:p>
            <a:r>
              <a:rPr lang="en-US" altLang="ko-KR" dirty="0"/>
              <a:t>        target: "/home/ubuntu/build/"</a:t>
            </a:r>
          </a:p>
          <a:p>
            <a:r>
              <a:rPr lang="en-US" altLang="ko-KR" dirty="0"/>
              <a:t>        </a:t>
            </a:r>
            <a:r>
              <a:rPr lang="en-US" altLang="ko-KR" dirty="0" err="1"/>
              <a:t>strip_components</a:t>
            </a:r>
            <a:r>
              <a:rPr lang="en-US" altLang="ko-KR" dirty="0"/>
              <a:t>: 1</a:t>
            </a:r>
          </a:p>
          <a:p>
            <a:endParaRPr lang="en-US" altLang="ko-KR" dirty="0"/>
          </a:p>
          <a:p>
            <a:r>
              <a:rPr lang="en-US" altLang="ko-KR" dirty="0"/>
              <a:t>   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   - name: Run deploy script</a:t>
            </a:r>
          </a:p>
          <a:p>
            <a:r>
              <a:rPr lang="en-US" altLang="ko-KR" dirty="0"/>
              <a:t>      uses: </a:t>
            </a:r>
            <a:r>
              <a:rPr lang="en-US" altLang="ko-KR" dirty="0" err="1"/>
              <a:t>appleboy</a:t>
            </a:r>
            <a:r>
              <a:rPr lang="en-US" altLang="ko-KR" dirty="0"/>
              <a:t>/ssh-action@v1.0.0</a:t>
            </a:r>
          </a:p>
          <a:p>
            <a:r>
              <a:rPr lang="en-US" altLang="ko-KR" dirty="0"/>
              <a:t>      with:</a:t>
            </a:r>
          </a:p>
          <a:p>
            <a:r>
              <a:rPr lang="en-US" altLang="ko-KR" dirty="0"/>
              <a:t>        host: ${{ secrets.EC2_HOST }}</a:t>
            </a:r>
          </a:p>
          <a:p>
            <a:r>
              <a:rPr lang="en-US" altLang="ko-KR" dirty="0"/>
              <a:t>        username: ubuntu</a:t>
            </a:r>
          </a:p>
          <a:p>
            <a:r>
              <a:rPr lang="en-US" altLang="ko-KR" dirty="0"/>
              <a:t>        key: ${{ secrets.EC2_KEY }}</a:t>
            </a:r>
          </a:p>
          <a:p>
            <a:r>
              <a:rPr lang="en-US" altLang="ko-KR" dirty="0"/>
              <a:t>        script: |</a:t>
            </a:r>
          </a:p>
          <a:p>
            <a:r>
              <a:rPr lang="en-US" altLang="ko-KR" dirty="0"/>
              <a:t>          </a:t>
            </a:r>
            <a:r>
              <a:rPr lang="en-US" altLang="ko-KR" dirty="0" err="1"/>
              <a:t>chmod</a:t>
            </a:r>
            <a:r>
              <a:rPr lang="en-US" altLang="ko-KR" dirty="0"/>
              <a:t> +x /home/ubuntu/deploy.sh</a:t>
            </a:r>
          </a:p>
          <a:p>
            <a:r>
              <a:rPr lang="en-US" altLang="ko-KR" dirty="0"/>
              <a:t>          /home/ubuntu/deploy.sh</a:t>
            </a:r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FE08D6-3119-5DB1-B1F9-9D2F8F6314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8922796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02498-B800-13F0-B1E0-675F7DD8A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E160BC-69F1-D274-C526-462906DC78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38415D-8AAF-2B26-21DA-075A443AB8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name: Deploy to EC2</a:t>
            </a:r>
          </a:p>
          <a:p>
            <a:endParaRPr lang="en-US" altLang="ko-KR" dirty="0"/>
          </a:p>
          <a:p>
            <a:r>
              <a:rPr lang="en-US" altLang="ko-KR" dirty="0"/>
              <a:t>on:</a:t>
            </a:r>
          </a:p>
          <a:p>
            <a:r>
              <a:rPr lang="en-US" altLang="ko-KR" dirty="0"/>
              <a:t>  push:</a:t>
            </a:r>
          </a:p>
          <a:p>
            <a:r>
              <a:rPr lang="en-US" altLang="ko-KR" dirty="0"/>
              <a:t>    branches:</a:t>
            </a:r>
          </a:p>
          <a:p>
            <a:r>
              <a:rPr lang="en-US" altLang="ko-KR" dirty="0"/>
              <a:t>      - master</a:t>
            </a:r>
          </a:p>
          <a:p>
            <a:endParaRPr lang="en-US" altLang="ko-KR" dirty="0"/>
          </a:p>
          <a:p>
            <a:r>
              <a:rPr lang="en-US" altLang="ko-KR" dirty="0"/>
              <a:t>jobs:</a:t>
            </a:r>
          </a:p>
          <a:p>
            <a:r>
              <a:rPr lang="en-US" altLang="ko-KR" dirty="0"/>
              <a:t>  deploy:</a:t>
            </a:r>
          </a:p>
          <a:p>
            <a:r>
              <a:rPr lang="en-US" altLang="ko-KR" dirty="0"/>
              <a:t>    runs-on: ubuntu-latest</a:t>
            </a:r>
          </a:p>
          <a:p>
            <a:endParaRPr lang="en-US" altLang="ko-KR" dirty="0"/>
          </a:p>
          <a:p>
            <a:r>
              <a:rPr lang="en-US" altLang="ko-KR" dirty="0"/>
              <a:t>    steps:</a:t>
            </a:r>
          </a:p>
          <a:p>
            <a:r>
              <a:rPr lang="en-US" altLang="ko-KR" dirty="0"/>
              <a:t>    - name: Checkout code</a:t>
            </a:r>
          </a:p>
          <a:p>
            <a:r>
              <a:rPr lang="en-US" altLang="ko-KR" dirty="0"/>
              <a:t>      uses: actions/checkout@v3</a:t>
            </a:r>
          </a:p>
          <a:p>
            <a:endParaRPr lang="en-US" altLang="ko-KR" dirty="0"/>
          </a:p>
          <a:p>
            <a:r>
              <a:rPr lang="en-US" altLang="ko-KR" dirty="0"/>
              <a:t>    - name: Set up JDK 11</a:t>
            </a:r>
          </a:p>
          <a:p>
            <a:r>
              <a:rPr lang="en-US" altLang="ko-KR" dirty="0"/>
              <a:t>      uses: actions/setup-java@v3</a:t>
            </a:r>
          </a:p>
          <a:p>
            <a:r>
              <a:rPr lang="en-US" altLang="ko-KR" dirty="0"/>
              <a:t>      with:</a:t>
            </a:r>
          </a:p>
          <a:p>
            <a:r>
              <a:rPr lang="en-US" altLang="ko-KR" dirty="0"/>
              <a:t>          java-version: '11'</a:t>
            </a:r>
          </a:p>
          <a:p>
            <a:r>
              <a:rPr lang="en-US" altLang="ko-KR" dirty="0"/>
              <a:t>          distribution: '</a:t>
            </a:r>
            <a:r>
              <a:rPr lang="en-US" altLang="ko-KR" dirty="0" err="1"/>
              <a:t>temurin</a:t>
            </a:r>
            <a:r>
              <a:rPr lang="en-US" altLang="ko-KR" dirty="0"/>
              <a:t>'</a:t>
            </a:r>
          </a:p>
          <a:p>
            <a:endParaRPr lang="en-US" altLang="ko-KR" dirty="0"/>
          </a:p>
          <a:p>
            <a:r>
              <a:rPr lang="en-US" altLang="ko-KR" dirty="0"/>
              <a:t>    - name: Build WAR using Maven</a:t>
            </a:r>
          </a:p>
          <a:p>
            <a:r>
              <a:rPr lang="en-US" altLang="ko-KR" dirty="0"/>
              <a:t>      run: </a:t>
            </a:r>
            <a:r>
              <a:rPr lang="en-US" altLang="ko-KR" dirty="0" err="1"/>
              <a:t>mvn</a:t>
            </a:r>
            <a:r>
              <a:rPr lang="en-US" altLang="ko-KR" dirty="0"/>
              <a:t> clean package -</a:t>
            </a:r>
            <a:r>
              <a:rPr lang="en-US" altLang="ko-KR" dirty="0" err="1"/>
              <a:t>Dmaven.test.skip</a:t>
            </a:r>
            <a:r>
              <a:rPr lang="en-US" altLang="ko-KR" dirty="0"/>
              <a:t>=true --file pom.xml</a:t>
            </a:r>
          </a:p>
          <a:p>
            <a:endParaRPr lang="en-US" altLang="ko-KR" dirty="0"/>
          </a:p>
          <a:p>
            <a:r>
              <a:rPr lang="en-US" altLang="ko-KR" dirty="0"/>
              <a:t>    - name: Check WAR file exists</a:t>
            </a:r>
          </a:p>
          <a:p>
            <a:r>
              <a:rPr lang="en-US" altLang="ko-KR" dirty="0"/>
              <a:t>      run: ls -</a:t>
            </a:r>
            <a:r>
              <a:rPr lang="en-US" altLang="ko-KR" dirty="0" err="1"/>
              <a:t>lh</a:t>
            </a:r>
            <a:r>
              <a:rPr lang="en-US" altLang="ko-KR" dirty="0"/>
              <a:t> target/</a:t>
            </a:r>
          </a:p>
          <a:p>
            <a:r>
              <a:rPr lang="en-US" altLang="ko-KR" dirty="0"/>
              <a:t>    </a:t>
            </a:r>
          </a:p>
          <a:p>
            <a:r>
              <a:rPr lang="en-US" altLang="ko-KR" dirty="0"/>
              <a:t>    - name: Upload WAR artifact</a:t>
            </a:r>
          </a:p>
          <a:p>
            <a:r>
              <a:rPr lang="en-US" altLang="ko-KR" dirty="0"/>
              <a:t>      uses: actions/upload-artifact@v4</a:t>
            </a:r>
          </a:p>
          <a:p>
            <a:r>
              <a:rPr lang="en-US" altLang="ko-KR" dirty="0"/>
              <a:t>      with:</a:t>
            </a:r>
          </a:p>
          <a:p>
            <a:r>
              <a:rPr lang="en-US" altLang="ko-KR" dirty="0"/>
              <a:t>        name: </a:t>
            </a:r>
            <a:r>
              <a:rPr lang="en-US" altLang="ko-KR" dirty="0" err="1"/>
              <a:t>springLegacyProject.war</a:t>
            </a:r>
            <a:endParaRPr lang="en-US" altLang="ko-KR" dirty="0"/>
          </a:p>
          <a:p>
            <a:r>
              <a:rPr lang="en-US" altLang="ko-KR" dirty="0"/>
              <a:t>        path: target/*.war    </a:t>
            </a:r>
          </a:p>
          <a:p>
            <a:r>
              <a:rPr lang="en-US" altLang="ko-KR" dirty="0"/>
              <a:t>    </a:t>
            </a:r>
          </a:p>
          <a:p>
            <a:r>
              <a:rPr lang="en-US" altLang="ko-KR" dirty="0"/>
              <a:t>    </a:t>
            </a:r>
          </a:p>
          <a:p>
            <a:r>
              <a:rPr lang="en-US" altLang="ko-KR" dirty="0"/>
              <a:t>    - name: Upload WAR to EC2</a:t>
            </a:r>
          </a:p>
          <a:p>
            <a:r>
              <a:rPr lang="en-US" altLang="ko-KR" dirty="0"/>
              <a:t>      uses: </a:t>
            </a:r>
            <a:r>
              <a:rPr lang="en-US" altLang="ko-KR" dirty="0" err="1"/>
              <a:t>appleboy</a:t>
            </a:r>
            <a:r>
              <a:rPr lang="en-US" altLang="ko-KR" dirty="0"/>
              <a:t>/scp-action@v0.1.4</a:t>
            </a:r>
          </a:p>
          <a:p>
            <a:r>
              <a:rPr lang="en-US" altLang="ko-KR" dirty="0"/>
              <a:t>      with:</a:t>
            </a:r>
          </a:p>
          <a:p>
            <a:r>
              <a:rPr lang="en-US" altLang="ko-KR" dirty="0"/>
              <a:t>        host: ${{ secrets.EC2_HOST }}</a:t>
            </a:r>
          </a:p>
          <a:p>
            <a:r>
              <a:rPr lang="en-US" altLang="ko-KR" dirty="0"/>
              <a:t>        username: ubuntu</a:t>
            </a:r>
          </a:p>
          <a:p>
            <a:r>
              <a:rPr lang="en-US" altLang="ko-KR" dirty="0"/>
              <a:t>        key: ${{ secrets.EC2_KEY }}</a:t>
            </a:r>
          </a:p>
          <a:p>
            <a:r>
              <a:rPr lang="en-US" altLang="ko-KR" dirty="0"/>
              <a:t>        source: "target/</a:t>
            </a:r>
            <a:r>
              <a:rPr lang="en-US" altLang="ko-KR" dirty="0" err="1"/>
              <a:t>springLegacyProject.war</a:t>
            </a:r>
            <a:r>
              <a:rPr lang="en-US" altLang="ko-KR" dirty="0"/>
              <a:t>"</a:t>
            </a:r>
          </a:p>
          <a:p>
            <a:r>
              <a:rPr lang="en-US" altLang="ko-KR" dirty="0"/>
              <a:t>        target: "/home/ubuntu/build/"</a:t>
            </a:r>
          </a:p>
          <a:p>
            <a:r>
              <a:rPr lang="en-US" altLang="ko-KR" dirty="0"/>
              <a:t>        </a:t>
            </a:r>
            <a:r>
              <a:rPr lang="en-US" altLang="ko-KR" dirty="0" err="1"/>
              <a:t>strip_components</a:t>
            </a:r>
            <a:r>
              <a:rPr lang="en-US" altLang="ko-KR" dirty="0"/>
              <a:t>: 1</a:t>
            </a:r>
          </a:p>
          <a:p>
            <a:endParaRPr lang="en-US" altLang="ko-KR" dirty="0"/>
          </a:p>
          <a:p>
            <a:r>
              <a:rPr lang="en-US" altLang="ko-KR" dirty="0"/>
              <a:t>   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   - name: Run deploy script</a:t>
            </a:r>
          </a:p>
          <a:p>
            <a:r>
              <a:rPr lang="en-US" altLang="ko-KR" dirty="0"/>
              <a:t>      uses: </a:t>
            </a:r>
            <a:r>
              <a:rPr lang="en-US" altLang="ko-KR" dirty="0" err="1"/>
              <a:t>appleboy</a:t>
            </a:r>
            <a:r>
              <a:rPr lang="en-US" altLang="ko-KR" dirty="0"/>
              <a:t>/ssh-action@v1.0.0</a:t>
            </a:r>
          </a:p>
          <a:p>
            <a:r>
              <a:rPr lang="en-US" altLang="ko-KR" dirty="0"/>
              <a:t>      with:</a:t>
            </a:r>
          </a:p>
          <a:p>
            <a:r>
              <a:rPr lang="en-US" altLang="ko-KR" dirty="0"/>
              <a:t>        host: ${{ secrets.EC2_HOST }}</a:t>
            </a:r>
          </a:p>
          <a:p>
            <a:r>
              <a:rPr lang="en-US" altLang="ko-KR" dirty="0"/>
              <a:t>        username: ubuntu</a:t>
            </a:r>
          </a:p>
          <a:p>
            <a:r>
              <a:rPr lang="en-US" altLang="ko-KR" dirty="0"/>
              <a:t>        key: ${{ secrets.EC2_KEY }}</a:t>
            </a:r>
          </a:p>
          <a:p>
            <a:r>
              <a:rPr lang="en-US" altLang="ko-KR" dirty="0"/>
              <a:t>        script: |</a:t>
            </a:r>
          </a:p>
          <a:p>
            <a:r>
              <a:rPr lang="en-US" altLang="ko-KR" dirty="0"/>
              <a:t>          </a:t>
            </a:r>
            <a:r>
              <a:rPr lang="en-US" altLang="ko-KR" dirty="0" err="1"/>
              <a:t>chmod</a:t>
            </a:r>
            <a:r>
              <a:rPr lang="en-US" altLang="ko-KR" dirty="0"/>
              <a:t> +x /home/ubuntu/deploy.sh</a:t>
            </a:r>
          </a:p>
          <a:p>
            <a:r>
              <a:rPr lang="en-US" altLang="ko-KR" dirty="0"/>
              <a:t>          /home/ubuntu/deploy.sh</a:t>
            </a:r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1A3D00-9510-69E7-C9A0-CE396B43F7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7683654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02BBC-2F58-47A2-8C95-2FC7F92F0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C9D6DF1-6741-545F-BD3C-3DA5604A6A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BBEF9D-B0A9-DE06-F873-F1B69AF343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GNU nano 7.2                                                                                                              ./deploy.sh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WAR_NAME=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springLegacyProject.war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APP_NAME=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springLegacyProject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TOMCAT_PATH=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"/opt/tomcat9/apache-tomcat-9.0.105"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WEBAPPS_PATH=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"$TOMCAT_PATH/webapps"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CONFIG_PATH=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"/home/ubuntu/config"</a:t>
            </a:r>
          </a:p>
          <a:p>
            <a:endParaRPr lang="ko-KR" altLang="en-US" sz="1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echo</a:t>
            </a:r>
            <a:r>
              <a:rPr lang="ko-KR" alt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[1] 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기존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WAR 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삭제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rm -f</a:t>
            </a:r>
            <a:r>
              <a:rPr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$WEBAPPS_PATH</a:t>
            </a:r>
            <a:r>
              <a:rPr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$WAR_NAME</a:t>
            </a:r>
          </a:p>
          <a:p>
            <a:endParaRPr lang="ko-KR" altLang="en-US" sz="1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echo</a:t>
            </a:r>
            <a:r>
              <a:rPr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[2] WAR 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복사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cp</a:t>
            </a:r>
            <a:r>
              <a:rPr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/home/ubuntu/build/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$WAR_NAME</a:t>
            </a:r>
            <a:r>
              <a:rPr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$WEBAPPS_PATH</a:t>
            </a:r>
            <a:r>
              <a:rPr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</a:p>
          <a:p>
            <a:endParaRPr lang="ko-KR" altLang="en-US" sz="12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echo</a:t>
            </a:r>
            <a:r>
              <a:rPr lang="ko-KR" alt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[3] Tomcat 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재시작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압축 해제를 위해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)"</a:t>
            </a:r>
          </a:p>
          <a:p>
            <a:r>
              <a:rPr lang="en-US" altLang="ko-KR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sudo</a:t>
            </a:r>
            <a:r>
              <a:rPr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$TOMCAT_PATH</a:t>
            </a:r>
            <a:r>
              <a:rPr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/bin/shutdown.sh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sleep 5</a:t>
            </a:r>
          </a:p>
          <a:p>
            <a:r>
              <a:rPr lang="en-US" altLang="ko-KR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sudo</a:t>
            </a:r>
            <a:r>
              <a:rPr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$TOMCAT_PATH</a:t>
            </a:r>
            <a:r>
              <a:rPr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/bin/startup.sh</a:t>
            </a:r>
          </a:p>
          <a:p>
            <a:endParaRPr lang="ko-KR" altLang="en-US" sz="12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echo</a:t>
            </a:r>
            <a:r>
              <a:rPr lang="ko-KR" alt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[4] WAR 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압축 해제 대기 중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..."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sleep 10 </a:t>
            </a:r>
            <a:r>
              <a:rPr lang="ko-KR" alt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 WAR </a:t>
            </a:r>
            <a:r>
              <a:rPr lang="ko-KR" alt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압축 해제 시간 확보</a:t>
            </a:r>
          </a:p>
          <a:p>
            <a:endParaRPr lang="ko-KR" altLang="en-US" sz="12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echo</a:t>
            </a:r>
            <a:r>
              <a:rPr lang="ko-KR" alt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[5] 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권한 변경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chown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sudo</a:t>
            </a:r>
            <a:r>
              <a:rPr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chown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-R</a:t>
            </a:r>
            <a:r>
              <a:rPr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ubuntu:ubuntu</a:t>
            </a:r>
            <a:r>
              <a:rPr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$WEBAPPS_PATH</a:t>
            </a:r>
            <a:r>
              <a:rPr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$APP_NAME</a:t>
            </a:r>
          </a:p>
          <a:p>
            <a:endParaRPr lang="ko-KR" altLang="en-US" sz="1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echo</a:t>
            </a:r>
            <a:r>
              <a:rPr lang="ko-KR" alt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[6] 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권한 변경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chmod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sudo</a:t>
            </a:r>
            <a:r>
              <a:rPr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find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$WEBAPPS_PATH</a:t>
            </a:r>
            <a:r>
              <a:rPr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$APP_NAME</a:t>
            </a:r>
            <a:r>
              <a:rPr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-type d -exec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chmod</a:t>
            </a:r>
            <a:r>
              <a:rPr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755 {} \;</a:t>
            </a:r>
          </a:p>
          <a:p>
            <a:r>
              <a:rPr lang="en-US" altLang="ko-KR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sudo</a:t>
            </a:r>
            <a:r>
              <a:rPr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find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$WEBAPPS_PATH</a:t>
            </a:r>
            <a:r>
              <a:rPr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$APP_NAME</a:t>
            </a:r>
            <a:r>
              <a:rPr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-type f -exec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chmod</a:t>
            </a:r>
            <a:r>
              <a:rPr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644 {} \;</a:t>
            </a:r>
          </a:p>
          <a:p>
            <a:endParaRPr lang="ko-KR" altLang="en-US" sz="12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echo</a:t>
            </a:r>
            <a:r>
              <a:rPr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[7] .properties 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파일 복사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cp</a:t>
            </a:r>
            <a:r>
              <a:rPr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$CONFIG_PATH</a:t>
            </a:r>
            <a:r>
              <a:rPr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/*.properties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$WEBAPPS_PATH</a:t>
            </a:r>
            <a:r>
              <a:rPr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$APP_NAME</a:t>
            </a:r>
            <a:r>
              <a:rPr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/WEB-INF/classes/</a:t>
            </a:r>
          </a:p>
          <a:p>
            <a:endParaRPr lang="ko-KR" altLang="en-US" sz="12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echo</a:t>
            </a:r>
            <a:r>
              <a:rPr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[8] Tomcat 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재시작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sudo</a:t>
            </a:r>
            <a:r>
              <a:rPr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$TOMCAT_PATH</a:t>
            </a:r>
            <a:r>
              <a:rPr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/bin/shutdown.sh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sleep 5</a:t>
            </a:r>
          </a:p>
          <a:p>
            <a:r>
              <a:rPr lang="en-US" altLang="ko-KR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sudo</a:t>
            </a:r>
            <a:r>
              <a:rPr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$TOMCAT_PATH</a:t>
            </a:r>
            <a:r>
              <a:rPr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/bin/startup.sh</a:t>
            </a:r>
          </a:p>
          <a:p>
            <a:endParaRPr lang="ko-KR" altLang="en-US" sz="12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echo</a:t>
            </a:r>
            <a:r>
              <a:rPr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✅ 배포 완료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B0DF41-D7BC-0D54-2A61-7A576EB9CC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862376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6949E-9141-4C02-4822-F5F164C0A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EABB164-99FB-498B-C0C0-DB10A1C1AC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C3C9CD-163D-ADBC-18CC-3A03CE1BB3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1853A7-9436-7D74-E0CC-ECEA60632B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5851697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E4E34-99B7-C66C-1659-33EB8D265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9BD0AA1-9579-1671-56D2-EED959166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AB03F4-196D-D49B-30B8-5F8FEEECEC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DD58AD-C599-0468-F83E-59C3860CBB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5926666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9A46F-07FA-D7F7-F08B-0D9D11580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B41016-4608-9212-B7EE-1D5FDE51A3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B8491B-5148-4B79-0CFA-AE8EE05EC7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&lt;!-- </a:t>
            </a:r>
            <a:r>
              <a:rPr lang="en-US" altLang="ko-KR" sz="1200" u="sng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mysql</a:t>
            </a:r>
            <a:r>
              <a:rPr lang="en-US" altLang="ko-KR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--&gt;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&lt;bean id=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dataSourceOriginal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class=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org.springframework.jdbc.datasource.DriverManagerDataSource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primary=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"true"&gt;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&lt;property name=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u="sng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driverClassName</a:t>
            </a:r>
            <a:r>
              <a:rPr lang="en-US" altLang="ko-KR" sz="1200" i="1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value="</a:t>
            </a:r>
            <a:r>
              <a:rPr lang="en-US" altLang="ko-KR" sz="1200" i="1" u="sng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com.mysql.cj.jdbc.Driver</a:t>
            </a:r>
            <a:r>
              <a:rPr lang="en-US" altLang="ko-KR" sz="1200" i="1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"/&gt;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&lt;property name=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u="sng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url</a:t>
            </a:r>
            <a:r>
              <a:rPr lang="en-US" altLang="ko-KR" sz="1200" i="1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value="</a:t>
            </a:r>
            <a:r>
              <a:rPr lang="en-US" altLang="ko-KR" sz="1200" i="1" u="sng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jdbc:mysql</a:t>
            </a:r>
            <a:r>
              <a:rPr lang="en-US" altLang="ko-KR" sz="1200" i="1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://mysql_db:3306/</a:t>
            </a:r>
            <a:r>
              <a:rPr lang="en-US" altLang="ko-KR" sz="1200" i="1" u="sng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edudb?characterEncoding</a:t>
            </a:r>
            <a:r>
              <a:rPr lang="en-US" altLang="ko-KR" sz="1200" i="1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=UTF-8&amp;amp;serverTimezone=Asia/Seoul"/&gt;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&lt;property name=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username" value="</a:t>
            </a:r>
            <a:r>
              <a:rPr lang="en-US" altLang="ko-KR" sz="1200" i="1" u="sng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jdbctest</a:t>
            </a:r>
            <a:r>
              <a:rPr lang="en-US" altLang="ko-KR" sz="1200" i="1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"/&gt;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&lt;property name=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password" value="</a:t>
            </a:r>
            <a:r>
              <a:rPr lang="en-US" altLang="ko-KR" sz="1200" i="1" u="sng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jdbctest</a:t>
            </a:r>
            <a:r>
              <a:rPr lang="en-US" altLang="ko-KR" sz="1200" i="1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"/&gt;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&lt;/bean&gt;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9E6064-9B96-2B30-FDAC-3FD37BC0B6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728054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9B392-3B39-99FD-1F0A-8583B5C76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6FE22C-6F9E-4C58-7F2E-FDBCFA7E5F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54BD5F-4487-0EA1-CF27-6FE162892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 1.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공식 </a:t>
            </a:r>
            <a:r>
              <a:rPr lang="en-US" altLang="ko-KR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Tomcat </a:t>
            </a:r>
            <a:r>
              <a:rPr lang="ko-KR" altLang="en-US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이미지 기반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</a:t>
            </a:r>
            <a:r>
              <a:rPr lang="en-US" altLang="ko-KR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tomcat:9.0-jdk17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 2. WAR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파일을 </a:t>
            </a:r>
            <a:r>
              <a:rPr lang="en-US" altLang="ko-KR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webapps </a:t>
            </a:r>
            <a:r>
              <a:rPr lang="ko-KR" altLang="en-US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디렉토리에 복사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 JAR_FILE=target/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springLegacyProject.war</a:t>
            </a:r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 ${JAR_FILE} /</a:t>
            </a:r>
            <a:r>
              <a:rPr lang="en-US" altLang="ko-KR" sz="1200" u="sng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usr</a:t>
            </a:r>
            <a:r>
              <a:rPr lang="en-US" altLang="ko-KR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/local/tomcat/webapps/</a:t>
            </a:r>
            <a:r>
              <a:rPr lang="en-US" altLang="ko-KR" sz="1200" u="sng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ROOT.war</a:t>
            </a:r>
            <a:endParaRPr lang="en-US" altLang="ko-KR" sz="1200" u="sng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 3. (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선택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기본 </a:t>
            </a:r>
            <a:r>
              <a:rPr lang="en-US" altLang="ko-KR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webapps </a:t>
            </a:r>
            <a:r>
              <a:rPr lang="ko-KR" altLang="en-US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제거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 </a:t>
            </a:r>
            <a:r>
              <a:rPr lang="en-US" altLang="ko-KR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rm -rf /</a:t>
            </a:r>
            <a:r>
              <a:rPr lang="en-US" altLang="ko-KR" sz="1200" u="sng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usr</a:t>
            </a:r>
            <a:r>
              <a:rPr lang="en-US" altLang="ko-KR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/local/tomcat/webapps/ROOT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 4.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포트 지정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톰캣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기본 포트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8080)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EXPOSE 8080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 5. </a:t>
            </a:r>
            <a:r>
              <a:rPr lang="ko-KR" alt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톰캣이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자동으로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ROOT.war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배포하여 실행됨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별도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CMD/ENTRYPOINT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는 필요 없음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altLang="ko-KR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tomcat </a:t>
            </a:r>
            <a:r>
              <a:rPr lang="ko-KR" altLang="en-US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이미지에 포함되어 있음</a:t>
            </a:r>
            <a:r>
              <a:rPr lang="en-US" altLang="ko-KR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506F78-0B2A-27D0-EC51-86EB3BFB49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701236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17E7F-0C9E-8320-8FA1-B9B11674B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448387-7222-C255-4F48-16C40380E8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587B8F-CC8C-EBCC-DB86-7E4CEF6FD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services: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mysql_db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image: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mysql</a:t>
            </a:r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container_name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mysql_db</a:t>
            </a:r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environment: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MYSQL_ROOT_PASSWORD: 1234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MYSQL_DATABASE: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edudb</a:t>
            </a:r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MYSQL_USER: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jdbctest</a:t>
            </a:r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MYSQL_PASSWORD: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jdbctest</a:t>
            </a:r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ports: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"3306:3306"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volumes: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-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vtest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:/var/lib/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mysql</a:t>
            </a:r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networks: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-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mynet</a:t>
            </a:r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spring_legacy_app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build: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context: .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dockerfile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Dockerfile</a:t>
            </a:r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container_name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spring_legacy_app</a:t>
            </a:r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depends_on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-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mysql_db</a:t>
            </a:r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ports: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"8080:8080"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networks: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-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mynet</a:t>
            </a:r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volumes: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vtest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external: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networks: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mynet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F710A1-98C8-FEA4-15D5-7F951B6B3F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268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2212830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12388-6AC9-189C-F1F0-BE83906E1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F58D48-5346-8BF1-B128-8BEEA2DDC5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39C2993-458A-B12B-FE4C-376B01530E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891936-5C6E-8FC0-EF1E-6893766FA2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269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9973129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9B154-D896-AB39-96BD-BB4571776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B1A991-038E-64B8-7726-29D7D64E3A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795F0C-7CF1-249D-ED52-10A3CE9808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042BB4-F48B-285A-F8FC-8D62A5278C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635846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1A899-146A-B354-1545-DBD59C781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C7016B-C43F-197B-BCE3-3E275EEDAE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6B87B4-4968-B83B-D220-8BDEB06EC4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1CEDC9-F52B-1963-BEF5-8BA476C760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271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1140837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D6371-DFF9-F500-E23A-2CE598F44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61AA43-A919-2625-C134-748B4193E5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4FE931-34E5-790E-6F7E-528052BC9A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6890B4-A69F-B5B9-96D7-E9EF28DD88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272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4761565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46F1D-C57D-972E-9F40-39A38DA65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583535-9C24-4B68-7BF9-169D1CF348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4C37D3-F89C-2B26-19F8-F01AFFBD16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A07FA8-C902-595A-335F-170DA0CEB7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273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6208893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5CCAA-46F0-59CF-55D6-5DB37B6A6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93A729-CB98-1586-4A7F-22CEAAB6E7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24DCC0-2EE4-5272-1607-9BCA8CFDEF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FE3292-B82D-47D6-3AB0-7833B3C9A8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274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7028816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F62AA-94DA-807A-723B-615D785DB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6799D6-6335-5ACC-5861-B93ACC39BD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E4A6DE-505E-4BEB-B07B-4C6B652CA8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13EDC8-0B89-BB44-E76A-D3F306212B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275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3743072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594BA-D550-A256-7384-D8E966D74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0BFB28-21B0-15D2-1CA2-FCE0689456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47D610-6384-0C75-5F38-E70DF0DE68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@Service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class S3Uploader {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@Value("${aws.accessKey}")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private String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accessKey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@Value("${aws.secretKey}")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private String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secretKey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@Value("${aws.region}")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private String region ;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private final AmazonS3 s3;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private final String bucket = "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shinhanbucket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S3Uploader( ) {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BasicAWSCredentials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creds =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BasicAWSCredentials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accessKey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secretKey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s3 = AmazonS3ClientBuilder.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standard()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.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withRegion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(region)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.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withCredentials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AWSStaticCredentialsProvider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(creds))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.build();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String upload(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MultipartFile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file, String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throws Exception {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String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fileName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"/" +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file.getOriginalFilename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ObjectMetadata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metadata =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ObjectMetadata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metadata.setContentLength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file.getSize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()); //  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InputStream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is =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file.getInputStream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s3.putObject(bucket,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fileName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is, metadata);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 s3.getUrl(bucket,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fileName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toString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  // S3 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공개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URL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@PreDestroy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void shutdown() {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(s3 != null) {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s3.shutdown();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14438A-9930-6E15-CD55-1274F33667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276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246246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B4365-5AF6-5103-15F3-57C550436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9A9335-1B43-61F2-8CF9-04F60E2835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03685E-A7A4-ABE0-E395-2D41BFEAFB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package com.shinhan.spring.controller.s3;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javax.servlet.http.HttpServletRequest;</a:t>
            </a:r>
          </a:p>
          <a:p>
            <a:r>
              <a:rPr lang="fr-FR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javax.servlet.http.HttpSession;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</a:t>
            </a:r>
            <a:r>
              <a:rPr lang="en-US" altLang="ko-KR" sz="1200" b="1" u="sng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org.springframework.beans.factory.annotation.Autowired</a:t>
            </a:r>
            <a:r>
              <a:rPr lang="en-US" altLang="ko-KR" sz="1200" b="1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</a:t>
            </a:r>
            <a:r>
              <a:rPr lang="en-US" altLang="ko-KR" sz="1200" b="1" u="sng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org.springframework.beans.factory.annotation.Value</a:t>
            </a:r>
            <a:r>
              <a:rPr lang="en-US" altLang="ko-KR" sz="1200" b="1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org.springframework.stereotype.Controller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org.springframework.web.bind.annotation.PostMapping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org.springframework.web.multipart.MultipartFile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org.springframework.web.multipart.MultipartHttpServletRequest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com.shinhan.spring.model.board.BoardDTO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com.shinhan.spring.model.board.BoardService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lombok.RequiredArgsConstructor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@Controller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@RequiredArgsConstructor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class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ImageUploadController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{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private final S3Uploader uploader ;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final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BoardService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boardService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@PostMapping("/upload.do")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String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uploadImage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</a:p>
          <a:p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MultipartHttpServletRequest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multipart  ,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HttpSession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session)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throws Exception {     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HttpServletRequest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request = (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HttpServletRequest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)multipart;</a:t>
            </a:r>
          </a:p>
          <a:p>
            <a:r>
              <a:rPr lang="it-IT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MultipartFile multipartFile1 = multipart.getFile("pic1");</a:t>
            </a:r>
          </a:p>
          <a:p>
            <a:r>
              <a:rPr lang="it-IT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MultipartFile multipartFile2 = multipart.getFile("pic2");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String imageUrl1 =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uploader.upload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(multipartFile1, "images");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String imageUrl2 =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uploader.upload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(multipartFile2, "images");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String title =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request.getParameter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("title");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String content =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request.getParameter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("content");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String writer =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request.getParameter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("writer");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BoardDTO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board =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BoardDTO.</a:t>
            </a:r>
            <a:r>
              <a:rPr lang="en-US" altLang="ko-K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builder</a:t>
            </a:r>
            <a:r>
              <a:rPr lang="en-US" altLang="ko-K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().title(title).writer(writer).pic1(imageUrl1).pic2(imageUrl2)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.content(content).build();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boardService.insertDept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(board);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 "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redirect:upload.do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";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ko-KR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5CBC58-A449-7F51-30EF-25B7FF2161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A73A8-F51F-4156-A768-408A5610988D}" type="slidenum">
              <a:rPr lang="ko-KR" altLang="en-US" smtClean="0"/>
              <a:t>277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2836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>
            <a:extLst>
              <a:ext uri="{FF2B5EF4-FFF2-40B4-BE49-F238E27FC236}">
                <a16:creationId xmlns:a16="http://schemas.microsoft.com/office/drawing/2014/main" id="{85C255CA-3593-4620-B4C5-DFFCDDE2520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83"/>
          <a:stretch/>
        </p:blipFill>
        <p:spPr bwMode="auto">
          <a:xfrm>
            <a:off x="0" y="0"/>
            <a:ext cx="12192000" cy="686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9DCCA-67EE-4E2A-8755-FA3F98C3DF1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84DFF-7D5E-434E-AACE-D9E04871B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3947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7672E61D-4285-4382-B7CB-104CF2FC16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3" b="87983"/>
          <a:stretch/>
        </p:blipFill>
        <p:spPr>
          <a:xfrm>
            <a:off x="0" y="1"/>
            <a:ext cx="12191999" cy="92804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03158" y="162344"/>
            <a:ext cx="10379242" cy="653411"/>
          </a:xfrm>
        </p:spPr>
        <p:txBody>
          <a:bodyPr>
            <a:normAutofit/>
          </a:bodyPr>
          <a:lstStyle>
            <a:lvl1pPr algn="l">
              <a:defRPr lang="ko-KR" altLang="en-US" sz="4000" b="0" kern="1200" cap="none" spc="0" dirty="0">
                <a:ln>
                  <a:noFill/>
                </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2700000" scaled="1"/>
                  <a:tileRect/>
                </a:gradFill>
                <a:effectLst/>
                <a:latin typeface="나눔스퀘어" panose="020B0600000101010101" pitchFamily="50" charset="-127"/>
                <a:ea typeface="나눔스퀘어" panose="020B0600000101010101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9DCCA-67EE-4E2A-8755-FA3F98C3DF1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84DFF-7D5E-434E-AACE-D9E04871BC1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43B716EA-673D-4CC4-8D7B-19B8B4EFE0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30275" y="1555750"/>
            <a:ext cx="10652125" cy="4395788"/>
          </a:xfrm>
        </p:spPr>
        <p:txBody>
          <a:bodyPr/>
          <a:lstStyle>
            <a:lvl1pPr marL="342900" indent="-342900">
              <a:lnSpc>
                <a:spcPct val="130000"/>
              </a:lnSpc>
              <a:spcBef>
                <a:spcPts val="1200"/>
              </a:spcBef>
              <a:buFont typeface="HY헤드라인M" panose="02030600000101010101" pitchFamily="18" charset="-127"/>
              <a:buChar char="▶"/>
              <a:defRPr kumimoji="0" lang="ko-KR" altLang="en-US" sz="2400" b="1" i="0" u="none" strike="noStrike" kern="1200" cap="none" spc="0" normalizeH="0" baseline="0" dirty="0" smtClean="0">
                <a:ln>
                  <a:noFill/>
                </a:ln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546100" indent="-273050">
              <a:lnSpc>
                <a:spcPct val="130000"/>
              </a:lnSpc>
              <a:spcBef>
                <a:spcPts val="600"/>
              </a:spcBef>
              <a:defRPr kumimoji="0" lang="ko-KR" altLang="en-US" sz="2200" b="1" i="0" u="none" strike="noStrike" kern="1200" cap="none" spc="0" normalizeH="0" baseline="0" dirty="0" smtClean="0">
                <a:ln>
                  <a:noFill/>
                </a:ln>
                <a:gradFill flip="none" rotWithShape="1">
                  <a:gsLst>
                    <a:gs pos="0">
                      <a:sysClr val="windowText" lastClr="000000">
                        <a:lumMod val="75000"/>
                        <a:lumOff val="25000"/>
                        <a:shade val="30000"/>
                        <a:satMod val="115000"/>
                      </a:sysClr>
                    </a:gs>
                    <a:gs pos="50000">
                      <a:sysClr val="windowText" lastClr="000000">
                        <a:lumMod val="75000"/>
                        <a:lumOff val="25000"/>
                        <a:shade val="67500"/>
                        <a:satMod val="115000"/>
                      </a:sysClr>
                    </a:gs>
                    <a:gs pos="100000">
                      <a:sysClr val="windowText" lastClr="000000">
                        <a:lumMod val="75000"/>
                        <a:lumOff val="25000"/>
                        <a:shade val="100000"/>
                        <a:satMod val="115000"/>
                      </a:sysClr>
                    </a:gs>
                  </a:gsLst>
                  <a:lin ang="16200000" scaled="1"/>
                  <a:tileRect/>
                </a:gra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defRPr>
            </a:lvl2pPr>
            <a:lvl3pPr>
              <a:lnSpc>
                <a:spcPct val="130000"/>
              </a:lnSpc>
              <a:spcBef>
                <a:spcPts val="600"/>
              </a:spcBef>
              <a:defRPr kumimoji="0" lang="ko-KR" altLang="en-US" sz="2200" b="1" i="0" u="none" strike="noStrike" kern="1200" cap="none" spc="0" normalizeH="0" baseline="0" dirty="0" smtClean="0">
                <a:ln>
                  <a:noFill/>
                </a:ln>
                <a:gradFill flip="none" rotWithShape="1">
                  <a:gsLst>
                    <a:gs pos="0">
                      <a:sysClr val="windowText" lastClr="000000">
                        <a:lumMod val="75000"/>
                        <a:lumOff val="25000"/>
                        <a:shade val="30000"/>
                        <a:satMod val="115000"/>
                      </a:sysClr>
                    </a:gs>
                    <a:gs pos="50000">
                      <a:sysClr val="windowText" lastClr="000000">
                        <a:lumMod val="75000"/>
                        <a:lumOff val="25000"/>
                        <a:shade val="67500"/>
                        <a:satMod val="115000"/>
                      </a:sysClr>
                    </a:gs>
                    <a:gs pos="100000">
                      <a:sysClr val="windowText" lastClr="000000">
                        <a:lumMod val="75000"/>
                        <a:lumOff val="25000"/>
                        <a:shade val="100000"/>
                        <a:satMod val="115000"/>
                      </a:sysClr>
                    </a:gs>
                  </a:gsLst>
                  <a:lin ang="16200000" scaled="1"/>
                  <a:tileRect/>
                </a:gra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defRPr>
            </a:lvl3pPr>
            <a:lvl4pPr>
              <a:lnSpc>
                <a:spcPct val="130000"/>
              </a:lnSpc>
              <a:spcBef>
                <a:spcPts val="600"/>
              </a:spcBef>
              <a:defRPr kumimoji="0" lang="ko-KR" altLang="en-US" sz="2200" b="1" i="0" u="none" strike="noStrike" kern="1200" cap="none" spc="0" normalizeH="0" baseline="0" dirty="0" smtClean="0">
                <a:ln>
                  <a:noFill/>
                </a:ln>
                <a:gradFill flip="none" rotWithShape="1">
                  <a:gsLst>
                    <a:gs pos="0">
                      <a:sysClr val="windowText" lastClr="000000">
                        <a:lumMod val="75000"/>
                        <a:lumOff val="25000"/>
                        <a:shade val="30000"/>
                        <a:satMod val="115000"/>
                      </a:sysClr>
                    </a:gs>
                    <a:gs pos="50000">
                      <a:sysClr val="windowText" lastClr="000000">
                        <a:lumMod val="75000"/>
                        <a:lumOff val="25000"/>
                        <a:shade val="67500"/>
                        <a:satMod val="115000"/>
                      </a:sysClr>
                    </a:gs>
                    <a:gs pos="100000">
                      <a:sysClr val="windowText" lastClr="000000">
                        <a:lumMod val="75000"/>
                        <a:lumOff val="25000"/>
                        <a:shade val="100000"/>
                        <a:satMod val="115000"/>
                      </a:sysClr>
                    </a:gs>
                  </a:gsLst>
                  <a:lin ang="16200000" scaled="1"/>
                  <a:tileRect/>
                </a:gra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defRPr>
            </a:lvl4pPr>
            <a:lvl5pPr>
              <a:lnSpc>
                <a:spcPct val="130000"/>
              </a:lnSpc>
              <a:spcBef>
                <a:spcPts val="600"/>
              </a:spcBef>
              <a:defRPr kumimoji="0" lang="ko-KR" altLang="en-US" sz="2200" b="1" i="0" u="none" strike="noStrike" kern="1200" cap="none" spc="0" normalizeH="0" baseline="0" dirty="0">
                <a:ln>
                  <a:noFill/>
                </a:ln>
                <a:gradFill flip="none" rotWithShape="1">
                  <a:gsLst>
                    <a:gs pos="0">
                      <a:sysClr val="windowText" lastClr="000000">
                        <a:lumMod val="75000"/>
                        <a:lumOff val="25000"/>
                        <a:shade val="30000"/>
                        <a:satMod val="115000"/>
                      </a:sysClr>
                    </a:gs>
                    <a:gs pos="50000">
                      <a:sysClr val="windowText" lastClr="000000">
                        <a:lumMod val="75000"/>
                        <a:lumOff val="25000"/>
                        <a:shade val="67500"/>
                        <a:satMod val="115000"/>
                      </a:sysClr>
                    </a:gs>
                    <a:gs pos="100000">
                      <a:sysClr val="windowText" lastClr="000000">
                        <a:lumMod val="75000"/>
                        <a:lumOff val="25000"/>
                        <a:shade val="100000"/>
                        <a:satMod val="115000"/>
                      </a:sysClr>
                    </a:gs>
                  </a:gsLst>
                  <a:lin ang="16200000" scaled="1"/>
                  <a:tileRect/>
                </a:gra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628373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9DCCA-67EE-4E2A-8755-FA3F98C3DF1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84DFF-7D5E-434E-AACE-D9E04871B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2499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9DCCA-67EE-4E2A-8755-FA3F98C3DF1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84DFF-7D5E-434E-AACE-D9E04871B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2053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9DCCA-67EE-4E2A-8755-FA3F98C3DF1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84DFF-7D5E-434E-AACE-D9E04871B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385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연한배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3" b="87983"/>
          <a:stretch/>
        </p:blipFill>
        <p:spPr>
          <a:xfrm>
            <a:off x="0" y="1"/>
            <a:ext cx="12191999" cy="92804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9DCCA-67EE-4E2A-8755-FA3F98C3DF1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84DFF-7D5E-434E-AACE-D9E04871BC1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46412" y="218364"/>
            <a:ext cx="9990161" cy="600502"/>
          </a:xfrm>
        </p:spPr>
        <p:txBody>
          <a:bodyPr>
            <a:noAutofit/>
          </a:bodyPr>
          <a:lstStyle>
            <a:lvl1pPr algn="l">
              <a:defRPr sz="4000" b="0" cap="none" spc="0">
                <a:ln>
                  <a:noFill/>
                </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2700000" scaled="1"/>
                  <a:tileRect/>
                </a:gradFill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972233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연한배경">
    <p:bg>
      <p:bgPr>
        <a:solidFill>
          <a:srgbClr val="0227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3" b="87983"/>
          <a:stretch/>
        </p:blipFill>
        <p:spPr>
          <a:xfrm>
            <a:off x="0" y="1"/>
            <a:ext cx="12191999" cy="92804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9DCCA-67EE-4E2A-8755-FA3F98C3DF1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84DFF-7D5E-434E-AACE-D9E04871BC1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46412" y="218364"/>
            <a:ext cx="9990161" cy="600502"/>
          </a:xfrm>
        </p:spPr>
        <p:txBody>
          <a:bodyPr>
            <a:noAutofit/>
          </a:bodyPr>
          <a:lstStyle>
            <a:lvl1pPr algn="l">
              <a:defRPr sz="4000" b="0" cap="none" spc="0">
                <a:ln>
                  <a:noFill/>
                </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2700000" scaled="1"/>
                  <a:tileRect/>
                </a:gradFill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8492956-99EE-49CD-AFA9-0A122D331AAE}"/>
              </a:ext>
            </a:extLst>
          </p:cNvPr>
          <p:cNvSpPr/>
          <p:nvPr userDrawn="1"/>
        </p:nvSpPr>
        <p:spPr>
          <a:xfrm>
            <a:off x="0" y="928049"/>
            <a:ext cx="12192000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6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665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진한배경2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9DCCA-67EE-4E2A-8755-FA3F98C3DF1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84DFF-7D5E-434E-AACE-D9E04871BC1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1F713B0-4BC1-40CA-96AA-0FC38D0674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3" b="87983"/>
          <a:stretch/>
        </p:blipFill>
        <p:spPr>
          <a:xfrm>
            <a:off x="0" y="1"/>
            <a:ext cx="12191999" cy="92804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71484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밝은 배경 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9DCCA-67EE-4E2A-8755-FA3F98C3DF1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84DFF-7D5E-434E-AACE-D9E04871BC1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C92C800-68F7-47C2-A459-1C26CFCFC4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3" b="87983"/>
          <a:stretch/>
        </p:blipFill>
        <p:spPr>
          <a:xfrm>
            <a:off x="0" y="1"/>
            <a:ext cx="12191999" cy="92804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76844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밝은 배경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9DCCA-67EE-4E2A-8755-FA3F98C3DF1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84DFF-7D5E-434E-AACE-D9E04871BC1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06BFAF8-C166-44DF-ADA9-C583873272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173" b="5455"/>
          <a:stretch/>
        </p:blipFill>
        <p:spPr bwMode="auto">
          <a:xfrm flipV="1">
            <a:off x="0" y="-1"/>
            <a:ext cx="12193588" cy="2565810"/>
          </a:xfrm>
          <a:custGeom>
            <a:avLst/>
            <a:gdLst>
              <a:gd name="connsiteX0" fmla="*/ 0 w 12193588"/>
              <a:gd name="connsiteY0" fmla="*/ 2565810 h 2565810"/>
              <a:gd name="connsiteX1" fmla="*/ 12193588 w 12193588"/>
              <a:gd name="connsiteY1" fmla="*/ 2565810 h 2565810"/>
              <a:gd name="connsiteX2" fmla="*/ 12193588 w 12193588"/>
              <a:gd name="connsiteY2" fmla="*/ 874791 h 2565810"/>
              <a:gd name="connsiteX3" fmla="*/ 12003185 w 12193588"/>
              <a:gd name="connsiteY3" fmla="*/ 1001983 h 2565810"/>
              <a:gd name="connsiteX4" fmla="*/ 343633 w 12193588"/>
              <a:gd name="connsiteY4" fmla="*/ 206214 h 2565810"/>
              <a:gd name="connsiteX5" fmla="*/ 0 w 12193588"/>
              <a:gd name="connsiteY5" fmla="*/ 0 h 256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3588" h="2565810">
                <a:moveTo>
                  <a:pt x="0" y="2565810"/>
                </a:moveTo>
                <a:lnTo>
                  <a:pt x="12193588" y="2565810"/>
                </a:lnTo>
                <a:lnTo>
                  <a:pt x="12193588" y="874791"/>
                </a:lnTo>
                <a:lnTo>
                  <a:pt x="12003185" y="1001983"/>
                </a:lnTo>
                <a:cubicBezTo>
                  <a:pt x="9628673" y="2485947"/>
                  <a:pt x="4622845" y="2670114"/>
                  <a:pt x="343633" y="206214"/>
                </a:cubicBez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86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진한배경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9DCCA-67EE-4E2A-8755-FA3F98C3DF1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84DFF-7D5E-434E-AACE-D9E04871BC1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55"/>
          <a:stretch/>
        </p:blipFill>
        <p:spPr bwMode="auto">
          <a:xfrm flipV="1">
            <a:off x="0" y="-1"/>
            <a:ext cx="12193588" cy="685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516418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목차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9DCCA-67EE-4E2A-8755-FA3F98C3DF1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84DFF-7D5E-434E-AACE-D9E04871BC1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51FCAF1F-909C-43F2-9FBB-3A98FCF616A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724"/>
          <a:stretch/>
        </p:blipFill>
        <p:spPr bwMode="auto">
          <a:xfrm>
            <a:off x="0" y="1"/>
            <a:ext cx="9906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3132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간지 슬라이드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0CC4F9EC-738D-4980-9967-A879B6BE640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262"/>
          <a:stretch/>
        </p:blipFill>
        <p:spPr bwMode="auto">
          <a:xfrm>
            <a:off x="0" y="0"/>
            <a:ext cx="6027454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9DCCA-67EE-4E2A-8755-FA3F98C3DF1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84DFF-7D5E-434E-AACE-D9E04871B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7943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간지 슬라이드 2">
    <p:bg>
      <p:bgPr>
        <a:solidFill>
          <a:srgbClr val="2535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1ECD9BA7-A012-47C1-A45E-BFB3AB3FEA4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428"/>
          <a:stretch/>
        </p:blipFill>
        <p:spPr bwMode="auto">
          <a:xfrm>
            <a:off x="1" y="0"/>
            <a:ext cx="5877039" cy="6858000"/>
          </a:xfrm>
          <a:custGeom>
            <a:avLst/>
            <a:gdLst>
              <a:gd name="connsiteX0" fmla="*/ 0 w 5877039"/>
              <a:gd name="connsiteY0" fmla="*/ 0 h 6858000"/>
              <a:gd name="connsiteX1" fmla="*/ 5877039 w 5877039"/>
              <a:gd name="connsiteY1" fmla="*/ 0 h 6858000"/>
              <a:gd name="connsiteX2" fmla="*/ 5641042 w 5877039"/>
              <a:gd name="connsiteY2" fmla="*/ 113441 h 6858000"/>
              <a:gd name="connsiteX3" fmla="*/ 1485900 w 5877039"/>
              <a:gd name="connsiteY3" fmla="*/ 4406900 h 6858000"/>
              <a:gd name="connsiteX4" fmla="*/ 4114800 w 5877039"/>
              <a:gd name="connsiteY4" fmla="*/ 6858000 h 6858000"/>
              <a:gd name="connsiteX5" fmla="*/ 0 w 5877039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77039" h="6858000">
                <a:moveTo>
                  <a:pt x="0" y="0"/>
                </a:moveTo>
                <a:lnTo>
                  <a:pt x="5877039" y="0"/>
                </a:lnTo>
                <a:lnTo>
                  <a:pt x="5641042" y="113441"/>
                </a:lnTo>
                <a:cubicBezTo>
                  <a:pt x="4042520" y="895797"/>
                  <a:pt x="2144712" y="2065337"/>
                  <a:pt x="1485900" y="4406900"/>
                </a:cubicBezTo>
                <a:cubicBezTo>
                  <a:pt x="2336800" y="5350933"/>
                  <a:pt x="3073400" y="6117167"/>
                  <a:pt x="4114800" y="6858000"/>
                </a:cubicBez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9DCCA-67EE-4E2A-8755-FA3F98C3DF1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84DFF-7D5E-434E-AACE-D9E04871B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8107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간지 슬라이드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9DCCA-67EE-4E2A-8755-FA3F98C3DF1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84DFF-7D5E-434E-AACE-D9E04871B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6116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9DCCA-67EE-4E2A-8755-FA3F98C3DF1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84DFF-7D5E-434E-AACE-D9E04871B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7889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9DCCA-67EE-4E2A-8755-FA3F98C3DF1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84DFF-7D5E-434E-AACE-D9E04871B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01602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9DCCA-67EE-4E2A-8755-FA3F98C3DF1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84DFF-7D5E-434E-AACE-D9E04871B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71091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9DCCA-67EE-4E2A-8755-FA3F98C3DF1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84DFF-7D5E-434E-AACE-D9E04871B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246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09DCCA-67EE-4E2A-8755-FA3F98C3DF1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84DFF-7D5E-434E-AACE-D9E04871B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178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51" r:id="rId7"/>
    <p:sldLayoutId id="2147483745" r:id="rId8"/>
    <p:sldLayoutId id="2147483747" r:id="rId9"/>
    <p:sldLayoutId id="2147483749" r:id="rId10"/>
    <p:sldLayoutId id="2147483739" r:id="rId11"/>
    <p:sldLayoutId id="2147483744" r:id="rId12"/>
    <p:sldLayoutId id="2147483746" r:id="rId13"/>
    <p:sldLayoutId id="2147483748" r:id="rId14"/>
    <p:sldLayoutId id="2147483750" r:id="rId15"/>
    <p:sldLayoutId id="2147483740" r:id="rId16"/>
    <p:sldLayoutId id="2147483741" r:id="rId17"/>
    <p:sldLayoutId id="2147483742" r:id="rId18"/>
    <p:sldLayoutId id="2147483743" r:id="rId19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pring.io/projects/spring-framework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pring.io/projects/spring-framework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jdk.java.net/11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github.com/spring-attic/toolsuite-distribution/wiki/Spring-Tool-Suite-3" TargetMode="External"/><Relationship Id="rId5" Type="http://schemas.openxmlformats.org/officeDocument/2006/relationships/hyperlink" Target="https://tomcat.apache.org/download-90.cgi" TargetMode="External"/><Relationship Id="rId4" Type="http://schemas.openxmlformats.org/officeDocument/2006/relationships/hyperlink" Target="http://www.oracle.com/kr/java/technologies/javase-jdk11-downloads.html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pring-attic/toolsuite-distribution/wiki/Spring-Tool-Suite-3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projectlombok.org/download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9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9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7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9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9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9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9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9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9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9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9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9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9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9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9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9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9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9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3.png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9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9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9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8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9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9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9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9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9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9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9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9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9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2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9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5.png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7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9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9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1.png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9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3.sv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9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9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9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9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9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9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9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9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9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9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9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2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4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9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9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9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9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9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9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1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9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4.png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9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9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0.png"/><Relationship Id="rId5" Type="http://schemas.openxmlformats.org/officeDocument/2006/relationships/image" Target="../media/image149.png"/><Relationship Id="rId4" Type="http://schemas.openxmlformats.org/officeDocument/2006/relationships/image" Target="../media/image148.png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9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9.xml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9.xml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9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9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9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9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9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9.xml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9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9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9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9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9.xml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8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9.xml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9.xml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2.png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9.xml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9.xml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9.xml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9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9.xml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9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3.xml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9.xml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9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9.xml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9.xml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9.xml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3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4.png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5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6.png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7.png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3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3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9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9.xml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9.xml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9.xml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9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3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9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9.xml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9.xml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9.xml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4.png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pn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9.xml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pn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9.xml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9.xml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9.xml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9.xml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1.png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9.xml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9.xml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png"/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9.xml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9.xml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9.xml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9.xml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pn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9.xml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9.xml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9.xml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9.xml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pn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9.xml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png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9.xml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9.xml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png"/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6.png"/></Relationships>
</file>

<file path=ppt/slides/_rels/slide2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png"/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9.xml"/></Relationships>
</file>

<file path=ppt/slides/_rels/slide2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9.xml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png"/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11.png"/><Relationship Id="rId5" Type="http://schemas.openxmlformats.org/officeDocument/2006/relationships/image" Target="../media/image210.png"/><Relationship Id="rId4" Type="http://schemas.openxmlformats.org/officeDocument/2006/relationships/image" Target="../media/image209.png"/></Relationships>
</file>

<file path=ppt/slides/_rels/slide2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png"/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9.xml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png"/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9.xml"/></Relationships>
</file>

<file path=ppt/slides/_rels/slide2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13.xml"/></Relationships>
</file>

<file path=ppt/slides/_rels/slide2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png"/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15.png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png"/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9.xml"/></Relationships>
</file>

<file path=ppt/slides/_rels/slide2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9.xml"/></Relationships>
</file>

<file path=ppt/slides/_rels/slide2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png"/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1.png"/><Relationship Id="rId5" Type="http://schemas.openxmlformats.org/officeDocument/2006/relationships/image" Target="../media/image220.png"/><Relationship Id="rId4" Type="http://schemas.openxmlformats.org/officeDocument/2006/relationships/image" Target="../media/image219.png"/></Relationships>
</file>

<file path=ppt/slides/_rels/slide2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png"/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9.xml"/></Relationships>
</file>

<file path=ppt/slides/_rels/slide2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png"/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9.xml"/></Relationships>
</file>

<file path=ppt/slides/_rels/slide2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4.png"/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5.png"/></Relationships>
</file>

<file path=ppt/slides/_rels/slide2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6.png"/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28.png"/><Relationship Id="rId4" Type="http://schemas.openxmlformats.org/officeDocument/2006/relationships/image" Target="../media/image227.png"/></Relationships>
</file>

<file path=ppt/slides/_rels/slide2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13.xml"/></Relationships>
</file>

<file path=ppt/slides/_rels/slide2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9.png"/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31.png"/><Relationship Id="rId4" Type="http://schemas.openxmlformats.org/officeDocument/2006/relationships/image" Target="../media/image230.png"/></Relationships>
</file>

<file path=ppt/slides/_rels/slide2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2.png"/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9.xml"/></Relationships>
</file>

<file path=ppt/slides/_rels/slide2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3.png"/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4.png"/></Relationships>
</file>

<file path=ppt/slides/_rels/slide2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png"/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9.xml"/></Relationships>
</file>

<file path=ppt/slides/_rels/slide2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6.png"/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9.xml"/></Relationships>
</file>

<file path=ppt/slides/_rels/slide2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7.png"/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9.xml"/></Relationships>
</file>

<file path=ppt/slides/_rels/slide2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13.xml"/></Relationships>
</file>

<file path=ppt/slides/_rels/slide2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8.png"/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9.xml"/></Relationships>
</file>

<file path=ppt/slides/_rels/slide2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9.png"/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9.xml"/></Relationships>
</file>

<file path=ppt/slides/_rels/slide2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42.png"/><Relationship Id="rId4" Type="http://schemas.openxmlformats.org/officeDocument/2006/relationships/image" Target="../media/image241.png"/></Relationships>
</file>

<file path=ppt/slides/_rels/slide2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9.xml"/></Relationships>
</file>

<file path=ppt/slides/_rels/slide2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13.xml"/></Relationships>
</file>

<file path=ppt/slides/_rels/slide2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png"/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45.png"/><Relationship Id="rId4" Type="http://schemas.openxmlformats.org/officeDocument/2006/relationships/image" Target="../media/image244.png"/></Relationships>
</file>

<file path=ppt/slides/_rels/slide2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6.png"/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9.xml"/></Relationships>
</file>

<file path=ppt/slides/_rels/slide273.xml.rels><?xml version="1.0" encoding="UTF-8" standalone="yes"?>
<Relationships xmlns="http://schemas.openxmlformats.org/package/2006/relationships"><Relationship Id="rId3" Type="http://schemas.openxmlformats.org/officeDocument/2006/relationships/hyperlink" Target="mailto:ubuntu@13.239.3.22:/home/ubuntu" TargetMode="External"/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9.xml"/></Relationships>
</file>

<file path=ppt/slides/_rels/slide2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13.xml"/></Relationships>
</file>

<file path=ppt/slides/_rels/slide2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7.png"/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9.xml"/></Relationships>
</file>

<file path=ppt/slides/_rels/slide2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8.png"/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49.png"/></Relationships>
</file>

<file path=ppt/slides/_rels/slide2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7921128" cy="1470025"/>
          </a:xfrm>
        </p:spPr>
        <p:txBody>
          <a:bodyPr>
            <a:normAutofit/>
          </a:bodyPr>
          <a:lstStyle/>
          <a:p>
            <a:pPr algn="l"/>
            <a:r>
              <a:rPr lang="en-US" altLang="ko-KR" sz="48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</a:rPr>
              <a:t>Spring Framework</a:t>
            </a:r>
            <a:endParaRPr lang="ko-KR" altLang="en-US" sz="48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7629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143A4F-252A-44A1-ADAD-9A068450D88C}"/>
              </a:ext>
            </a:extLst>
          </p:cNvPr>
          <p:cNvSpPr txBox="1"/>
          <p:nvPr/>
        </p:nvSpPr>
        <p:spPr>
          <a:xfrm>
            <a:off x="238667" y="630657"/>
            <a:ext cx="3889988" cy="8309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spcBef>
                <a:spcPct val="0"/>
              </a:spcBef>
              <a:buNone/>
              <a:defRPr sz="4800" b="1">
                <a:gradFill>
                  <a:gsLst>
                    <a:gs pos="0">
                      <a:schemeClr val="tx2"/>
                    </a:gs>
                    <a:gs pos="75000">
                      <a:schemeClr val="tx2">
                        <a:lumMod val="75000"/>
                      </a:schemeClr>
                    </a:gs>
                    <a:gs pos="100000">
                      <a:schemeClr val="tx2">
                        <a:lumMod val="50000"/>
                      </a:schemeClr>
                    </a:gs>
                  </a:gsLst>
                  <a:lin ang="5400000" scaled="0"/>
                </a:gradFill>
                <a:effectLst>
                  <a:outerShdw blurRad="50800" dist="39370" dir="5460000" algn="ctr" rotWithShape="0">
                    <a:srgbClr val="000000">
                      <a:alpha val="3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ko-KR" altLang="en-US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</a:rPr>
              <a:t>학습 순서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D3A16852-3B19-4B91-81AF-44A92A6D7C03}"/>
              </a:ext>
            </a:extLst>
          </p:cNvPr>
          <p:cNvGrpSpPr/>
          <p:nvPr/>
        </p:nvGrpSpPr>
        <p:grpSpPr>
          <a:xfrm>
            <a:off x="4793673" y="1191996"/>
            <a:ext cx="6442363" cy="810340"/>
            <a:chOff x="4793673" y="1205344"/>
            <a:chExt cx="6442363" cy="1080000"/>
          </a:xfrm>
        </p:grpSpPr>
        <p:sp>
          <p:nvSpPr>
            <p:cNvPr id="33" name="육각형 32"/>
            <p:cNvSpPr/>
            <p:nvPr/>
          </p:nvSpPr>
          <p:spPr>
            <a:xfrm>
              <a:off x="4793673" y="1205344"/>
              <a:ext cx="6442363" cy="1080000"/>
            </a:xfrm>
            <a:prstGeom prst="hexagon">
              <a:avLst>
                <a:gd name="adj" fmla="val 42671"/>
                <a:gd name="vf" fmla="val 11547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4" name="화살표: 오각형 3">
              <a:extLst>
                <a:ext uri="{FF2B5EF4-FFF2-40B4-BE49-F238E27FC236}">
                  <a16:creationId xmlns:a16="http://schemas.microsoft.com/office/drawing/2014/main" id="{3F788CB8-73AE-41C5-807C-AF14D1C85671}"/>
                </a:ext>
              </a:extLst>
            </p:cNvPr>
            <p:cNvSpPr/>
            <p:nvPr/>
          </p:nvSpPr>
          <p:spPr>
            <a:xfrm>
              <a:off x="5632954" y="1329846"/>
              <a:ext cx="5339846" cy="830996"/>
            </a:xfrm>
            <a:prstGeom prst="homePlat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C2C025D7-84D4-4546-BFD3-14F210208BCA}"/>
                </a:ext>
              </a:extLst>
            </p:cNvPr>
            <p:cNvSpPr/>
            <p:nvPr/>
          </p:nvSpPr>
          <p:spPr>
            <a:xfrm>
              <a:off x="5196182" y="1322781"/>
              <a:ext cx="845127" cy="845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</p:grpSp>
      <p:grpSp>
        <p:nvGrpSpPr>
          <p:cNvPr id="16" name="그룹 15"/>
          <p:cNvGrpSpPr/>
          <p:nvPr/>
        </p:nvGrpSpPr>
        <p:grpSpPr>
          <a:xfrm>
            <a:off x="5249895" y="1350105"/>
            <a:ext cx="4047618" cy="451997"/>
            <a:chOff x="5309613" y="1656674"/>
            <a:chExt cx="3206601" cy="554810"/>
          </a:xfrm>
        </p:grpSpPr>
        <p:sp>
          <p:nvSpPr>
            <p:cNvPr id="18" name="직사각형 17"/>
            <p:cNvSpPr/>
            <p:nvPr/>
          </p:nvSpPr>
          <p:spPr>
            <a:xfrm>
              <a:off x="6030979" y="1701058"/>
              <a:ext cx="2485235" cy="466042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defTabSz="1076865" eaLnBrk="0" latinLnBrk="0" hangingPunct="0">
                <a:spcAft>
                  <a:spcPts val="486"/>
                </a:spcAft>
                <a:buSzPct val="100000"/>
                <a:defRPr/>
              </a:pPr>
              <a:r>
                <a:rPr lang="ko-KR" altLang="en-US" sz="360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16200000" scaled="1"/>
                  </a:gradFill>
                  <a:latin typeface="HY견고딕" pitchFamily="18" charset="-127"/>
                  <a:ea typeface="HY견고딕" pitchFamily="18" charset="-127"/>
                </a:rPr>
                <a:t>개발환경 </a:t>
              </a:r>
              <a:endParaRPr lang="ko-KR" altLang="en-US" sz="36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16200000" scaled="1"/>
                </a:gradFill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5309613" y="1656674"/>
              <a:ext cx="531925" cy="554810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4400" b="1" i="0" u="none" strike="noStrike" kern="0" normalizeH="0" baseline="0" noProof="0" dirty="0">
                  <a:ln w="2857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uLnTx/>
                  <a:uFillTx/>
                  <a:latin typeface="HY견명조" panose="02030600000101010101" pitchFamily="18" charset="-127"/>
                  <a:ea typeface="HY견명조" panose="02030600000101010101" pitchFamily="18" charset="-127"/>
                </a:rPr>
                <a:t>Ⅰ</a:t>
              </a:r>
              <a:endParaRPr kumimoji="0" lang="ko-KR" altLang="en-US" sz="4400" b="1" i="0" u="none" strike="noStrike" kern="0" normalizeH="0" baseline="0" noProof="0" dirty="0">
                <a:ln w="2857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</p:grp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313E1BF-4A3B-4B72-8DFF-AC09F12DF342}"/>
              </a:ext>
            </a:extLst>
          </p:cNvPr>
          <p:cNvSpPr/>
          <p:nvPr/>
        </p:nvSpPr>
        <p:spPr>
          <a:xfrm>
            <a:off x="5526361" y="2652431"/>
            <a:ext cx="184730" cy="769441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400" b="1" i="0" u="none" strike="noStrike" kern="0" normalizeH="0" baseline="0" noProof="0" dirty="0">
              <a:ln w="2857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3A16852-3B19-4B91-81AF-44A92A6D7C03}"/>
              </a:ext>
            </a:extLst>
          </p:cNvPr>
          <p:cNvGrpSpPr/>
          <p:nvPr/>
        </p:nvGrpSpPr>
        <p:grpSpPr>
          <a:xfrm>
            <a:off x="4785897" y="2098558"/>
            <a:ext cx="6442363" cy="810340"/>
            <a:chOff x="4793673" y="1205344"/>
            <a:chExt cx="6442363" cy="1080000"/>
          </a:xfrm>
        </p:grpSpPr>
        <p:sp>
          <p:nvSpPr>
            <p:cNvPr id="36" name="육각형 35"/>
            <p:cNvSpPr/>
            <p:nvPr/>
          </p:nvSpPr>
          <p:spPr>
            <a:xfrm>
              <a:off x="4793673" y="1205344"/>
              <a:ext cx="6442363" cy="1080000"/>
            </a:xfrm>
            <a:prstGeom prst="hexagon">
              <a:avLst>
                <a:gd name="adj" fmla="val 42671"/>
                <a:gd name="vf" fmla="val 11547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7" name="화살표: 오각형 3">
              <a:extLst>
                <a:ext uri="{FF2B5EF4-FFF2-40B4-BE49-F238E27FC236}">
                  <a16:creationId xmlns:a16="http://schemas.microsoft.com/office/drawing/2014/main" id="{3F788CB8-73AE-41C5-807C-AF14D1C85671}"/>
                </a:ext>
              </a:extLst>
            </p:cNvPr>
            <p:cNvSpPr/>
            <p:nvPr/>
          </p:nvSpPr>
          <p:spPr>
            <a:xfrm>
              <a:off x="5632954" y="1329846"/>
              <a:ext cx="5339846" cy="830996"/>
            </a:xfrm>
            <a:prstGeom prst="homePlat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C2C025D7-84D4-4546-BFD3-14F210208BCA}"/>
                </a:ext>
              </a:extLst>
            </p:cNvPr>
            <p:cNvSpPr/>
            <p:nvPr/>
          </p:nvSpPr>
          <p:spPr>
            <a:xfrm>
              <a:off x="5196182" y="1322781"/>
              <a:ext cx="845127" cy="845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</p:grpSp>
      <p:grpSp>
        <p:nvGrpSpPr>
          <p:cNvPr id="39" name="그룹 38"/>
          <p:cNvGrpSpPr/>
          <p:nvPr/>
        </p:nvGrpSpPr>
        <p:grpSpPr>
          <a:xfrm>
            <a:off x="5208986" y="2097945"/>
            <a:ext cx="4080752" cy="769441"/>
            <a:chOff x="5283364" y="1461848"/>
            <a:chExt cx="3232850" cy="944461"/>
          </a:xfrm>
        </p:grpSpPr>
        <p:sp>
          <p:nvSpPr>
            <p:cNvPr id="40" name="직사각형 39"/>
            <p:cNvSpPr/>
            <p:nvPr/>
          </p:nvSpPr>
          <p:spPr>
            <a:xfrm>
              <a:off x="6030979" y="1537405"/>
              <a:ext cx="2485235" cy="793348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defTabSz="1076865" eaLnBrk="0" latinLnBrk="0" hangingPunct="0">
                <a:spcAft>
                  <a:spcPts val="486"/>
                </a:spcAft>
                <a:buSzPct val="100000"/>
                <a:defRPr/>
              </a:pPr>
              <a:r>
                <a:rPr lang="en-US" altLang="ko-KR" sz="360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16200000" scaled="1"/>
                  </a:gradFill>
                  <a:latin typeface="HY견고딕" pitchFamily="18" charset="-127"/>
                  <a:ea typeface="HY견고딕" pitchFamily="18" charset="-127"/>
                </a:rPr>
                <a:t>Spring</a:t>
              </a:r>
              <a:r>
                <a:rPr lang="ko-KR" altLang="en-US" sz="360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16200000" scaled="1"/>
                  </a:gradFill>
                  <a:latin typeface="HY견고딕" pitchFamily="18" charset="-127"/>
                  <a:ea typeface="HY견고딕" pitchFamily="18" charset="-127"/>
                </a:rPr>
                <a:t>개요 </a:t>
              </a:r>
              <a:endParaRPr lang="ko-KR" altLang="en-US" sz="36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16200000" scaled="1"/>
                </a:gradFill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5283364" y="1461848"/>
              <a:ext cx="584422" cy="94446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lvl="0" algn="ctr" latinLnBrk="0">
                <a:defRPr/>
              </a:pPr>
              <a:r>
                <a:rPr lang="en-US" altLang="ko-KR" sz="4400" b="1" kern="0">
                  <a:ln w="2857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HY견명조" panose="02030600000101010101" pitchFamily="18" charset="-127"/>
                  <a:ea typeface="HY견명조" panose="02030600000101010101" pitchFamily="18" charset="-127"/>
                </a:rPr>
                <a:t>Ⅱ</a:t>
              </a:r>
              <a:endParaRPr kumimoji="0" lang="ko-KR" altLang="en-US" sz="4400" b="1" i="0" u="none" strike="noStrike" kern="0" normalizeH="0" baseline="0" noProof="0" dirty="0">
                <a:ln w="2857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D3A16852-3B19-4B91-81AF-44A92A6D7C03}"/>
              </a:ext>
            </a:extLst>
          </p:cNvPr>
          <p:cNvGrpSpPr/>
          <p:nvPr/>
        </p:nvGrpSpPr>
        <p:grpSpPr>
          <a:xfrm>
            <a:off x="4784795" y="3005120"/>
            <a:ext cx="6442363" cy="810340"/>
            <a:chOff x="4793673" y="1205344"/>
            <a:chExt cx="6442363" cy="1080000"/>
          </a:xfrm>
        </p:grpSpPr>
        <p:sp>
          <p:nvSpPr>
            <p:cNvPr id="44" name="육각형 43"/>
            <p:cNvSpPr/>
            <p:nvPr/>
          </p:nvSpPr>
          <p:spPr>
            <a:xfrm>
              <a:off x="4793673" y="1205344"/>
              <a:ext cx="6442363" cy="1080000"/>
            </a:xfrm>
            <a:prstGeom prst="hexagon">
              <a:avLst>
                <a:gd name="adj" fmla="val 42671"/>
                <a:gd name="vf" fmla="val 11547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45" name="화살표: 오각형 3">
              <a:extLst>
                <a:ext uri="{FF2B5EF4-FFF2-40B4-BE49-F238E27FC236}">
                  <a16:creationId xmlns:a16="http://schemas.microsoft.com/office/drawing/2014/main" id="{3F788CB8-73AE-41C5-807C-AF14D1C85671}"/>
                </a:ext>
              </a:extLst>
            </p:cNvPr>
            <p:cNvSpPr/>
            <p:nvPr/>
          </p:nvSpPr>
          <p:spPr>
            <a:xfrm>
              <a:off x="5632954" y="1329846"/>
              <a:ext cx="5339846" cy="830996"/>
            </a:xfrm>
            <a:prstGeom prst="homePlat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C2C025D7-84D4-4546-BFD3-14F210208BCA}"/>
                </a:ext>
              </a:extLst>
            </p:cNvPr>
            <p:cNvSpPr/>
            <p:nvPr/>
          </p:nvSpPr>
          <p:spPr>
            <a:xfrm>
              <a:off x="5196182" y="1322781"/>
              <a:ext cx="845127" cy="845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</p:grpSp>
      <p:grpSp>
        <p:nvGrpSpPr>
          <p:cNvPr id="47" name="그룹 46"/>
          <p:cNvGrpSpPr/>
          <p:nvPr/>
        </p:nvGrpSpPr>
        <p:grpSpPr>
          <a:xfrm>
            <a:off x="5207884" y="3004507"/>
            <a:ext cx="4080752" cy="769441"/>
            <a:chOff x="5283364" y="1461848"/>
            <a:chExt cx="3232850" cy="944461"/>
          </a:xfrm>
        </p:grpSpPr>
        <p:sp>
          <p:nvSpPr>
            <p:cNvPr id="48" name="직사각형 47"/>
            <p:cNvSpPr/>
            <p:nvPr/>
          </p:nvSpPr>
          <p:spPr>
            <a:xfrm>
              <a:off x="6030979" y="1537405"/>
              <a:ext cx="2485235" cy="793348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defTabSz="1076865" eaLnBrk="0" latinLnBrk="0" hangingPunct="0">
                <a:spcAft>
                  <a:spcPts val="486"/>
                </a:spcAft>
                <a:buSzPct val="100000"/>
                <a:defRPr/>
              </a:pPr>
              <a:r>
                <a:rPr lang="en-US" altLang="ko-KR" sz="360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16200000" scaled="1"/>
                  </a:gradFill>
                  <a:latin typeface="HY견고딕" pitchFamily="18" charset="-127"/>
                  <a:ea typeface="HY견고딕" pitchFamily="18" charset="-127"/>
                </a:rPr>
                <a:t>IOC</a:t>
              </a:r>
              <a:r>
                <a:rPr lang="ko-KR" altLang="en-US" sz="360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16200000" scaled="1"/>
                  </a:gradFill>
                  <a:latin typeface="HY견고딕" pitchFamily="18" charset="-127"/>
                  <a:ea typeface="HY견고딕" pitchFamily="18" charset="-127"/>
                </a:rPr>
                <a:t>와 </a:t>
              </a:r>
              <a:r>
                <a:rPr lang="en-US" altLang="ko-KR" sz="360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16200000" scaled="1"/>
                  </a:gradFill>
                  <a:latin typeface="HY견고딕" pitchFamily="18" charset="-127"/>
                  <a:ea typeface="HY견고딕" pitchFamily="18" charset="-127"/>
                </a:rPr>
                <a:t>DI</a:t>
              </a:r>
              <a:endParaRPr lang="ko-KR" altLang="en-US" sz="36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16200000" scaled="1"/>
                </a:gradFill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5283364" y="1461848"/>
              <a:ext cx="584422" cy="94446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lvl="0" algn="ctr" latinLnBrk="0">
                <a:defRPr/>
              </a:pPr>
              <a:r>
                <a:rPr lang="en-US" altLang="ko-KR" sz="4400" b="1" kern="0">
                  <a:ln w="2857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HY견명조" panose="02030600000101010101" pitchFamily="18" charset="-127"/>
                  <a:ea typeface="HY견명조" panose="02030600000101010101" pitchFamily="18" charset="-127"/>
                </a:rPr>
                <a:t>Ⅲ</a:t>
              </a:r>
              <a:endParaRPr kumimoji="0" lang="ko-KR" altLang="en-US" sz="4400" b="1" i="0" u="none" strike="noStrike" kern="0" normalizeH="0" baseline="0" noProof="0" dirty="0">
                <a:ln w="2857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D3A16852-3B19-4B91-81AF-44A92A6D7C03}"/>
              </a:ext>
            </a:extLst>
          </p:cNvPr>
          <p:cNvGrpSpPr/>
          <p:nvPr/>
        </p:nvGrpSpPr>
        <p:grpSpPr>
          <a:xfrm>
            <a:off x="4784794" y="3905008"/>
            <a:ext cx="6442363" cy="810340"/>
            <a:chOff x="4793673" y="1205344"/>
            <a:chExt cx="6442363" cy="1080000"/>
          </a:xfrm>
        </p:grpSpPr>
        <p:sp>
          <p:nvSpPr>
            <p:cNvPr id="69" name="육각형 68"/>
            <p:cNvSpPr/>
            <p:nvPr/>
          </p:nvSpPr>
          <p:spPr>
            <a:xfrm>
              <a:off x="4793673" y="1205344"/>
              <a:ext cx="6442363" cy="1080000"/>
            </a:xfrm>
            <a:prstGeom prst="hexagon">
              <a:avLst>
                <a:gd name="adj" fmla="val 42671"/>
                <a:gd name="vf" fmla="val 11547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70" name="화살표: 오각형 3">
              <a:extLst>
                <a:ext uri="{FF2B5EF4-FFF2-40B4-BE49-F238E27FC236}">
                  <a16:creationId xmlns:a16="http://schemas.microsoft.com/office/drawing/2014/main" id="{3F788CB8-73AE-41C5-807C-AF14D1C85671}"/>
                </a:ext>
              </a:extLst>
            </p:cNvPr>
            <p:cNvSpPr/>
            <p:nvPr/>
          </p:nvSpPr>
          <p:spPr>
            <a:xfrm>
              <a:off x="5632954" y="1329846"/>
              <a:ext cx="5339846" cy="830996"/>
            </a:xfrm>
            <a:prstGeom prst="homePlat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C2C025D7-84D4-4546-BFD3-14F210208BCA}"/>
                </a:ext>
              </a:extLst>
            </p:cNvPr>
            <p:cNvSpPr/>
            <p:nvPr/>
          </p:nvSpPr>
          <p:spPr>
            <a:xfrm>
              <a:off x="5196182" y="1322781"/>
              <a:ext cx="845127" cy="845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</p:grpSp>
      <p:grpSp>
        <p:nvGrpSpPr>
          <p:cNvPr id="72" name="그룹 71"/>
          <p:cNvGrpSpPr/>
          <p:nvPr/>
        </p:nvGrpSpPr>
        <p:grpSpPr>
          <a:xfrm>
            <a:off x="5220130" y="3904395"/>
            <a:ext cx="4080752" cy="769441"/>
            <a:chOff x="5283364" y="1461848"/>
            <a:chExt cx="3232850" cy="944461"/>
          </a:xfrm>
        </p:grpSpPr>
        <p:sp>
          <p:nvSpPr>
            <p:cNvPr id="73" name="직사각형 72"/>
            <p:cNvSpPr/>
            <p:nvPr/>
          </p:nvSpPr>
          <p:spPr>
            <a:xfrm>
              <a:off x="6030979" y="1537405"/>
              <a:ext cx="2485235" cy="793348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defTabSz="1076865" eaLnBrk="0" latinLnBrk="0" hangingPunct="0">
                <a:spcAft>
                  <a:spcPts val="486"/>
                </a:spcAft>
                <a:buSzPct val="100000"/>
                <a:defRPr/>
              </a:pPr>
              <a:r>
                <a:rPr lang="en-US" altLang="ko-KR" sz="360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16200000" scaled="1"/>
                  </a:gradFill>
                  <a:latin typeface="HY견고딕" pitchFamily="18" charset="-127"/>
                  <a:ea typeface="HY견고딕" pitchFamily="18" charset="-127"/>
                </a:rPr>
                <a:t>AOP</a:t>
              </a:r>
              <a:endParaRPr lang="ko-KR" altLang="en-US" sz="36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16200000" scaled="1"/>
                </a:gradFill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74" name="직사각형 73"/>
            <p:cNvSpPr/>
            <p:nvPr/>
          </p:nvSpPr>
          <p:spPr>
            <a:xfrm>
              <a:off x="5283364" y="1461848"/>
              <a:ext cx="584422" cy="94446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lvl="0" algn="ctr" latinLnBrk="0">
                <a:defRPr/>
              </a:pPr>
              <a:r>
                <a:rPr lang="en-US" altLang="ko-KR" sz="4400" b="1" kern="0">
                  <a:ln w="2857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HY견명조" panose="02030600000101010101" pitchFamily="18" charset="-127"/>
                  <a:ea typeface="HY견명조" panose="02030600000101010101" pitchFamily="18" charset="-127"/>
                </a:rPr>
                <a:t>Ⅳ</a:t>
              </a:r>
              <a:endParaRPr kumimoji="0" lang="ko-KR" altLang="en-US" sz="4400" b="1" i="0" u="none" strike="noStrike" kern="0" normalizeH="0" baseline="0" noProof="0" dirty="0">
                <a:ln w="2857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D3A16852-3B19-4B91-81AF-44A92A6D7C03}"/>
              </a:ext>
            </a:extLst>
          </p:cNvPr>
          <p:cNvGrpSpPr/>
          <p:nvPr/>
        </p:nvGrpSpPr>
        <p:grpSpPr>
          <a:xfrm>
            <a:off x="4790366" y="4818244"/>
            <a:ext cx="6442363" cy="810340"/>
            <a:chOff x="4793673" y="1205344"/>
            <a:chExt cx="6442363" cy="1080000"/>
          </a:xfrm>
        </p:grpSpPr>
        <p:sp>
          <p:nvSpPr>
            <p:cNvPr id="76" name="육각형 75"/>
            <p:cNvSpPr/>
            <p:nvPr/>
          </p:nvSpPr>
          <p:spPr>
            <a:xfrm>
              <a:off x="4793673" y="1205344"/>
              <a:ext cx="6442363" cy="1080000"/>
            </a:xfrm>
            <a:prstGeom prst="hexagon">
              <a:avLst>
                <a:gd name="adj" fmla="val 42671"/>
                <a:gd name="vf" fmla="val 11547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77" name="화살표: 오각형 3">
              <a:extLst>
                <a:ext uri="{FF2B5EF4-FFF2-40B4-BE49-F238E27FC236}">
                  <a16:creationId xmlns:a16="http://schemas.microsoft.com/office/drawing/2014/main" id="{3F788CB8-73AE-41C5-807C-AF14D1C85671}"/>
                </a:ext>
              </a:extLst>
            </p:cNvPr>
            <p:cNvSpPr/>
            <p:nvPr/>
          </p:nvSpPr>
          <p:spPr>
            <a:xfrm>
              <a:off x="5632954" y="1329846"/>
              <a:ext cx="5339846" cy="830996"/>
            </a:xfrm>
            <a:prstGeom prst="homePlat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C2C025D7-84D4-4546-BFD3-14F210208BCA}"/>
                </a:ext>
              </a:extLst>
            </p:cNvPr>
            <p:cNvSpPr/>
            <p:nvPr/>
          </p:nvSpPr>
          <p:spPr>
            <a:xfrm>
              <a:off x="5196182" y="1322781"/>
              <a:ext cx="845127" cy="845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5283410" y="4817631"/>
            <a:ext cx="4023043" cy="769441"/>
            <a:chOff x="5329082" y="1461848"/>
            <a:chExt cx="3187132" cy="944461"/>
          </a:xfrm>
        </p:grpSpPr>
        <p:sp>
          <p:nvSpPr>
            <p:cNvPr id="80" name="직사각형 79"/>
            <p:cNvSpPr/>
            <p:nvPr/>
          </p:nvSpPr>
          <p:spPr>
            <a:xfrm>
              <a:off x="6030979" y="1537405"/>
              <a:ext cx="2485235" cy="793348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defTabSz="1076865" eaLnBrk="0" latinLnBrk="0" hangingPunct="0">
                <a:spcAft>
                  <a:spcPts val="486"/>
                </a:spcAft>
                <a:buSzPct val="100000"/>
                <a:defRPr/>
              </a:pPr>
              <a:r>
                <a:rPr lang="en-US" altLang="ko-KR" sz="360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16200000" scaled="1"/>
                  </a:gradFill>
                  <a:latin typeface="HY견고딕" pitchFamily="18" charset="-127"/>
                  <a:ea typeface="HY견고딕" pitchFamily="18" charset="-127"/>
                </a:rPr>
                <a:t>Spring MVC</a:t>
              </a:r>
              <a:endParaRPr lang="ko-KR" altLang="en-US" sz="36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16200000" scaled="1"/>
                </a:gradFill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81" name="직사각형 80"/>
            <p:cNvSpPr/>
            <p:nvPr/>
          </p:nvSpPr>
          <p:spPr>
            <a:xfrm>
              <a:off x="5329082" y="1461848"/>
              <a:ext cx="492987" cy="94446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lvl="0" algn="ctr" latinLnBrk="0">
                <a:defRPr/>
              </a:pPr>
              <a:r>
                <a:rPr lang="en-US" altLang="ko-KR" sz="4400" b="1" kern="0" noProof="0">
                  <a:ln w="2857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HY견명조" panose="02030600000101010101" pitchFamily="18" charset="-127"/>
                  <a:ea typeface="HY견명조" panose="02030600000101010101" pitchFamily="18" charset="-127"/>
                </a:rPr>
                <a:t>V</a:t>
              </a:r>
              <a:endParaRPr kumimoji="0" lang="ko-KR" altLang="en-US" sz="4400" b="1" i="0" u="none" strike="noStrike" kern="0" normalizeH="0" baseline="0" noProof="0" dirty="0">
                <a:ln w="2857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D3A16852-3B19-4B91-81AF-44A92A6D7C03}"/>
              </a:ext>
            </a:extLst>
          </p:cNvPr>
          <p:cNvGrpSpPr/>
          <p:nvPr/>
        </p:nvGrpSpPr>
        <p:grpSpPr>
          <a:xfrm>
            <a:off x="4797040" y="5699212"/>
            <a:ext cx="6442363" cy="810340"/>
            <a:chOff x="4793673" y="1205344"/>
            <a:chExt cx="6442363" cy="1080000"/>
          </a:xfrm>
        </p:grpSpPr>
        <p:sp>
          <p:nvSpPr>
            <p:cNvPr id="83" name="육각형 82"/>
            <p:cNvSpPr/>
            <p:nvPr/>
          </p:nvSpPr>
          <p:spPr>
            <a:xfrm>
              <a:off x="4793673" y="1205344"/>
              <a:ext cx="6442363" cy="1080000"/>
            </a:xfrm>
            <a:prstGeom prst="hexagon">
              <a:avLst>
                <a:gd name="adj" fmla="val 42671"/>
                <a:gd name="vf" fmla="val 11547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84" name="화살표: 오각형 3">
              <a:extLst>
                <a:ext uri="{FF2B5EF4-FFF2-40B4-BE49-F238E27FC236}">
                  <a16:creationId xmlns:a16="http://schemas.microsoft.com/office/drawing/2014/main" id="{3F788CB8-73AE-41C5-807C-AF14D1C85671}"/>
                </a:ext>
              </a:extLst>
            </p:cNvPr>
            <p:cNvSpPr/>
            <p:nvPr/>
          </p:nvSpPr>
          <p:spPr>
            <a:xfrm>
              <a:off x="5632954" y="1329846"/>
              <a:ext cx="5339846" cy="830996"/>
            </a:xfrm>
            <a:prstGeom prst="homePlat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C2C025D7-84D4-4546-BFD3-14F210208BCA}"/>
                </a:ext>
              </a:extLst>
            </p:cNvPr>
            <p:cNvSpPr/>
            <p:nvPr/>
          </p:nvSpPr>
          <p:spPr>
            <a:xfrm>
              <a:off x="5196182" y="1322781"/>
              <a:ext cx="845127" cy="845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</p:grpSp>
      <p:grpSp>
        <p:nvGrpSpPr>
          <p:cNvPr id="86" name="그룹 85"/>
          <p:cNvGrpSpPr/>
          <p:nvPr/>
        </p:nvGrpSpPr>
        <p:grpSpPr>
          <a:xfrm>
            <a:off x="5232376" y="5698599"/>
            <a:ext cx="4080752" cy="769441"/>
            <a:chOff x="5283364" y="1461848"/>
            <a:chExt cx="3232850" cy="944461"/>
          </a:xfrm>
        </p:grpSpPr>
        <p:sp>
          <p:nvSpPr>
            <p:cNvPr id="87" name="직사각형 86"/>
            <p:cNvSpPr/>
            <p:nvPr/>
          </p:nvSpPr>
          <p:spPr>
            <a:xfrm>
              <a:off x="6030979" y="1537405"/>
              <a:ext cx="2485235" cy="793348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defTabSz="1076865" eaLnBrk="0" latinLnBrk="0" hangingPunct="0">
                <a:spcAft>
                  <a:spcPts val="486"/>
                </a:spcAft>
                <a:buSzPct val="100000"/>
                <a:defRPr/>
              </a:pPr>
              <a:r>
                <a:rPr lang="en-US" altLang="ko-KR" sz="360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16200000" scaled="1"/>
                  </a:gradFill>
                  <a:latin typeface="HY견고딕" pitchFamily="18" charset="-127"/>
                  <a:ea typeface="HY견고딕" pitchFamily="18" charset="-127"/>
                </a:rPr>
                <a:t>Mybatis</a:t>
              </a:r>
              <a:endParaRPr lang="ko-KR" altLang="en-US" sz="36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16200000" scaled="1"/>
                </a:gradFill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88" name="직사각형 87"/>
            <p:cNvSpPr/>
            <p:nvPr/>
          </p:nvSpPr>
          <p:spPr>
            <a:xfrm>
              <a:off x="5283364" y="1461848"/>
              <a:ext cx="584422" cy="944461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lvl="0" algn="ctr" latinLnBrk="0">
                <a:defRPr/>
              </a:pPr>
              <a:r>
                <a:rPr lang="en-US" altLang="ko-KR" sz="4400" b="1" kern="0">
                  <a:ln w="2857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HY견명조" panose="02030600000101010101" pitchFamily="18" charset="-127"/>
                  <a:ea typeface="HY견명조" panose="02030600000101010101" pitchFamily="18" charset="-127"/>
                </a:rPr>
                <a:t>Ⅵ</a:t>
              </a:r>
              <a:endParaRPr kumimoji="0" lang="ko-KR" altLang="en-US" sz="4400" b="1" i="0" u="none" strike="noStrike" kern="0" normalizeH="0" baseline="0" noProof="0" dirty="0">
                <a:ln w="2857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0714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FF01E098-FBDB-420F-88A9-27027F4759A5}"/>
              </a:ext>
            </a:extLst>
          </p:cNvPr>
          <p:cNvGrpSpPr/>
          <p:nvPr/>
        </p:nvGrpSpPr>
        <p:grpSpPr>
          <a:xfrm>
            <a:off x="3726874" y="2815838"/>
            <a:ext cx="7315199" cy="1226323"/>
            <a:chOff x="4793673" y="1246908"/>
            <a:chExt cx="6442363" cy="1080000"/>
          </a:xfrm>
        </p:grpSpPr>
        <p:sp>
          <p:nvSpPr>
            <p:cNvPr id="14" name="육각형 13">
              <a:extLst>
                <a:ext uri="{FF2B5EF4-FFF2-40B4-BE49-F238E27FC236}">
                  <a16:creationId xmlns:a16="http://schemas.microsoft.com/office/drawing/2014/main" id="{7ADDF6C6-9FD3-40F2-ADC2-37A43AADF7ED}"/>
                </a:ext>
              </a:extLst>
            </p:cNvPr>
            <p:cNvSpPr/>
            <p:nvPr/>
          </p:nvSpPr>
          <p:spPr>
            <a:xfrm>
              <a:off x="4793673" y="1246908"/>
              <a:ext cx="6442363" cy="1080000"/>
            </a:xfrm>
            <a:prstGeom prst="hexagon">
              <a:avLst>
                <a:gd name="adj" fmla="val 42671"/>
                <a:gd name="vf" fmla="val 11547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화살표: 오각형 14">
              <a:extLst>
                <a:ext uri="{FF2B5EF4-FFF2-40B4-BE49-F238E27FC236}">
                  <a16:creationId xmlns:a16="http://schemas.microsoft.com/office/drawing/2014/main" id="{81F229D3-E3EA-4A23-AA82-5E2AF3A625A9}"/>
                </a:ext>
              </a:extLst>
            </p:cNvPr>
            <p:cNvSpPr/>
            <p:nvPr/>
          </p:nvSpPr>
          <p:spPr>
            <a:xfrm>
              <a:off x="5632954" y="1371410"/>
              <a:ext cx="5339846" cy="830996"/>
            </a:xfrm>
            <a:prstGeom prst="homePlat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D920D6B8-E4ED-4528-A983-BD701AD4E691}"/>
                </a:ext>
              </a:extLst>
            </p:cNvPr>
            <p:cNvSpPr/>
            <p:nvPr/>
          </p:nvSpPr>
          <p:spPr>
            <a:xfrm>
              <a:off x="5196182" y="1364345"/>
              <a:ext cx="845127" cy="845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51810F50-4F4F-4ABD-840E-E581E3B8C415}"/>
                </a:ext>
              </a:extLst>
            </p:cNvPr>
            <p:cNvGrpSpPr/>
            <p:nvPr/>
          </p:nvGrpSpPr>
          <p:grpSpPr>
            <a:xfrm>
              <a:off x="5537400" y="1369809"/>
              <a:ext cx="4159582" cy="813160"/>
              <a:chOff x="5516922" y="1640913"/>
              <a:chExt cx="2999292" cy="586335"/>
            </a:xfrm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EB1F94F4-27C9-4570-8682-1A33FA68D416}"/>
                  </a:ext>
                </a:extLst>
              </p:cNvPr>
              <p:cNvSpPr/>
              <p:nvPr/>
            </p:nvSpPr>
            <p:spPr>
              <a:xfrm>
                <a:off x="6030979" y="1689775"/>
                <a:ext cx="2485235" cy="488612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defTabSz="1076865" eaLnBrk="0" latinLnBrk="0" hangingPunct="0">
                  <a:spcAft>
                    <a:spcPts val="486"/>
                  </a:spcAft>
                  <a:buSzPct val="100000"/>
                  <a:defRPr/>
                </a:pPr>
                <a:r>
                  <a:rPr lang="ko-KR" altLang="en-US" sz="4400">
                    <a:gradFill>
                      <a:gsLst>
                        <a:gs pos="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6200000" scaled="1"/>
                    </a:gradFill>
                    <a:latin typeface="HY견고딕" pitchFamily="18" charset="-127"/>
                    <a:ea typeface="HY견고딕" pitchFamily="18" charset="-127"/>
                  </a:rPr>
                  <a:t>개발환경</a:t>
                </a:r>
                <a:endParaRPr lang="ko-KR" altLang="en-US" sz="4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16200000" scaled="1"/>
                  </a:gradFill>
                  <a:latin typeface="HY견고딕" pitchFamily="18" charset="-127"/>
                  <a:ea typeface="HY견고딕" pitchFamily="18" charset="-127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4541CD06-C435-48C0-AA4F-7B628FBAD386}"/>
                  </a:ext>
                </a:extLst>
              </p:cNvPr>
              <p:cNvSpPr/>
              <p:nvPr/>
            </p:nvSpPr>
            <p:spPr>
              <a:xfrm>
                <a:off x="5516922" y="1640913"/>
                <a:ext cx="117307" cy="586335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5400" b="1" i="0" u="none" strike="noStrike" kern="0" normalizeH="0" baseline="0" noProof="0" dirty="0">
                  <a:ln w="2857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uLnTx/>
                  <a:uFillTx/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2663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2962742" y="105748"/>
            <a:ext cx="635109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SpringFramework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Version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714165" y="1250515"/>
            <a:ext cx="10699149" cy="1128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https://spring.io/projects/spring-framework</a:t>
            </a:r>
            <a:r>
              <a:rPr lang="en-US" altLang="ko-KR" sz="24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#learn </a:t>
            </a:r>
          </a:p>
          <a:p>
            <a:pPr>
              <a:lnSpc>
                <a:spcPct val="150000"/>
              </a:lnSpc>
            </a:pPr>
            <a:endParaRPr lang="en-US" altLang="ko-KR" sz="24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3" name="그림 2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1B11EE-0B62-06DB-12BC-B84020FEC2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888" y="1968430"/>
            <a:ext cx="8389365" cy="36390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7C576F-5DB0-4BE0-B1DD-D5310DC42EB1}"/>
              </a:ext>
            </a:extLst>
          </p:cNvPr>
          <p:cNvSpPr txBox="1"/>
          <p:nvPr/>
        </p:nvSpPr>
        <p:spPr>
          <a:xfrm>
            <a:off x="958888" y="5840361"/>
            <a:ext cx="6817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Spring Legacy : Spring Framework 5.3.x, Java 8 or 11, Tomcat 9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5917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800629" y="105748"/>
            <a:ext cx="467531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SpringBoot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Version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714165" y="1250515"/>
            <a:ext cx="1069914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https://spring.io/projects/spring-</a:t>
            </a:r>
            <a:r>
              <a:rPr lang="en-US" altLang="ko-KR" sz="24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boot#learn </a:t>
            </a:r>
          </a:p>
          <a:p>
            <a:pPr lvl="0" algn="just" latinLnBrk="1"/>
            <a:endParaRPr lang="en-US" altLang="ko-KR" sz="1600" kern="100" dirty="0">
              <a:solidFill>
                <a:srgbClr val="3366FF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0" algn="just" latinLnBrk="1"/>
            <a:r>
              <a:rPr lang="en-US" altLang="ko-KR" sz="1600" kern="100" dirty="0" err="1">
                <a:solidFill>
                  <a:srgbClr val="3366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SpringBoot</a:t>
            </a:r>
            <a:r>
              <a:rPr lang="en-US" altLang="ko-KR" sz="1600" kern="100" dirty="0">
                <a:solidFill>
                  <a:srgbClr val="3366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version 3.2x </a:t>
            </a:r>
            <a:r>
              <a:rPr lang="ko-KR" altLang="ko-KR" sz="1600" kern="100" dirty="0">
                <a:solidFill>
                  <a:srgbClr val="3366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는 </a:t>
            </a:r>
            <a:r>
              <a:rPr lang="en-US" altLang="ko-KR" sz="1600" dirty="0">
                <a:solidFill>
                  <a:srgbClr val="3366FF"/>
                </a:solidFill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JDK 17</a:t>
            </a:r>
            <a:r>
              <a:rPr lang="ko-KR" altLang="ko-KR" sz="1600" dirty="0">
                <a:solidFill>
                  <a:srgbClr val="3366FF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이상</a:t>
            </a:r>
            <a:r>
              <a:rPr lang="en-US" altLang="ko-KR" sz="1600" dirty="0">
                <a:solidFill>
                  <a:srgbClr val="3366FF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+ </a:t>
            </a:r>
            <a:r>
              <a:rPr lang="en-US" altLang="ko-KR" sz="1600" dirty="0" err="1">
                <a:solidFill>
                  <a:srgbClr val="3366FF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SpringFramewok</a:t>
            </a:r>
            <a:r>
              <a:rPr lang="en-US" altLang="ko-KR" sz="1600" dirty="0">
                <a:solidFill>
                  <a:srgbClr val="3366FF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6.x </a:t>
            </a:r>
            <a:r>
              <a:rPr lang="ko-KR" altLang="ko-KR" sz="1600" dirty="0">
                <a:solidFill>
                  <a:srgbClr val="3366FF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지원</a:t>
            </a:r>
            <a:r>
              <a:rPr lang="en-US" altLang="ko-KR" sz="1600" dirty="0">
                <a:solidFill>
                  <a:srgbClr val="3366FF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+ </a:t>
            </a:r>
            <a:r>
              <a:rPr lang="ko-KR" altLang="ko-KR" sz="1600" dirty="0">
                <a:solidFill>
                  <a:srgbClr val="3366FF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내장된</a:t>
            </a:r>
            <a:r>
              <a:rPr lang="en-US" altLang="ko-KR" sz="1600" dirty="0">
                <a:solidFill>
                  <a:srgbClr val="3366FF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Apache tomcat 10 </a:t>
            </a:r>
            <a:r>
              <a:rPr lang="ko-KR" altLang="ko-KR" sz="1600" dirty="0">
                <a:solidFill>
                  <a:srgbClr val="3366FF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이상</a:t>
            </a:r>
            <a:endParaRPr lang="en-US" altLang="ko-KR" sz="20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3" name="그림 2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8B5C7EA-D7FF-3344-09B6-37B228EC2B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39" y="2717222"/>
            <a:ext cx="5155061" cy="3242479"/>
          </a:xfrm>
          <a:prstGeom prst="rect">
            <a:avLst/>
          </a:prstGeom>
        </p:spPr>
      </p:pic>
      <p:pic>
        <p:nvPicPr>
          <p:cNvPr id="8" name="그림 7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09710B2-F9A0-077D-B72A-D94F9DDBC5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4412" y="3092276"/>
            <a:ext cx="4848902" cy="28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116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386448" y="105748"/>
            <a:ext cx="550368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SpringFrameWork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학습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714165" y="1250515"/>
            <a:ext cx="10699149" cy="37261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000" b="1" kern="100" dirty="0" err="1">
                <a:solidFill>
                  <a:srgbClr val="3366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SpringFramework</a:t>
            </a:r>
            <a:r>
              <a:rPr lang="en-US" altLang="ko-KR" sz="2000" b="1" kern="100" dirty="0">
                <a:solidFill>
                  <a:srgbClr val="3366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version </a:t>
            </a:r>
            <a:r>
              <a:rPr lang="ko-KR" altLang="ko-KR" sz="2000" b="1" kern="100" dirty="0">
                <a:solidFill>
                  <a:srgbClr val="3366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과</a:t>
            </a:r>
            <a:r>
              <a:rPr lang="en-US" altLang="ko-KR" sz="2000" b="1" kern="100" dirty="0">
                <a:solidFill>
                  <a:srgbClr val="3366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spring boot version</a:t>
            </a:r>
            <a:r>
              <a:rPr lang="ko-KR" altLang="ko-KR" sz="2000" b="1" kern="100" dirty="0">
                <a:solidFill>
                  <a:srgbClr val="3366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은 다르다</a:t>
            </a:r>
            <a:r>
              <a:rPr lang="en-US" altLang="ko-KR" sz="2000" b="1" kern="100" dirty="0">
                <a:solidFill>
                  <a:srgbClr val="3366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000" kern="10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Spring boot</a:t>
            </a:r>
            <a:r>
              <a:rPr lang="ko-KR" altLang="ko-KR" sz="2000" kern="10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는</a:t>
            </a:r>
            <a:r>
              <a:rPr lang="en-US" altLang="ko-KR" sz="2000" kern="10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000" kern="100" dirty="0" err="1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SpringFramework</a:t>
            </a:r>
            <a:r>
              <a:rPr lang="ko-KR" altLang="ko-KR" sz="2000" kern="10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기반 어플리케이션 개발을 더 빠르고 쉽게 만들기 위한 환경을 제공하는 도구이다</a:t>
            </a:r>
            <a:r>
              <a:rPr lang="en-US" altLang="ko-KR" sz="2000" kern="100" dirty="0">
                <a:solidFill>
                  <a:srgbClr val="3366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0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indent="152400" algn="just" latinLnBrk="1">
              <a:lnSpc>
                <a:spcPct val="150000"/>
              </a:lnSpc>
            </a:pPr>
            <a:r>
              <a:rPr lang="en-US" altLang="ko-KR" sz="2000" kern="100" dirty="0">
                <a:solidFill>
                  <a:srgbClr val="3366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 </a:t>
            </a:r>
            <a:endParaRPr lang="ko-KR" altLang="ko-KR" sz="20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50000"/>
              </a:lnSpc>
            </a:pPr>
            <a:r>
              <a:rPr lang="ko-KR" altLang="ko-KR" sz="20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그래서</a:t>
            </a:r>
            <a:r>
              <a:rPr lang="en-US" altLang="ko-KR" sz="20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</a:t>
            </a:r>
            <a:endParaRPr lang="ko-KR" altLang="ko-KR" sz="20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50000"/>
              </a:lnSpc>
            </a:pPr>
            <a:r>
              <a:rPr lang="ko-KR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우리는 먼저</a:t>
            </a:r>
            <a:r>
              <a:rPr lang="en-US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en-US" altLang="ko-KR" sz="2000" kern="100" dirty="0" err="1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SpringFramework</a:t>
            </a:r>
            <a:r>
              <a:rPr lang="ko-KR" altLang="ko-KR" sz="2000" kern="10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을 학습</a:t>
            </a:r>
            <a:r>
              <a:rPr lang="ko-KR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한 후 </a:t>
            </a:r>
            <a:r>
              <a:rPr lang="en-US" altLang="ko-KR" sz="20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SpringFramework</a:t>
            </a:r>
            <a:r>
              <a:rPr lang="ko-KR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으로 만들어진 어플리케이션을</a:t>
            </a:r>
            <a:r>
              <a:rPr lang="en-US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0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Springboot</a:t>
            </a:r>
            <a:r>
              <a:rPr lang="ko-KR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환경으로 변경하면서</a:t>
            </a:r>
            <a:r>
              <a:rPr lang="en-US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boot</a:t>
            </a:r>
            <a:r>
              <a:rPr lang="ko-KR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환경을 이해하고 향후 개발되는 </a:t>
            </a:r>
            <a:r>
              <a:rPr lang="ko-KR" altLang="ko-KR" sz="20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웹어플리케이션은</a:t>
            </a:r>
            <a:r>
              <a:rPr lang="ko-KR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0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SpringBoot</a:t>
            </a:r>
            <a:r>
              <a:rPr lang="ko-KR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로 개발을 하도록 한다</a:t>
            </a:r>
            <a:r>
              <a:rPr lang="en-US" altLang="ko-KR" sz="20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0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912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5057699" y="105748"/>
            <a:ext cx="216116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STS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설치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714165" y="1250515"/>
            <a:ext cx="10699149" cy="590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Eclipse</a:t>
            </a:r>
            <a:r>
              <a:rPr lang="ko-KR" altLang="en-US" sz="2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플러그인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850" y="2034248"/>
            <a:ext cx="8503345" cy="1995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850" y="5162812"/>
            <a:ext cx="2940953" cy="1224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3739" y="5385604"/>
            <a:ext cx="4777410" cy="948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타원 1"/>
          <p:cNvSpPr/>
          <p:nvPr/>
        </p:nvSpPr>
        <p:spPr>
          <a:xfrm>
            <a:off x="4768948" y="5412626"/>
            <a:ext cx="1001114" cy="921434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b="1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VS</a:t>
            </a:r>
            <a:endParaRPr lang="ko-KR" altLang="en-US" b="1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B6190-C530-ABAC-2CDC-510D4843B497}"/>
              </a:ext>
            </a:extLst>
          </p:cNvPr>
          <p:cNvSpPr txBox="1"/>
          <p:nvPr/>
        </p:nvSpPr>
        <p:spPr>
          <a:xfrm>
            <a:off x="1021850" y="4523145"/>
            <a:ext cx="7751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https://repo.spring.io/ui/native/libs-release/org/springframework/spring/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5127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5057699" y="105748"/>
            <a:ext cx="216116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STS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설치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714165" y="1250515"/>
            <a:ext cx="10699149" cy="35012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STS(</a:t>
            </a:r>
            <a:r>
              <a:rPr lang="en-US" altLang="ko-KR" sz="24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SpringSource</a:t>
            </a:r>
            <a:r>
              <a:rPr lang="ko-KR" altLang="en-US" sz="2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Tool</a:t>
            </a:r>
            <a:r>
              <a:rPr lang="ko-KR" altLang="en-US" sz="2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Suit)</a:t>
            </a:r>
            <a:r>
              <a:rPr lang="ko-KR" altLang="en-US" sz="2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Version</a:t>
            </a:r>
          </a:p>
          <a:p>
            <a:pPr marL="723900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1800" b="1" kern="10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STS 3.x : </a:t>
            </a:r>
            <a:r>
              <a:rPr lang="en-US" altLang="ko-KR" sz="1800" kern="10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Spring Legacy Project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에 특화됨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666750" indent="-285750" algn="just" latinLnBrk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800" kern="100" dirty="0">
                <a:solidFill>
                  <a:srgbClr val="3366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24</a:t>
            </a:r>
            <a:r>
              <a:rPr lang="ko-KR" altLang="ko-KR" sz="1800" kern="100" dirty="0">
                <a:solidFill>
                  <a:srgbClr val="3366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년</a:t>
            </a:r>
            <a:r>
              <a:rPr lang="en-US" altLang="ko-KR" sz="1800" kern="100" dirty="0">
                <a:solidFill>
                  <a:srgbClr val="3366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2</a:t>
            </a:r>
            <a:r>
              <a:rPr lang="ko-KR" altLang="ko-KR" sz="1800" kern="100" dirty="0">
                <a:solidFill>
                  <a:srgbClr val="3366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월</a:t>
            </a:r>
            <a:r>
              <a:rPr lang="en-US" altLang="ko-KR" sz="1800" kern="100" dirty="0">
                <a:solidFill>
                  <a:srgbClr val="3366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16</a:t>
            </a:r>
            <a:r>
              <a:rPr lang="ko-KR" altLang="ko-KR" sz="1800" kern="100" dirty="0">
                <a:solidFill>
                  <a:srgbClr val="3366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일 이후부터 다운로드 한</a:t>
            </a:r>
            <a:r>
              <a:rPr lang="en-US" altLang="ko-KR" sz="1800" kern="100" dirty="0">
                <a:solidFill>
                  <a:srgbClr val="3366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STS</a:t>
            </a:r>
            <a:r>
              <a:rPr lang="ko-KR" altLang="ko-KR" sz="1800" kern="100" dirty="0">
                <a:solidFill>
                  <a:srgbClr val="3366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에서</a:t>
            </a:r>
            <a:r>
              <a:rPr lang="en-US" altLang="ko-KR" sz="1800" kern="100" dirty="0">
                <a:solidFill>
                  <a:srgbClr val="3366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Spring MVC Project Generator </a:t>
            </a:r>
            <a:r>
              <a:rPr lang="ko-KR" altLang="ko-KR" sz="1800" kern="100" dirty="0">
                <a:solidFill>
                  <a:srgbClr val="3366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지원 안됨</a:t>
            </a:r>
            <a:r>
              <a:rPr lang="en-US" altLang="ko-KR" sz="1800" kern="100" dirty="0">
                <a:solidFill>
                  <a:srgbClr val="3366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.(</a:t>
            </a:r>
            <a:r>
              <a:rPr lang="ko-KR" altLang="ko-KR" sz="1800" kern="100" dirty="0">
                <a:solidFill>
                  <a:srgbClr val="3366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별도의 설정이 필요함</a:t>
            </a:r>
            <a:r>
              <a:rPr lang="en-US" altLang="ko-KR" sz="1800" kern="100" dirty="0">
                <a:solidFill>
                  <a:srgbClr val="3366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</a:p>
          <a:p>
            <a:pPr marL="666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/>
              <a:t>수동으로 스프링 </a:t>
            </a:r>
            <a:r>
              <a:rPr lang="en-US" altLang="ko-KR" dirty="0"/>
              <a:t>MVC </a:t>
            </a:r>
            <a:r>
              <a:rPr lang="ko-KR" altLang="en-US" dirty="0"/>
              <a:t>프로젝트 구성</a:t>
            </a:r>
            <a:endParaRPr lang="en-US" altLang="ko-KR" sz="1800" kern="100" dirty="0">
              <a:solidFill>
                <a:srgbClr val="3366FF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666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/>
              <a:t>기존 </a:t>
            </a:r>
            <a:r>
              <a:rPr lang="en-US" altLang="ko-KR" dirty="0"/>
              <a:t>MVC </a:t>
            </a:r>
            <a:r>
              <a:rPr lang="ko-KR" altLang="en-US" dirty="0"/>
              <a:t>예제 프로젝트를 템플릿처럼 사용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723900" indent="-342900" algn="just">
              <a:lnSpc>
                <a:spcPct val="150000"/>
              </a:lnSpc>
              <a:buFont typeface="+mj-ea"/>
              <a:buAutoNum type="circleNumDbPlain" startAt="2"/>
            </a:pPr>
            <a:r>
              <a:rPr lang="en-US" altLang="ko-KR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STS 4.x : </a:t>
            </a:r>
            <a:r>
              <a:rPr lang="en-US" altLang="ko-KR" sz="1800" b="1" kern="10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https://spring.io/</a:t>
            </a:r>
            <a:endParaRPr lang="ko-KR" altLang="ko-KR" sz="1800" kern="100" dirty="0">
              <a:solidFill>
                <a:srgbClr val="FF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800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     </a:t>
            </a:r>
            <a:r>
              <a:rPr lang="en-US" altLang="ko-KR" sz="1800" dirty="0" err="1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SpringBoot</a:t>
            </a:r>
            <a:r>
              <a:rPr lang="en-US" altLang="ko-KR" sz="1800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환경에 특화됨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3" name="Picture 3">
            <a:extLst>
              <a:ext uri="{FF2B5EF4-FFF2-40B4-BE49-F238E27FC236}">
                <a16:creationId xmlns:a16="http://schemas.microsoft.com/office/drawing/2014/main" id="{6EBD07E2-E607-D65D-AFB4-755ABE34F3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0163" y="5338423"/>
            <a:ext cx="4777410" cy="948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DFB179B-49FA-6377-262E-A58F883964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157" y="5188676"/>
            <a:ext cx="2781688" cy="124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916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2337406" y="105748"/>
            <a:ext cx="760176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Legacy</a:t>
            </a:r>
            <a:r>
              <a:rPr lang="ko-KR" altLang="en-US" sz="40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 먼저 배우는 장점</a:t>
            </a:r>
            <a:endParaRPr lang="ko-KR" altLang="en-US" sz="40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714165" y="1250515"/>
            <a:ext cx="10699149" cy="46613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dirty="0"/>
              <a:t>Spring</a:t>
            </a:r>
            <a:r>
              <a:rPr lang="ko-KR" altLang="en-US" dirty="0"/>
              <a:t>의 핵심 개념을 구조적으로 이해하기 용이</a:t>
            </a:r>
            <a:endParaRPr lang="en-US" altLang="ko-KR" dirty="0"/>
          </a:p>
          <a:p>
            <a:pPr marL="814388" lvl="1" indent="-3571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DI, AOP, MVC, Bean </a:t>
            </a:r>
            <a:r>
              <a:rPr lang="ko-KR" altLang="en-US" sz="1600" dirty="0"/>
              <a:t>설정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ViewResolver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DispatcherServlet</a:t>
            </a:r>
            <a:r>
              <a:rPr lang="en-US" altLang="ko-KR" sz="1600" dirty="0"/>
              <a:t> </a:t>
            </a:r>
            <a:r>
              <a:rPr lang="ko-KR" altLang="en-US" sz="1600" dirty="0"/>
              <a:t>등을 </a:t>
            </a:r>
            <a:r>
              <a:rPr lang="ko-KR" altLang="en-US" sz="1600" b="1" dirty="0"/>
              <a:t>직접 </a:t>
            </a:r>
            <a:r>
              <a:rPr lang="en-US" altLang="ko-KR" sz="1600" b="1" dirty="0"/>
              <a:t>XML</a:t>
            </a:r>
            <a:r>
              <a:rPr lang="ko-KR" altLang="en-US" sz="1600" b="1" dirty="0"/>
              <a:t>이나 </a:t>
            </a:r>
            <a:r>
              <a:rPr lang="en-US" altLang="ko-KR" sz="1600" b="1" dirty="0"/>
              <a:t>Java Config</a:t>
            </a:r>
            <a:r>
              <a:rPr lang="ko-KR" altLang="en-US" sz="1600" b="1" dirty="0"/>
              <a:t>로 설정</a:t>
            </a:r>
            <a:r>
              <a:rPr lang="ko-KR" altLang="en-US" sz="1600" dirty="0"/>
              <a:t>하며 학습 가능</a:t>
            </a:r>
            <a:endParaRPr lang="en-US" altLang="ko-KR" sz="1600" dirty="0"/>
          </a:p>
          <a:p>
            <a:pPr marL="814388" lvl="1" indent="-3571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Spring Boot</a:t>
            </a:r>
            <a:r>
              <a:rPr lang="ko-KR" altLang="en-US" sz="1600" dirty="0"/>
              <a:t>는 설정이 너무 자동화되어 있어서 초보자들이 구조를 놓치기 쉬움</a:t>
            </a:r>
            <a:endParaRPr lang="en-US" altLang="ko-KR" sz="1600" dirty="0"/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dirty="0"/>
              <a:t>Servlet</a:t>
            </a:r>
            <a:r>
              <a:rPr lang="ko-KR" altLang="en-US" dirty="0"/>
              <a:t> </a:t>
            </a:r>
            <a:r>
              <a:rPr lang="en-US" altLang="ko-KR" dirty="0"/>
              <a:t>/ JSP </a:t>
            </a:r>
            <a:r>
              <a:rPr lang="ko-KR" altLang="en-US" dirty="0"/>
              <a:t>기반의 웹 구조 익히기</a:t>
            </a:r>
            <a:endParaRPr lang="en-US" altLang="ko-KR" dirty="0"/>
          </a:p>
          <a:p>
            <a:pPr marL="814388" lvl="1" indent="-3571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실제 </a:t>
            </a:r>
            <a:r>
              <a:rPr lang="en-US" altLang="ko-KR" sz="1600" dirty="0"/>
              <a:t>HTTP </a:t>
            </a:r>
            <a:r>
              <a:rPr lang="ko-KR" altLang="en-US" sz="1600" dirty="0"/>
              <a:t>요청 흐름 </a:t>
            </a:r>
            <a:r>
              <a:rPr lang="en-US" altLang="ko-KR" sz="1600" dirty="0"/>
              <a:t>(</a:t>
            </a:r>
            <a:r>
              <a:rPr lang="en-US" altLang="ko-KR" sz="1600" dirty="0" err="1"/>
              <a:t>DispatcherServlet</a:t>
            </a:r>
            <a:r>
              <a:rPr lang="en-US" altLang="ko-KR" sz="1600" dirty="0"/>
              <a:t> → </a:t>
            </a:r>
            <a:r>
              <a:rPr lang="en-US" altLang="ko-KR" sz="1600" dirty="0" err="1"/>
              <a:t>HandlerMapping</a:t>
            </a:r>
            <a:r>
              <a:rPr lang="en-US" altLang="ko-KR" sz="1600" dirty="0"/>
              <a:t> → Controller → </a:t>
            </a:r>
            <a:r>
              <a:rPr lang="en-US" altLang="ko-KR" sz="1600" dirty="0" err="1"/>
              <a:t>ViewResolver</a:t>
            </a:r>
            <a:r>
              <a:rPr lang="en-US" altLang="ko-KR" sz="1600" dirty="0"/>
              <a:t>) </a:t>
            </a:r>
            <a:r>
              <a:rPr lang="ko-KR" altLang="en-US" sz="1600" dirty="0"/>
              <a:t>을</a:t>
            </a:r>
            <a:r>
              <a:rPr lang="en-US" altLang="ko-KR" sz="1600" dirty="0"/>
              <a:t> </a:t>
            </a:r>
            <a:r>
              <a:rPr lang="ko-KR" altLang="en-US" sz="1600" dirty="0"/>
              <a:t>직접 작성하며 명확하게 채득</a:t>
            </a:r>
            <a:endParaRPr lang="en-US" altLang="ko-KR" sz="1600" dirty="0"/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dirty="0"/>
              <a:t>현업 유지보수 프로젝트에 자주 사용</a:t>
            </a:r>
            <a:endParaRPr lang="en-US" altLang="ko-KR" dirty="0"/>
          </a:p>
          <a:p>
            <a:pPr marL="814388" lvl="1" indent="-3571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대기업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금융사</a:t>
            </a:r>
            <a:r>
              <a:rPr lang="ko-KR" altLang="en-US" sz="1600" dirty="0"/>
              <a:t> 등은 여전히 </a:t>
            </a:r>
            <a:r>
              <a:rPr lang="en-US" altLang="ko-KR" sz="1600" dirty="0"/>
              <a:t>Spring Legacy </a:t>
            </a:r>
            <a:r>
              <a:rPr lang="ko-KR" altLang="en-US" sz="1600" dirty="0"/>
              <a:t>기반 시스템을 유지보수 중</a:t>
            </a:r>
            <a:endParaRPr lang="en-US" altLang="ko-KR" sz="1600" dirty="0"/>
          </a:p>
          <a:p>
            <a:pPr marL="814388" lvl="1" indent="-3571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현업 투입 전 </a:t>
            </a:r>
            <a:r>
              <a:rPr lang="ko-KR" altLang="en-US" sz="1600" b="1" dirty="0">
                <a:solidFill>
                  <a:srgbClr val="FF0000"/>
                </a:solidFill>
              </a:rPr>
              <a:t>레거시 환경에서의 문제 </a:t>
            </a:r>
            <a:r>
              <a:rPr lang="ko-KR" altLang="en-US" sz="1600" b="1" dirty="0" err="1">
                <a:solidFill>
                  <a:srgbClr val="FF0000"/>
                </a:solidFill>
              </a:rPr>
              <a:t>해결력</a:t>
            </a:r>
            <a:r>
              <a:rPr lang="ko-KR" altLang="en-US" sz="1600" dirty="0" err="1"/>
              <a:t>은</a:t>
            </a:r>
            <a:r>
              <a:rPr lang="ko-KR" altLang="en-US" sz="1600" dirty="0"/>
              <a:t> 큰 장점</a:t>
            </a:r>
            <a:endParaRPr lang="en-US" altLang="ko-KR" sz="1600" dirty="0"/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dirty="0"/>
              <a:t>Spring Boot</a:t>
            </a:r>
            <a:r>
              <a:rPr lang="ko-KR" altLang="en-US" dirty="0"/>
              <a:t>를 배울 때 더 빠르게 흡수</a:t>
            </a:r>
            <a:endParaRPr lang="en-US" altLang="ko-KR" dirty="0"/>
          </a:p>
          <a:p>
            <a:pPr marL="814388" lvl="1" indent="-3571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Boot</a:t>
            </a:r>
            <a:r>
              <a:rPr lang="ko-KR" altLang="en-US" sz="1600" dirty="0"/>
              <a:t>가 추상화한 설정이 어떤 원리로 작동하는지 알게 되면 </a:t>
            </a:r>
            <a:r>
              <a:rPr lang="en-US" altLang="ko-KR" sz="1600" dirty="0"/>
              <a:t>Boot</a:t>
            </a:r>
            <a:r>
              <a:rPr lang="ko-KR" altLang="en-US" sz="1600" dirty="0"/>
              <a:t>의 편리함과 위험성을 동시에 파악 가능</a:t>
            </a:r>
            <a:endParaRPr lang="en-US" altLang="ko-KR" sz="1600" kern="100" dirty="0">
              <a:solidFill>
                <a:schemeClr val="tx2">
                  <a:lumMod val="60000"/>
                  <a:lumOff val="40000"/>
                </a:schemeClr>
              </a:solidFill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8787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342F7-EC99-D49E-0B25-A1290E48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E2DB0E7D-E2E9-4952-A718-71A1AD8C9162}"/>
              </a:ext>
            </a:extLst>
          </p:cNvPr>
          <p:cNvSpPr/>
          <p:nvPr/>
        </p:nvSpPr>
        <p:spPr>
          <a:xfrm>
            <a:off x="1224930" y="105748"/>
            <a:ext cx="982672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Legacy</a:t>
            </a:r>
            <a:r>
              <a:rPr lang="ko-KR" altLang="en-US" sz="40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교육</a:t>
            </a:r>
            <a:r>
              <a:rPr lang="en-US" altLang="ko-KR" sz="40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40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현장에서</a:t>
            </a:r>
            <a:r>
              <a:rPr lang="en-US" altLang="ko-KR" sz="40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40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밀려나는</a:t>
            </a:r>
            <a:r>
              <a:rPr lang="en-US" altLang="ko-KR" sz="40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40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이유</a:t>
            </a:r>
            <a:r>
              <a:rPr lang="en-US" altLang="ko-KR" sz="40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ko-KR" altLang="en-US" sz="40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DB5885D-5A5E-03CA-5DFF-3E8B9CA561A5}"/>
              </a:ext>
            </a:extLst>
          </p:cNvPr>
          <p:cNvSpPr/>
          <p:nvPr/>
        </p:nvSpPr>
        <p:spPr>
          <a:xfrm>
            <a:off x="714165" y="1250515"/>
            <a:ext cx="10699149" cy="54000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dirty="0"/>
              <a:t>생산성 저하</a:t>
            </a:r>
            <a:endParaRPr lang="en-US" altLang="ko-KR" sz="1600" dirty="0"/>
          </a:p>
          <a:p>
            <a:pPr marL="814388" lvl="1" indent="-3571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설정 파일이 많고</a:t>
            </a:r>
            <a:r>
              <a:rPr lang="en-US" altLang="ko-KR" sz="1600" dirty="0"/>
              <a:t>, </a:t>
            </a:r>
            <a:r>
              <a:rPr lang="ko-KR" altLang="en-US" sz="1600" dirty="0"/>
              <a:t>실습 속도가 느림 </a:t>
            </a:r>
            <a:r>
              <a:rPr lang="en-US" altLang="ko-KR" sz="1600" dirty="0"/>
              <a:t>(</a:t>
            </a:r>
            <a:r>
              <a:rPr lang="ko-KR" altLang="en-US" sz="1600" dirty="0"/>
              <a:t>특히 </a:t>
            </a:r>
            <a:r>
              <a:rPr lang="en-US" altLang="ko-KR" sz="1600" dirty="0"/>
              <a:t>DI, MVC </a:t>
            </a:r>
            <a:r>
              <a:rPr lang="ko-KR" altLang="en-US" sz="1600" dirty="0"/>
              <a:t>등 처음 세팅이 장벽</a:t>
            </a:r>
            <a:r>
              <a:rPr lang="en-US" altLang="ko-KR" sz="1600" dirty="0"/>
              <a:t>)</a:t>
            </a: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dirty="0"/>
              <a:t>툴</a:t>
            </a:r>
            <a:r>
              <a:rPr lang="en-US" altLang="ko-KR" dirty="0"/>
              <a:t>/</a:t>
            </a:r>
            <a:r>
              <a:rPr lang="ko-KR" altLang="en-US" dirty="0"/>
              <a:t>환경의 단절 </a:t>
            </a:r>
            <a:endParaRPr lang="en-US" altLang="ko-KR" dirty="0"/>
          </a:p>
          <a:p>
            <a:pPr marL="814388" lvl="1" indent="-3571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Eclipse </a:t>
            </a:r>
            <a:r>
              <a:rPr lang="ko-KR" altLang="en-US" sz="1600" dirty="0"/>
              <a:t>최신 버전에서 레거시 템플릿</a:t>
            </a:r>
            <a:r>
              <a:rPr lang="en-US" altLang="ko-KR" sz="1600" dirty="0"/>
              <a:t>, WTP, Tomcat </a:t>
            </a:r>
            <a:r>
              <a:rPr lang="ko-KR" altLang="en-US" sz="1600" dirty="0"/>
              <a:t>연동 등 오류 발생 많음</a:t>
            </a:r>
            <a:endParaRPr lang="en-US" altLang="ko-KR" sz="1600" dirty="0"/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dirty="0"/>
              <a:t>산업 트렌드 변화</a:t>
            </a:r>
            <a:endParaRPr lang="en-US" altLang="ko-KR" dirty="0"/>
          </a:p>
          <a:p>
            <a:pPr marL="814388" lvl="1" indent="-3571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Spring Boot + JPA/Hibernate + REST API + React </a:t>
            </a:r>
            <a:r>
              <a:rPr lang="ko-KR" altLang="en-US" sz="1600" dirty="0"/>
              <a:t>구조가 대세 </a:t>
            </a:r>
            <a:endParaRPr lang="en-US" altLang="ko-KR" sz="1600" dirty="0"/>
          </a:p>
          <a:p>
            <a:pPr marL="814388" lvl="1" indent="-3571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Spring Legacy</a:t>
            </a:r>
            <a:r>
              <a:rPr lang="ko-KR" altLang="en-US" sz="1600" dirty="0"/>
              <a:t>는 </a:t>
            </a:r>
            <a:r>
              <a:rPr lang="en-US" altLang="ko-KR" sz="1600" dirty="0"/>
              <a:t>JSP</a:t>
            </a:r>
            <a:r>
              <a:rPr lang="ko-KR" altLang="en-US" sz="1600" dirty="0"/>
              <a:t>중심</a:t>
            </a:r>
            <a:r>
              <a:rPr lang="en-US" altLang="ko-KR" sz="1600" dirty="0"/>
              <a:t>, XML</a:t>
            </a:r>
            <a:r>
              <a:rPr lang="ko-KR" altLang="en-US" sz="1600" dirty="0"/>
              <a:t>설정기반 </a:t>
            </a:r>
            <a:endParaRPr lang="en-US" altLang="ko-KR" sz="1600" dirty="0"/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dirty="0"/>
              <a:t>자동화 중심의 실무 흐름</a:t>
            </a:r>
            <a:endParaRPr lang="en-US" altLang="ko-KR" dirty="0"/>
          </a:p>
          <a:p>
            <a:pPr marL="814388" lvl="1" indent="-3571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Spring Boot</a:t>
            </a:r>
            <a:r>
              <a:rPr lang="ko-KR" altLang="en-US" sz="1600" dirty="0"/>
              <a:t>는 시작부터 실무형태</a:t>
            </a:r>
            <a:endParaRPr lang="en-US" altLang="ko-KR" sz="1600" dirty="0"/>
          </a:p>
          <a:p>
            <a:pPr marL="814388" lvl="1" indent="-3571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실행 </a:t>
            </a:r>
            <a:r>
              <a:rPr lang="en-US" altLang="ko-KR" sz="1600" dirty="0"/>
              <a:t>: java –jar</a:t>
            </a:r>
          </a:p>
          <a:p>
            <a:pPr marL="814388" lvl="1" indent="-3571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배포 </a:t>
            </a:r>
            <a:r>
              <a:rPr lang="en-US" altLang="ko-KR" sz="1600" dirty="0"/>
              <a:t>: docker</a:t>
            </a:r>
            <a:r>
              <a:rPr lang="ko-KR" altLang="en-US" sz="1600" dirty="0"/>
              <a:t> </a:t>
            </a:r>
            <a:r>
              <a:rPr lang="en-US" altLang="ko-KR" sz="1600" dirty="0"/>
              <a:t>/ CI-CD </a:t>
            </a:r>
          </a:p>
          <a:p>
            <a:pPr marL="814388" lvl="1" indent="-3571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운영 </a:t>
            </a:r>
            <a:r>
              <a:rPr lang="en-US" altLang="ko-KR" sz="1600" dirty="0"/>
              <a:t>: Actuator </a:t>
            </a:r>
          </a:p>
          <a:p>
            <a:pPr marL="814388" lvl="1" indent="-3571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개발 편의 </a:t>
            </a:r>
            <a:r>
              <a:rPr lang="en-US" altLang="ko-KR" sz="1600" dirty="0"/>
              <a:t>: </a:t>
            </a:r>
            <a:r>
              <a:rPr lang="en-US" altLang="ko-KR" sz="1600" dirty="0" err="1"/>
              <a:t>Devtools</a:t>
            </a:r>
            <a:r>
              <a:rPr lang="en-US" altLang="ko-KR" sz="1600" dirty="0"/>
              <a:t>, </a:t>
            </a:r>
          </a:p>
          <a:p>
            <a:pPr marL="814388" lvl="1" indent="-3571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Test </a:t>
            </a:r>
            <a:r>
              <a:rPr lang="ko-KR" altLang="en-US" sz="1600" dirty="0"/>
              <a:t>환경까지 일괄적 구성이 용이함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4029500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CD8F2-4DE1-43B9-F558-0BCC14CA0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8FD1A957-1001-A32A-98CF-00BFFA871A7F}"/>
              </a:ext>
            </a:extLst>
          </p:cNvPr>
          <p:cNvSpPr/>
          <p:nvPr/>
        </p:nvSpPr>
        <p:spPr>
          <a:xfrm>
            <a:off x="4051817" y="105748"/>
            <a:ext cx="41729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실습 환경 구축하기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ED95FDD-5590-3970-DB65-5D0B8C4950F4}"/>
              </a:ext>
            </a:extLst>
          </p:cNvPr>
          <p:cNvSpPr/>
          <p:nvPr/>
        </p:nvSpPr>
        <p:spPr>
          <a:xfrm>
            <a:off x="714165" y="1250515"/>
            <a:ext cx="10699149" cy="8756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기존 버전의 </a:t>
            </a:r>
            <a:r>
              <a:rPr lang="en-US" altLang="ko-KR" sz="20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SpringMVC</a:t>
            </a:r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template</a:t>
            </a:r>
            <a:r>
              <a:rPr lang="ko-KR" altLang="en-US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있는 예제로 만든 환경</a:t>
            </a:r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1600" dirty="0"/>
          </a:p>
          <a:p>
            <a:pPr lvl="1" algn="just">
              <a:lnSpc>
                <a:spcPct val="150000"/>
              </a:lnSpc>
            </a:pPr>
            <a:endParaRPr lang="en-US" altLang="ko-KR" sz="1600" kern="100" dirty="0">
              <a:solidFill>
                <a:schemeClr val="tx2">
                  <a:lumMod val="60000"/>
                  <a:lumOff val="40000"/>
                </a:schemeClr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16ED382-8A3A-B9B1-9A9B-1207E6A9E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50" y="1994323"/>
            <a:ext cx="5014250" cy="365718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A0A9E16-BDCA-56CE-475D-66F07CC5D3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4247" y="3250453"/>
            <a:ext cx="7592485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553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69585-838B-A129-DE48-538DC1054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48B84D8-2B5F-3BE2-0283-5A69394E98B0}"/>
              </a:ext>
            </a:extLst>
          </p:cNvPr>
          <p:cNvSpPr/>
          <p:nvPr/>
        </p:nvSpPr>
        <p:spPr>
          <a:xfrm>
            <a:off x="4051817" y="105748"/>
            <a:ext cx="41729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실습 환경 구축하기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3FF3DB9-F28B-F264-310A-B9921ECC0B91}"/>
              </a:ext>
            </a:extLst>
          </p:cNvPr>
          <p:cNvSpPr/>
          <p:nvPr/>
        </p:nvSpPr>
        <p:spPr>
          <a:xfrm>
            <a:off x="714165" y="1250515"/>
            <a:ext cx="10699149" cy="5238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000" b="1" dirty="0">
                <a:highlight>
                  <a:srgbClr val="FFFF00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JDK (1.11</a:t>
            </a:r>
            <a:r>
              <a:rPr lang="ko-KR" altLang="en-US" sz="2000" b="1" dirty="0" err="1">
                <a:highlight>
                  <a:srgbClr val="FFFF00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버젼</a:t>
            </a:r>
            <a:r>
              <a:rPr lang="ko-KR" altLang="en-US" sz="2000" b="1" dirty="0">
                <a:highlight>
                  <a:srgbClr val="FFFF00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b="1" dirty="0">
                <a:highlight>
                  <a:srgbClr val="FFFF00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2000" b="1" dirty="0">
                <a:highlight>
                  <a:srgbClr val="FFFF00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u="sng" dirty="0">
                <a:solidFill>
                  <a:srgbClr val="0000FF"/>
                </a:solidFill>
                <a:effectLst/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  <a:hlinkClick r:id="rId3"/>
              </a:rPr>
              <a:t>https://jdk.java.net/11/</a:t>
            </a:r>
            <a:endParaRPr lang="en-US" altLang="ko-KR" sz="2000" u="sng" dirty="0">
              <a:solidFill>
                <a:srgbClr val="0000FF"/>
              </a:solidFill>
              <a:effectLst/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  <a:hlinkClick r:id="rId4"/>
              </a:rPr>
              <a:t>www.oracle.com/kr/java/technologies/javase-jdk11-downloads.html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( </a:t>
            </a:r>
            <a:r>
              <a:rPr lang="ko-KR" altLang="en-US" sz="2000" dirty="0">
                <a:highlight>
                  <a:srgbClr val="FFFF00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환경변수설정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Tomcat (9.0 </a:t>
            </a:r>
            <a:r>
              <a:rPr lang="ko-KR" altLang="en-US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버전</a:t>
            </a:r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</a:t>
            </a:r>
            <a:r>
              <a:rPr lang="en-US" altLang="ko-KR" sz="2000" u="sng" dirty="0">
                <a:solidFill>
                  <a:srgbClr val="0000FF"/>
                </a:solidFill>
                <a:effectLst/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  <a:hlinkClick r:id="rId5"/>
              </a:rPr>
              <a:t>https://tomcat.apache.org/download-90.cgi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000" b="1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STS :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  <a:hlinkClick r:id="rId6"/>
              </a:rPr>
              <a:t>https://github.com/spring-attic/toolsuite-distribution/wiki/Spring-Tool-Suite-3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14400" lvl="1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Spring MVC Project </a:t>
            </a:r>
            <a:r>
              <a:rPr lang="ko-KR" altLang="ko-KR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메뉴가 없다</a:t>
            </a:r>
            <a:r>
              <a:rPr lang="en-US" altLang="ko-KR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Spring MVC Project</a:t>
            </a:r>
            <a:r>
              <a:rPr lang="ko-KR" altLang="ko-KR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메뉴를 사용 하기 위해 설정파일 </a:t>
            </a:r>
            <a:r>
              <a:rPr lang="en-US" altLang="ko-KR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“https-content.xml” </a:t>
            </a:r>
            <a:r>
              <a:rPr lang="ko-KR" altLang="ko-KR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필요하다</a:t>
            </a:r>
            <a:r>
              <a:rPr lang="en-US" altLang="ko-KR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</a:p>
          <a:p>
            <a:pPr marL="914400" lvl="1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org.springframework.templates.mvc</a:t>
            </a:r>
            <a:r>
              <a:rPr lang="en-US" altLang="ko-KR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템플릿</a:t>
            </a:r>
            <a:r>
              <a:rPr lang="en-US" altLang="ko-KR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파일이 다운로드 안 될 수 있다</a:t>
            </a:r>
            <a:r>
              <a:rPr lang="en-US" altLang="ko-KR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</a:p>
          <a:p>
            <a:pPr lvl="1">
              <a:lnSpc>
                <a:spcPct val="150000"/>
              </a:lnSpc>
            </a:pPr>
            <a:endParaRPr lang="ko-KR" altLang="ko-KR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en-US" altLang="ko-KR" sz="1600" kern="1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24</a:t>
            </a:r>
            <a:r>
              <a:rPr lang="ko-KR" altLang="ko-KR" sz="1600" kern="1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년</a:t>
            </a:r>
            <a:r>
              <a:rPr lang="en-US" altLang="ko-KR" sz="1600" kern="1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2</a:t>
            </a:r>
            <a:r>
              <a:rPr lang="ko-KR" altLang="ko-KR" sz="1600" kern="1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월 이후에 다운로드 받는</a:t>
            </a:r>
            <a:r>
              <a:rPr lang="en-US" altLang="ko-KR" sz="1600" kern="1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STS</a:t>
            </a:r>
            <a:r>
              <a:rPr lang="ko-KR" altLang="ko-KR" sz="1600" kern="1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는 </a:t>
            </a:r>
            <a:r>
              <a:rPr lang="en-US" altLang="ko-KR" sz="1600" kern="1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“Spring MVC Project” </a:t>
            </a:r>
            <a:r>
              <a:rPr lang="ko-KR" altLang="ko-KR" sz="1600" kern="1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더 이상 지원 하지 않는다</a:t>
            </a:r>
            <a:r>
              <a:rPr lang="en-US" altLang="ko-KR" sz="1600" kern="1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 </a:t>
            </a:r>
            <a:r>
              <a:rPr lang="ko-KR" altLang="ko-KR" sz="1600" kern="1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그래서</a:t>
            </a:r>
            <a:r>
              <a:rPr lang="en-US" altLang="ko-KR" sz="1600" kern="1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기존에 다운로드 받아 놓아 사용했던</a:t>
            </a:r>
            <a:r>
              <a:rPr lang="en-US" altLang="ko-KR" sz="1600" kern="1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STS</a:t>
            </a:r>
            <a:r>
              <a:rPr lang="ko-KR" altLang="ko-KR" sz="1600" kern="1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의</a:t>
            </a:r>
            <a:r>
              <a:rPr lang="en-US" altLang="ko-KR" sz="1600" kern="1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workspace</a:t>
            </a:r>
            <a:r>
              <a:rPr lang="ko-KR" altLang="ko-KR" sz="1600" kern="1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에 생성된 </a:t>
            </a:r>
            <a:r>
              <a:rPr lang="en-US" altLang="ko-KR" sz="1600" kern="1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https-content.xml</a:t>
            </a:r>
            <a:r>
              <a:rPr lang="ko-KR" altLang="ko-KR" sz="1600" kern="1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을 복사해서 사용해야 한다</a:t>
            </a:r>
            <a:r>
              <a:rPr lang="en-US" altLang="ko-KR" sz="1600" kern="1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lvl="1" algn="just">
              <a:lnSpc>
                <a:spcPct val="150000"/>
              </a:lnSpc>
            </a:pPr>
            <a:endParaRPr lang="en-US" altLang="ko-KR" sz="1100" dirty="0"/>
          </a:p>
          <a:p>
            <a:pPr lvl="1" algn="just">
              <a:lnSpc>
                <a:spcPct val="150000"/>
              </a:lnSpc>
            </a:pPr>
            <a:r>
              <a:rPr lang="en-US" altLang="ko-KR" sz="1600" dirty="0"/>
              <a:t> \.metadata\.plugins\</a:t>
            </a:r>
            <a:r>
              <a:rPr lang="en-US" altLang="ko-KR" sz="1600" dirty="0" err="1"/>
              <a:t>org.springsource.ide.eclipse.commons.content.core</a:t>
            </a:r>
            <a:endParaRPr lang="en-US" altLang="ko-KR" sz="1600" dirty="0"/>
          </a:p>
          <a:p>
            <a:pPr lvl="1" algn="just">
              <a:lnSpc>
                <a:spcPct val="150000"/>
              </a:lnSpc>
            </a:pPr>
            <a:endParaRPr lang="en-US" altLang="ko-KR" sz="1600" kern="100" dirty="0">
              <a:solidFill>
                <a:schemeClr val="tx2">
                  <a:lumMod val="60000"/>
                  <a:lumOff val="40000"/>
                </a:schemeClr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468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051817" y="105748"/>
            <a:ext cx="41729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실습 환경 구축하기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714165" y="1250515"/>
            <a:ext cx="10699149" cy="593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1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STS :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  <a:hlinkClick r:id="rId3"/>
              </a:rPr>
              <a:t>https://github.com/spring-attic/toolsuite-distribution/wiki/Spring-Tool-Suite-3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90A80F4-AE91-8E73-C94F-072E35D0AC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07" y="2120222"/>
            <a:ext cx="8735644" cy="238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5489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051817" y="105748"/>
            <a:ext cx="41729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실습 환경 구축하기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714165" y="1250515"/>
            <a:ext cx="10699149" cy="593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Legacy Project</a:t>
            </a:r>
            <a:r>
              <a:rPr lang="ko-KR" altLang="en-US" sz="2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만들기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284A710-53DD-92B3-A68A-30790D55F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65" y="2010901"/>
            <a:ext cx="5731510" cy="31115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5A37FAD-4300-07C7-5164-43D01FE9E1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8999" y="2280443"/>
            <a:ext cx="5731510" cy="430085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9357FF-91C8-EE66-9DD2-CF45916777CD}"/>
              </a:ext>
            </a:extLst>
          </p:cNvPr>
          <p:cNvSpPr txBox="1"/>
          <p:nvPr/>
        </p:nvSpPr>
        <p:spPr>
          <a:xfrm>
            <a:off x="1209368" y="331347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8A2B09-CC9D-1929-037C-9065A38096E4}"/>
              </a:ext>
            </a:extLst>
          </p:cNvPr>
          <p:cNvSpPr txBox="1"/>
          <p:nvPr/>
        </p:nvSpPr>
        <p:spPr>
          <a:xfrm>
            <a:off x="7575754" y="2580967"/>
            <a:ext cx="648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②</a:t>
            </a:r>
          </a:p>
        </p:txBody>
      </p:sp>
    </p:spTree>
    <p:extLst>
      <p:ext uri="{BB962C8B-B14F-4D97-AF65-F5344CB8AC3E}">
        <p14:creationId xmlns:p14="http://schemas.microsoft.com/office/powerpoint/2010/main" val="40279954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051817" y="105748"/>
            <a:ext cx="41729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실습 환경 구축하기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714165" y="1250515"/>
            <a:ext cx="10699149" cy="21848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Legacy Project</a:t>
            </a:r>
            <a:r>
              <a:rPr lang="ko-KR" altLang="en-US" sz="2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만들기</a:t>
            </a:r>
            <a:endParaRPr lang="en-US" altLang="ko-KR" sz="2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en-US" altLang="ko-KR" kern="10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STS</a:t>
            </a:r>
            <a:r>
              <a:rPr lang="ko-KR" altLang="ko-KR" kern="10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를</a:t>
            </a:r>
            <a:r>
              <a:rPr lang="en-US" altLang="ko-KR" kern="10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 close </a:t>
            </a:r>
            <a:r>
              <a:rPr lang="ko-KR" altLang="ko-KR" kern="10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한 후 아래를 진행 해보자</a:t>
            </a:r>
            <a:r>
              <a:rPr lang="en-US" altLang="ko-KR" kern="10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. </a:t>
            </a:r>
            <a:endParaRPr lang="ko-KR" altLang="ko-KR" kern="100" dirty="0">
              <a:effectLst/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ko-KR" kern="10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제공된 </a:t>
            </a:r>
            <a:r>
              <a:rPr lang="en-US" altLang="ko-KR" kern="10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https-content.xml </a:t>
            </a:r>
            <a:r>
              <a:rPr lang="ko-KR" altLang="ko-KR" kern="10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파일을 </a:t>
            </a:r>
            <a:r>
              <a:rPr lang="en-US" altLang="ko-KR" kern="100" dirty="0" err="1">
                <a:effectLst/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workSpace</a:t>
            </a:r>
            <a:r>
              <a:rPr lang="en-US" altLang="ko-KR" kern="10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 kern="10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폴더 안에 있는</a:t>
            </a:r>
            <a:r>
              <a:rPr lang="en-US" altLang="ko-KR" kern="10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 .metadata</a:t>
            </a:r>
            <a:r>
              <a:rPr lang="ko-KR" altLang="ko-KR" kern="10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의 아래의 위치에 넣는다</a:t>
            </a:r>
            <a:r>
              <a:rPr lang="en-US" altLang="ko-KR" kern="10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.</a:t>
            </a:r>
          </a:p>
          <a:p>
            <a:pPr lvl="1" algn="just">
              <a:lnSpc>
                <a:spcPct val="150000"/>
              </a:lnSpc>
            </a:pPr>
            <a:endParaRPr lang="ko-KR" altLang="ko-KR" kern="100" dirty="0">
              <a:effectLst/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50000"/>
              </a:lnSpc>
            </a:pPr>
            <a:r>
              <a:rPr lang="en-US" altLang="ko-KR" sz="1400" kern="10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C:\Edu\Spring\springFramework\workSpace\.metadata\.plugins\org.springsource.ide.eclipse.commons.content.core</a:t>
            </a:r>
            <a:endParaRPr lang="ko-KR" altLang="ko-KR" sz="1400" kern="100" dirty="0">
              <a:effectLst/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B468C9A-D700-E569-3241-D96214D43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686" y="3607858"/>
            <a:ext cx="5405804" cy="80682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F8C8ACC-DEB8-1729-181B-AE3EE44D56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3739" y="3429000"/>
            <a:ext cx="5731510" cy="317944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4156794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051817" y="105748"/>
            <a:ext cx="41729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실습 환경 구축하기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714165" y="1250515"/>
            <a:ext cx="10699149" cy="3514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STS</a:t>
            </a:r>
            <a:r>
              <a:rPr lang="ko-KR" altLang="en-US" sz="2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 </a:t>
            </a:r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Lombok </a:t>
            </a:r>
            <a:r>
              <a:rPr lang="ko-KR" altLang="en-US" sz="2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설정하기</a:t>
            </a:r>
            <a:endParaRPr lang="ko-KR" altLang="ko-KR" kern="100" dirty="0">
              <a:effectLst/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en-US" altLang="ko-KR" kern="10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Lombok</a:t>
            </a:r>
            <a:r>
              <a:rPr lang="ko-KR" altLang="ko-KR" kern="10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이란 </a:t>
            </a:r>
            <a:r>
              <a:rPr lang="ko-KR" altLang="ko-KR" kern="100" dirty="0" err="1">
                <a:effectLst/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어노테이션</a:t>
            </a:r>
            <a:r>
              <a:rPr lang="ko-KR" altLang="ko-KR" kern="10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 기반으로 코드를 자동완성 해주는 라이브러리</a:t>
            </a:r>
            <a:r>
              <a:rPr lang="en-US" altLang="ko-KR" kern="10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.</a:t>
            </a:r>
            <a:endParaRPr lang="ko-KR" altLang="ko-KR" kern="100" dirty="0">
              <a:effectLst/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ko-KR" kern="10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복잡하고 반복되는 코드를 자동생성하여 생산성 향상</a:t>
            </a:r>
            <a:r>
              <a:rPr lang="en-US" altLang="ko-KR" kern="10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.</a:t>
            </a:r>
            <a:endParaRPr lang="ko-KR" altLang="ko-KR" kern="100" dirty="0">
              <a:effectLst/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en-US" altLang="ko-KR" kern="10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Getter, Setter, </a:t>
            </a:r>
            <a:r>
              <a:rPr lang="en-US" altLang="ko-KR" kern="100" dirty="0" err="1">
                <a:effectLst/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toString</a:t>
            </a:r>
            <a:r>
              <a:rPr lang="en-US" altLang="ko-KR" kern="10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, Equals, Constructor</a:t>
            </a:r>
            <a:r>
              <a:rPr lang="ko-KR" altLang="ko-KR" kern="10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등과 같은 코드 자동 생성가능</a:t>
            </a:r>
            <a:r>
              <a:rPr lang="en-US" altLang="ko-KR" kern="10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.</a:t>
            </a:r>
            <a:endParaRPr lang="ko-KR" altLang="ko-KR" kern="100" dirty="0">
              <a:effectLst/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ko-KR" kern="10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코드가 직접 눈으로 보이지 않아 직관적이지 않는 단점이 있다</a:t>
            </a:r>
            <a:r>
              <a:rPr lang="en-US" altLang="ko-KR" kern="10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.</a:t>
            </a:r>
          </a:p>
          <a:p>
            <a:pPr marL="800100" lvl="1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kern="100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다운로드 </a:t>
            </a:r>
            <a:r>
              <a:rPr lang="en-US" altLang="ko-KR" sz="1800" u="sng" kern="100" dirty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hlinkClick r:id="rId3"/>
              </a:rPr>
              <a:t>https://projectlombok.org/download</a:t>
            </a:r>
            <a:endParaRPr lang="en-US" altLang="ko-KR" sz="1800" u="sng" kern="100" dirty="0">
              <a:solidFill>
                <a:srgbClr val="0000FF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설정확인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( sts.ini )  : -</a:t>
            </a:r>
            <a:r>
              <a:rPr lang="en-US" altLang="ko-KR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javaagent:C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:\shinhan3\eclipse\lombok.jar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+mj-ea"/>
              <a:buAutoNum type="circleNumDbPlain"/>
            </a:pPr>
            <a:endParaRPr lang="ko-KR" altLang="ko-KR" kern="100" dirty="0">
              <a:effectLst/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7EF01D3-D20D-A7E2-059E-344DB978A5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0161" y="3457524"/>
            <a:ext cx="3458058" cy="58110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602471F-6A15-88EB-13B3-B8BA104229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780" y="4569540"/>
            <a:ext cx="4820323" cy="183858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A6560A3-21D6-FDF4-59F2-60369ACB3C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4610" y="4481419"/>
            <a:ext cx="3769996" cy="221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426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FF01E098-FBDB-420F-88A9-27027F4759A5}"/>
              </a:ext>
            </a:extLst>
          </p:cNvPr>
          <p:cNvGrpSpPr/>
          <p:nvPr/>
        </p:nvGrpSpPr>
        <p:grpSpPr>
          <a:xfrm>
            <a:off x="3726874" y="2815838"/>
            <a:ext cx="7315199" cy="1226323"/>
            <a:chOff x="4793673" y="1246908"/>
            <a:chExt cx="6442363" cy="1080000"/>
          </a:xfrm>
        </p:grpSpPr>
        <p:sp>
          <p:nvSpPr>
            <p:cNvPr id="14" name="육각형 13">
              <a:extLst>
                <a:ext uri="{FF2B5EF4-FFF2-40B4-BE49-F238E27FC236}">
                  <a16:creationId xmlns:a16="http://schemas.microsoft.com/office/drawing/2014/main" id="{7ADDF6C6-9FD3-40F2-ADC2-37A43AADF7ED}"/>
                </a:ext>
              </a:extLst>
            </p:cNvPr>
            <p:cNvSpPr/>
            <p:nvPr/>
          </p:nvSpPr>
          <p:spPr>
            <a:xfrm>
              <a:off x="4793673" y="1246908"/>
              <a:ext cx="6442363" cy="1080000"/>
            </a:xfrm>
            <a:prstGeom prst="hexagon">
              <a:avLst>
                <a:gd name="adj" fmla="val 42671"/>
                <a:gd name="vf" fmla="val 11547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화살표: 오각형 14">
              <a:extLst>
                <a:ext uri="{FF2B5EF4-FFF2-40B4-BE49-F238E27FC236}">
                  <a16:creationId xmlns:a16="http://schemas.microsoft.com/office/drawing/2014/main" id="{81F229D3-E3EA-4A23-AA82-5E2AF3A625A9}"/>
                </a:ext>
              </a:extLst>
            </p:cNvPr>
            <p:cNvSpPr/>
            <p:nvPr/>
          </p:nvSpPr>
          <p:spPr>
            <a:xfrm>
              <a:off x="5632954" y="1371410"/>
              <a:ext cx="5339846" cy="830996"/>
            </a:xfrm>
            <a:prstGeom prst="homePlat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D920D6B8-E4ED-4528-A983-BD701AD4E691}"/>
                </a:ext>
              </a:extLst>
            </p:cNvPr>
            <p:cNvSpPr/>
            <p:nvPr/>
          </p:nvSpPr>
          <p:spPr>
            <a:xfrm>
              <a:off x="5196182" y="1364345"/>
              <a:ext cx="845127" cy="845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51810F50-4F4F-4ABD-840E-E581E3B8C415}"/>
                </a:ext>
              </a:extLst>
            </p:cNvPr>
            <p:cNvGrpSpPr/>
            <p:nvPr/>
          </p:nvGrpSpPr>
          <p:grpSpPr>
            <a:xfrm>
              <a:off x="5537400" y="1369809"/>
              <a:ext cx="4159582" cy="813160"/>
              <a:chOff x="5516922" y="1640913"/>
              <a:chExt cx="2999292" cy="586335"/>
            </a:xfrm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EB1F94F4-27C9-4570-8682-1A33FA68D416}"/>
                  </a:ext>
                </a:extLst>
              </p:cNvPr>
              <p:cNvSpPr/>
              <p:nvPr/>
            </p:nvSpPr>
            <p:spPr>
              <a:xfrm>
                <a:off x="6030979" y="1689775"/>
                <a:ext cx="2485235" cy="488612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defTabSz="1076865" eaLnBrk="0" latinLnBrk="0" hangingPunct="0">
                  <a:spcAft>
                    <a:spcPts val="486"/>
                  </a:spcAft>
                  <a:buSzPct val="100000"/>
                  <a:defRPr/>
                </a:pPr>
                <a:r>
                  <a:rPr lang="en-US" altLang="ko-KR" sz="4400">
                    <a:gradFill>
                      <a:gsLst>
                        <a:gs pos="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6200000" scaled="1"/>
                    </a:gradFill>
                    <a:latin typeface="HY견고딕" pitchFamily="18" charset="-127"/>
                    <a:ea typeface="HY견고딕" pitchFamily="18" charset="-127"/>
                  </a:rPr>
                  <a:t>Spring</a:t>
                </a:r>
                <a:r>
                  <a:rPr lang="ko-KR" altLang="en-US" sz="4400">
                    <a:gradFill>
                      <a:gsLst>
                        <a:gs pos="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6200000" scaled="1"/>
                    </a:gradFill>
                    <a:latin typeface="HY견고딕" pitchFamily="18" charset="-127"/>
                    <a:ea typeface="HY견고딕" pitchFamily="18" charset="-127"/>
                  </a:rPr>
                  <a:t>개요</a:t>
                </a:r>
                <a:endParaRPr lang="ko-KR" altLang="en-US" sz="4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16200000" scaled="1"/>
                  </a:gradFill>
                  <a:latin typeface="HY견고딕" pitchFamily="18" charset="-127"/>
                  <a:ea typeface="HY견고딕" pitchFamily="18" charset="-127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4541CD06-C435-48C0-AA4F-7B628FBAD386}"/>
                  </a:ext>
                </a:extLst>
              </p:cNvPr>
              <p:cNvSpPr/>
              <p:nvPr/>
            </p:nvSpPr>
            <p:spPr>
              <a:xfrm>
                <a:off x="5516922" y="1640913"/>
                <a:ext cx="117307" cy="586335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5400" b="1" i="0" u="none" strike="noStrike" kern="0" normalizeH="0" baseline="0" noProof="0" dirty="0">
                  <a:ln w="2857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uLnTx/>
                  <a:uFillTx/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586347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960602" y="105748"/>
            <a:ext cx="435535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Framework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의 개요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714165" y="1250515"/>
            <a:ext cx="10699149" cy="33516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kern="100" dirty="0">
                <a:latin typeface="나눔스퀘어" panose="020B0600000101010101" pitchFamily="50" charset="-127"/>
                <a:ea typeface="나눔스퀘어" panose="020B0600000101010101" pitchFamily="50" charset="-127"/>
                <a:sym typeface="Symbol"/>
              </a:rPr>
              <a:t>어플리케이션들의 최소한의 공통점을 찾아 하부 구조를 제공함으로써 개발자들로 하여금 시스템의 하부 구조를 구현하는데 들어가는 노력을 절감하게 하는 것이다</a:t>
            </a:r>
            <a:r>
              <a:rPr lang="en-US" altLang="ko-KR" sz="2400" kern="100" dirty="0">
                <a:latin typeface="나눔스퀘어" panose="020B0600000101010101" pitchFamily="50" charset="-127"/>
                <a:ea typeface="나눔스퀘어" panose="020B0600000101010101" pitchFamily="50" charset="-127"/>
                <a:sym typeface="Symbol"/>
              </a:rPr>
              <a:t>. </a:t>
            </a: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Framework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는 반제품이다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(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틀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구조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코드가 상당 부분 제공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소프트웨어의 구체적인 부분에 해당하는 설계와 구현을 재사용이 가능하게끔 일련의 협업화 된 형태로 클래스들을 제공하는 것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– “</a:t>
            </a:r>
            <a:r>
              <a:rPr lang="ko-KR" altLang="en-US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랄프존슨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”</a:t>
            </a:r>
            <a:endParaRPr lang="en-US" altLang="ko-KR" sz="2400" kern="100" dirty="0">
              <a:latin typeface="나눔스퀘어" panose="020B0600000101010101" pitchFamily="50" charset="-127"/>
              <a:ea typeface="나눔스퀘어" panose="020B0600000101010101" pitchFamily="50" charset="-127"/>
              <a:sym typeface="Symbol"/>
            </a:endParaRPr>
          </a:p>
          <a:p>
            <a:pPr>
              <a:lnSpc>
                <a:spcPct val="150000"/>
              </a:lnSpc>
            </a:pPr>
            <a:endParaRPr lang="ko-KR" altLang="en-US" sz="2400" kern="100" dirty="0">
              <a:latin typeface="나눔스퀘어" panose="020B0600000101010101" pitchFamily="50" charset="-127"/>
              <a:ea typeface="나눔스퀘어" panose="020B0600000101010101" pitchFamily="50" charset="-127"/>
              <a:sym typeface="Symbol"/>
            </a:endParaRPr>
          </a:p>
        </p:txBody>
      </p:sp>
    </p:spTree>
    <p:extLst>
      <p:ext uri="{BB962C8B-B14F-4D97-AF65-F5344CB8AC3E}">
        <p14:creationId xmlns:p14="http://schemas.microsoft.com/office/powerpoint/2010/main" val="1433235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135057" y="105748"/>
            <a:ext cx="600645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Framework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의 개요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714165" y="1250515"/>
            <a:ext cx="1069914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Spring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은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JAVA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플랫폼을 위한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Open Source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애플리케이션 프레임워크이다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Spring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은 오픈 소스 경량급 엔터프라이즈 애플리케이션 프레임워크이다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Spring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은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POJO (Plain Old Java Object)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방식의 프레임워크이다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Spring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은 대한민국 전자정부 표준 프레임워크의 기반 기술이다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50712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135057" y="105748"/>
            <a:ext cx="600645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Framework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의 모듈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714165" y="1250515"/>
            <a:ext cx="10699149" cy="590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주요기능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2695" y="1684752"/>
            <a:ext cx="4649419" cy="2353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602350"/>
              </p:ext>
            </p:extLst>
          </p:nvPr>
        </p:nvGraphicFramePr>
        <p:xfrm>
          <a:off x="1457646" y="4302670"/>
          <a:ext cx="7280533" cy="1955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6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2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7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스프링 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i="0" u="none" strike="noStrike" kern="1200" baseline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Core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 u="none" strike="noStrike" kern="1200" baseline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다른 기능과 설정을 분리하기 위한 </a:t>
                      </a:r>
                      <a:r>
                        <a:rPr lang="en-US" altLang="ko-KR" sz="1000" b="0" i="0" u="none" strike="noStrike" kern="1200" baseline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IoC </a:t>
                      </a:r>
                      <a:r>
                        <a:rPr lang="ko-KR" altLang="en-US" sz="1000" b="0" i="0" u="none" strike="noStrike" kern="1200" baseline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기능을 제공합니다</a:t>
                      </a:r>
                      <a:r>
                        <a:rPr lang="en-US" altLang="ko-KR" sz="1000" b="0" i="0" u="none" strike="noStrike" kern="1200" baseline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3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i="0" u="none" strike="noStrike" kern="1200" baseline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Context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 u="none" strike="noStrike" kern="1200" baseline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스프링의 기본 기능으로서 애플리케이션의 각 기능을 하는 빈</a:t>
                      </a:r>
                      <a:r>
                        <a:rPr lang="en-US" altLang="ko-KR" sz="1000" b="0" i="0" u="none" strike="noStrike" kern="1200" baseline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(Bean)</a:t>
                      </a:r>
                      <a:r>
                        <a:rPr lang="ko-KR" altLang="en-US" sz="1000" b="0" i="0" u="none" strike="noStrike" kern="1200" baseline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에 대한 접근 방법을 제공합니다</a:t>
                      </a:r>
                      <a:r>
                        <a:rPr lang="en-US" altLang="ko-KR" sz="1000" b="0" i="0" u="none" strike="noStrike" kern="1200" baseline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18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i="0" u="none" strike="noStrike" kern="1200" baseline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DAO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i="0" u="none" strike="noStrike" kern="1200" baseline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JDBC </a:t>
                      </a:r>
                      <a:r>
                        <a:rPr lang="ko-KR" altLang="en-US" sz="1000" b="0" i="0" u="none" strike="noStrike" kern="1200" baseline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기능을 좀 더 편리하게 사용할 수 있도록 합니다</a:t>
                      </a:r>
                      <a:r>
                        <a:rPr lang="en-US" altLang="ko-KR" sz="1000" b="0" i="0" u="none" strike="noStrike" kern="1200" baseline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45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i="0" u="none" strike="noStrike" kern="1200" baseline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ORM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 u="none" strike="noStrike" kern="1200" baseline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하이버네이트나 마이바티스 같은 영속성 관련 프레임워크와 연동된 기능을 제공합니다</a:t>
                      </a:r>
                      <a:r>
                        <a:rPr lang="en-US" altLang="ko-KR" sz="1000" b="0" i="0" u="none" strike="noStrike" kern="1200" baseline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91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i="0" u="none" strike="noStrike" kern="1200" baseline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AOP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 u="none" strike="noStrike" kern="1200" baseline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관점 지향 기능을 제공합니다</a:t>
                      </a:r>
                      <a:r>
                        <a:rPr lang="en-US" altLang="ko-KR" sz="1000" b="0" i="0" u="none" strike="noStrike" kern="1200" baseline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87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i="0" u="none" strike="noStrike" kern="1200" baseline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Web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 u="none" strike="noStrike" kern="1200" baseline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웹 애플리케이션 개발에 필요한 기능을 제공합니다</a:t>
                      </a:r>
                      <a:r>
                        <a:rPr lang="en-US" altLang="ko-KR" sz="1000" b="0" i="0" u="none" strike="noStrike" kern="1200" baseline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48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i="0" u="none" strike="noStrike" kern="1200" baseline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WebMVC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 u="none" strike="noStrike" kern="1200" baseline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스프링에서 </a:t>
                      </a:r>
                      <a:r>
                        <a:rPr lang="en-US" altLang="ko-KR" sz="1000" b="0" i="0" u="none" strike="noStrike" kern="1200" baseline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MVC </a:t>
                      </a:r>
                      <a:r>
                        <a:rPr lang="ko-KR" altLang="en-US" sz="1000" b="0" i="0" u="none" strike="noStrike" kern="1200" baseline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구현에 관련된 기능을 제공합니다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77470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135057" y="105748"/>
            <a:ext cx="600645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Framework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의 특징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612" y="1458449"/>
            <a:ext cx="6030521" cy="378660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9200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135057" y="105748"/>
            <a:ext cx="600645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Framework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의 특징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714165" y="1250515"/>
            <a:ext cx="10699149" cy="1515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경량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(Lightweight) </a:t>
            </a:r>
          </a:p>
          <a:p>
            <a:pPr marL="914400" lvl="1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Spring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은 그 크기와 부하의 측면에서 경량이며 몇 개의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JAR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파일로 구성되므로 설치와 사용이 쉽다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338" y="2966204"/>
            <a:ext cx="5553075" cy="298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3657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135057" y="105748"/>
            <a:ext cx="600645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Framework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의 특징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714165" y="1250515"/>
            <a:ext cx="10699149" cy="16081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제어 역행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(IoC Inversion of Control) </a:t>
            </a:r>
          </a:p>
          <a:p>
            <a:pPr lvl="1">
              <a:lnSpc>
                <a:spcPct val="150000"/>
              </a:lnSpc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①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객체의 생성에서 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소멸까지를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설정 파일이나 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애노테이션을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통해서 컨테이너가 관리 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②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Dependency Injection(DI)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을 통해 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모듈간의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의존성 주입</a:t>
            </a:r>
            <a:endParaRPr lang="ko-KR" altLang="en-US" sz="2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544" y="3192373"/>
            <a:ext cx="5623747" cy="182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38112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135057" y="105748"/>
            <a:ext cx="600645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Framework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의 특징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022" y="1915680"/>
            <a:ext cx="7936089" cy="4891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714165" y="1250515"/>
            <a:ext cx="11259662" cy="590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IoC :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작은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부품을 먼저 만들어 큰 부품 생성시 조립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153272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135055" y="105748"/>
            <a:ext cx="600645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Framework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의 특징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714165" y="1250515"/>
            <a:ext cx="11259662" cy="11444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DI (</a:t>
            </a:r>
            <a:r>
              <a:rPr lang="en-US" altLang="ko-KR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Dependecy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Injection) </a:t>
            </a:r>
          </a:p>
          <a:p>
            <a:pPr marL="814388" lvl="1" indent="-35718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종속성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주입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부품조립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052" y="2678642"/>
            <a:ext cx="3952875" cy="299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3641" y="1940101"/>
            <a:ext cx="3962400" cy="421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535289" y="5949244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286052" y="5869380"/>
            <a:ext cx="4535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일체형 </a:t>
            </a:r>
            <a:r>
              <a:rPr lang="en-US" altLang="ko-KR"/>
              <a:t>(A</a:t>
            </a:r>
            <a:r>
              <a:rPr lang="ko-KR" altLang="en-US"/>
              <a:t>를 만들면 </a:t>
            </a:r>
            <a:r>
              <a:rPr lang="en-US" altLang="ko-KR"/>
              <a:t>B</a:t>
            </a:r>
            <a:r>
              <a:rPr lang="ko-KR" altLang="en-US"/>
              <a:t>도 생성</a:t>
            </a:r>
            <a:r>
              <a:rPr lang="en-US" altLang="ko-KR"/>
              <a:t>, </a:t>
            </a:r>
            <a:r>
              <a:rPr lang="ko-KR" altLang="en-US"/>
              <a:t>바꾸기불가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193077" y="6238712"/>
            <a:ext cx="3166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조립형</a:t>
            </a:r>
            <a:r>
              <a:rPr lang="en-US" altLang="ko-KR"/>
              <a:t>(B</a:t>
            </a:r>
            <a:r>
              <a:rPr lang="ko-KR" altLang="en-US"/>
              <a:t>를 만들어 </a:t>
            </a:r>
            <a:r>
              <a:rPr lang="en-US" altLang="ko-KR"/>
              <a:t>A</a:t>
            </a:r>
            <a:r>
              <a:rPr lang="ko-KR" altLang="en-US"/>
              <a:t>에</a:t>
            </a:r>
            <a:r>
              <a:rPr lang="en-US" altLang="ko-KR"/>
              <a:t> </a:t>
            </a:r>
            <a:r>
              <a:rPr lang="ko-KR" altLang="en-US"/>
              <a:t>조립</a:t>
            </a:r>
            <a:r>
              <a:rPr lang="en-US" altLang="ko-KR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15363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378834" y="105748"/>
            <a:ext cx="351891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                         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714165" y="1250515"/>
            <a:ext cx="10699149" cy="32623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000" dirty="0">
                <a:ea typeface="+mj-ea"/>
              </a:rPr>
              <a:t>프로젝트 구조와 내용을 기술하는 선언적 접근 방식의 오픈 소스 빌드 툴이다</a:t>
            </a:r>
            <a:r>
              <a:rPr lang="en-US" altLang="ko-KR" sz="2000" dirty="0">
                <a:ea typeface="+mj-ea"/>
              </a:rPr>
              <a:t>.</a:t>
            </a: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000" dirty="0">
                <a:ea typeface="+mj-ea"/>
              </a:rPr>
              <a:t>프로젝트 종속 라이브러리들과 그 라이브러리에 의존하는 </a:t>
            </a:r>
            <a:r>
              <a:rPr lang="en-US" altLang="ko-KR" sz="2000" dirty="0">
                <a:ea typeface="+mj-ea"/>
              </a:rPr>
              <a:t>Dependency </a:t>
            </a:r>
            <a:r>
              <a:rPr lang="ko-KR" altLang="en-US" sz="2000" dirty="0">
                <a:ea typeface="+mj-ea"/>
              </a:rPr>
              <a:t>자원까지 관리할 수 있다</a:t>
            </a:r>
            <a:r>
              <a:rPr lang="en-US" altLang="ko-KR" sz="2000" dirty="0">
                <a:ea typeface="+mj-ea"/>
              </a:rPr>
              <a:t>.</a:t>
            </a: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000" dirty="0">
                <a:ea typeface="+mj-ea"/>
              </a:rPr>
              <a:t>프로젝트 전반의 리소스 관리와 설정 파일 그리고 이와 관련된 표준 디렉터리 구조를 처음부터 일관된 형태로 구성하여 관리할 수 있다</a:t>
            </a:r>
            <a:r>
              <a:rPr lang="en-US" altLang="ko-KR" sz="2000" dirty="0">
                <a:ea typeface="+mj-ea"/>
              </a:rPr>
              <a:t>.</a:t>
            </a: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000" dirty="0">
                <a:ea typeface="나눔스퀘어" panose="020B0600000101010101" pitchFamily="50" charset="-127"/>
              </a:rPr>
              <a:t>pom.xml </a:t>
            </a:r>
            <a:r>
              <a:rPr lang="ko-KR" altLang="en-US" sz="2000" dirty="0">
                <a:ea typeface="나눔스퀘어" panose="020B0600000101010101" pitchFamily="50" charset="-127"/>
              </a:rPr>
              <a:t>설정 </a:t>
            </a:r>
            <a:r>
              <a:rPr lang="en-US" altLang="ko-KR" sz="2000" dirty="0">
                <a:ea typeface="나눔스퀘어" panose="020B0600000101010101" pitchFamily="50" charset="-127"/>
              </a:rPr>
              <a:t>(POM : Project Object Model) : </a:t>
            </a:r>
            <a:r>
              <a:rPr lang="ko-KR" altLang="en-US" sz="2000" dirty="0">
                <a:ea typeface="나눔스퀘어" panose="020B0600000101010101" pitchFamily="50" charset="-127"/>
              </a:rPr>
              <a:t>버전 및 설정 관리</a:t>
            </a:r>
            <a:r>
              <a:rPr lang="en-US" altLang="ko-KR" sz="2000" dirty="0">
                <a:ea typeface="나눔스퀘어" panose="020B0600000101010101" pitchFamily="50" charset="-127"/>
              </a:rPr>
              <a:t>, </a:t>
            </a:r>
            <a:r>
              <a:rPr lang="ko-KR" altLang="en-US" sz="2000" dirty="0">
                <a:ea typeface="나눔스퀘어" panose="020B0600000101010101" pitchFamily="50" charset="-127"/>
              </a:rPr>
              <a:t>빌드 환경</a:t>
            </a:r>
            <a:r>
              <a:rPr lang="en-US" altLang="ko-KR" sz="2000" dirty="0">
                <a:ea typeface="나눔스퀘어" panose="020B0600000101010101" pitchFamily="50" charset="-127"/>
              </a:rPr>
              <a:t>, </a:t>
            </a:r>
            <a:r>
              <a:rPr lang="ko-KR" altLang="en-US" sz="2000" dirty="0">
                <a:ea typeface="나눔스퀘어" panose="020B0600000101010101" pitchFamily="50" charset="-127"/>
              </a:rPr>
              <a:t>라이브러리 저장소 및 의존성을</a:t>
            </a:r>
            <a:r>
              <a:rPr lang="en-US" altLang="ko-KR" sz="2000" dirty="0">
                <a:ea typeface="나눔스퀘어" panose="020B0600000101010101" pitchFamily="50" charset="-127"/>
              </a:rPr>
              <a:t> </a:t>
            </a:r>
            <a:r>
              <a:rPr lang="ko-KR" altLang="en-US" sz="2000" dirty="0">
                <a:ea typeface="나눔스퀘어" panose="020B0600000101010101" pitchFamily="50" charset="-127"/>
              </a:rPr>
              <a:t>기술한다</a:t>
            </a:r>
            <a:r>
              <a:rPr lang="en-US" altLang="ko-KR" sz="2000" dirty="0"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4510" y="78961"/>
            <a:ext cx="2356919" cy="734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419" y="4769962"/>
            <a:ext cx="3319883" cy="1431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4">
            <a:extLst>
              <a:ext uri="{FF2B5EF4-FFF2-40B4-BE49-F238E27FC236}">
                <a16:creationId xmlns:a16="http://schemas.microsoft.com/office/drawing/2014/main" id="{2652A9FE-D68C-4426-816C-C8D6D9A8D7B4}"/>
              </a:ext>
            </a:extLst>
          </p:cNvPr>
          <p:cNvSpPr txBox="1"/>
          <p:nvPr/>
        </p:nvSpPr>
        <p:spPr>
          <a:xfrm>
            <a:off x="4403990" y="4849413"/>
            <a:ext cx="7494105" cy="127297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050" dirty="0">
                <a:latin typeface="+mj-ea"/>
                <a:ea typeface="+mj-ea"/>
              </a:rPr>
              <a:t>일반적인 애플리케이션은 단지 코드를 컴파일했다고 해서 동작하는 것이 아닙니다</a:t>
            </a:r>
            <a:r>
              <a:rPr lang="en-US" altLang="ko-KR" sz="1050" dirty="0">
                <a:latin typeface="+mj-ea"/>
                <a:ea typeface="+mj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050" dirty="0">
                <a:latin typeface="+mj-ea"/>
                <a:ea typeface="+mj-ea"/>
              </a:rPr>
              <a:t>우리가 사용한 오픈소스 라이브러리들은 컴파일할 때 합쳐져 하나의 기능을 이룹니다</a:t>
            </a:r>
            <a:r>
              <a:rPr lang="en-US" altLang="ko-KR" sz="1050" dirty="0">
                <a:latin typeface="+mj-ea"/>
                <a:ea typeface="+mj-ea"/>
              </a:rPr>
              <a:t>. </a:t>
            </a:r>
            <a:r>
              <a:rPr lang="ko-KR" altLang="en-US" sz="1050" dirty="0">
                <a:latin typeface="+mj-ea"/>
                <a:ea typeface="+mj-ea"/>
              </a:rPr>
              <a:t>그리고 컴파일 과정 외에 테스팅</a:t>
            </a:r>
            <a:r>
              <a:rPr lang="en-US" altLang="ko-KR" sz="1050" dirty="0">
                <a:latin typeface="+mj-ea"/>
                <a:ea typeface="+mj-ea"/>
              </a:rPr>
              <a:t>, </a:t>
            </a:r>
            <a:r>
              <a:rPr lang="ko-KR" altLang="en-US" sz="1050" dirty="0">
                <a:latin typeface="+mj-ea"/>
                <a:ea typeface="+mj-ea"/>
              </a:rPr>
              <a:t>배포 같은 과정도 거쳐야 합니다</a:t>
            </a:r>
            <a:r>
              <a:rPr lang="en-US" altLang="ko-KR" sz="1050" dirty="0">
                <a:latin typeface="+mj-ea"/>
                <a:ea typeface="+mj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050" dirty="0">
                <a:latin typeface="+mj-ea"/>
                <a:ea typeface="+mj-ea"/>
              </a:rPr>
              <a:t>즉</a:t>
            </a:r>
            <a:r>
              <a:rPr lang="en-US" altLang="ko-KR" sz="1050" dirty="0">
                <a:latin typeface="+mj-ea"/>
                <a:ea typeface="+mj-ea"/>
              </a:rPr>
              <a:t>, </a:t>
            </a:r>
            <a:r>
              <a:rPr lang="ko-KR" altLang="en-US" sz="1050" dirty="0">
                <a:latin typeface="+mj-ea"/>
                <a:ea typeface="+mj-ea"/>
              </a:rPr>
              <a:t>애플리케이션을 만들 때는 컴파일보다 더 많은 과정을 거치게 됩니다</a:t>
            </a:r>
            <a:r>
              <a:rPr lang="en-US" altLang="ko-KR" sz="1050" dirty="0">
                <a:latin typeface="+mj-ea"/>
                <a:ea typeface="+mj-ea"/>
              </a:rPr>
              <a:t>. </a:t>
            </a:r>
            <a:r>
              <a:rPr lang="ko-KR" altLang="en-US" sz="1050" dirty="0">
                <a:latin typeface="+mj-ea"/>
                <a:ea typeface="+mj-ea"/>
              </a:rPr>
              <a:t>이런 과정을 빌드라고 하고 이런 작업을 자동으로 수행해 주는 툴을 빌드 툴이라고 합니다</a:t>
            </a:r>
            <a:r>
              <a:rPr lang="en-US" altLang="ko-KR" sz="1050" dirty="0">
                <a:latin typeface="+mj-ea"/>
                <a:ea typeface="+mj-ea"/>
              </a:rPr>
              <a:t>. </a:t>
            </a:r>
            <a:r>
              <a:rPr lang="ko-KR" altLang="en-US" sz="1050" dirty="0">
                <a:latin typeface="+mj-ea"/>
                <a:ea typeface="+mj-ea"/>
              </a:rPr>
              <a:t>이런 빌드 툴에는 </a:t>
            </a:r>
            <a:r>
              <a:rPr lang="en-US" altLang="ko-KR" sz="1050" b="1" dirty="0">
                <a:latin typeface="+mj-ea"/>
                <a:ea typeface="+mj-ea"/>
              </a:rPr>
              <a:t>Ant, Apache Ivy, Maven, Gradle</a:t>
            </a:r>
            <a:r>
              <a:rPr lang="en-US" altLang="ko-KR" sz="1050" dirty="0">
                <a:latin typeface="+mj-ea"/>
                <a:ea typeface="+mj-ea"/>
              </a:rPr>
              <a:t> </a:t>
            </a:r>
            <a:r>
              <a:rPr lang="ko-KR" altLang="en-US" sz="1050" dirty="0">
                <a:latin typeface="+mj-ea"/>
                <a:ea typeface="+mj-ea"/>
              </a:rPr>
              <a:t>등이 있습니다</a:t>
            </a:r>
            <a:r>
              <a:rPr lang="en-US" altLang="ko-KR" sz="1050" dirty="0">
                <a:latin typeface="+mj-ea"/>
                <a:ea typeface="+mj-ea"/>
              </a:rPr>
              <a:t>.</a:t>
            </a:r>
            <a:endParaRPr lang="ko-KR" altLang="en-US" sz="105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45335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1508426" y="1703181"/>
            <a:ext cx="91506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dirty="0"/>
              <a:t> </a:t>
            </a:r>
            <a:endParaRPr lang="ko-KR" altLang="en-US" sz="20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1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DA0C697-B0D3-425F-A67F-C99A1E0BF0E9}"/>
              </a:ext>
            </a:extLst>
          </p:cNvPr>
          <p:cNvCxnSpPr>
            <a:cxnSpLocks/>
          </p:cNvCxnSpPr>
          <p:nvPr/>
        </p:nvCxnSpPr>
        <p:spPr>
          <a:xfrm>
            <a:off x="1750941" y="1321132"/>
            <a:ext cx="8666939" cy="0"/>
          </a:xfrm>
          <a:prstGeom prst="line">
            <a:avLst/>
          </a:prstGeom>
          <a:ln w="76200" cap="rnd" cmpd="sng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4378831" y="105748"/>
            <a:ext cx="351891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Maven Project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9293" y="4534578"/>
            <a:ext cx="3839697" cy="137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0941" y="1703181"/>
            <a:ext cx="5756402" cy="2381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387711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2754568" y="105748"/>
            <a:ext cx="676742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Maven Project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디렉토리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구조</a:t>
            </a: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9546" y="1060955"/>
            <a:ext cx="5379610" cy="5460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5871" y="1566538"/>
            <a:ext cx="3361794" cy="4232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285871" y="1197206"/>
            <a:ext cx="2050369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/>
              <a:t>src/main/resource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73911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2754568" y="105748"/>
            <a:ext cx="676742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Maven Project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디렉토리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구조</a:t>
            </a: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877316"/>
              </p:ext>
            </p:extLst>
          </p:nvPr>
        </p:nvGraphicFramePr>
        <p:xfrm>
          <a:off x="839813" y="1690658"/>
          <a:ext cx="9953878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4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8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559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구성 요소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pom.xml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+mn-lt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프로젝트 정보가 표시되며 스프링에서 사용되는 여러 가지 라이브러리를 설정해 </a:t>
                      </a:r>
                      <a:endParaRPr lang="en-US" altLang="ko-KR" sz="16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다운로드 가능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+mn-lt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6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src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/main/java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+mn-lt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자바 소스 파일 위치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+mn-lt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72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src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/main/resources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+mn-lt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프로퍼티 파일이나 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XML 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파일 등 리소스 파일 위치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+mn-lt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60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src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/main/webapp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+mn-lt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WEB_INF 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등 웹 애플리케이션 리소스 위치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+mn-lt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8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src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/test/java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+mn-lt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JUnit 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등 테스트 파일 위치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+mn-lt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7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src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/test/resources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+mn-lt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테스트 시에 필요한 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resource 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파일 위치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+mn-lt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직사각형 13"/>
          <p:cNvSpPr/>
          <p:nvPr/>
        </p:nvSpPr>
        <p:spPr>
          <a:xfrm>
            <a:off x="846277" y="1254428"/>
            <a:ext cx="258917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메이븐</a:t>
            </a:r>
            <a:r>
              <a:rPr lang="ko-KR" altLang="en-US" sz="1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프로젝트 구성 요소들</a:t>
            </a:r>
          </a:p>
        </p:txBody>
      </p:sp>
    </p:spTree>
    <p:extLst>
      <p:ext uri="{BB962C8B-B14F-4D97-AF65-F5344CB8AC3E}">
        <p14:creationId xmlns:p14="http://schemas.microsoft.com/office/powerpoint/2010/main" val="31999231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2754568" y="105748"/>
            <a:ext cx="676742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Maven Project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디렉토리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구조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632252" y="1239293"/>
            <a:ext cx="4572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pom.xml</a:t>
            </a:r>
            <a:r>
              <a:rPr lang="ko-KR" altLang="en-US" sz="1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프로젝트 정보 설정 태그 구성 요소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777452"/>
              </p:ext>
            </p:extLst>
          </p:nvPr>
        </p:nvGraphicFramePr>
        <p:xfrm>
          <a:off x="692325" y="1634953"/>
          <a:ext cx="9779891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0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97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3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속성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27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groupId</a:t>
                      </a:r>
                      <a:endParaRPr lang="ko-KR" altLang="en-US" sz="1600" b="0" dirty="0">
                        <a:latin typeface="+mn-lt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프로젝트 그룹 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id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를 나타내며 일반적으로 도메인 이름을 사용해 설정합니다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.</a:t>
                      </a:r>
                      <a:endParaRPr lang="ko-KR" altLang="en-US" sz="1600" b="0" dirty="0">
                        <a:latin typeface="+mn-lt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209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artifactId</a:t>
                      </a:r>
                      <a:endParaRPr lang="ko-KR" altLang="en-US" sz="1600" b="0" dirty="0">
                        <a:latin typeface="+mn-lt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프로젝트 </a:t>
                      </a:r>
                      <a:r>
                        <a:rPr lang="ko-KR" altLang="en-US" sz="16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아티팩트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id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를 설정합니다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대개는 패키지 이름으로 설정합니다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.</a:t>
                      </a:r>
                      <a:endParaRPr lang="ko-KR" altLang="en-US" sz="1600" b="0" dirty="0">
                        <a:latin typeface="+mn-lt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64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version</a:t>
                      </a:r>
                      <a:endParaRPr lang="ko-KR" altLang="en-US" sz="1600" b="0" dirty="0">
                        <a:latin typeface="+mn-lt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프로젝트의 버전을 설정합니다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.</a:t>
                      </a:r>
                      <a:endParaRPr lang="ko-KR" altLang="en-US" sz="1600" b="0" dirty="0">
                        <a:latin typeface="+mn-lt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0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packaging</a:t>
                      </a:r>
                      <a:endParaRPr lang="ko-KR" altLang="en-US" sz="1600" b="0" dirty="0">
                        <a:latin typeface="+mn-lt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애플리케이션 배포 시 패키징 타입을 설정합니다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. (jar, war)</a:t>
                      </a:r>
                      <a:endParaRPr lang="ko-KR" altLang="en-US" sz="1600" b="0" dirty="0">
                        <a:latin typeface="+mn-lt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705677" y="3596691"/>
            <a:ext cx="5207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pom.xml</a:t>
            </a:r>
            <a:r>
              <a:rPr lang="ko-KR" altLang="en-US" sz="1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</a:t>
            </a:r>
            <a:r>
              <a:rPr lang="en-US" altLang="ko-KR" sz="1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dependencies </a:t>
            </a:r>
            <a:r>
              <a:rPr lang="ko-KR" altLang="en-US" sz="1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정보 설정 태그 구성 요소</a:t>
            </a: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734021"/>
              </p:ext>
            </p:extLst>
          </p:nvPr>
        </p:nvGraphicFramePr>
        <p:xfrm>
          <a:off x="705678" y="4036459"/>
          <a:ext cx="9759864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01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49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59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속성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27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dependency</a:t>
                      </a:r>
                      <a:endParaRPr lang="ko-KR" altLang="en-US" sz="1600" b="0" dirty="0">
                        <a:latin typeface="+mn-lt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해당 프로젝트에서 의존하는 다른 라이브러리 정보를 기술합니다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.</a:t>
                      </a:r>
                      <a:endParaRPr lang="ko-KR" altLang="en-US" sz="1600" b="0" dirty="0">
                        <a:latin typeface="+mn-lt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209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groupId</a:t>
                      </a:r>
                      <a:endParaRPr lang="ko-KR" altLang="en-US" sz="1600" b="0" dirty="0">
                        <a:latin typeface="+mn-lt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의존하는 프로젝트의 그룹 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id</a:t>
                      </a:r>
                      <a:endParaRPr lang="ko-KR" altLang="en-US" sz="1600" b="0" dirty="0">
                        <a:latin typeface="+mn-lt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64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artifactId</a:t>
                      </a:r>
                      <a:endParaRPr lang="ko-KR" altLang="en-US" sz="1600" b="0" dirty="0">
                        <a:latin typeface="+mn-lt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의존하는 프로젝트의 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artifact id</a:t>
                      </a:r>
                      <a:endParaRPr lang="ko-KR" altLang="en-US" sz="1600" b="0" dirty="0">
                        <a:latin typeface="+mn-lt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0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version</a:t>
                      </a:r>
                      <a:endParaRPr lang="ko-KR" altLang="en-US" sz="1600" b="0" dirty="0">
                        <a:latin typeface="+mn-lt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나눔스퀘어" panose="020B0600000101010101" pitchFamily="50" charset="-127"/>
                          <a:cs typeface="+mn-cs"/>
                        </a:rPr>
                        <a:t>의존하는 프로젝트 버전 정보</a:t>
                      </a:r>
                      <a:endParaRPr lang="ko-KR" altLang="en-US" sz="1600" b="0" dirty="0">
                        <a:latin typeface="+mn-lt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09969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1626633" y="105748"/>
            <a:ext cx="902330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Framework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의 특징 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– Spring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이전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407" y="2692177"/>
            <a:ext cx="7046922" cy="344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714165" y="1250515"/>
            <a:ext cx="11259662" cy="11444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Interface  :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개발 코드와 객체가 서로 통신하는 접점 역할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		   </a:t>
            </a:r>
            <a:r>
              <a:rPr lang="ko-KR" altLang="en-US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다형성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구현에 중요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육각형 6">
            <a:extLst>
              <a:ext uri="{FF2B5EF4-FFF2-40B4-BE49-F238E27FC236}">
                <a16:creationId xmlns:a16="http://schemas.microsoft.com/office/drawing/2014/main" id="{16D1A3F3-71A4-382E-7E6F-205AD73671F0}"/>
              </a:ext>
            </a:extLst>
          </p:cNvPr>
          <p:cNvSpPr/>
          <p:nvPr/>
        </p:nvSpPr>
        <p:spPr>
          <a:xfrm>
            <a:off x="8467725" y="3429000"/>
            <a:ext cx="1123950" cy="866775"/>
          </a:xfrm>
          <a:prstGeom prst="hexago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A</a:t>
            </a:r>
            <a:r>
              <a:rPr lang="ko-KR" altLang="en-US" sz="1200" dirty="0" err="1"/>
              <a:t>사용중</a:t>
            </a:r>
            <a:endParaRPr lang="ko-KR" altLang="en-US" sz="1200" dirty="0"/>
          </a:p>
        </p:txBody>
      </p:sp>
      <p:sp>
        <p:nvSpPr>
          <p:cNvPr id="8" name="육각형 7">
            <a:extLst>
              <a:ext uri="{FF2B5EF4-FFF2-40B4-BE49-F238E27FC236}">
                <a16:creationId xmlns:a16="http://schemas.microsoft.com/office/drawing/2014/main" id="{9015D5A9-BABE-AC94-E329-3F2CE03EC4DF}"/>
              </a:ext>
            </a:extLst>
          </p:cNvPr>
          <p:cNvSpPr/>
          <p:nvPr/>
        </p:nvSpPr>
        <p:spPr>
          <a:xfrm>
            <a:off x="8467725" y="4667250"/>
            <a:ext cx="1123950" cy="866775"/>
          </a:xfrm>
          <a:prstGeom prst="hexago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B</a:t>
            </a:r>
            <a:r>
              <a:rPr lang="ko-KR" altLang="en-US" sz="1200" dirty="0"/>
              <a:t>로 변경</a:t>
            </a:r>
            <a:r>
              <a:rPr lang="en-US" altLang="ko-KR" sz="1200" dirty="0"/>
              <a:t>? 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9487802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1724414" y="105748"/>
            <a:ext cx="8827738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Framework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의 특징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-Spring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이전</a:t>
            </a:r>
          </a:p>
          <a:p>
            <a:pPr algn="ctr"/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714165" y="1250515"/>
            <a:ext cx="11259662" cy="22436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Factory Pattern: 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클래스의 인스턴스를 만드는 것을 서브클래스에서 결정하도록 한다는 것이다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 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new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키워드를 사용하는 부분을 서브클래스에 위임함 으로서 객체 생성을 캡슐화하고 구상 클래스에 대한 의존성이 줄어든다는 이점을 얻을 수 있다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812172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2516298" y="105748"/>
            <a:ext cx="724397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Framework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의 특징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-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실습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0" y="1104900"/>
            <a:ext cx="80010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64223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1746858" y="105748"/>
            <a:ext cx="8782853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Framework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의 특징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–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관련용어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714165" y="1250515"/>
            <a:ext cx="11259662" cy="27976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Bean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스프링이 </a:t>
            </a:r>
            <a:r>
              <a:rPr lang="en-US" altLang="ko-KR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Ioc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방식으로 직접 생성과 제어를 담당하는 객체를 의미한다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BeanFactory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: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스프링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IoC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담당하는 핵심 컨테이너이다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ApplicationContext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: </a:t>
            </a:r>
            <a:r>
              <a:rPr lang="en-US" altLang="ko-KR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BeanFactory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확장한 </a:t>
            </a:r>
            <a:r>
              <a:rPr lang="en-US" altLang="ko-KR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Ioc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컨테이너이다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Bean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을 등록하고 관리하는 것은 </a:t>
            </a:r>
            <a:r>
              <a:rPr lang="en-US" altLang="ko-KR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BeanFactory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와 동일하며 스프링이 제공하는 각종 부가서비스를 추가로 제공한다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2175767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002927" y="105748"/>
            <a:ext cx="427072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Container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0344" y="1430608"/>
            <a:ext cx="7210425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967793" y="4887522"/>
            <a:ext cx="10699149" cy="11444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빈팩토리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또는 </a:t>
            </a:r>
            <a:r>
              <a:rPr lang="ko-KR" altLang="en-US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애플리케이션컨텍스트란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? Spring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에서 빈의 생성과 관계 설정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사용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제거등의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기능을 담당하는 컨테이너이다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890265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002927" y="105748"/>
            <a:ext cx="427072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Container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714165" y="1250515"/>
            <a:ext cx="10699149" cy="2669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BeanFactory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</a:p>
          <a:p>
            <a:pPr lvl="2">
              <a:lnSpc>
                <a:spcPct val="150000"/>
              </a:lnSpc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빈이 사용할 때 생성됨 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2">
              <a:lnSpc>
                <a:spcPct val="150000"/>
              </a:lnSpc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메모리를 좀 더 효율적으로 사용할 수 있어서 메모리 사용이 적어야 하는 모바일 관련 개발에 사용됨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  <a:p>
            <a:pPr lvl="2">
              <a:lnSpc>
                <a:spcPct val="150000"/>
              </a:lnSpc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XML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파일로부터 설정 정보를 활용하는 가장 많이 사용되는 하위 클래스 </a:t>
            </a:r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org.springframework.beans.factory.xml.XmlBeanFactory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</a:p>
          <a:p>
            <a:pPr marL="1257300" lvl="2" indent="-342900">
              <a:lnSpc>
                <a:spcPct val="150000"/>
              </a:lnSpc>
              <a:buFontTx/>
              <a:buChar char="-"/>
            </a:pP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9596" y="4213849"/>
            <a:ext cx="6151789" cy="1401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212771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002927" y="105748"/>
            <a:ext cx="427072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Container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714165" y="1250515"/>
            <a:ext cx="10699149" cy="57708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buFont typeface="+mj-ea"/>
              <a:buAutoNum type="circleNumDbPlain" startAt="2"/>
            </a:pPr>
            <a:r>
              <a:rPr lang="en-US" altLang="ko-KR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ApplicationContext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</a:p>
          <a:p>
            <a:pPr lvl="2">
              <a:lnSpc>
                <a:spcPct val="150000"/>
              </a:lnSpc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사용되기 전에 빈을 미리 로딩 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2">
              <a:lnSpc>
                <a:spcPct val="150000"/>
              </a:lnSpc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일반 어플리케이션 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개발시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사용됨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  <a:p>
            <a:pPr lvl="2">
              <a:lnSpc>
                <a:spcPct val="150000"/>
              </a:lnSpc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메시지의 국제화 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2">
              <a:lnSpc>
                <a:spcPct val="150000"/>
              </a:lnSpc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리소스 관리 및 로딩 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257300" lvl="2" indent="-342900">
              <a:lnSpc>
                <a:spcPct val="150000"/>
              </a:lnSpc>
              <a:buFontTx/>
              <a:buChar char="-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이벤트 처리 등의 유용한 부가 기능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주요 자식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API </a:t>
            </a:r>
          </a:p>
          <a:p>
            <a:pPr lvl="2">
              <a:lnSpc>
                <a:spcPct val="150000"/>
              </a:lnSpc>
            </a:pP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ClassPathXmlApplicationContext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: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클래스패스에 위치한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XML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파일로부터 설정 정보 로딩 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FileSystemXmlApplicationContext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: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파일 시스템에 위치한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XML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파일로부터 설정 정보 로딩</a:t>
            </a:r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2">
              <a:lnSpc>
                <a:spcPct val="150000"/>
              </a:lnSpc>
            </a:pP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14400" lvl="1" indent="-457200">
              <a:lnSpc>
                <a:spcPct val="150000"/>
              </a:lnSpc>
              <a:buFont typeface="+mj-ea"/>
              <a:buAutoNum type="circleNumDbPlain" startAt="3"/>
            </a:pPr>
            <a:r>
              <a:rPr lang="en-US" altLang="ko-KR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WebApplicationContext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</a:p>
          <a:p>
            <a:pPr lvl="2">
              <a:lnSpc>
                <a:spcPct val="150000"/>
              </a:lnSpc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웹 어플리케이션에서 사용됨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lvl="2">
              <a:lnSpc>
                <a:spcPct val="150000"/>
              </a:lnSpc>
            </a:pPr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XmlWebApplicationContext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: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웹 애플리케이션에 위치한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XML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파일로부터 설정 정보 로딩 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371600" lvl="2" indent="-457200">
              <a:lnSpc>
                <a:spcPct val="150000"/>
              </a:lnSpc>
              <a:buFont typeface="+mj-ea"/>
              <a:buAutoNum type="circleNumDbPlain" startAt="3"/>
            </a:pPr>
            <a:endParaRPr lang="en-US" altLang="ko-KR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1275" y="2158546"/>
            <a:ext cx="5418948" cy="802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93497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1022999" y="1703181"/>
            <a:ext cx="9150675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dirty="0"/>
              <a:t> &lt;properties&gt;</a:t>
            </a:r>
          </a:p>
          <a:p>
            <a:r>
              <a:rPr lang="en-US" altLang="ko-KR" sz="2000" dirty="0"/>
              <a:t>    &lt;</a:t>
            </a:r>
            <a:r>
              <a:rPr lang="en-US" altLang="ko-KR" sz="2000" dirty="0" err="1"/>
              <a:t>project.build.sourceEncoding</a:t>
            </a:r>
            <a:r>
              <a:rPr lang="en-US" altLang="ko-KR" sz="2000" dirty="0"/>
              <a:t>&gt;UTF-8&lt;/</a:t>
            </a:r>
            <a:r>
              <a:rPr lang="en-US" altLang="ko-KR" sz="2000" dirty="0" err="1"/>
              <a:t>project.build.sourceEncoding</a:t>
            </a:r>
            <a:r>
              <a:rPr lang="en-US" altLang="ko-KR" sz="2000" dirty="0"/>
              <a:t>&gt;</a:t>
            </a:r>
          </a:p>
          <a:p>
            <a:r>
              <a:rPr lang="en-US" altLang="ko-KR" sz="2000" dirty="0"/>
              <a:t>    &lt;</a:t>
            </a:r>
            <a:r>
              <a:rPr lang="en-US" altLang="ko-KR" sz="2000" dirty="0" err="1"/>
              <a:t>maven.compiler.source</a:t>
            </a:r>
            <a:r>
              <a:rPr lang="en-US" altLang="ko-KR" sz="2000" dirty="0"/>
              <a:t>&gt;1.11&lt;/</a:t>
            </a:r>
            <a:r>
              <a:rPr lang="en-US" altLang="ko-KR" sz="2000" dirty="0" err="1"/>
              <a:t>maven.compiler.source</a:t>
            </a:r>
            <a:r>
              <a:rPr lang="en-US" altLang="ko-KR" sz="2000" dirty="0"/>
              <a:t>&gt;</a:t>
            </a:r>
          </a:p>
          <a:p>
            <a:r>
              <a:rPr lang="en-US" altLang="ko-KR" sz="2000" dirty="0"/>
              <a:t>    &lt;</a:t>
            </a:r>
            <a:r>
              <a:rPr lang="en-US" altLang="ko-KR" sz="2000" dirty="0" err="1"/>
              <a:t>maven.compiler.target</a:t>
            </a:r>
            <a:r>
              <a:rPr lang="en-US" altLang="ko-KR" sz="2000"/>
              <a:t>&gt;1.11&lt;/</a:t>
            </a:r>
            <a:r>
              <a:rPr lang="en-US" altLang="ko-KR" sz="2000" dirty="0" err="1"/>
              <a:t>maven.compiler.target</a:t>
            </a:r>
            <a:r>
              <a:rPr lang="en-US" altLang="ko-KR" sz="2000" dirty="0"/>
              <a:t>&gt;</a:t>
            </a:r>
          </a:p>
          <a:p>
            <a:r>
              <a:rPr lang="en-US" altLang="ko-KR" sz="2000" dirty="0"/>
              <a:t>    &lt;</a:t>
            </a:r>
            <a:r>
              <a:rPr lang="en-US" altLang="ko-KR" sz="2000" dirty="0" err="1"/>
              <a:t>org.springframework</a:t>
            </a:r>
            <a:r>
              <a:rPr lang="en-US" altLang="ko-KR" sz="2000" dirty="0"/>
              <a:t>-version&gt;5.3.5&lt;/</a:t>
            </a:r>
            <a:r>
              <a:rPr lang="en-US" altLang="ko-KR" sz="2000" dirty="0" err="1"/>
              <a:t>org.springframework</a:t>
            </a:r>
            <a:r>
              <a:rPr lang="en-US" altLang="ko-KR" sz="2000" dirty="0"/>
              <a:t>-version&gt;</a:t>
            </a:r>
          </a:p>
          <a:p>
            <a:r>
              <a:rPr lang="en-US" altLang="ko-KR" sz="2000" dirty="0"/>
              <a:t>  &lt;/properties&gt;</a:t>
            </a:r>
          </a:p>
          <a:p>
            <a:endParaRPr lang="en-US" altLang="ko-KR" sz="20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1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2000" dirty="0"/>
              <a:t>&lt;dependency&gt;</a:t>
            </a:r>
          </a:p>
          <a:p>
            <a:r>
              <a:rPr lang="en-US" altLang="ko-KR" sz="2000" dirty="0"/>
              <a:t>    &lt;</a:t>
            </a:r>
            <a:r>
              <a:rPr lang="en-US" altLang="ko-KR" sz="2000" dirty="0" err="1"/>
              <a:t>groupId</a:t>
            </a:r>
            <a:r>
              <a:rPr lang="en-US" altLang="ko-KR" sz="2000" dirty="0"/>
              <a:t>&gt;</a:t>
            </a:r>
            <a:r>
              <a:rPr lang="en-US" altLang="ko-KR" sz="2000" dirty="0" err="1"/>
              <a:t>org.springframework</a:t>
            </a:r>
            <a:r>
              <a:rPr lang="en-US" altLang="ko-KR" sz="2000" dirty="0"/>
              <a:t>&lt;/</a:t>
            </a:r>
            <a:r>
              <a:rPr lang="en-US" altLang="ko-KR" sz="2000" dirty="0" err="1"/>
              <a:t>groupId</a:t>
            </a:r>
            <a:r>
              <a:rPr lang="en-US" altLang="ko-KR" sz="2000" dirty="0"/>
              <a:t>&gt;</a:t>
            </a:r>
          </a:p>
          <a:p>
            <a:r>
              <a:rPr lang="en-US" altLang="ko-KR" sz="2000" dirty="0"/>
              <a:t>    &lt;</a:t>
            </a:r>
            <a:r>
              <a:rPr lang="en-US" altLang="ko-KR" sz="2000" dirty="0" err="1"/>
              <a:t>artifactId</a:t>
            </a:r>
            <a:r>
              <a:rPr lang="en-US" altLang="ko-KR" sz="2000" dirty="0"/>
              <a:t>&gt;spring-context&lt;/</a:t>
            </a:r>
            <a:r>
              <a:rPr lang="en-US" altLang="ko-KR" sz="2000" dirty="0" err="1"/>
              <a:t>artifactId</a:t>
            </a:r>
            <a:r>
              <a:rPr lang="en-US" altLang="ko-KR" sz="2000" dirty="0"/>
              <a:t>&gt;</a:t>
            </a:r>
          </a:p>
          <a:p>
            <a:r>
              <a:rPr lang="en-US" altLang="ko-KR" sz="2000" dirty="0"/>
              <a:t>    &lt;version&gt;${</a:t>
            </a:r>
            <a:r>
              <a:rPr lang="en-US" altLang="ko-KR" sz="2000" dirty="0" err="1"/>
              <a:t>org.springframework</a:t>
            </a:r>
            <a:r>
              <a:rPr lang="en-US" altLang="ko-KR" sz="2000" dirty="0"/>
              <a:t>-version}&lt;/version&gt;</a:t>
            </a:r>
          </a:p>
          <a:p>
            <a:r>
              <a:rPr lang="en-US" altLang="ko-KR" sz="2000" dirty="0"/>
              <a:t>&lt;/dependency&gt;</a:t>
            </a:r>
            <a:endParaRPr lang="ko-KR" altLang="en-US" sz="20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1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DA0C697-B0D3-425F-A67F-C99A1E0BF0E9}"/>
              </a:ext>
            </a:extLst>
          </p:cNvPr>
          <p:cNvCxnSpPr>
            <a:cxnSpLocks/>
          </p:cNvCxnSpPr>
          <p:nvPr/>
        </p:nvCxnSpPr>
        <p:spPr>
          <a:xfrm>
            <a:off x="1265514" y="1321132"/>
            <a:ext cx="8666939" cy="0"/>
          </a:xfrm>
          <a:prstGeom prst="line">
            <a:avLst/>
          </a:prstGeom>
          <a:ln w="76200" cap="rnd" cmpd="sng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4053903" y="105748"/>
            <a:ext cx="416876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pom.xml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설정하기</a:t>
            </a:r>
          </a:p>
        </p:txBody>
      </p:sp>
    </p:spTree>
    <p:extLst>
      <p:ext uri="{BB962C8B-B14F-4D97-AF65-F5344CB8AC3E}">
        <p14:creationId xmlns:p14="http://schemas.microsoft.com/office/powerpoint/2010/main" val="329205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942529" y="1533465"/>
            <a:ext cx="9150675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dirty="0"/>
              <a:t>** </a:t>
            </a:r>
            <a:r>
              <a:rPr lang="ko-KR" altLang="en-US" sz="2000" dirty="0"/>
              <a:t>현재</a:t>
            </a:r>
            <a:r>
              <a:rPr lang="en-US" altLang="ko-KR" sz="2000" dirty="0"/>
              <a:t> </a:t>
            </a:r>
            <a:r>
              <a:rPr lang="ko-KR" altLang="en-US" sz="2000" dirty="0"/>
              <a:t>미지원 </a:t>
            </a:r>
            <a:r>
              <a:rPr lang="en-US" altLang="ko-KR" sz="2000" dirty="0"/>
              <a:t>(</a:t>
            </a:r>
            <a:r>
              <a:rPr lang="ko-KR" altLang="en-US" sz="2000" dirty="0"/>
              <a:t>저장소　주소　틀림，　</a:t>
            </a:r>
            <a:r>
              <a:rPr lang="en-US" altLang="ko-KR" sz="2000" dirty="0"/>
              <a:t>maven</a:t>
            </a:r>
            <a:r>
              <a:rPr lang="ko-KR" altLang="en-US" sz="2000" dirty="0"/>
              <a:t> </a:t>
            </a:r>
            <a:r>
              <a:rPr lang="en-US" altLang="ko-KR" sz="2000" dirty="0"/>
              <a:t>repository</a:t>
            </a:r>
            <a:r>
              <a:rPr lang="ko-KR" altLang="en-US" sz="2000" dirty="0"/>
              <a:t>이용하기</a:t>
            </a:r>
            <a:r>
              <a:rPr lang="en-US" altLang="ko-KR" sz="2000" dirty="0"/>
              <a:t>) </a:t>
            </a:r>
          </a:p>
          <a:p>
            <a:r>
              <a:rPr lang="en-US" altLang="ko-KR" sz="2000" dirty="0"/>
              <a:t>&lt;repositories&gt;</a:t>
            </a:r>
          </a:p>
          <a:p>
            <a:pPr lvl="1"/>
            <a:r>
              <a:rPr lang="en-US" altLang="ko-KR" sz="2000" dirty="0"/>
              <a:t>&lt;repository&gt;</a:t>
            </a:r>
          </a:p>
          <a:p>
            <a:pPr lvl="1"/>
            <a:r>
              <a:rPr lang="en-US" altLang="ko-KR" sz="2000" dirty="0"/>
              <a:t>&lt;id&gt;Talan Repository&lt;/id&gt;</a:t>
            </a:r>
          </a:p>
          <a:p>
            <a:pPr lvl="1"/>
            <a:r>
              <a:rPr lang="en-US" altLang="ko-KR" sz="2000" dirty="0"/>
              <a:t>&lt;</a:t>
            </a:r>
            <a:r>
              <a:rPr lang="en-US" altLang="ko-KR" sz="2000" dirty="0" err="1"/>
              <a:t>url</a:t>
            </a:r>
            <a:r>
              <a:rPr lang="en-US" altLang="ko-KR" sz="2000" dirty="0"/>
              <a:t>&gt;http://nexus.talanlabs.com/content/repositories/releases/&lt;/url&gt;</a:t>
            </a:r>
          </a:p>
          <a:p>
            <a:pPr lvl="1"/>
            <a:r>
              <a:rPr lang="en-US" altLang="ko-KR" sz="2000" dirty="0"/>
              <a:t>&lt;/repository&gt;</a:t>
            </a:r>
          </a:p>
          <a:p>
            <a:r>
              <a:rPr lang="en-US" altLang="ko-KR" sz="2000" dirty="0"/>
              <a:t>&lt;/repositories&gt;</a:t>
            </a:r>
          </a:p>
          <a:p>
            <a:r>
              <a:rPr lang="en-US" altLang="ko-KR" sz="2000" dirty="0"/>
              <a:t>&lt;dependency&gt;</a:t>
            </a:r>
          </a:p>
          <a:p>
            <a:r>
              <a:rPr lang="en-US" altLang="ko-KR" sz="2000" dirty="0"/>
              <a:t>    &lt;</a:t>
            </a:r>
            <a:r>
              <a:rPr lang="en-US" altLang="ko-KR" sz="2000" dirty="0" err="1"/>
              <a:t>groupId</a:t>
            </a:r>
            <a:r>
              <a:rPr lang="en-US" altLang="ko-KR" sz="2000" dirty="0"/>
              <a:t>&gt;</a:t>
            </a:r>
            <a:r>
              <a:rPr lang="en-US" altLang="ko-KR" sz="2000" dirty="0" err="1"/>
              <a:t>org.springframework</a:t>
            </a:r>
            <a:r>
              <a:rPr lang="en-US" altLang="ko-KR" sz="2000" dirty="0"/>
              <a:t>&lt;/</a:t>
            </a:r>
            <a:r>
              <a:rPr lang="en-US" altLang="ko-KR" sz="2000" dirty="0" err="1"/>
              <a:t>groupId</a:t>
            </a:r>
            <a:r>
              <a:rPr lang="en-US" altLang="ko-KR" sz="2000" dirty="0"/>
              <a:t>&gt;</a:t>
            </a:r>
          </a:p>
          <a:p>
            <a:r>
              <a:rPr lang="en-US" altLang="ko-KR" sz="2000" dirty="0"/>
              <a:t>    &lt;</a:t>
            </a:r>
            <a:r>
              <a:rPr lang="en-US" altLang="ko-KR" sz="2000" dirty="0" err="1"/>
              <a:t>artifactId</a:t>
            </a:r>
            <a:r>
              <a:rPr lang="en-US" altLang="ko-KR" sz="2000" dirty="0"/>
              <a:t>&gt;spring-</a:t>
            </a:r>
            <a:r>
              <a:rPr lang="en-US" altLang="ko-KR" sz="2000" dirty="0" err="1"/>
              <a:t>jdbc</a:t>
            </a:r>
            <a:r>
              <a:rPr lang="en-US" altLang="ko-KR" sz="2000" dirty="0"/>
              <a:t>&lt;/</a:t>
            </a:r>
            <a:r>
              <a:rPr lang="en-US" altLang="ko-KR" sz="2000" dirty="0" err="1"/>
              <a:t>artifactId</a:t>
            </a:r>
            <a:r>
              <a:rPr lang="en-US" altLang="ko-KR" sz="2000" dirty="0"/>
              <a:t>&gt;</a:t>
            </a:r>
          </a:p>
          <a:p>
            <a:r>
              <a:rPr lang="en-US" altLang="ko-KR" sz="2000" dirty="0"/>
              <a:t>    &lt;version&gt;${</a:t>
            </a:r>
            <a:r>
              <a:rPr lang="en-US" altLang="ko-KR" sz="2000" dirty="0" err="1"/>
              <a:t>org.springframework</a:t>
            </a:r>
            <a:r>
              <a:rPr lang="en-US" altLang="ko-KR" sz="2000" dirty="0"/>
              <a:t>-version}&lt;/version&gt;</a:t>
            </a:r>
          </a:p>
          <a:p>
            <a:r>
              <a:rPr lang="en-US" altLang="ko-KR" sz="2000" dirty="0"/>
              <a:t>&lt;/dependency&gt;</a:t>
            </a:r>
          </a:p>
          <a:p>
            <a:r>
              <a:rPr lang="en-US" altLang="ko-KR" sz="2000" dirty="0"/>
              <a:t>&lt;dependency&gt;</a:t>
            </a:r>
          </a:p>
          <a:p>
            <a:r>
              <a:rPr lang="en-US" altLang="ko-KR" sz="2000" dirty="0"/>
              <a:t>   &lt;</a:t>
            </a:r>
            <a:r>
              <a:rPr lang="en-US" altLang="ko-KR" sz="2000" dirty="0" err="1"/>
              <a:t>groupId</a:t>
            </a:r>
            <a:r>
              <a:rPr lang="en-US" altLang="ko-KR" sz="2000" dirty="0"/>
              <a:t>&gt;</a:t>
            </a:r>
            <a:r>
              <a:rPr lang="en-US" altLang="ko-KR" sz="2000" dirty="0" err="1"/>
              <a:t>com.oracle</a:t>
            </a:r>
            <a:r>
              <a:rPr lang="en-US" altLang="ko-KR" sz="2000" dirty="0"/>
              <a:t>&lt;/</a:t>
            </a:r>
            <a:r>
              <a:rPr lang="en-US" altLang="ko-KR" sz="2000" dirty="0" err="1"/>
              <a:t>groupId</a:t>
            </a:r>
            <a:r>
              <a:rPr lang="en-US" altLang="ko-KR" sz="2000" dirty="0"/>
              <a:t>&gt;</a:t>
            </a:r>
          </a:p>
          <a:p>
            <a:r>
              <a:rPr lang="en-US" altLang="ko-KR" sz="2000" dirty="0"/>
              <a:t>   &lt;</a:t>
            </a:r>
            <a:r>
              <a:rPr lang="en-US" altLang="ko-KR" sz="2000" dirty="0" err="1"/>
              <a:t>artifactId</a:t>
            </a:r>
            <a:r>
              <a:rPr lang="en-US" altLang="ko-KR" sz="2000" dirty="0"/>
              <a:t>&gt;ojdbc6&lt;/</a:t>
            </a:r>
            <a:r>
              <a:rPr lang="en-US" altLang="ko-KR" sz="2000" dirty="0" err="1"/>
              <a:t>artifactId</a:t>
            </a:r>
            <a:r>
              <a:rPr lang="en-US" altLang="ko-KR" sz="2000" dirty="0"/>
              <a:t>&gt;</a:t>
            </a:r>
          </a:p>
          <a:p>
            <a:r>
              <a:rPr lang="en-US" altLang="ko-KR" sz="2000" dirty="0"/>
              <a:t>   &lt;version&gt;11.2.0&lt;/version&gt;</a:t>
            </a:r>
          </a:p>
          <a:p>
            <a:r>
              <a:rPr lang="en-US" altLang="ko-KR" sz="2000" dirty="0"/>
              <a:t> &lt;/dependency&gt;</a:t>
            </a:r>
            <a:endParaRPr lang="ko-KR" altLang="en-US" sz="2000" b="1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1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DA0C697-B0D3-425F-A67F-C99A1E0BF0E9}"/>
              </a:ext>
            </a:extLst>
          </p:cNvPr>
          <p:cNvCxnSpPr>
            <a:cxnSpLocks/>
          </p:cNvCxnSpPr>
          <p:nvPr/>
        </p:nvCxnSpPr>
        <p:spPr>
          <a:xfrm>
            <a:off x="1103563" y="1321132"/>
            <a:ext cx="8666939" cy="0"/>
          </a:xfrm>
          <a:prstGeom prst="line">
            <a:avLst/>
          </a:prstGeom>
          <a:ln w="76200" cap="rnd" cmpd="sng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4053903" y="105748"/>
            <a:ext cx="416876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pom.xml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설정하기</a:t>
            </a:r>
          </a:p>
        </p:txBody>
      </p:sp>
    </p:spTree>
    <p:extLst>
      <p:ext uri="{BB962C8B-B14F-4D97-AF65-F5344CB8AC3E}">
        <p14:creationId xmlns:p14="http://schemas.microsoft.com/office/powerpoint/2010/main" val="38627622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DA0C697-B0D3-425F-A67F-C99A1E0BF0E9}"/>
              </a:ext>
            </a:extLst>
          </p:cNvPr>
          <p:cNvCxnSpPr>
            <a:cxnSpLocks/>
          </p:cNvCxnSpPr>
          <p:nvPr/>
        </p:nvCxnSpPr>
        <p:spPr>
          <a:xfrm>
            <a:off x="925000" y="1208575"/>
            <a:ext cx="8666939" cy="0"/>
          </a:xfrm>
          <a:prstGeom prst="line">
            <a:avLst/>
          </a:prstGeom>
          <a:ln w="76200" cap="rnd" cmpd="sng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4159221" y="105748"/>
            <a:ext cx="395813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설정파일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925000" y="1445812"/>
            <a:ext cx="86669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&lt;bean&gt; </a:t>
            </a:r>
            <a:r>
              <a:rPr lang="ko-KR" altLang="en-US" sz="2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태그에 사용되는 여러 가지 속성들</a:t>
            </a: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709979"/>
              </p:ext>
            </p:extLst>
          </p:nvPr>
        </p:nvGraphicFramePr>
        <p:xfrm>
          <a:off x="915077" y="2190784"/>
          <a:ext cx="10221336" cy="307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1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9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60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속성 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88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id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빈 객체의 고유 이름으로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빈 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id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를 이용해 빈에 접근합니다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52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name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객체의 별칭입니다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04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class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생성할 클래스입니다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패키지 이름까지 입력해야 합니다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98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constructor-</a:t>
                      </a:r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arg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생성자를 이용해 값을 주입할 때 사용합니다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986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property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setter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를 이용해 값을 주입할 때 사용합니다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986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lazy-</a:t>
                      </a:r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init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빈 생성을 </a:t>
                      </a:r>
                      <a:r>
                        <a:rPr lang="ko-KR" altLang="en-US" sz="1600" dirty="0" err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톰캣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실행 시점이 아닌 해당 빈 요청 시  메모리에 생성할 수 있습니다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-true, false,</a:t>
                      </a:r>
                      <a:r>
                        <a:rPr lang="en-US" altLang="ko-KR" sz="160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default </a:t>
                      </a:r>
                      <a:r>
                        <a:rPr lang="ko-KR" altLang="en-US" sz="160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세가지 값을 지정할 수 있습니다</a:t>
                      </a:r>
                      <a:r>
                        <a:rPr lang="en-US" altLang="ko-KR" sz="160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160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</a:t>
                      </a:r>
                      <a:r>
                        <a:rPr lang="ko-KR" altLang="en-US" sz="160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설정하지 않거나 </a:t>
                      </a:r>
                      <a:r>
                        <a:rPr lang="en-US" altLang="ko-KR" sz="160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false</a:t>
                      </a:r>
                      <a:r>
                        <a:rPr lang="ko-KR" altLang="en-US" sz="160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로 설정 시 </a:t>
                      </a:r>
                      <a:r>
                        <a:rPr lang="ko-KR" altLang="en-US" sz="1600" baseline="0" dirty="0" err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톰캣</a:t>
                      </a:r>
                      <a:r>
                        <a:rPr lang="ko-KR" altLang="en-US" sz="160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실행 시 빈이 생성됩니다</a:t>
                      </a:r>
                      <a:r>
                        <a:rPr lang="en-US" altLang="ko-KR" sz="160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160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</a:t>
                      </a:r>
                      <a:r>
                        <a:rPr lang="en-US" altLang="ko-KR" sz="1600" baseline="0" dirty="0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true</a:t>
                      </a:r>
                      <a:r>
                        <a:rPr lang="ko-KR" altLang="en-US" sz="1600" baseline="0" dirty="0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로 설정 시 해당 빈 사용 시 빈이 생성</a:t>
                      </a:r>
                      <a:r>
                        <a:rPr lang="ko-KR" altLang="en-US" sz="160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됩니다</a:t>
                      </a:r>
                      <a:r>
                        <a:rPr lang="en-US" altLang="ko-KR" sz="160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.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29778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FF01E098-FBDB-420F-88A9-27027F4759A5}"/>
              </a:ext>
            </a:extLst>
          </p:cNvPr>
          <p:cNvGrpSpPr/>
          <p:nvPr/>
        </p:nvGrpSpPr>
        <p:grpSpPr>
          <a:xfrm>
            <a:off x="3726874" y="2815838"/>
            <a:ext cx="7315199" cy="1226323"/>
            <a:chOff x="4793673" y="1246908"/>
            <a:chExt cx="6442363" cy="1080000"/>
          </a:xfrm>
        </p:grpSpPr>
        <p:sp>
          <p:nvSpPr>
            <p:cNvPr id="14" name="육각형 13">
              <a:extLst>
                <a:ext uri="{FF2B5EF4-FFF2-40B4-BE49-F238E27FC236}">
                  <a16:creationId xmlns:a16="http://schemas.microsoft.com/office/drawing/2014/main" id="{7ADDF6C6-9FD3-40F2-ADC2-37A43AADF7ED}"/>
                </a:ext>
              </a:extLst>
            </p:cNvPr>
            <p:cNvSpPr/>
            <p:nvPr/>
          </p:nvSpPr>
          <p:spPr>
            <a:xfrm>
              <a:off x="4793673" y="1246908"/>
              <a:ext cx="6442363" cy="1080000"/>
            </a:xfrm>
            <a:prstGeom prst="hexagon">
              <a:avLst>
                <a:gd name="adj" fmla="val 42671"/>
                <a:gd name="vf" fmla="val 11547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화살표: 오각형 14">
              <a:extLst>
                <a:ext uri="{FF2B5EF4-FFF2-40B4-BE49-F238E27FC236}">
                  <a16:creationId xmlns:a16="http://schemas.microsoft.com/office/drawing/2014/main" id="{81F229D3-E3EA-4A23-AA82-5E2AF3A625A9}"/>
                </a:ext>
              </a:extLst>
            </p:cNvPr>
            <p:cNvSpPr/>
            <p:nvPr/>
          </p:nvSpPr>
          <p:spPr>
            <a:xfrm>
              <a:off x="5632954" y="1371410"/>
              <a:ext cx="5339846" cy="830996"/>
            </a:xfrm>
            <a:prstGeom prst="homePlat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D920D6B8-E4ED-4528-A983-BD701AD4E691}"/>
                </a:ext>
              </a:extLst>
            </p:cNvPr>
            <p:cNvSpPr/>
            <p:nvPr/>
          </p:nvSpPr>
          <p:spPr>
            <a:xfrm>
              <a:off x="5196182" y="1364345"/>
              <a:ext cx="845127" cy="845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51810F50-4F4F-4ABD-840E-E581E3B8C415}"/>
                </a:ext>
              </a:extLst>
            </p:cNvPr>
            <p:cNvGrpSpPr/>
            <p:nvPr/>
          </p:nvGrpSpPr>
          <p:grpSpPr>
            <a:xfrm>
              <a:off x="5537400" y="1369809"/>
              <a:ext cx="4159582" cy="813160"/>
              <a:chOff x="5516922" y="1640913"/>
              <a:chExt cx="2999292" cy="586335"/>
            </a:xfrm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EB1F94F4-27C9-4570-8682-1A33FA68D416}"/>
                  </a:ext>
                </a:extLst>
              </p:cNvPr>
              <p:cNvSpPr/>
              <p:nvPr/>
            </p:nvSpPr>
            <p:spPr>
              <a:xfrm>
                <a:off x="6030979" y="1689775"/>
                <a:ext cx="2485235" cy="488612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defTabSz="1076865" eaLnBrk="0" latinLnBrk="0" hangingPunct="0">
                  <a:spcAft>
                    <a:spcPts val="486"/>
                  </a:spcAft>
                  <a:buSzPct val="100000"/>
                  <a:defRPr/>
                </a:pPr>
                <a:r>
                  <a:rPr lang="en-US" altLang="ko-KR" sz="4400">
                    <a:gradFill>
                      <a:gsLst>
                        <a:gs pos="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6200000" scaled="1"/>
                    </a:gradFill>
                    <a:latin typeface="HY견고딕" pitchFamily="18" charset="-127"/>
                    <a:ea typeface="HY견고딕" pitchFamily="18" charset="-127"/>
                  </a:rPr>
                  <a:t>IOC</a:t>
                </a:r>
                <a:r>
                  <a:rPr lang="ko-KR" altLang="en-US" sz="4400">
                    <a:gradFill>
                      <a:gsLst>
                        <a:gs pos="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6200000" scaled="1"/>
                    </a:gradFill>
                    <a:latin typeface="HY견고딕" pitchFamily="18" charset="-127"/>
                    <a:ea typeface="HY견고딕" pitchFamily="18" charset="-127"/>
                  </a:rPr>
                  <a:t>와 </a:t>
                </a:r>
                <a:r>
                  <a:rPr lang="en-US" altLang="ko-KR" sz="4400">
                    <a:gradFill>
                      <a:gsLst>
                        <a:gs pos="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6200000" scaled="1"/>
                    </a:gradFill>
                    <a:latin typeface="HY견고딕" pitchFamily="18" charset="-127"/>
                    <a:ea typeface="HY견고딕" pitchFamily="18" charset="-127"/>
                  </a:rPr>
                  <a:t>DI</a:t>
                </a:r>
                <a:endParaRPr lang="ko-KR" altLang="en-US" sz="4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16200000" scaled="1"/>
                  </a:gradFill>
                  <a:latin typeface="HY견고딕" pitchFamily="18" charset="-127"/>
                  <a:ea typeface="HY견고딕" pitchFamily="18" charset="-127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4541CD06-C435-48C0-AA4F-7B628FBAD386}"/>
                  </a:ext>
                </a:extLst>
              </p:cNvPr>
              <p:cNvSpPr/>
              <p:nvPr/>
            </p:nvSpPr>
            <p:spPr>
              <a:xfrm>
                <a:off x="5516922" y="1640913"/>
                <a:ext cx="117307" cy="586335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5400" b="1" i="0" u="none" strike="noStrike" kern="0" normalizeH="0" baseline="0" noProof="0" dirty="0">
                  <a:ln w="2857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uLnTx/>
                  <a:uFillTx/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917475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DA0C697-B0D3-425F-A67F-C99A1E0BF0E9}"/>
              </a:ext>
            </a:extLst>
          </p:cNvPr>
          <p:cNvCxnSpPr>
            <a:cxnSpLocks/>
          </p:cNvCxnSpPr>
          <p:nvPr/>
        </p:nvCxnSpPr>
        <p:spPr>
          <a:xfrm>
            <a:off x="1103563" y="1321132"/>
            <a:ext cx="8666939" cy="0"/>
          </a:xfrm>
          <a:prstGeom prst="line">
            <a:avLst/>
          </a:prstGeom>
          <a:ln w="76200" cap="rnd" cmpd="sng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3651552" y="105748"/>
            <a:ext cx="497347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Injection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방법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976749" y="1663761"/>
            <a:ext cx="1069914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AutoNum type="arabicParenR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Constructor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Injection</a:t>
            </a:r>
          </a:p>
          <a:p>
            <a:pPr>
              <a:lnSpc>
                <a:spcPct val="150000"/>
              </a:lnSpc>
            </a:pPr>
            <a:r>
              <a:rPr lang="en-US" altLang="ko-KR" sz="2400" dirty="0"/>
              <a:t>  </a:t>
            </a:r>
            <a:r>
              <a:rPr lang="ko-KR" altLang="en-US" sz="2400" dirty="0"/>
              <a:t>의존하는 빈 객체를 클래스를 초기화 할 때 컨테이너로 부터 생성자의 파라미터를 통해서 전달받는 방식</a:t>
            </a:r>
            <a:endParaRPr lang="en-US" altLang="ko-KR" sz="2400" dirty="0"/>
          </a:p>
          <a:p>
            <a:pPr>
              <a:lnSpc>
                <a:spcPct val="150000"/>
              </a:lnSpc>
            </a:pPr>
            <a:r>
              <a:rPr lang="ko-KR" altLang="en-US" sz="2400" dirty="0"/>
              <a:t>① </a:t>
            </a:r>
            <a:r>
              <a:rPr lang="en-US" altLang="ko-KR" sz="2400" dirty="0"/>
              <a:t>Index</a:t>
            </a:r>
            <a:r>
              <a:rPr lang="ko-KR" altLang="en-US" sz="2400" dirty="0"/>
              <a:t>이용 방법 </a:t>
            </a:r>
            <a:r>
              <a:rPr lang="en-US" altLang="ko-KR" sz="2400" dirty="0"/>
              <a:t>(0</a:t>
            </a:r>
            <a:r>
              <a:rPr lang="ko-KR" altLang="en-US" sz="2400" dirty="0"/>
              <a:t>부터 시작</a:t>
            </a:r>
            <a:r>
              <a:rPr lang="en-US" altLang="ko-KR" sz="2400" dirty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② </a:t>
            </a:r>
            <a:r>
              <a:rPr lang="en-US" altLang="ko-KR" sz="2400" dirty="0"/>
              <a:t>name</a:t>
            </a:r>
            <a:r>
              <a:rPr lang="ko-KR" altLang="en-US" sz="2400" dirty="0"/>
              <a:t>이용 방법 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1666" y="3628752"/>
            <a:ext cx="5457825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08314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DA0C697-B0D3-425F-A67F-C99A1E0BF0E9}"/>
              </a:ext>
            </a:extLst>
          </p:cNvPr>
          <p:cNvCxnSpPr>
            <a:cxnSpLocks/>
          </p:cNvCxnSpPr>
          <p:nvPr/>
        </p:nvCxnSpPr>
        <p:spPr>
          <a:xfrm>
            <a:off x="1103563" y="1321132"/>
            <a:ext cx="8666939" cy="0"/>
          </a:xfrm>
          <a:prstGeom prst="line">
            <a:avLst/>
          </a:prstGeom>
          <a:ln w="76200" cap="rnd" cmpd="sng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3651552" y="105748"/>
            <a:ext cx="497347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Injection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방법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976749" y="1663761"/>
            <a:ext cx="10699149" cy="590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AutoNum type="arabicParenR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Constructor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Injection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3596" y="2312498"/>
            <a:ext cx="7377099" cy="4105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68957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DA0C697-B0D3-425F-A67F-C99A1E0BF0E9}"/>
              </a:ext>
            </a:extLst>
          </p:cNvPr>
          <p:cNvCxnSpPr>
            <a:cxnSpLocks/>
          </p:cNvCxnSpPr>
          <p:nvPr/>
        </p:nvCxnSpPr>
        <p:spPr>
          <a:xfrm>
            <a:off x="1103563" y="1321132"/>
            <a:ext cx="8666939" cy="0"/>
          </a:xfrm>
          <a:prstGeom prst="line">
            <a:avLst/>
          </a:prstGeom>
          <a:ln w="76200" cap="rnd" cmpd="sng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3651552" y="105748"/>
            <a:ext cx="497347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Injection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방법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976749" y="1663761"/>
            <a:ext cx="10699149" cy="1128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2) Setter Injection</a:t>
            </a:r>
          </a:p>
          <a:p>
            <a:pPr>
              <a:lnSpc>
                <a:spcPct val="150000"/>
              </a:lnSpc>
            </a:pPr>
            <a:r>
              <a:rPr lang="en-US" altLang="ko-KR" sz="2400" dirty="0"/>
              <a:t>setter </a:t>
            </a:r>
            <a:r>
              <a:rPr lang="ko-KR" altLang="en-US" sz="2400" dirty="0"/>
              <a:t>메소드를 이용하여 의존 관계를 설정한다</a:t>
            </a:r>
            <a:r>
              <a:rPr lang="en-US" altLang="ko-KR" sz="2400" dirty="0"/>
              <a:t>. 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1474" y="2864090"/>
            <a:ext cx="5733702" cy="3789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03023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DA0C697-B0D3-425F-A67F-C99A1E0BF0E9}"/>
              </a:ext>
            </a:extLst>
          </p:cNvPr>
          <p:cNvCxnSpPr>
            <a:cxnSpLocks/>
          </p:cNvCxnSpPr>
          <p:nvPr/>
        </p:nvCxnSpPr>
        <p:spPr>
          <a:xfrm>
            <a:off x="1103563" y="1321132"/>
            <a:ext cx="8666939" cy="0"/>
          </a:xfrm>
          <a:prstGeom prst="line">
            <a:avLst/>
          </a:prstGeom>
          <a:ln w="76200" cap="rnd" cmpd="sng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3651552" y="105748"/>
            <a:ext cx="497347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Injection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방법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976749" y="1663761"/>
            <a:ext cx="10699149" cy="590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List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또는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배열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563" y="2225736"/>
            <a:ext cx="7553325" cy="430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24682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DA0C697-B0D3-425F-A67F-C99A1E0BF0E9}"/>
              </a:ext>
            </a:extLst>
          </p:cNvPr>
          <p:cNvCxnSpPr>
            <a:cxnSpLocks/>
          </p:cNvCxnSpPr>
          <p:nvPr/>
        </p:nvCxnSpPr>
        <p:spPr>
          <a:xfrm>
            <a:off x="1103563" y="1321132"/>
            <a:ext cx="8666939" cy="0"/>
          </a:xfrm>
          <a:prstGeom prst="line">
            <a:avLst/>
          </a:prstGeom>
          <a:ln w="76200" cap="rnd" cmpd="sng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3651552" y="105748"/>
            <a:ext cx="497347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Injection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방법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976749" y="1663761"/>
            <a:ext cx="10699149" cy="593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Map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563" y="2223914"/>
            <a:ext cx="7896225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37045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DA0C697-B0D3-425F-A67F-C99A1E0BF0E9}"/>
              </a:ext>
            </a:extLst>
          </p:cNvPr>
          <p:cNvCxnSpPr>
            <a:cxnSpLocks/>
          </p:cNvCxnSpPr>
          <p:nvPr/>
        </p:nvCxnSpPr>
        <p:spPr>
          <a:xfrm>
            <a:off x="1103563" y="1321132"/>
            <a:ext cx="8666939" cy="0"/>
          </a:xfrm>
          <a:prstGeom prst="line">
            <a:avLst/>
          </a:prstGeom>
          <a:ln w="76200" cap="rnd" cmpd="sng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3651552" y="105748"/>
            <a:ext cx="497347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Injection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방법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976749" y="1663761"/>
            <a:ext cx="10699149" cy="593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Set, Properties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641" y="2312498"/>
            <a:ext cx="6048375" cy="349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12416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651544" y="105748"/>
            <a:ext cx="497347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Injection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방법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의존관계 자동설정</a:t>
            </a:r>
            <a:endParaRPr lang="en-US" altLang="ko-KR" sz="2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14400" lvl="1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24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byName</a:t>
            </a:r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: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property name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과 같은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name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을 갖는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bean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객체를 설정 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14400" lvl="1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24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byType</a:t>
            </a:r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Property type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과 같은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type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을 갖는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bean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객체를 설정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2">
              <a:lnSpc>
                <a:spcPct val="150000"/>
              </a:lnSpc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주의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같은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타입의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bean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 여러 개인 경우는 불가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</a:p>
          <a:p>
            <a:pPr lvl="1">
              <a:lnSpc>
                <a:spcPct val="150000"/>
              </a:lnSpc>
            </a:pPr>
            <a:endParaRPr lang="en-US" altLang="ko-KR" sz="2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284420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651544" y="105748"/>
            <a:ext cx="497347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Injection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방법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byName</a:t>
            </a:r>
            <a:endParaRPr lang="en-US" altLang="ko-KR" sz="2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endParaRPr lang="en-US" altLang="ko-KR" sz="2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endParaRPr lang="en-US" altLang="ko-KR" sz="2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byType</a:t>
            </a:r>
            <a:endParaRPr lang="en-US" altLang="ko-KR" sz="2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0686" y="1170422"/>
            <a:ext cx="4514850" cy="178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0686" y="3018973"/>
            <a:ext cx="4352925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31019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32155" y="105748"/>
            <a:ext cx="381226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Bean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객체의 범위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1685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기본적으로 컨테이너에 한 개의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bean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객체를 생성한다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 </a:t>
            </a: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bean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범위를 설정할 수 있는 방법을 제공한다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 </a:t>
            </a: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scope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속성을 이용한다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en-US" altLang="ko-KR" sz="2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347" y="3085126"/>
            <a:ext cx="7762875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11503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32155" y="105748"/>
            <a:ext cx="381226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Bean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객체의 범위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593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예제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6638" y="1597336"/>
            <a:ext cx="5095875" cy="461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76430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680725" y="105748"/>
            <a:ext cx="491512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Annotation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기반 설정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33516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특징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자바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annotation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으로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XML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설정을 대신할 수 있다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(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자바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5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이상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설정파일을 간결화 할 수 있다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@annotation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형태로 클래스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필드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메소드의 선언부에 적용 할 수 있다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소스 코드에 메타데이터를 보관할 수 있다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코드의 가독성을 높일 수도 있다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  <a:endParaRPr lang="ko-KR" altLang="en-US" sz="2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2789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680725" y="105748"/>
            <a:ext cx="491512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Annotation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기반 설정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590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주요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Annotation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542666"/>
              </p:ext>
            </p:extLst>
          </p:nvPr>
        </p:nvGraphicFramePr>
        <p:xfrm>
          <a:off x="823923" y="1874346"/>
          <a:ext cx="8947475" cy="47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6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12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Annotation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설명</a:t>
                      </a:r>
                      <a:r>
                        <a:rPr lang="en-US" altLang="ko-KR"/>
                        <a:t> 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@Autowired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타입을 기준으로</a:t>
                      </a:r>
                      <a:r>
                        <a:rPr lang="en-US" altLang="ko-KR" dirty="0"/>
                        <a:t>(</a:t>
                      </a:r>
                      <a:r>
                        <a:rPr lang="en-US" altLang="ko-KR" dirty="0" err="1"/>
                        <a:t>byType</a:t>
                      </a:r>
                      <a:r>
                        <a:rPr lang="en-US" altLang="ko-KR" dirty="0"/>
                        <a:t>) Bean</a:t>
                      </a:r>
                      <a:r>
                        <a:rPr lang="ko-KR" altLang="en-US" dirty="0"/>
                        <a:t>을 찾아 주입한다</a:t>
                      </a:r>
                      <a:r>
                        <a:rPr lang="en-US" altLang="ko-KR" dirty="0"/>
                        <a:t>.</a:t>
                      </a:r>
                      <a:r>
                        <a:rPr lang="ko-KR" altLang="en-US" dirty="0"/>
                        <a:t> 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sz="1800" dirty="0"/>
                        <a:t>생성자</a:t>
                      </a:r>
                      <a:r>
                        <a:rPr lang="en-US" altLang="ko-KR" sz="1800" dirty="0"/>
                        <a:t>, </a:t>
                      </a:r>
                      <a:r>
                        <a:rPr lang="ko-KR" altLang="en-US" sz="1800" dirty="0"/>
                        <a:t>필드</a:t>
                      </a:r>
                      <a:r>
                        <a:rPr lang="en-US" altLang="ko-KR" sz="1800" dirty="0"/>
                        <a:t>, </a:t>
                      </a:r>
                      <a:r>
                        <a:rPr lang="ko-KR" altLang="en-US" sz="1800" dirty="0"/>
                        <a:t>메소드 선언부에 설정한다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sz="1800" dirty="0"/>
                        <a:t>설정 파일에 </a:t>
                      </a:r>
                      <a:endParaRPr lang="en-US" altLang="ko-KR" sz="1800" dirty="0"/>
                    </a:p>
                    <a:p>
                      <a:pPr latinLnBrk="1"/>
                      <a:r>
                        <a:rPr lang="en-US" altLang="ko-KR" sz="1800" dirty="0"/>
                        <a:t>&lt;</a:t>
                      </a:r>
                      <a:r>
                        <a:rPr lang="en-US" altLang="ko-KR" sz="1800" dirty="0" err="1"/>
                        <a:t>context:annotation-config</a:t>
                      </a:r>
                      <a:r>
                        <a:rPr lang="en-US" altLang="ko-KR" sz="1800" dirty="0"/>
                        <a:t> /&gt;</a:t>
                      </a:r>
                      <a:r>
                        <a:rPr lang="ko-KR" altLang="en-US" sz="1800" dirty="0"/>
                        <a:t> 또는</a:t>
                      </a:r>
                      <a:r>
                        <a:rPr lang="en-US" altLang="ko-KR" sz="1800" dirty="0"/>
                        <a:t> </a:t>
                      </a:r>
                      <a:r>
                        <a:rPr lang="en-US" altLang="ko-KR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context:component-scan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@Component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자동인식이 되는 일반 </a:t>
                      </a:r>
                      <a:r>
                        <a:rPr lang="ko-KR" altLang="en-US" dirty="0" err="1"/>
                        <a:t>컴퍼넌트</a:t>
                      </a:r>
                      <a:r>
                        <a:rPr lang="ko-KR" altLang="en-US" dirty="0"/>
                        <a:t> 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클래스 선언부에 </a:t>
                      </a:r>
                      <a:r>
                        <a:rPr lang="ko-KR" altLang="en-US" sz="1800" dirty="0"/>
                        <a:t>설정한다</a:t>
                      </a:r>
                      <a:r>
                        <a:rPr lang="en-US" altLang="ko-KR" sz="1800" dirty="0"/>
                        <a:t>.</a:t>
                      </a:r>
                      <a:endParaRPr lang="en-US" altLang="ko-KR" dirty="0"/>
                    </a:p>
                    <a:p>
                      <a:pPr latinLnBrk="1"/>
                      <a:r>
                        <a:rPr lang="en-US" altLang="ko-KR" dirty="0" err="1"/>
                        <a:t>org.springframework.stereotype</a:t>
                      </a:r>
                      <a:endParaRPr lang="en-US" altLang="ko-KR" dirty="0"/>
                    </a:p>
                    <a:p>
                      <a:pPr latinLnBrk="1"/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context:component-scan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base-package=</a:t>
                      </a:r>
                      <a:r>
                        <a:rPr lang="en-US" altLang="ko-KR" sz="18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“”&gt;</a:t>
                      </a:r>
                      <a:endParaRPr lang="en-US" altLang="ko-K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@Service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비즈니스 서비스를 의미</a:t>
                      </a:r>
                      <a:r>
                        <a:rPr lang="en-US" altLang="ko-KR"/>
                        <a:t>, @Component</a:t>
                      </a:r>
                      <a:r>
                        <a:rPr lang="ko-KR" altLang="en-US"/>
                        <a:t>의 하위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@Repository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일반적으로 </a:t>
                      </a:r>
                      <a:r>
                        <a:rPr lang="en-US" altLang="ko-KR"/>
                        <a:t>DAO</a:t>
                      </a:r>
                      <a:r>
                        <a:rPr lang="ko-KR" altLang="en-US"/>
                        <a:t>에 적용</a:t>
                      </a:r>
                      <a:r>
                        <a:rPr lang="en-US" altLang="ko-KR"/>
                        <a:t>, @Component</a:t>
                      </a:r>
                      <a:r>
                        <a:rPr lang="ko-KR" altLang="en-US"/>
                        <a:t>의 하위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@Controller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MVC component</a:t>
                      </a:r>
                      <a:r>
                        <a:rPr lang="ko-KR" altLang="en-US"/>
                        <a:t>로 사용</a:t>
                      </a:r>
                      <a:r>
                        <a:rPr lang="en-US" altLang="ko-KR"/>
                        <a:t>, @Component</a:t>
                      </a:r>
                      <a:r>
                        <a:rPr lang="ko-KR" altLang="en-US"/>
                        <a:t>의 하위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@Repository, @Service, @Controller</a:t>
                      </a:r>
                      <a:r>
                        <a:rPr lang="ko-KR" altLang="en-US" dirty="0"/>
                        <a:t>는 </a:t>
                      </a:r>
                      <a:r>
                        <a:rPr lang="en-US" altLang="ko-KR" dirty="0"/>
                        <a:t>@Component annotation</a:t>
                      </a:r>
                      <a:r>
                        <a:rPr lang="ko-KR" altLang="en-US" dirty="0"/>
                        <a:t>을 상속받고 있다</a:t>
                      </a:r>
                      <a:r>
                        <a:rPr lang="en-US" altLang="ko-KR" dirty="0"/>
                        <a:t>. </a:t>
                      </a:r>
                    </a:p>
                    <a:p>
                      <a:pPr latinLnBrk="1"/>
                      <a:r>
                        <a:rPr lang="en-US" altLang="ko-KR" dirty="0"/>
                        <a:t>name </a:t>
                      </a:r>
                      <a:r>
                        <a:rPr lang="ko-KR" altLang="en-US" dirty="0"/>
                        <a:t>값으로 </a:t>
                      </a:r>
                      <a:r>
                        <a:rPr lang="en-US" altLang="ko-KR" dirty="0"/>
                        <a:t>Bean</a:t>
                      </a:r>
                      <a:r>
                        <a:rPr lang="ko-KR" altLang="en-US" dirty="0"/>
                        <a:t>의 이름을 지정 가능하며 만약 지정하지 않으면</a:t>
                      </a:r>
                      <a:r>
                        <a:rPr lang="en-US" altLang="ko-KR" dirty="0"/>
                        <a:t>, class </a:t>
                      </a:r>
                      <a:r>
                        <a:rPr lang="ko-KR" altLang="en-US" dirty="0"/>
                        <a:t>이름의 </a:t>
                      </a:r>
                      <a:r>
                        <a:rPr lang="ko-KR" altLang="en-US" dirty="0" err="1"/>
                        <a:t>첫문자를</a:t>
                      </a:r>
                      <a:r>
                        <a:rPr lang="ko-KR" altLang="en-US" dirty="0"/>
                        <a:t> 소문자로 변환하여 </a:t>
                      </a:r>
                      <a:r>
                        <a:rPr lang="en-US" altLang="ko-KR" dirty="0"/>
                        <a:t>Bean </a:t>
                      </a:r>
                      <a:r>
                        <a:rPr lang="ko-KR" altLang="en-US" dirty="0"/>
                        <a:t>이름을 자동으로 생성한다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74403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468763" y="105748"/>
            <a:ext cx="333905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Java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기반 설정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11444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3.0</a:t>
            </a: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자바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클래스에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@Configuration,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메서드에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@Bean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을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사용한다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402" y="2370751"/>
            <a:ext cx="5132413" cy="230882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1985" y="4386069"/>
            <a:ext cx="8960589" cy="22292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60359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468763" y="105748"/>
            <a:ext cx="333905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Java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기반 설정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593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XML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설정 파일과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Annotation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사용 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02F3059-4B49-9066-0E83-26E20496D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04" y="2120257"/>
            <a:ext cx="7154273" cy="104789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AD1159B-AA57-50E7-282E-23E72CA7C8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61" y="3375479"/>
            <a:ext cx="7401958" cy="62873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A9617A9-8A93-59F3-B43C-163DAA89FE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204" y="4211543"/>
            <a:ext cx="6477904" cy="70494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22F66D9-F08B-C07F-18C4-BE973CD85A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361" y="5141023"/>
            <a:ext cx="9812119" cy="71447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A128891-2BEC-B7BB-ED0E-F6AD6FA8E0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8055" y="1871431"/>
            <a:ext cx="2981741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1024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FF01E098-FBDB-420F-88A9-27027F4759A5}"/>
              </a:ext>
            </a:extLst>
          </p:cNvPr>
          <p:cNvGrpSpPr/>
          <p:nvPr/>
        </p:nvGrpSpPr>
        <p:grpSpPr>
          <a:xfrm>
            <a:off x="3726874" y="2815838"/>
            <a:ext cx="7315199" cy="1226323"/>
            <a:chOff x="4793673" y="1246908"/>
            <a:chExt cx="6442363" cy="1080000"/>
          </a:xfrm>
        </p:grpSpPr>
        <p:sp>
          <p:nvSpPr>
            <p:cNvPr id="14" name="육각형 13">
              <a:extLst>
                <a:ext uri="{FF2B5EF4-FFF2-40B4-BE49-F238E27FC236}">
                  <a16:creationId xmlns:a16="http://schemas.microsoft.com/office/drawing/2014/main" id="{7ADDF6C6-9FD3-40F2-ADC2-37A43AADF7ED}"/>
                </a:ext>
              </a:extLst>
            </p:cNvPr>
            <p:cNvSpPr/>
            <p:nvPr/>
          </p:nvSpPr>
          <p:spPr>
            <a:xfrm>
              <a:off x="4793673" y="1246908"/>
              <a:ext cx="6442363" cy="1080000"/>
            </a:xfrm>
            <a:prstGeom prst="hexagon">
              <a:avLst>
                <a:gd name="adj" fmla="val 42671"/>
                <a:gd name="vf" fmla="val 11547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화살표: 오각형 14">
              <a:extLst>
                <a:ext uri="{FF2B5EF4-FFF2-40B4-BE49-F238E27FC236}">
                  <a16:creationId xmlns:a16="http://schemas.microsoft.com/office/drawing/2014/main" id="{81F229D3-E3EA-4A23-AA82-5E2AF3A625A9}"/>
                </a:ext>
              </a:extLst>
            </p:cNvPr>
            <p:cNvSpPr/>
            <p:nvPr/>
          </p:nvSpPr>
          <p:spPr>
            <a:xfrm>
              <a:off x="5632954" y="1371410"/>
              <a:ext cx="5339846" cy="830996"/>
            </a:xfrm>
            <a:prstGeom prst="homePlat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D920D6B8-E4ED-4528-A983-BD701AD4E691}"/>
                </a:ext>
              </a:extLst>
            </p:cNvPr>
            <p:cNvSpPr/>
            <p:nvPr/>
          </p:nvSpPr>
          <p:spPr>
            <a:xfrm>
              <a:off x="5196182" y="1364345"/>
              <a:ext cx="845127" cy="845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51810F50-4F4F-4ABD-840E-E581E3B8C415}"/>
                </a:ext>
              </a:extLst>
            </p:cNvPr>
            <p:cNvGrpSpPr/>
            <p:nvPr/>
          </p:nvGrpSpPr>
          <p:grpSpPr>
            <a:xfrm>
              <a:off x="5537400" y="1369809"/>
              <a:ext cx="4159582" cy="813160"/>
              <a:chOff x="5516922" y="1640913"/>
              <a:chExt cx="2999292" cy="586335"/>
            </a:xfrm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EB1F94F4-27C9-4570-8682-1A33FA68D416}"/>
                  </a:ext>
                </a:extLst>
              </p:cNvPr>
              <p:cNvSpPr/>
              <p:nvPr/>
            </p:nvSpPr>
            <p:spPr>
              <a:xfrm>
                <a:off x="6030979" y="1689775"/>
                <a:ext cx="2485235" cy="488612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defTabSz="1076865" eaLnBrk="0" latinLnBrk="0" hangingPunct="0">
                  <a:spcAft>
                    <a:spcPts val="486"/>
                  </a:spcAft>
                  <a:buSzPct val="100000"/>
                  <a:defRPr/>
                </a:pPr>
                <a:r>
                  <a:rPr lang="en-US" altLang="ko-KR" sz="4400">
                    <a:gradFill>
                      <a:gsLst>
                        <a:gs pos="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6200000" scaled="1"/>
                    </a:gradFill>
                    <a:latin typeface="HY견고딕" pitchFamily="18" charset="-127"/>
                    <a:ea typeface="HY견고딕" pitchFamily="18" charset="-127"/>
                  </a:rPr>
                  <a:t>AOP</a:t>
                </a:r>
                <a:endParaRPr lang="ko-KR" altLang="en-US" sz="4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16200000" scaled="1"/>
                  </a:gradFill>
                  <a:latin typeface="HY견고딕" pitchFamily="18" charset="-127"/>
                  <a:ea typeface="HY견고딕" pitchFamily="18" charset="-127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4541CD06-C435-48C0-AA4F-7B628FBAD386}"/>
                  </a:ext>
                </a:extLst>
              </p:cNvPr>
              <p:cNvSpPr/>
              <p:nvPr/>
            </p:nvSpPr>
            <p:spPr>
              <a:xfrm>
                <a:off x="5516922" y="1640913"/>
                <a:ext cx="117307" cy="586335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5400" b="1" i="0" u="none" strike="noStrike" kern="0" normalizeH="0" baseline="0" noProof="0" dirty="0">
                  <a:ln w="2857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uLnTx/>
                  <a:uFillTx/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5863478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241507" y="105748"/>
            <a:ext cx="579357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관점지향 프로그래밍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(AOP)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5118" y="1560443"/>
            <a:ext cx="10974939" cy="234679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주업무는 크게 변화되지 않지만 주업무를 감싸는 보조업무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로그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보안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권한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인증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Transaction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범위 등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는 달라지는 경우가 많다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달라지는 경우 프로그램에 많은 변경이 필요하다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규모가 있는 웹 애플리케이션일 경우 클래스의 메서드마다 이런 작업을 일일이 수작업으로 하기에는 시간도 많이 걸리고 소스 코드도 복잡해짐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즉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유지관리에 문제가 생길 수 있음</a:t>
            </a:r>
          </a:p>
        </p:txBody>
      </p:sp>
      <p:sp>
        <p:nvSpPr>
          <p:cNvPr id="5" name="아래쪽 화살표 4"/>
          <p:cNvSpPr/>
          <p:nvPr/>
        </p:nvSpPr>
        <p:spPr>
          <a:xfrm>
            <a:off x="4428333" y="4552266"/>
            <a:ext cx="409281" cy="437322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05119" y="5158395"/>
            <a:ext cx="10974938" cy="97129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관점 지향 프로그래밍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(Aspect Oriented Programming, AOP)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이용해서 주기능과 보조 기능을 분리해서 메서드에 적용함</a:t>
            </a:r>
          </a:p>
        </p:txBody>
      </p:sp>
    </p:spTree>
    <p:extLst>
      <p:ext uri="{BB962C8B-B14F-4D97-AF65-F5344CB8AC3E}">
        <p14:creationId xmlns:p14="http://schemas.microsoft.com/office/powerpoint/2010/main" val="288035149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882708" y="105748"/>
            <a:ext cx="451117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관점지향 프로그래밍</a:t>
            </a: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48" y="1215641"/>
            <a:ext cx="7448550" cy="310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44548" y="4571043"/>
            <a:ext cx="10974938" cy="175432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concern :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애플리케이션을 개발하기 위하여 관심을 가지고 구현 해야 하는 각각의 기능들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core concern :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해당 애플리케이션이 제공하는 핵심이 되는 비즈니스 로직 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cross-cutting concern :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하나의 영역에서만 활용되는 고유한 관심 사항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(Concern)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 아니라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여러 클래스 혹은 여러 계층의 애플리케이션 전반에 걸쳐서 공통적으로 필요로 하는 기능 </a:t>
            </a:r>
          </a:p>
        </p:txBody>
      </p:sp>
    </p:spTree>
    <p:extLst>
      <p:ext uri="{BB962C8B-B14F-4D97-AF65-F5344CB8AC3E}">
        <p14:creationId xmlns:p14="http://schemas.microsoft.com/office/powerpoint/2010/main" val="366105272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56819" y="105748"/>
            <a:ext cx="37629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AOP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주요 용어들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3686141"/>
              </p:ext>
            </p:extLst>
          </p:nvPr>
        </p:nvGraphicFramePr>
        <p:xfrm>
          <a:off x="707118" y="1432260"/>
          <a:ext cx="10245659" cy="496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07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48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03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구성요소</a:t>
                      </a:r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endParaRPr lang="ko-KR" altLang="en-US" sz="1800" dirty="0">
                        <a:solidFill>
                          <a:schemeClr val="bg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설명</a:t>
                      </a:r>
                      <a:endParaRPr lang="ko-KR" altLang="en-US" sz="1800" dirty="0">
                        <a:solidFill>
                          <a:schemeClr val="bg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Target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핵심 로직을 구현하는 클래스 공통 관심 사항을 적용 받게 되는 대상으로 </a:t>
                      </a:r>
                      <a:r>
                        <a:rPr lang="en-US" altLang="ko-KR" sz="2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advise</a:t>
                      </a:r>
                      <a:r>
                        <a:rPr lang="ko-KR" altLang="en-US" sz="2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가 적용되는 객체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i="0" kern="1200" dirty="0">
                          <a:solidFill>
                            <a:schemeClr val="dk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Aspect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b="0" i="0" kern="1200" dirty="0">
                          <a:solidFill>
                            <a:schemeClr val="dk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Pointcut </a:t>
                      </a:r>
                      <a:r>
                        <a:rPr lang="ko-KR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과 </a:t>
                      </a:r>
                      <a:r>
                        <a:rPr lang="en-US" altLang="ko-KR" sz="2000" b="0" i="0" kern="1200" dirty="0">
                          <a:solidFill>
                            <a:schemeClr val="dk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Advise</a:t>
                      </a:r>
                      <a:r>
                        <a:rPr lang="ko-KR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를 합쳐 놓은 코드</a:t>
                      </a:r>
                      <a:r>
                        <a:rPr lang="en-US" altLang="ko-KR" sz="2000" b="0" i="0" kern="1200" dirty="0">
                          <a:solidFill>
                            <a:schemeClr val="dk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보조업무</a:t>
                      </a:r>
                      <a:r>
                        <a:rPr lang="en-US" altLang="ko-KR" sz="2000" b="0" i="0" kern="1200" dirty="0">
                          <a:solidFill>
                            <a:schemeClr val="dk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i="0" kern="1200" dirty="0" err="1">
                          <a:solidFill>
                            <a:schemeClr val="dk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PointCut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b="0" i="0" u="none" strike="noStrike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advice</a:t>
                      </a:r>
                      <a:r>
                        <a:rPr lang="ko-KR" altLang="en-US" sz="2000" b="0" i="0" u="none" strike="noStrike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가 적용되는 대상을 지정</a:t>
                      </a:r>
                      <a:r>
                        <a:rPr lang="en-US" altLang="ko-KR" sz="2000" b="0" i="0" u="none" strike="noStrike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2000" b="0" i="0" u="none" strike="noStrike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패키지이름</a:t>
                      </a:r>
                      <a:r>
                        <a:rPr lang="en-US" altLang="ko-KR" sz="2000" b="0" i="0" u="none" strike="noStrike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2000" b="0" i="0" u="none" strike="noStrike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클래스이름</a:t>
                      </a:r>
                      <a:r>
                        <a:rPr lang="en-US" altLang="ko-KR" sz="2000" b="0" i="0" u="none" strike="noStrike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2000" b="0" i="0" u="none" strike="noStrike" kern="1200" baseline="0" dirty="0" err="1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메서드이름을</a:t>
                      </a:r>
                      <a:r>
                        <a:rPr lang="ko-KR" altLang="en-US" sz="2000" b="0" i="0" u="none" strike="noStrike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정규식으로 지정하여 사용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Advice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조인 포인트에 삽입되어 동작할 수 있는 공통 관심 사항의 코드</a:t>
                      </a:r>
                      <a:endParaRPr lang="en-US" altLang="ko-KR" sz="20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(aspect </a:t>
                      </a:r>
                      <a:r>
                        <a:rPr lang="ko-KR" altLang="en-US" sz="2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실제 구현체</a:t>
                      </a:r>
                      <a:r>
                        <a:rPr lang="en-US" altLang="ko-KR" sz="2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)</a:t>
                      </a:r>
                      <a:r>
                        <a:rPr lang="ko-KR" altLang="en-US" sz="2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endParaRPr lang="en-US" altLang="ko-KR" sz="20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*동작시점 </a:t>
                      </a:r>
                      <a:r>
                        <a:rPr lang="en-US" altLang="ko-KR" sz="2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: </a:t>
                      </a:r>
                      <a:r>
                        <a:rPr lang="ko-KR" altLang="en-US" sz="2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조인포인트 실행 전</a:t>
                      </a:r>
                      <a:r>
                        <a:rPr lang="en-US" altLang="ko-KR" sz="2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2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후로 </a:t>
                      </a:r>
                      <a:r>
                        <a:rPr lang="en-US" altLang="ko-KR" sz="2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before, after, after returning, after throwing, around</a:t>
                      </a:r>
                      <a:r>
                        <a:rPr lang="ko-KR" altLang="en-US" sz="2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로 구분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Joinpoint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공통 </a:t>
                      </a:r>
                      <a:r>
                        <a:rPr lang="ko-KR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관심의 기능이 삽입되어 실행될 수 있는 특정 위치</a:t>
                      </a:r>
                      <a:endParaRPr lang="en-US" altLang="ko-KR" sz="2000" b="0" i="0" kern="1200" dirty="0">
                        <a:solidFill>
                          <a:schemeClr val="dk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r>
                        <a:rPr lang="en-US" altLang="ko-KR" sz="2000" b="0" i="0" kern="1200" dirty="0">
                          <a:solidFill>
                            <a:schemeClr val="dk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2000" b="0" i="0" u="none" strike="noStrike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스프링은 </a:t>
                      </a:r>
                      <a:r>
                        <a:rPr lang="en-US" altLang="ko-KR" sz="2000" b="0" i="0" u="none" strike="noStrike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method </a:t>
                      </a:r>
                      <a:r>
                        <a:rPr lang="ko-KR" altLang="en-US" sz="2000" b="0" i="0" u="none" strike="noStrike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결합점만 제공</a:t>
                      </a:r>
                      <a:r>
                        <a:rPr lang="en-US" altLang="ko-KR" sz="2000" b="0" i="0" u="none" strike="noStrike" kern="1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)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Advisor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Advice</a:t>
                      </a:r>
                      <a:r>
                        <a:rPr lang="ko-KR" altLang="en-US" sz="2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와 </a:t>
                      </a:r>
                      <a:r>
                        <a:rPr lang="en-US" altLang="ko-KR" sz="2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Pointcut</a:t>
                      </a:r>
                      <a:r>
                        <a:rPr lang="ko-KR" altLang="en-US" sz="2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를 하나로 묶어 취급한 것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weaving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공통 관심 사항의 코드인 </a:t>
                      </a:r>
                      <a:r>
                        <a:rPr lang="en-US" altLang="ko-KR" sz="2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Advice</a:t>
                      </a:r>
                      <a:r>
                        <a:rPr lang="ko-KR" altLang="en-US" sz="2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를 핵심 관심 사항의 로직에 적용 하는 것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132639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828211" y="105748"/>
            <a:ext cx="462017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4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가지 형태의 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Advice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84" y="1428334"/>
            <a:ext cx="7769173" cy="4705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65" y="2748483"/>
            <a:ext cx="2527089" cy="1977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A039DD7-8385-30F0-6A37-474774623131}"/>
              </a:ext>
            </a:extLst>
          </p:cNvPr>
          <p:cNvSpPr txBox="1"/>
          <p:nvPr/>
        </p:nvSpPr>
        <p:spPr>
          <a:xfrm>
            <a:off x="501214" y="5029199"/>
            <a:ext cx="2154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서울남산 장체B" panose="02020603020101020101" pitchFamily="18" charset="-127"/>
                <a:ea typeface="서울남산 장체B" panose="02020603020101020101" pitchFamily="18" charset="-127"/>
                <a:cs typeface="Calibri" panose="020F0502020204030204" pitchFamily="34" charset="0"/>
              </a:rPr>
              <a:t>Proxy: </a:t>
            </a:r>
            <a:r>
              <a:rPr lang="ko-KR" altLang="en-US" dirty="0">
                <a:latin typeface="서울남산 장체B" panose="02020603020101020101" pitchFamily="18" charset="-127"/>
                <a:ea typeface="서울남산 장체B" panose="02020603020101020101" pitchFamily="18" charset="-127"/>
                <a:cs typeface="Calibri" panose="020F0502020204030204" pitchFamily="34" charset="0"/>
              </a:rPr>
              <a:t>내가 작성한 </a:t>
            </a:r>
            <a:r>
              <a:rPr lang="en-US" altLang="ko-KR" dirty="0">
                <a:latin typeface="서울남산 장체B" panose="02020603020101020101" pitchFamily="18" charset="-127"/>
                <a:ea typeface="서울남산 장체B" panose="02020603020101020101" pitchFamily="18" charset="-127"/>
                <a:cs typeface="Calibri" panose="020F0502020204030204" pitchFamily="34" charset="0"/>
              </a:rPr>
              <a:t>AOP</a:t>
            </a:r>
            <a:r>
              <a:rPr lang="ko-KR" altLang="en-US" dirty="0">
                <a:latin typeface="서울남산 장체B" panose="02020603020101020101" pitchFamily="18" charset="-127"/>
                <a:ea typeface="서울남산 장체B" panose="02020603020101020101" pitchFamily="18" charset="-127"/>
                <a:cs typeface="Calibri" panose="020F0502020204030204" pitchFamily="34" charset="0"/>
              </a:rPr>
              <a:t>클래스를 대신 핸들링 해주는 클래스</a:t>
            </a:r>
            <a:r>
              <a:rPr lang="en-US" altLang="ko-KR" dirty="0">
                <a:latin typeface="서울남산 장체B" panose="02020603020101020101" pitchFamily="18" charset="-127"/>
                <a:ea typeface="서울남산 장체B" panose="02020603020101020101" pitchFamily="18" charset="-127"/>
                <a:cs typeface="Calibri" panose="020F0502020204030204" pitchFamily="34" charset="0"/>
              </a:rPr>
              <a:t> </a:t>
            </a:r>
            <a:r>
              <a:rPr lang="ko-KR" altLang="en-US" dirty="0">
                <a:latin typeface="서울남산 장체B" panose="02020603020101020101" pitchFamily="18" charset="-127"/>
                <a:ea typeface="서울남산 장체B" panose="02020603020101020101" pitchFamily="18" charset="-127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887761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972131" y="105748"/>
            <a:ext cx="433234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Proxy, Interceptor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607" y="3230265"/>
            <a:ext cx="2527089" cy="1977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A039DD7-8385-30F0-6A37-474774623131}"/>
              </a:ext>
            </a:extLst>
          </p:cNvPr>
          <p:cNvSpPr txBox="1"/>
          <p:nvPr/>
        </p:nvSpPr>
        <p:spPr>
          <a:xfrm>
            <a:off x="501214" y="5510981"/>
            <a:ext cx="7108954" cy="835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서울남산 장체B" panose="02020603020101020101" pitchFamily="18" charset="-127"/>
                <a:ea typeface="서울남산 장체B" panose="02020603020101020101" pitchFamily="18" charset="-127"/>
                <a:cs typeface="Calibri" panose="020F0502020204030204" pitchFamily="34" charset="0"/>
              </a:rPr>
              <a:t>Proxy(</a:t>
            </a:r>
            <a:r>
              <a:rPr lang="ko-KR" altLang="en-US" dirty="0">
                <a:latin typeface="서울남산 장체B" panose="02020603020101020101" pitchFamily="18" charset="-127"/>
                <a:ea typeface="서울남산 장체B" panose="02020603020101020101" pitchFamily="18" charset="-127"/>
                <a:cs typeface="Calibri" panose="020F0502020204030204" pitchFamily="34" charset="0"/>
              </a:rPr>
              <a:t>대리자</a:t>
            </a:r>
            <a:r>
              <a:rPr lang="en-US" altLang="ko-KR" dirty="0">
                <a:latin typeface="서울남산 장체B" panose="02020603020101020101" pitchFamily="18" charset="-127"/>
                <a:ea typeface="서울남산 장체B" panose="02020603020101020101" pitchFamily="18" charset="-127"/>
                <a:cs typeface="Calibri" panose="020F0502020204030204" pitchFamily="34" charset="0"/>
              </a:rPr>
              <a:t>): 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Noto Sans Demilight"/>
              </a:rPr>
              <a:t> </a:t>
            </a:r>
            <a:r>
              <a:rPr lang="ko-KR" altLang="en-US" sz="1600" b="0" i="0" dirty="0">
                <a:solidFill>
                  <a:srgbClr val="222222"/>
                </a:solidFill>
                <a:effectLst/>
                <a:latin typeface="Noto Sans Demilight"/>
              </a:rPr>
              <a:t>클라이언트가 사용하려고 하는 실제 대상인 것처럼 위장해서 클라이언트의 요청을 받아주는 역할</a:t>
            </a:r>
            <a:endParaRPr lang="ko-KR" altLang="en-US" sz="1600" dirty="0">
              <a:latin typeface="서울남산 장체B" panose="02020603020101020101" pitchFamily="18" charset="-127"/>
              <a:ea typeface="서울남산 장체B" panose="02020603020101020101" pitchFamily="18" charset="-127"/>
              <a:cs typeface="Calibri" panose="020F050202020403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DD678E3-9255-8D2C-B489-F7A01C8707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6927" y="2850452"/>
            <a:ext cx="6063041" cy="167170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3AF4C97-F5ED-EC61-9E09-FA3BFC6B68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7719" y="5094844"/>
            <a:ext cx="3040333" cy="16051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79F6C69-A512-FF19-5B69-A0E421C490D1}"/>
              </a:ext>
            </a:extLst>
          </p:cNvPr>
          <p:cNvSpPr txBox="1"/>
          <p:nvPr/>
        </p:nvSpPr>
        <p:spPr>
          <a:xfrm>
            <a:off x="9352004" y="4769470"/>
            <a:ext cx="23387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i="0" dirty="0">
                <a:solidFill>
                  <a:srgbClr val="000000"/>
                </a:solidFill>
                <a:effectLst/>
                <a:latin typeface="Noto Sans Light"/>
              </a:rPr>
              <a:t>자바 </a:t>
            </a:r>
            <a:r>
              <a:rPr lang="ko-KR" altLang="en-US" sz="1400" i="0" dirty="0" err="1">
                <a:solidFill>
                  <a:srgbClr val="000000"/>
                </a:solidFill>
                <a:effectLst/>
                <a:latin typeface="Noto Sans Light"/>
              </a:rPr>
              <a:t>서블릿에서</a:t>
            </a:r>
            <a:r>
              <a:rPr lang="ko-KR" altLang="en-US" sz="1400" i="0" dirty="0">
                <a:solidFill>
                  <a:srgbClr val="000000"/>
                </a:solidFill>
                <a:effectLst/>
                <a:latin typeface="Noto Sans Light"/>
              </a:rPr>
              <a:t> 제공</a:t>
            </a:r>
            <a:r>
              <a:rPr lang="en-US" altLang="ko-KR" sz="1400" i="0" dirty="0">
                <a:solidFill>
                  <a:srgbClr val="000000"/>
                </a:solidFill>
                <a:effectLst/>
                <a:latin typeface="Noto Sans Light"/>
              </a:rPr>
              <a:t>(filter)</a:t>
            </a:r>
            <a:endParaRPr lang="ko-KR" alt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F3BCF7-C2E1-487D-0134-E16A183760B4}"/>
              </a:ext>
            </a:extLst>
          </p:cNvPr>
          <p:cNvSpPr txBox="1"/>
          <p:nvPr/>
        </p:nvSpPr>
        <p:spPr>
          <a:xfrm>
            <a:off x="481547" y="1116825"/>
            <a:ext cx="1140248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ea typeface="Cascadia Code" panose="020B0609020000020004" pitchFamily="49" charset="0"/>
                <a:cs typeface="Cascadia Code" panose="020B0609020000020004" pitchFamily="49" charset="0"/>
              </a:rPr>
              <a:t>Interceptor : 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Noto Sans Light"/>
              </a:rPr>
              <a:t>가로채는 역할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Noto Sans Light"/>
              </a:rPr>
              <a:t>,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cs typeface="Cascadia Code" panose="020B0609020000020004" pitchFamily="49" charset="0"/>
              </a:rPr>
              <a:t>프록시 객체의 </a:t>
            </a:r>
            <a:r>
              <a:rPr lang="en-US" altLang="ko-KR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cs typeface="Cascadia Code" panose="020B0609020000020004" pitchFamily="49" charset="0"/>
              </a:rPr>
              <a:t>CallBack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cs typeface="Cascadia Code" panose="020B0609020000020004" pitchFamily="49" charset="0"/>
              </a:rPr>
              <a:t> 기능 중 하나로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cs typeface="Cascadia Code" panose="020B0609020000020004" pitchFamily="49" charset="0"/>
              </a:rPr>
              <a:t>프록시 객체에서 타겟 객체를 호출하기 전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cs typeface="Cascadia Code" panose="020B0609020000020004" pitchFamily="49" charset="0"/>
              </a:rPr>
              <a:t>후로 비지니스 로직을 추가하거나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cs typeface="Cascadia Code" panose="020B0609020000020004" pitchFamily="49" charset="0"/>
              </a:rPr>
              <a:t>타겟 클래스가 아닌 다른 객체의 메소드를 호출하거나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cs typeface="Cascadia Code" panose="020B0609020000020004" pitchFamily="49" charset="0"/>
              </a:rPr>
              <a:t>인자 값을 변경할 수 있다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cs typeface="Cascadia Code" panose="020B0609020000020004" pitchFamily="49" charset="0"/>
              </a:rPr>
              <a:t>구현 방법은 </a:t>
            </a:r>
            <a:r>
              <a:rPr lang="en-US" altLang="ko-KR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ea typeface="Cascadia Code" panose="020B0609020000020004" pitchFamily="49" charset="0"/>
                <a:cs typeface="Cascadia Code" panose="020B0609020000020004" pitchFamily="49" charset="0"/>
              </a:rPr>
              <a:t>MethodInterceptor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cs typeface="Cascadia Code" panose="020B0609020000020004" pitchFamily="49" charset="0"/>
              </a:rPr>
              <a:t>인터페이스를 상속 </a:t>
            </a:r>
            <a:r>
              <a:rPr lang="ko-KR" altLang="en-US" dirty="0">
                <a:solidFill>
                  <a:srgbClr val="333333"/>
                </a:solidFill>
                <a:highlight>
                  <a:srgbClr val="FFFFFF"/>
                </a:highlight>
                <a:cs typeface="Cascadia Code" panose="020B0609020000020004" pitchFamily="49" charset="0"/>
              </a:rPr>
              <a:t>후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cs typeface="Cascadia Code" panose="020B0609020000020004" pitchFamily="49" charset="0"/>
              </a:rPr>
              <a:t>메서드를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cs typeface="Cascadia Code" panose="020B0609020000020004" pitchFamily="49" charset="0"/>
              </a:rPr>
              <a:t>오버라이드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cs typeface="Cascadia Code" panose="020B0609020000020004" pitchFamily="49" charset="0"/>
              </a:rPr>
              <a:t> 한다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cs typeface="Cascadia Code" panose="020B0609020000020004" pitchFamily="49" charset="0"/>
              </a:rPr>
              <a:t>.</a:t>
            </a:r>
            <a:endParaRPr lang="en-US" altLang="ko-KR" b="0" i="0" dirty="0">
              <a:solidFill>
                <a:srgbClr val="333333"/>
              </a:solidFill>
              <a:effectLst/>
              <a:highlight>
                <a:srgbClr val="FFFFFF"/>
              </a:highlight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ko-KR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772790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407149" y="105748"/>
            <a:ext cx="346229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Aspect Advise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424182"/>
              </p:ext>
            </p:extLst>
          </p:nvPr>
        </p:nvGraphicFramePr>
        <p:xfrm>
          <a:off x="707118" y="1432260"/>
          <a:ext cx="10445892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2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01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43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3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Advise</a:t>
                      </a:r>
                      <a:r>
                        <a:rPr lang="ko-KR" altLang="en-US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종류</a:t>
                      </a:r>
                      <a:endParaRPr lang="ko-KR" altLang="en-US" sz="1800" dirty="0">
                        <a:solidFill>
                          <a:schemeClr val="bg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dirty="0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1) XML</a:t>
                      </a:r>
                      <a:r>
                        <a:rPr lang="ko-KR" altLang="en-US" sz="1800" dirty="0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스키마 기반</a:t>
                      </a:r>
                      <a:r>
                        <a:rPr lang="en-US" altLang="ko-KR" sz="1800" dirty="0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/ </a:t>
                      </a:r>
                    </a:p>
                    <a:p>
                      <a:pPr algn="l" latinLnBrk="1"/>
                      <a:r>
                        <a:rPr lang="en-US" altLang="ko-KR" sz="1800" dirty="0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2) @Aspect </a:t>
                      </a:r>
                      <a:r>
                        <a:rPr lang="ko-KR" altLang="en-US" sz="1800" dirty="0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기반 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설명</a:t>
                      </a:r>
                      <a:endParaRPr lang="ko-KR" altLang="en-US" sz="1800" dirty="0">
                        <a:solidFill>
                          <a:schemeClr val="bg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Before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&lt;</a:t>
                      </a:r>
                      <a:r>
                        <a:rPr lang="en-US" altLang="ko-KR" sz="18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aop:before</a:t>
                      </a:r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&gt;</a:t>
                      </a:r>
                    </a:p>
                    <a:p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@before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target</a:t>
                      </a:r>
                      <a:r>
                        <a:rPr lang="ko-KR" altLang="en-US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객체의 메소드 </a:t>
                      </a:r>
                      <a:r>
                        <a:rPr lang="ko-KR" altLang="en-US" sz="18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호출전</a:t>
                      </a:r>
                      <a:r>
                        <a:rPr lang="ko-KR" altLang="en-US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실행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After Returning 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&lt;</a:t>
                      </a:r>
                      <a:r>
                        <a:rPr lang="en-US" altLang="ko-KR" sz="18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aop:after-returning</a:t>
                      </a:r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&gt; </a:t>
                      </a:r>
                    </a:p>
                    <a:p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@AfterReturning 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target</a:t>
                      </a:r>
                      <a:r>
                        <a:rPr lang="ko-KR" altLang="en-US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객체의 메소드가 예외 없이 실행 된 후 실행 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After Throwing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&lt;</a:t>
                      </a:r>
                      <a:r>
                        <a:rPr lang="en-US" altLang="ko-KR" sz="18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aop:after-throwing</a:t>
                      </a:r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&gt;</a:t>
                      </a:r>
                    </a:p>
                    <a:p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@AfterThrowing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target</a:t>
                      </a:r>
                      <a:r>
                        <a:rPr lang="ko-KR" altLang="en-US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객체의 메소드가 </a:t>
                      </a:r>
                      <a:r>
                        <a:rPr lang="ko-KR" altLang="en-US" sz="18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실행하는중</a:t>
                      </a:r>
                      <a:r>
                        <a:rPr lang="ko-KR" altLang="en-US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예외 발생시 실행 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After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&lt;</a:t>
                      </a:r>
                      <a:r>
                        <a:rPr lang="en-US" altLang="ko-KR" sz="18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aop:after</a:t>
                      </a:r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&gt;</a:t>
                      </a:r>
                    </a:p>
                    <a:p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@After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target</a:t>
                      </a:r>
                      <a:r>
                        <a:rPr lang="ko-KR" altLang="en-US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객체의 메소드 </a:t>
                      </a:r>
                      <a:r>
                        <a:rPr lang="ko-KR" altLang="en-US" sz="18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실행후</a:t>
                      </a:r>
                      <a:r>
                        <a:rPr lang="ko-KR" altLang="en-US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반드시 </a:t>
                      </a:r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(try </a:t>
                      </a:r>
                      <a:r>
                        <a:rPr lang="ko-KR" altLang="en-US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문의 </a:t>
                      </a:r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finally</a:t>
                      </a:r>
                      <a:r>
                        <a:rPr lang="ko-KR" altLang="en-US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와 유사</a:t>
                      </a:r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) </a:t>
                      </a:r>
                      <a:r>
                        <a:rPr lang="ko-KR" altLang="en-US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실행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Around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&lt;</a:t>
                      </a:r>
                      <a:r>
                        <a:rPr lang="en-US" altLang="ko-KR" sz="18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aop:around</a:t>
                      </a:r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&gt;</a:t>
                      </a:r>
                    </a:p>
                    <a:p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@Around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target</a:t>
                      </a:r>
                      <a:r>
                        <a:rPr lang="ko-KR" altLang="en-US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객체의 메소드 실행 전</a:t>
                      </a:r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후 또는 예외 발생 시점에 모두 실행해야 할 로직을 담아야 할 경우 실행 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969681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725693" y="105748"/>
            <a:ext cx="282519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AOP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1784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방법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1)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스프링 프레임워크에서 제공하는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API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이용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방법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2) @Aspect </a:t>
            </a:r>
            <a:r>
              <a:rPr lang="ko-KR" altLang="en-US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애너테이션을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이용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endParaRPr lang="ko-KR" altLang="en-US" sz="2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291262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364413" y="105748"/>
            <a:ext cx="354776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Pointcut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표현식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2808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execution()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표현식 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① 가장 대표적인 강력한 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포인트컷의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지시자 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② 메소드의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signature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이루는 접근 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제한자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리턴타입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메소드명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파라미터 타입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예외타입 조건을 조합해서 메소드 단위까지 선택 가능한 가장 정교한 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포인트컷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구성 가능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execution([</a:t>
            </a:r>
            <a:r>
              <a:rPr lang="ko-KR" altLang="en-US" sz="2000" dirty="0" err="1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접근제한자패턴</a:t>
            </a:r>
            <a:r>
              <a:rPr lang="en-US" altLang="ko-KR" sz="20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] </a:t>
            </a:r>
            <a:r>
              <a:rPr lang="ko-KR" altLang="en-US" sz="2000" dirty="0" err="1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리턴타입</a:t>
            </a:r>
            <a:r>
              <a:rPr lang="ko-KR" altLang="en-US" sz="20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  함수이름패턴 </a:t>
            </a:r>
            <a:r>
              <a:rPr lang="en-US" altLang="ko-KR" sz="20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2000" dirty="0" err="1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파라미터패턴</a:t>
            </a:r>
            <a:r>
              <a:rPr lang="en-US" altLang="ko-KR" sz="20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 )</a:t>
            </a:r>
          </a:p>
          <a:p>
            <a:pPr marL="800100" lvl="1" indent="-342900">
              <a:lnSpc>
                <a:spcPct val="150000"/>
              </a:lnSpc>
              <a:buFont typeface="Arial" charset="0"/>
              <a:buChar char="•"/>
            </a:pPr>
            <a:r>
              <a:rPr lang="en-US" altLang="ko-KR" sz="20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*</a:t>
            </a:r>
            <a:r>
              <a:rPr lang="ko-KR" altLang="en-US" sz="20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는 </a:t>
            </a:r>
            <a:r>
              <a:rPr lang="ko-KR" altLang="en-US" sz="2000" dirty="0" err="1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모든값을</a:t>
            </a:r>
            <a:r>
              <a:rPr lang="ko-KR" altLang="en-US" sz="20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의미</a:t>
            </a:r>
            <a:r>
              <a:rPr lang="en-US" altLang="ko-KR" sz="20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..</a:t>
            </a:r>
            <a:r>
              <a:rPr lang="ko-KR" altLang="en-US" sz="20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은 </a:t>
            </a:r>
            <a:r>
              <a:rPr lang="en-US" altLang="ko-KR" sz="20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0</a:t>
            </a:r>
            <a:r>
              <a:rPr lang="ko-KR" altLang="en-US" sz="20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 이상을 의미</a:t>
            </a:r>
            <a:endParaRPr lang="en-US" altLang="ko-KR" sz="2000" dirty="0">
              <a:solidFill>
                <a:srgbClr val="C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412239"/>
              </p:ext>
            </p:extLst>
          </p:nvPr>
        </p:nvGraphicFramePr>
        <p:xfrm>
          <a:off x="954071" y="4208832"/>
          <a:ext cx="10052101" cy="201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0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1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03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lt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예제</a:t>
                      </a:r>
                      <a:endParaRPr lang="ko-KR" altLang="en-US" sz="1800" dirty="0">
                        <a:solidFill>
                          <a:schemeClr val="bg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설명</a:t>
                      </a:r>
                      <a:endParaRPr lang="ko-KR" altLang="en-US" sz="1800" dirty="0">
                        <a:solidFill>
                          <a:schemeClr val="bg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execution(* print(..)) 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메서드 이름이 </a:t>
                      </a:r>
                      <a:r>
                        <a:rPr lang="en-US" alt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print</a:t>
                      </a:r>
                      <a:r>
                        <a:rPr lang="ko-KR" altLang="en-US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인 모든 메서드 선정 </a:t>
                      </a:r>
                      <a:r>
                        <a:rPr lang="en-US" alt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</a:t>
                      </a:r>
                      <a:r>
                        <a:rPr lang="ko-KR" altLang="en-US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리턴 타입</a:t>
                      </a:r>
                      <a:r>
                        <a:rPr lang="en-US" alt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파라미터 무관</a:t>
                      </a:r>
                      <a:r>
                        <a:rPr lang="en-US" alt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) 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execution(* drive(int, int)) 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메소드 이름이 </a:t>
                      </a:r>
                      <a:r>
                        <a:rPr lang="en-US" alt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drive</a:t>
                      </a:r>
                      <a:r>
                        <a:rPr lang="ko-KR" altLang="en-US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이며</a:t>
                      </a:r>
                      <a:r>
                        <a:rPr lang="en-US" alt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두 개의 </a:t>
                      </a:r>
                      <a:r>
                        <a:rPr lang="en-US" alt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int </a:t>
                      </a:r>
                      <a:r>
                        <a:rPr lang="ko-KR" altLang="en-US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타입의 파라 미터를 가진 모든 메소드 선정</a:t>
                      </a:r>
                      <a:r>
                        <a:rPr lang="en-US" alt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</a:t>
                      </a:r>
                      <a:r>
                        <a:rPr lang="ko-KR" altLang="en-US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리턴 타입 무관</a:t>
                      </a:r>
                      <a:r>
                        <a:rPr lang="en-US" alt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) 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execution(* *(..)) 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리턴 타입</a:t>
                      </a:r>
                      <a:r>
                        <a:rPr lang="en-US" alt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파라미터의 종류</a:t>
                      </a:r>
                      <a:r>
                        <a:rPr lang="en-US" alt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개수에 상관없이 모든 메소드 선정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952253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364411" y="105748"/>
            <a:ext cx="354776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Pointcut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표현식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23467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2) within()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표현식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① 특정 타입에 속하는 메소드를 포인트 컷으로 설정 시 사용 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②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execution()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여러 조건 중에서 타입 패턴만을 적용 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③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target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클래스의 타입에만 적용되며 조인포인트는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target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클래스 안에서 선언된 것만 선정됨 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④ 선택된 타입의 모든 메소드가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AOP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적용대상 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179999"/>
              </p:ext>
            </p:extLst>
          </p:nvPr>
        </p:nvGraphicFramePr>
        <p:xfrm>
          <a:off x="959580" y="4204966"/>
          <a:ext cx="1043186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38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03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lt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예제</a:t>
                      </a:r>
                      <a:endParaRPr lang="ko-KR" altLang="en-US" sz="2000" dirty="0">
                        <a:solidFill>
                          <a:schemeClr val="bg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설명</a:t>
                      </a:r>
                      <a:endParaRPr lang="ko-KR" altLang="en-US" sz="2000" dirty="0">
                        <a:solidFill>
                          <a:schemeClr val="bg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within(</a:t>
                      </a:r>
                      <a:r>
                        <a:rPr lang="en-US" altLang="ko-KR" sz="20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sample.aop</a:t>
                      </a:r>
                      <a:r>
                        <a:rPr lang="en-US" altLang="ko-KR" sz="2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...*) 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sample.aop</a:t>
                      </a:r>
                      <a:r>
                        <a:rPr lang="en-US" altLang="ko-KR" sz="2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ko-KR" altLang="en-US" sz="2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및 모든 서브패키지가 포함 하고 있는 모든 메소드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within(</a:t>
                      </a:r>
                      <a:r>
                        <a:rPr lang="en-US" altLang="ko-KR" sz="20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sample.aop</a:t>
                      </a:r>
                      <a:r>
                        <a:rPr lang="en-US" altLang="ko-KR" sz="2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.*) 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sample.aop</a:t>
                      </a:r>
                      <a:r>
                        <a:rPr lang="en-US" altLang="ko-KR" sz="2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ko-KR" altLang="en-US" sz="2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패키지 아래의 인터페이스와 클래스에 있는 모든 메소드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within(</a:t>
                      </a:r>
                      <a:r>
                        <a:rPr lang="en-US" altLang="ko-KR" sz="20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sample.aop.Member</a:t>
                      </a:r>
                      <a:r>
                        <a:rPr lang="en-US" altLang="ko-KR" sz="2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) 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sample.aop</a:t>
                      </a:r>
                      <a:r>
                        <a:rPr lang="en-US" altLang="ko-KR" sz="2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ko-KR" altLang="en-US" sz="2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패키지의 </a:t>
                      </a:r>
                      <a:r>
                        <a:rPr lang="en-US" altLang="ko-KR" sz="2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Member</a:t>
                      </a:r>
                      <a:r>
                        <a:rPr lang="ko-KR" altLang="en-US" sz="20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클래스의 모든 메소드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428062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364411" y="105748"/>
            <a:ext cx="354776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Pointcut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표현식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7331" y="1121861"/>
            <a:ext cx="8631652" cy="54391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888166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465736" y="105748"/>
            <a:ext cx="534511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AOP - </a:t>
            </a:r>
            <a:r>
              <a:rPr lang="ko-KR" altLang="en-US" sz="4000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핵심로직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590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핵심로직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237" y="1730575"/>
            <a:ext cx="6143625" cy="450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017716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2859000" y="105748"/>
            <a:ext cx="655859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AOP -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라이브러리준비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라이브러리 준비 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&lt;properties&gt;&lt;</a:t>
            </a:r>
            <a:r>
              <a:rPr lang="en-US" altLang="ko-KR" sz="2000" dirty="0" err="1"/>
              <a:t>org.aspectj</a:t>
            </a:r>
            <a:r>
              <a:rPr lang="en-US" altLang="ko-KR" sz="2000" dirty="0"/>
              <a:t>-version&gt;1.9.6&lt;/</a:t>
            </a:r>
            <a:r>
              <a:rPr lang="en-US" altLang="ko-KR" sz="2000" dirty="0" err="1"/>
              <a:t>org.aspectj</a:t>
            </a:r>
            <a:r>
              <a:rPr lang="en-US" altLang="ko-KR" sz="2000" dirty="0"/>
              <a:t>-version&gt;&lt;/properties&gt;</a:t>
            </a:r>
            <a:endParaRPr lang="ko-KR" altLang="en-US" sz="2000" dirty="0"/>
          </a:p>
          <a:p>
            <a:pPr lvl="1"/>
            <a:r>
              <a:rPr lang="en-US" altLang="ko-KR" sz="1600" dirty="0"/>
              <a:t>&lt;dependency&gt;</a:t>
            </a:r>
          </a:p>
          <a:p>
            <a:pPr lvl="2"/>
            <a:r>
              <a:rPr lang="en-US" altLang="ko-KR" sz="1600" dirty="0"/>
              <a:t>&lt;</a:t>
            </a:r>
            <a:r>
              <a:rPr lang="en-US" altLang="ko-KR" sz="1600" dirty="0" err="1"/>
              <a:t>groupId</a:t>
            </a:r>
            <a:r>
              <a:rPr lang="en-US" altLang="ko-KR" sz="1600" dirty="0"/>
              <a:t>&gt;</a:t>
            </a:r>
            <a:r>
              <a:rPr lang="en-US" altLang="ko-KR" sz="1600" dirty="0" err="1"/>
              <a:t>org.aspectj</a:t>
            </a:r>
            <a:r>
              <a:rPr lang="en-US" altLang="ko-KR" sz="1600" dirty="0"/>
              <a:t>&lt;/</a:t>
            </a:r>
            <a:r>
              <a:rPr lang="en-US" altLang="ko-KR" sz="1600" dirty="0" err="1"/>
              <a:t>groupId</a:t>
            </a:r>
            <a:r>
              <a:rPr lang="en-US" altLang="ko-KR" sz="1600" dirty="0"/>
              <a:t>&gt;</a:t>
            </a:r>
          </a:p>
          <a:p>
            <a:pPr lvl="2"/>
            <a:r>
              <a:rPr lang="en-US" altLang="ko-KR" sz="1600" dirty="0"/>
              <a:t>&lt;</a:t>
            </a:r>
            <a:r>
              <a:rPr lang="en-US" altLang="ko-KR" sz="1600" dirty="0" err="1"/>
              <a:t>artifactId</a:t>
            </a:r>
            <a:r>
              <a:rPr lang="en-US" altLang="ko-KR" sz="1600" dirty="0"/>
              <a:t>&gt;</a:t>
            </a:r>
            <a:r>
              <a:rPr lang="en-US" altLang="ko-KR" sz="1600" dirty="0" err="1"/>
              <a:t>aspectjweaver</a:t>
            </a:r>
            <a:r>
              <a:rPr lang="en-US" altLang="ko-KR" sz="1600" dirty="0"/>
              <a:t>&lt;/</a:t>
            </a:r>
            <a:r>
              <a:rPr lang="en-US" altLang="ko-KR" sz="1600" dirty="0" err="1"/>
              <a:t>artifactId</a:t>
            </a:r>
            <a:r>
              <a:rPr lang="en-US" altLang="ko-KR" sz="1600" dirty="0"/>
              <a:t>&gt;</a:t>
            </a:r>
          </a:p>
          <a:p>
            <a:pPr lvl="2"/>
            <a:r>
              <a:rPr lang="en-US" altLang="ko-KR" sz="1600" dirty="0"/>
              <a:t>&lt;version&gt;${</a:t>
            </a:r>
            <a:r>
              <a:rPr lang="en-US" altLang="ko-KR" sz="1600" dirty="0" err="1"/>
              <a:t>org.aspectj</a:t>
            </a:r>
            <a:r>
              <a:rPr lang="en-US" altLang="ko-KR" sz="1600" dirty="0"/>
              <a:t>-version}&lt;/version&gt;</a:t>
            </a:r>
          </a:p>
          <a:p>
            <a:pPr lvl="2"/>
            <a:r>
              <a:rPr lang="en-US" altLang="ko-KR" sz="1600" dirty="0"/>
              <a:t>&lt;scope&gt;runtime&lt;/scope&gt;</a:t>
            </a:r>
          </a:p>
          <a:p>
            <a:pPr lvl="1"/>
            <a:r>
              <a:rPr lang="en-US" altLang="ko-KR" sz="1600" dirty="0"/>
              <a:t>&lt;/dependency&gt;</a:t>
            </a:r>
          </a:p>
          <a:p>
            <a:pPr lvl="1"/>
            <a:endParaRPr lang="ko-KR" altLang="en-US" sz="1600" dirty="0"/>
          </a:p>
          <a:p>
            <a:pPr lvl="1"/>
            <a:r>
              <a:rPr lang="en-US" altLang="ko-KR" sz="1600" dirty="0"/>
              <a:t>&lt;dependency&gt;</a:t>
            </a:r>
          </a:p>
          <a:p>
            <a:pPr lvl="2"/>
            <a:r>
              <a:rPr lang="en-US" altLang="ko-KR" sz="1600" dirty="0"/>
              <a:t>&lt;</a:t>
            </a:r>
            <a:r>
              <a:rPr lang="en-US" altLang="ko-KR" sz="1600" dirty="0" err="1"/>
              <a:t>groupId</a:t>
            </a:r>
            <a:r>
              <a:rPr lang="en-US" altLang="ko-KR" sz="1600" dirty="0"/>
              <a:t>&gt;</a:t>
            </a:r>
            <a:r>
              <a:rPr lang="en-US" altLang="ko-KR" sz="1600" dirty="0" err="1"/>
              <a:t>org.aspectj</a:t>
            </a:r>
            <a:r>
              <a:rPr lang="en-US" altLang="ko-KR" sz="1600" dirty="0"/>
              <a:t>&lt;/</a:t>
            </a:r>
            <a:r>
              <a:rPr lang="en-US" altLang="ko-KR" sz="1600" dirty="0" err="1"/>
              <a:t>groupId</a:t>
            </a:r>
            <a:r>
              <a:rPr lang="en-US" altLang="ko-KR" sz="1600" dirty="0"/>
              <a:t>&gt;</a:t>
            </a:r>
          </a:p>
          <a:p>
            <a:pPr lvl="2"/>
            <a:r>
              <a:rPr lang="en-US" altLang="ko-KR" sz="1600" dirty="0"/>
              <a:t>&lt;</a:t>
            </a:r>
            <a:r>
              <a:rPr lang="en-US" altLang="ko-KR" sz="1600" dirty="0" err="1"/>
              <a:t>artifactId</a:t>
            </a:r>
            <a:r>
              <a:rPr lang="en-US" altLang="ko-KR" sz="1600" dirty="0"/>
              <a:t>&gt;</a:t>
            </a:r>
            <a:r>
              <a:rPr lang="en-US" altLang="ko-KR" sz="1600" dirty="0" err="1"/>
              <a:t>aspectjtools</a:t>
            </a:r>
            <a:r>
              <a:rPr lang="en-US" altLang="ko-KR" sz="1600" dirty="0"/>
              <a:t>&lt;/</a:t>
            </a:r>
            <a:r>
              <a:rPr lang="en-US" altLang="ko-KR" sz="1600" dirty="0" err="1"/>
              <a:t>artifactId</a:t>
            </a:r>
            <a:r>
              <a:rPr lang="en-US" altLang="ko-KR" sz="1600" dirty="0"/>
              <a:t>&gt;</a:t>
            </a:r>
          </a:p>
          <a:p>
            <a:pPr lvl="2"/>
            <a:r>
              <a:rPr lang="en-US" altLang="ko-KR" sz="1600" dirty="0"/>
              <a:t>&lt;version&gt;${</a:t>
            </a:r>
            <a:r>
              <a:rPr lang="en-US" altLang="ko-KR" sz="1600" dirty="0" err="1"/>
              <a:t>org.aspectj</a:t>
            </a:r>
            <a:r>
              <a:rPr lang="en-US" altLang="ko-KR" sz="1600" dirty="0"/>
              <a:t>-version}&lt;/version&gt;</a:t>
            </a:r>
          </a:p>
          <a:p>
            <a:pPr lvl="1"/>
            <a:r>
              <a:rPr lang="en-US" altLang="ko-KR" sz="1600" dirty="0"/>
              <a:t>&lt;/dependency&gt;</a:t>
            </a:r>
          </a:p>
          <a:p>
            <a:pPr lvl="1"/>
            <a:endParaRPr lang="ko-KR" altLang="en-US" sz="1600" dirty="0"/>
          </a:p>
          <a:p>
            <a:pPr lvl="1"/>
            <a:r>
              <a:rPr lang="en-US" altLang="ko-KR" sz="1600" dirty="0"/>
              <a:t>&lt;dependency&gt;</a:t>
            </a:r>
          </a:p>
          <a:p>
            <a:pPr lvl="2"/>
            <a:r>
              <a:rPr lang="en-US" altLang="ko-KR" sz="1600" dirty="0"/>
              <a:t>&lt;</a:t>
            </a:r>
            <a:r>
              <a:rPr lang="en-US" altLang="ko-KR" sz="1600" dirty="0" err="1"/>
              <a:t>groupId</a:t>
            </a:r>
            <a:r>
              <a:rPr lang="en-US" altLang="ko-KR" sz="1600" dirty="0"/>
              <a:t>&gt;</a:t>
            </a:r>
            <a:r>
              <a:rPr lang="en-US" altLang="ko-KR" sz="1600" dirty="0" err="1"/>
              <a:t>aspectj</a:t>
            </a:r>
            <a:r>
              <a:rPr lang="en-US" altLang="ko-KR" sz="1600" dirty="0"/>
              <a:t>&lt;/</a:t>
            </a:r>
            <a:r>
              <a:rPr lang="en-US" altLang="ko-KR" sz="1600" dirty="0" err="1"/>
              <a:t>groupId</a:t>
            </a:r>
            <a:r>
              <a:rPr lang="en-US" altLang="ko-KR" sz="1600" dirty="0"/>
              <a:t>&gt;</a:t>
            </a:r>
          </a:p>
          <a:p>
            <a:pPr lvl="2"/>
            <a:r>
              <a:rPr lang="en-US" altLang="ko-KR" sz="1600" dirty="0"/>
              <a:t>&lt;</a:t>
            </a:r>
            <a:r>
              <a:rPr lang="en-US" altLang="ko-KR" sz="1600" dirty="0" err="1"/>
              <a:t>artifactId</a:t>
            </a:r>
            <a:r>
              <a:rPr lang="en-US" altLang="ko-KR" sz="1600" dirty="0"/>
              <a:t>&gt;</a:t>
            </a:r>
            <a:r>
              <a:rPr lang="en-US" altLang="ko-KR" sz="1600" dirty="0" err="1"/>
              <a:t>aspectjrt</a:t>
            </a:r>
            <a:r>
              <a:rPr lang="en-US" altLang="ko-KR" sz="1600" dirty="0"/>
              <a:t>&lt;/</a:t>
            </a:r>
            <a:r>
              <a:rPr lang="en-US" altLang="ko-KR" sz="1600" dirty="0" err="1"/>
              <a:t>artifactId</a:t>
            </a:r>
            <a:r>
              <a:rPr lang="en-US" altLang="ko-KR" sz="1600" dirty="0"/>
              <a:t>&gt;</a:t>
            </a:r>
          </a:p>
          <a:p>
            <a:pPr lvl="2"/>
            <a:r>
              <a:rPr lang="en-US" altLang="ko-KR" sz="1600" dirty="0"/>
              <a:t>&lt;version&gt;1.5.4&lt;/version&gt;</a:t>
            </a:r>
          </a:p>
          <a:p>
            <a:pPr lvl="1"/>
            <a:r>
              <a:rPr lang="en-US" altLang="ko-KR" sz="1600" dirty="0"/>
              <a:t>&lt;/dependency&gt;</a:t>
            </a:r>
            <a:endParaRPr lang="en-US" altLang="ko-KR" sz="4800" dirty="0"/>
          </a:p>
        </p:txBody>
      </p:sp>
    </p:spTree>
    <p:extLst>
      <p:ext uri="{BB962C8B-B14F-4D97-AF65-F5344CB8AC3E}">
        <p14:creationId xmlns:p14="http://schemas.microsoft.com/office/powerpoint/2010/main" val="39568933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858470" y="105748"/>
            <a:ext cx="455964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AOP (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예제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1)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3664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AOP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기능 구현과정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2000" b="1" dirty="0"/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000" dirty="0">
                <a:latin typeface="+mj-ea"/>
                <a:ea typeface="+mj-ea"/>
              </a:rPr>
              <a:t>타깃</a:t>
            </a:r>
            <a:r>
              <a:rPr lang="en-US" altLang="ko-KR" sz="2000" dirty="0">
                <a:latin typeface="+mj-ea"/>
                <a:ea typeface="+mj-ea"/>
              </a:rPr>
              <a:t>(Target) </a:t>
            </a:r>
            <a:r>
              <a:rPr lang="ko-KR" altLang="en-US" sz="2000" dirty="0">
                <a:latin typeface="+mj-ea"/>
                <a:ea typeface="+mj-ea"/>
              </a:rPr>
              <a:t>클래스를 지정</a:t>
            </a:r>
            <a:endParaRPr lang="en-US" altLang="ko-KR" sz="2000" dirty="0">
              <a:latin typeface="+mj-ea"/>
              <a:ea typeface="+mj-ea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000" dirty="0" err="1">
                <a:latin typeface="+mj-ea"/>
                <a:ea typeface="+mj-ea"/>
              </a:rPr>
              <a:t>어드바이스</a:t>
            </a:r>
            <a:r>
              <a:rPr lang="en-US" altLang="ko-KR" sz="2000" dirty="0">
                <a:latin typeface="+mj-ea"/>
                <a:ea typeface="+mj-ea"/>
              </a:rPr>
              <a:t>(Advice) </a:t>
            </a:r>
            <a:r>
              <a:rPr lang="ko-KR" altLang="en-US" sz="2000" dirty="0">
                <a:latin typeface="+mj-ea"/>
                <a:ea typeface="+mj-ea"/>
              </a:rPr>
              <a:t>클래스를 지정</a:t>
            </a:r>
            <a:endParaRPr lang="en-US" altLang="ko-KR" sz="2000" dirty="0">
              <a:latin typeface="+mj-ea"/>
              <a:ea typeface="+mj-ea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000" dirty="0">
                <a:latin typeface="+mj-ea"/>
                <a:ea typeface="+mj-ea"/>
              </a:rPr>
              <a:t>설정 파일에서 </a:t>
            </a:r>
            <a:r>
              <a:rPr lang="ko-KR" altLang="en-US" sz="2000" dirty="0" err="1">
                <a:latin typeface="+mj-ea"/>
                <a:ea typeface="+mj-ea"/>
              </a:rPr>
              <a:t>포인트컷</a:t>
            </a:r>
            <a:r>
              <a:rPr lang="en-US" altLang="ko-KR" sz="2000" dirty="0">
                <a:latin typeface="+mj-ea"/>
                <a:ea typeface="+mj-ea"/>
              </a:rPr>
              <a:t>(Pointcut)</a:t>
            </a:r>
            <a:r>
              <a:rPr lang="ko-KR" altLang="en-US" sz="2000" dirty="0">
                <a:latin typeface="+mj-ea"/>
                <a:ea typeface="+mj-ea"/>
              </a:rPr>
              <a:t>을 설정</a:t>
            </a:r>
            <a:endParaRPr lang="en-US" altLang="ko-KR" sz="2000" dirty="0">
              <a:latin typeface="+mj-ea"/>
              <a:ea typeface="+mj-ea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000" dirty="0">
                <a:latin typeface="+mj-ea"/>
                <a:ea typeface="+mj-ea"/>
              </a:rPr>
              <a:t>설정 파일에서 </a:t>
            </a:r>
            <a:r>
              <a:rPr lang="ko-KR" altLang="en-US" sz="2000" dirty="0" err="1">
                <a:latin typeface="+mj-ea"/>
                <a:ea typeface="+mj-ea"/>
              </a:rPr>
              <a:t>어드바이스와</a:t>
            </a:r>
            <a:r>
              <a:rPr lang="ko-KR" altLang="en-US" sz="2000" dirty="0">
                <a:latin typeface="+mj-ea"/>
                <a:ea typeface="+mj-ea"/>
              </a:rPr>
              <a:t> </a:t>
            </a:r>
            <a:r>
              <a:rPr lang="ko-KR" altLang="en-US" sz="2000" dirty="0" err="1">
                <a:latin typeface="+mj-ea"/>
                <a:ea typeface="+mj-ea"/>
              </a:rPr>
              <a:t>포인트컷을</a:t>
            </a:r>
            <a:r>
              <a:rPr lang="ko-KR" altLang="en-US" sz="2000" dirty="0">
                <a:latin typeface="+mj-ea"/>
                <a:ea typeface="+mj-ea"/>
              </a:rPr>
              <a:t> 결합하는 </a:t>
            </a:r>
            <a:r>
              <a:rPr lang="ko-KR" altLang="en-US" sz="2000" dirty="0" err="1">
                <a:latin typeface="+mj-ea"/>
                <a:ea typeface="+mj-ea"/>
              </a:rPr>
              <a:t>어드바이저를</a:t>
            </a:r>
            <a:r>
              <a:rPr lang="ko-KR" altLang="en-US" sz="2000" dirty="0">
                <a:latin typeface="+mj-ea"/>
                <a:ea typeface="+mj-ea"/>
              </a:rPr>
              <a:t> 설정</a:t>
            </a:r>
            <a:endParaRPr lang="en-US" altLang="ko-KR" sz="2000" dirty="0">
              <a:latin typeface="+mj-ea"/>
              <a:ea typeface="+mj-ea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000" dirty="0">
                <a:latin typeface="+mj-ea"/>
                <a:ea typeface="+mj-ea"/>
              </a:rPr>
              <a:t>설정 파일에서 스프링의 </a:t>
            </a:r>
            <a:r>
              <a:rPr lang="en-US" altLang="ko-KR" sz="2000" dirty="0" err="1">
                <a:latin typeface="+mj-ea"/>
                <a:ea typeface="+mj-ea"/>
              </a:rPr>
              <a:t>ProxyFactoryBean</a:t>
            </a:r>
            <a:r>
              <a:rPr lang="en-US" altLang="ko-KR" sz="2000" dirty="0">
                <a:latin typeface="+mj-ea"/>
                <a:ea typeface="+mj-ea"/>
              </a:rPr>
              <a:t> </a:t>
            </a:r>
            <a:r>
              <a:rPr lang="ko-KR" altLang="en-US" sz="2000" dirty="0">
                <a:latin typeface="+mj-ea"/>
                <a:ea typeface="+mj-ea"/>
              </a:rPr>
              <a:t>클래스를 이용해 타깃에 </a:t>
            </a:r>
            <a:r>
              <a:rPr lang="ko-KR" altLang="en-US" sz="2000" dirty="0" err="1">
                <a:latin typeface="+mj-ea"/>
                <a:ea typeface="+mj-ea"/>
              </a:rPr>
              <a:t>어드바이스를</a:t>
            </a:r>
            <a:r>
              <a:rPr lang="ko-KR" altLang="en-US" sz="2000" dirty="0">
                <a:latin typeface="+mj-ea"/>
                <a:ea typeface="+mj-ea"/>
              </a:rPr>
              <a:t> 설정</a:t>
            </a:r>
            <a:endParaRPr lang="en-US" altLang="ko-KR" sz="2000" dirty="0">
              <a:latin typeface="+mj-ea"/>
              <a:ea typeface="+mj-ea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2000" dirty="0" err="1">
                <a:latin typeface="+mj-ea"/>
                <a:ea typeface="+mj-ea"/>
              </a:rPr>
              <a:t>getBean</a:t>
            </a:r>
            <a:r>
              <a:rPr lang="en-US" altLang="ko-KR" sz="2000" dirty="0">
                <a:latin typeface="+mj-ea"/>
                <a:ea typeface="+mj-ea"/>
              </a:rPr>
              <a:t>() </a:t>
            </a:r>
            <a:r>
              <a:rPr lang="ko-KR" altLang="en-US" sz="2000" dirty="0">
                <a:latin typeface="+mj-ea"/>
                <a:ea typeface="+mj-ea"/>
              </a:rPr>
              <a:t>메서드로 빈 객체에 접근해 사용</a:t>
            </a:r>
          </a:p>
        </p:txBody>
      </p:sp>
    </p:spTree>
    <p:extLst>
      <p:ext uri="{BB962C8B-B14F-4D97-AF65-F5344CB8AC3E}">
        <p14:creationId xmlns:p14="http://schemas.microsoft.com/office/powerpoint/2010/main" val="281506858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858470" y="105748"/>
            <a:ext cx="455964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AOP (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예제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1)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32242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Spring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API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에서 제공하는 여러가지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advice interface</a:t>
            </a: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C8F2FFB-2604-391B-4DB8-C01CF7D2F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392" y="1755712"/>
            <a:ext cx="6210272" cy="407641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940E678-63F6-098E-6B4C-3D0D7375C0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393" y="5826936"/>
            <a:ext cx="6210271" cy="846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4528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858470" y="105748"/>
            <a:ext cx="455964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AOP (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예제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1)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593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보조업무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(Advice)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7B6C71E-4C8C-6615-894D-571A4B4E3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39" y="1886610"/>
            <a:ext cx="7859222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67697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858470" y="105748"/>
            <a:ext cx="455964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AOP (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예제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1)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593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보조업무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(Advice)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E5756C1-663C-EBAF-1C7B-271463A7B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054" y="1763469"/>
            <a:ext cx="6891906" cy="4868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87962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858470" y="105748"/>
            <a:ext cx="455964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AOP (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예제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1)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593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XML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설정파일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36787BA-670A-4849-D495-D39AEEF4F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33" y="1927791"/>
            <a:ext cx="8869013" cy="99073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1BA4C1B-364A-34C8-B871-4832DDA06B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33" y="3082851"/>
            <a:ext cx="8312744" cy="3632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33780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858470" y="105748"/>
            <a:ext cx="455964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AOP (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예제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1)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593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XML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설정파일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7250722-352B-64D5-B387-B34F7AD90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607" y="1883791"/>
            <a:ext cx="7925906" cy="363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96222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76506-7FEE-63C9-22BE-4684823A0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2F3DE77-9952-159C-1CBD-29FE6C6E56AD}"/>
              </a:ext>
            </a:extLst>
          </p:cNvPr>
          <p:cNvSpPr/>
          <p:nvPr/>
        </p:nvSpPr>
        <p:spPr>
          <a:xfrm>
            <a:off x="3858470" y="105748"/>
            <a:ext cx="455964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AOP (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예제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1)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4B146CE-842E-4DA0-1ADE-9641CCC88E23}"/>
              </a:ext>
            </a:extLst>
          </p:cNvPr>
          <p:cNvSpPr/>
          <p:nvPr/>
        </p:nvSpPr>
        <p:spPr>
          <a:xfrm>
            <a:off x="488356" y="1170422"/>
            <a:ext cx="10699149" cy="593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XML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설정파일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A1A8C3C-E290-03CC-BE46-12910E2DC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228" y="1967632"/>
            <a:ext cx="6868484" cy="33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1086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858470" y="105748"/>
            <a:ext cx="455964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AOP (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예제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1)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확인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dirty="0">
              <a:ea typeface="나눔스퀘어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FB6CFD2-5F43-A1AA-27D6-15C7AD22E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126" y="2093752"/>
            <a:ext cx="8468907" cy="209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91278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730231" y="105748"/>
            <a:ext cx="481612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AOP (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예제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2) 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4657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JoinPoint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인터페이스 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14400" lvl="1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AOP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혹은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AspectJ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에서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AOP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 적용되는 지점이다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000" kern="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모든 </a:t>
            </a:r>
            <a:r>
              <a:rPr lang="ko-KR" altLang="en-US" sz="2000" kern="1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어드바이스는</a:t>
            </a:r>
            <a:r>
              <a:rPr lang="ko-KR" altLang="en-US" sz="2000" kern="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kern="1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org.aspectj.lang.JoinPoint</a:t>
            </a:r>
            <a:r>
              <a:rPr lang="en-US" altLang="ko-KR" sz="2000" kern="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000" kern="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타입의 파라미터를  </a:t>
            </a:r>
            <a:r>
              <a:rPr lang="ko-KR" altLang="en-US" sz="2000" kern="1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어드바이스</a:t>
            </a:r>
            <a:r>
              <a:rPr lang="ko-KR" altLang="en-US" sz="2000" kern="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메서드에 첫 번째 매개변수로 선언할 수 있다</a:t>
            </a:r>
            <a:r>
              <a:rPr lang="en-US" altLang="ko-KR" sz="2000" kern="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2000" kern="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Around </a:t>
            </a:r>
            <a:r>
              <a:rPr lang="ko-KR" altLang="en-US" sz="2000" kern="1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어드바이스는</a:t>
            </a:r>
            <a:r>
              <a:rPr lang="ko-KR" altLang="en-US" sz="2000" kern="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kern="1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JoinPoint</a:t>
            </a:r>
            <a:r>
              <a:rPr lang="ko-KR" altLang="en-US" sz="2000" kern="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하위 클래스인 </a:t>
            </a:r>
            <a:br>
              <a:rPr lang="en-US" altLang="ko-KR" sz="2000" kern="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2000" kern="1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ProceedingJoinPoint</a:t>
            </a:r>
            <a:r>
              <a:rPr lang="en-US" altLang="ko-KR" sz="2000" kern="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000" kern="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타입의 파라미터를 필수적으로 선언해야 한다</a:t>
            </a:r>
            <a:r>
              <a:rPr lang="en-US" altLang="ko-KR" sz="2000" kern="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JoinPoint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메서드들 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1" defTabSz="1268273" latinLnBrk="0">
              <a:spcBef>
                <a:spcPts val="832"/>
              </a:spcBef>
              <a:spcAft>
                <a:spcPts val="600"/>
              </a:spcAft>
              <a:defRPr/>
            </a:pPr>
            <a:r>
              <a:rPr lang="en-US" altLang="ko-KR" sz="2000" kern="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   </a:t>
            </a:r>
            <a:r>
              <a:rPr lang="en-US" altLang="ko-KR" sz="2000" kern="1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getArgs</a:t>
            </a:r>
            <a:r>
              <a:rPr lang="en-US" altLang="ko-KR" sz="2000" kern="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() : </a:t>
            </a:r>
            <a:r>
              <a:rPr lang="ko-KR" altLang="en-US" sz="2000" kern="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메서드 </a:t>
            </a:r>
            <a:r>
              <a:rPr lang="ko-KR" altLang="en-US" sz="2000" kern="1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아규먼트</a:t>
            </a:r>
            <a:r>
              <a:rPr lang="ko-KR" altLang="en-US" sz="2000" kern="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반환</a:t>
            </a:r>
            <a:br>
              <a:rPr lang="en-US" altLang="ko-KR" sz="2000" kern="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2000" kern="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   </a:t>
            </a:r>
            <a:r>
              <a:rPr lang="en-US" altLang="ko-KR" sz="2000" kern="1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getThis</a:t>
            </a:r>
            <a:r>
              <a:rPr lang="en-US" altLang="ko-KR" sz="2000" kern="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() : </a:t>
            </a:r>
            <a:r>
              <a:rPr lang="ko-KR" altLang="en-US" sz="2000" kern="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프록시 객체 반환</a:t>
            </a:r>
            <a:r>
              <a:rPr lang="en-US" altLang="ko-KR" sz="2000" kern="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br>
              <a:rPr lang="en-US" altLang="ko-KR" sz="2000" kern="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2000" kern="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   </a:t>
            </a:r>
            <a:r>
              <a:rPr lang="en-US" altLang="ko-KR" sz="2000" kern="1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getTarget</a:t>
            </a:r>
            <a:r>
              <a:rPr lang="en-US" altLang="ko-KR" sz="2000" kern="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() : </a:t>
            </a:r>
            <a:r>
              <a:rPr lang="ko-KR" altLang="en-US" sz="2000" kern="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대상 객체 반환</a:t>
            </a:r>
            <a:br>
              <a:rPr lang="en-US" altLang="ko-KR" sz="2000" kern="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2000" kern="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   </a:t>
            </a:r>
            <a:r>
              <a:rPr lang="en-US" altLang="ko-KR" sz="2000" kern="1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getSignature</a:t>
            </a:r>
            <a:r>
              <a:rPr lang="en-US" altLang="ko-KR" sz="2000" kern="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() :</a:t>
            </a:r>
            <a:r>
              <a:rPr lang="ko-KR" altLang="en-US" sz="2000" kern="1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어드바이즈</a:t>
            </a:r>
            <a:r>
              <a:rPr lang="ko-KR" altLang="en-US" sz="2000" kern="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되는 메서드 반환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628543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1889182" y="105748"/>
            <a:ext cx="849822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AOP (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예제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2. Annotation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이용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2719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핵심로직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1">
              <a:lnSpc>
                <a:spcPct val="150000"/>
              </a:lnSpc>
            </a:pPr>
            <a:endParaRPr lang="en-US" altLang="ko-KR" sz="4800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365" y="1789078"/>
            <a:ext cx="5059635" cy="4915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113501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1889182" y="105748"/>
            <a:ext cx="849822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AOP (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예제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2. Annotation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이용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2719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Advice1</a:t>
            </a: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1">
              <a:lnSpc>
                <a:spcPct val="150000"/>
              </a:lnSpc>
            </a:pPr>
            <a:endParaRPr lang="en-US" altLang="ko-KR" sz="48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144" y="1786597"/>
            <a:ext cx="7220996" cy="4740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921834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1889182" y="105748"/>
            <a:ext cx="849822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AOP (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예제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2. Annotation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이용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2719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Advice2</a:t>
            </a: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1">
              <a:lnSpc>
                <a:spcPct val="150000"/>
              </a:lnSpc>
            </a:pPr>
            <a:endParaRPr lang="en-US" altLang="ko-KR" sz="48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011" y="1800671"/>
            <a:ext cx="9858681" cy="4790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665786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858470" y="105748"/>
            <a:ext cx="455964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AOP (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예제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2)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1611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XML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파일 설정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1">
              <a:lnSpc>
                <a:spcPct val="150000"/>
              </a:lnSpc>
            </a:pPr>
            <a:endParaRPr lang="en-US" altLang="ko-KR" sz="4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595" y="1949111"/>
            <a:ext cx="708660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925976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725693" y="105748"/>
            <a:ext cx="282519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AOP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1147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Aspect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수정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14400" lvl="1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Pointcut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추가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62889B0-65C3-F77D-5FE2-F9EE92F63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279" y="2317467"/>
            <a:ext cx="8221222" cy="2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15650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725693" y="105748"/>
            <a:ext cx="282519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AOP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593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Aspect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advise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추가 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6FDDB67-AB8D-BE3E-B772-1A1693629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529" y="1961920"/>
            <a:ext cx="6762361" cy="3920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07702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ED3C7-C566-240E-C6D8-D1721A4FD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695A573-630A-A815-9D8C-21B9D7735D05}"/>
              </a:ext>
            </a:extLst>
          </p:cNvPr>
          <p:cNvSpPr/>
          <p:nvPr/>
        </p:nvSpPr>
        <p:spPr>
          <a:xfrm>
            <a:off x="4725693" y="105748"/>
            <a:ext cx="282519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AOP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83342D3-21A4-3085-E656-FC2DB1510AFC}"/>
              </a:ext>
            </a:extLst>
          </p:cNvPr>
          <p:cNvSpPr/>
          <p:nvPr/>
        </p:nvSpPr>
        <p:spPr>
          <a:xfrm>
            <a:off x="488356" y="1170422"/>
            <a:ext cx="10699149" cy="593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Aspect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advise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추가 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860A27A-0B45-6B97-6D2F-A8916C4AB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3" y="1956282"/>
            <a:ext cx="8478433" cy="21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94559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FF01E098-FBDB-420F-88A9-27027F4759A5}"/>
              </a:ext>
            </a:extLst>
          </p:cNvPr>
          <p:cNvGrpSpPr/>
          <p:nvPr/>
        </p:nvGrpSpPr>
        <p:grpSpPr>
          <a:xfrm>
            <a:off x="3726874" y="2815838"/>
            <a:ext cx="7315199" cy="1226323"/>
            <a:chOff x="4793673" y="1246908"/>
            <a:chExt cx="6442363" cy="1080000"/>
          </a:xfrm>
        </p:grpSpPr>
        <p:sp>
          <p:nvSpPr>
            <p:cNvPr id="14" name="육각형 13">
              <a:extLst>
                <a:ext uri="{FF2B5EF4-FFF2-40B4-BE49-F238E27FC236}">
                  <a16:creationId xmlns:a16="http://schemas.microsoft.com/office/drawing/2014/main" id="{7ADDF6C6-9FD3-40F2-ADC2-37A43AADF7ED}"/>
                </a:ext>
              </a:extLst>
            </p:cNvPr>
            <p:cNvSpPr/>
            <p:nvPr/>
          </p:nvSpPr>
          <p:spPr>
            <a:xfrm>
              <a:off x="4793673" y="1246908"/>
              <a:ext cx="6442363" cy="1080000"/>
            </a:xfrm>
            <a:prstGeom prst="hexagon">
              <a:avLst>
                <a:gd name="adj" fmla="val 42671"/>
                <a:gd name="vf" fmla="val 11547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화살표: 오각형 14">
              <a:extLst>
                <a:ext uri="{FF2B5EF4-FFF2-40B4-BE49-F238E27FC236}">
                  <a16:creationId xmlns:a16="http://schemas.microsoft.com/office/drawing/2014/main" id="{81F229D3-E3EA-4A23-AA82-5E2AF3A625A9}"/>
                </a:ext>
              </a:extLst>
            </p:cNvPr>
            <p:cNvSpPr/>
            <p:nvPr/>
          </p:nvSpPr>
          <p:spPr>
            <a:xfrm>
              <a:off x="5632954" y="1371410"/>
              <a:ext cx="5339846" cy="830996"/>
            </a:xfrm>
            <a:prstGeom prst="homePlat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D920D6B8-E4ED-4528-A983-BD701AD4E691}"/>
                </a:ext>
              </a:extLst>
            </p:cNvPr>
            <p:cNvSpPr/>
            <p:nvPr/>
          </p:nvSpPr>
          <p:spPr>
            <a:xfrm>
              <a:off x="5196182" y="1364345"/>
              <a:ext cx="845127" cy="845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51810F50-4F4F-4ABD-840E-E581E3B8C415}"/>
                </a:ext>
              </a:extLst>
            </p:cNvPr>
            <p:cNvGrpSpPr/>
            <p:nvPr/>
          </p:nvGrpSpPr>
          <p:grpSpPr>
            <a:xfrm>
              <a:off x="5537400" y="1369809"/>
              <a:ext cx="4159582" cy="813160"/>
              <a:chOff x="5516922" y="1640913"/>
              <a:chExt cx="2999292" cy="586335"/>
            </a:xfrm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EB1F94F4-27C9-4570-8682-1A33FA68D416}"/>
                  </a:ext>
                </a:extLst>
              </p:cNvPr>
              <p:cNvSpPr/>
              <p:nvPr/>
            </p:nvSpPr>
            <p:spPr>
              <a:xfrm>
                <a:off x="6030979" y="1689775"/>
                <a:ext cx="2485235" cy="488612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defTabSz="1076865" eaLnBrk="0" latinLnBrk="0" hangingPunct="0">
                  <a:spcAft>
                    <a:spcPts val="486"/>
                  </a:spcAft>
                  <a:buSzPct val="100000"/>
                  <a:defRPr/>
                </a:pPr>
                <a:r>
                  <a:rPr lang="en-US" altLang="ko-KR" sz="4400">
                    <a:gradFill>
                      <a:gsLst>
                        <a:gs pos="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6200000" scaled="1"/>
                    </a:gradFill>
                    <a:latin typeface="HY견고딕" pitchFamily="18" charset="-127"/>
                    <a:ea typeface="HY견고딕" pitchFamily="18" charset="-127"/>
                  </a:rPr>
                  <a:t>Spring MVC</a:t>
                </a:r>
                <a:endParaRPr lang="ko-KR" altLang="en-US" sz="4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16200000" scaled="1"/>
                  </a:gradFill>
                  <a:latin typeface="HY견고딕" pitchFamily="18" charset="-127"/>
                  <a:ea typeface="HY견고딕" pitchFamily="18" charset="-127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4541CD06-C435-48C0-AA4F-7B628FBAD386}"/>
                  </a:ext>
                </a:extLst>
              </p:cNvPr>
              <p:cNvSpPr/>
              <p:nvPr/>
            </p:nvSpPr>
            <p:spPr>
              <a:xfrm>
                <a:off x="5516922" y="1640913"/>
                <a:ext cx="117307" cy="586335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5400" b="1" i="0" u="none" strike="noStrike" kern="0" normalizeH="0" baseline="0" noProof="0" dirty="0">
                  <a:ln w="2857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uLnTx/>
                  <a:uFillTx/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5404903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097289" y="105748"/>
            <a:ext cx="408201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Web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MVC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11263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>
                <a:latin typeface="HY견고딕" panose="02030600000101010101" pitchFamily="18" charset="-127"/>
                <a:ea typeface="HY견고딕" panose="02030600000101010101" pitchFamily="18" charset="-127"/>
              </a:rPr>
              <a:t>MVC2</a:t>
            </a:r>
            <a:r>
              <a:rPr lang="ko-KR" altLang="en-US" sz="2400">
                <a:latin typeface="HY견고딕" panose="02030600000101010101" pitchFamily="18" charset="-127"/>
                <a:ea typeface="HY견고딕" panose="02030600000101010101" pitchFamily="18" charset="-127"/>
              </a:rPr>
              <a:t>모델 </a:t>
            </a:r>
            <a:r>
              <a:rPr lang="en-US" altLang="ko-KR" sz="2400">
                <a:latin typeface="HY견고딕" panose="02030600000101010101" pitchFamily="18" charset="-127"/>
                <a:ea typeface="HY견고딕" panose="02030600000101010101" pitchFamily="18" charset="-127"/>
              </a:rPr>
              <a:t>(Model View Controller)</a:t>
            </a:r>
          </a:p>
          <a:p>
            <a:pPr lvl="1">
              <a:lnSpc>
                <a:spcPct val="150000"/>
              </a:lnSpc>
            </a:pPr>
            <a:r>
              <a:rPr lang="ko-KR" altLang="en-US" sz="2400">
                <a:latin typeface="HY견고딕" panose="02030600000101010101" pitchFamily="18" charset="-127"/>
                <a:ea typeface="HY견고딕" panose="02030600000101010101" pitchFamily="18" charset="-127"/>
              </a:rPr>
              <a:t>사용자 인터페이스와 비지니스 로직을 분리하여 개발한다</a:t>
            </a:r>
            <a:r>
              <a:rPr lang="en-US" altLang="ko-KR" sz="2400">
                <a:latin typeface="HY견고딕" panose="02030600000101010101" pitchFamily="18" charset="-127"/>
                <a:ea typeface="HY견고딕" panose="02030600000101010101" pitchFamily="18" charset="-127"/>
              </a:rPr>
              <a:t>. </a:t>
            </a:r>
            <a:r>
              <a:rPr lang="ko-KR" altLang="en-US" sz="2400">
                <a:latin typeface="HY견고딕" panose="02030600000101010101" pitchFamily="18" charset="-127"/>
                <a:ea typeface="HY견고딕" panose="02030600000101010101" pitchFamily="18" charset="-127"/>
              </a:rPr>
              <a:t> </a:t>
            </a:r>
            <a:r>
              <a:rPr lang="en-US" altLang="ko-KR" sz="2400">
                <a:latin typeface="HY견고딕" panose="02030600000101010101" pitchFamily="18" charset="-127"/>
                <a:ea typeface="HY견고딕" panose="02030600000101010101" pitchFamily="18" charset="-127"/>
              </a:rPr>
              <a:t> </a:t>
            </a:r>
            <a:r>
              <a:rPr lang="ko-KR" altLang="en-US" sz="240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endParaRPr lang="en-US" altLang="ko-KR" sz="240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821" y="2517636"/>
            <a:ext cx="7579891" cy="3808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631223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097289" y="105748"/>
            <a:ext cx="408201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Web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MVC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>
                <a:latin typeface="HY견고딕" panose="02030600000101010101" pitchFamily="18" charset="-127"/>
                <a:ea typeface="HY견고딕" panose="02030600000101010101" pitchFamily="18" charset="-127"/>
              </a:rPr>
              <a:t>Spring Web MVC</a:t>
            </a:r>
            <a:r>
              <a:rPr lang="ko-KR" altLang="en-US" sz="2400">
                <a:latin typeface="HY견고딕" panose="02030600000101010101" pitchFamily="18" charset="-127"/>
                <a:ea typeface="HY견고딕" panose="02030600000101010101" pitchFamily="18" charset="-127"/>
              </a:rPr>
              <a:t>개요</a:t>
            </a:r>
            <a:endParaRPr lang="en-US" altLang="ko-KR" sz="240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914400" lvl="1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서블릿 기반의 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MVC Model2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구조를 제공한다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전체 애플리케이션을 통합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관리하기 위해 서버로 들어오는 모든 요청을 먼저 받아서 처리하도록 구성된 </a:t>
            </a:r>
            <a:r>
              <a:rPr lang="en-US" altLang="ko-KR" sz="200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Front Controller 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패턴을 적용한다</a:t>
            </a:r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788" y="3201747"/>
            <a:ext cx="5261903" cy="3352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97565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097289" y="105748"/>
            <a:ext cx="408201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Web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MVC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5601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>
                <a:latin typeface="HY견고딕" panose="02030600000101010101" pitchFamily="18" charset="-127"/>
                <a:ea typeface="HY견고딕" panose="02030600000101010101" pitchFamily="18" charset="-127"/>
              </a:rPr>
              <a:t>Spring MVC </a:t>
            </a:r>
            <a:r>
              <a:rPr lang="ko-KR" altLang="en-US" sz="2400">
                <a:latin typeface="HY견고딕" panose="02030600000101010101" pitchFamily="18" charset="-127"/>
                <a:ea typeface="HY견고딕" panose="02030600000101010101" pitchFamily="18" charset="-127"/>
              </a:rPr>
              <a:t>컴포넌트간의 관계와 흐름 </a:t>
            </a:r>
            <a:endParaRPr lang="en-US" altLang="ko-KR" sz="240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237" y="1919111"/>
            <a:ext cx="7168276" cy="4629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904474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097288" y="105748"/>
            <a:ext cx="408201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Web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MVC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800973"/>
              </p:ext>
            </p:extLst>
          </p:nvPr>
        </p:nvGraphicFramePr>
        <p:xfrm>
          <a:off x="811879" y="2012937"/>
          <a:ext cx="10052101" cy="339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7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75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03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구성요소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설명</a:t>
                      </a:r>
                      <a:endParaRPr lang="ko-KR" altLang="en-US" sz="1800" dirty="0">
                        <a:solidFill>
                          <a:schemeClr val="bg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DispatcherServlet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클라이언트의 요청을 전달받아 요청에 맞는 </a:t>
                      </a:r>
                      <a:r>
                        <a:rPr lang="ko-KR" altLang="en-US" dirty="0" err="1"/>
                        <a:t>컨트</a:t>
                      </a:r>
                      <a:r>
                        <a:rPr lang="ko-KR" altLang="en-US" dirty="0"/>
                        <a:t> 롤러를 실행하고 </a:t>
                      </a:r>
                      <a:r>
                        <a:rPr lang="ko-KR" altLang="en-US" dirty="0" err="1"/>
                        <a:t>리턴한</a:t>
                      </a:r>
                      <a:r>
                        <a:rPr lang="ko-KR" altLang="en-US" dirty="0"/>
                        <a:t> 결과값을 </a:t>
                      </a:r>
                      <a:r>
                        <a:rPr lang="en-US" altLang="ko-KR" dirty="0"/>
                        <a:t>View</a:t>
                      </a:r>
                      <a:r>
                        <a:rPr lang="ko-KR" altLang="en-US" dirty="0"/>
                        <a:t>에 전달하여 알맞은 응답을 생성한다</a:t>
                      </a:r>
                      <a:r>
                        <a:rPr lang="en-US" altLang="ko-KR" dirty="0"/>
                        <a:t>.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HandlerMapping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클라이언트의 요청 </a:t>
                      </a:r>
                      <a:r>
                        <a:rPr lang="en-US" altLang="ko-KR" dirty="0"/>
                        <a:t>URL</a:t>
                      </a:r>
                      <a:r>
                        <a:rPr lang="ko-KR" altLang="en-US" dirty="0"/>
                        <a:t>을 어떤 컨트롤러가 처리할지 결정한다</a:t>
                      </a:r>
                      <a:r>
                        <a:rPr lang="en-US" altLang="ko-KR" dirty="0"/>
                        <a:t>.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Controller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클라이언트의 요청을 처리하고 결과를 </a:t>
                      </a:r>
                      <a:r>
                        <a:rPr lang="en-US" altLang="ko-KR" dirty="0" err="1"/>
                        <a:t>DispatcherServlet</a:t>
                      </a:r>
                      <a:r>
                        <a:rPr lang="ko-KR" altLang="en-US" dirty="0"/>
                        <a:t>에게 </a:t>
                      </a:r>
                      <a:r>
                        <a:rPr lang="ko-KR" altLang="en-US" dirty="0" err="1"/>
                        <a:t>리턴한다</a:t>
                      </a:r>
                      <a:r>
                        <a:rPr lang="en-US" altLang="ko-KR" dirty="0"/>
                        <a:t>. 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ModelAndView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컨트롤러가 처리한 결과 정보와 뷰 선택에 필요한 정보를 담을 수 있다</a:t>
                      </a:r>
                      <a:r>
                        <a:rPr lang="en-US" altLang="ko-KR" dirty="0"/>
                        <a:t>.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ViewResolver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컨트롤러의 처리 결과를 보여 줄 뷰를 결정한다</a:t>
                      </a:r>
                      <a:r>
                        <a:rPr lang="en-US" altLang="ko-KR" dirty="0"/>
                        <a:t>.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View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컨트롤러의 처리 결과 화면을 생성한다</a:t>
                      </a:r>
                      <a:r>
                        <a:rPr lang="en-US" altLang="ko-KR" dirty="0"/>
                        <a:t>. (JSP) 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>
                <a:latin typeface="HY견고딕" panose="02030600000101010101" pitchFamily="18" charset="-127"/>
                <a:ea typeface="HY견고딕" panose="02030600000101010101" pitchFamily="18" charset="-127"/>
              </a:rPr>
              <a:t>Spring MVC </a:t>
            </a:r>
            <a:r>
              <a:rPr lang="ko-KR" altLang="en-US" sz="2400">
                <a:latin typeface="HY견고딕" panose="02030600000101010101" pitchFamily="18" charset="-127"/>
                <a:ea typeface="HY견고딕" panose="02030600000101010101" pitchFamily="18" charset="-127"/>
              </a:rPr>
              <a:t>주요 구성요소</a:t>
            </a:r>
            <a:endParaRPr lang="en-US" altLang="ko-KR" sz="240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141115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097289" y="105748"/>
            <a:ext cx="408201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Web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MVC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>
                <a:latin typeface="HY견고딕" panose="02030600000101010101" pitchFamily="18" charset="-127"/>
                <a:ea typeface="HY견고딕" panose="02030600000101010101" pitchFamily="18" charset="-127"/>
              </a:rPr>
              <a:t>Spring MVC Project </a:t>
            </a:r>
            <a:r>
              <a:rPr lang="ko-KR" altLang="en-US" sz="2400">
                <a:latin typeface="HY견고딕" panose="02030600000101010101" pitchFamily="18" charset="-127"/>
                <a:ea typeface="HY견고딕" panose="02030600000101010101" pitchFamily="18" charset="-127"/>
              </a:rPr>
              <a:t>생성</a:t>
            </a:r>
            <a:r>
              <a:rPr lang="en-US" altLang="ko-KR" sz="240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40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endParaRPr lang="en-US" altLang="ko-KR" sz="240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597" y="1769542"/>
            <a:ext cx="8724900" cy="41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550871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097289" y="105748"/>
            <a:ext cx="408201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Web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MVC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>
                <a:latin typeface="HY견고딕" panose="02030600000101010101" pitchFamily="18" charset="-127"/>
                <a:ea typeface="HY견고딕" panose="02030600000101010101" pitchFamily="18" charset="-127"/>
              </a:rPr>
              <a:t>Spring MVC Project </a:t>
            </a:r>
            <a:r>
              <a:rPr lang="ko-KR" altLang="en-US" sz="2400">
                <a:latin typeface="HY견고딕" panose="02030600000101010101" pitchFamily="18" charset="-127"/>
                <a:ea typeface="HY견고딕" panose="02030600000101010101" pitchFamily="18" charset="-127"/>
              </a:rPr>
              <a:t>구성</a:t>
            </a:r>
            <a:r>
              <a:rPr lang="en-US" altLang="ko-KR" sz="240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40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endParaRPr lang="en-US" altLang="ko-KR" sz="240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6921" y="1816753"/>
            <a:ext cx="3842362" cy="4770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사각형 설명선 6">
            <a:extLst>
              <a:ext uri="{FF2B5EF4-FFF2-40B4-BE49-F238E27FC236}">
                <a16:creationId xmlns:a16="http://schemas.microsoft.com/office/drawing/2014/main" id="{AC241660-E28F-A37C-E834-5E8ABFC108A5}"/>
              </a:ext>
            </a:extLst>
          </p:cNvPr>
          <p:cNvSpPr/>
          <p:nvPr/>
        </p:nvSpPr>
        <p:spPr>
          <a:xfrm>
            <a:off x="3525815" y="2282912"/>
            <a:ext cx="1426210" cy="255588"/>
          </a:xfrm>
          <a:prstGeom prst="wedgeRectCallout">
            <a:avLst>
              <a:gd name="adj1" fmla="val -54791"/>
              <a:gd name="adj2" fmla="val 135015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latinLnBrk="1">
              <a:spcAft>
                <a:spcPts val="120"/>
              </a:spcAft>
            </a:pPr>
            <a:r>
              <a:rPr lang="ko-KR" sz="1000" b="1" kern="100" dirty="0">
                <a:solidFill>
                  <a:srgbClr val="000000"/>
                </a:solidFill>
                <a:effectLst/>
                <a:cs typeface="Times New Roman"/>
              </a:rPr>
              <a:t>패키지별 자바 파일</a:t>
            </a:r>
            <a:r>
              <a:rPr lang="en-US" sz="1000" b="1" kern="100" dirty="0">
                <a:effectLst/>
                <a:cs typeface="Times New Roman"/>
              </a:rPr>
              <a:t> </a:t>
            </a:r>
            <a:endParaRPr lang="ko-KR" sz="1000" b="1" kern="100" dirty="0">
              <a:effectLst/>
              <a:cs typeface="Times New Roman"/>
            </a:endParaRPr>
          </a:p>
        </p:txBody>
      </p:sp>
      <p:sp>
        <p:nvSpPr>
          <p:cNvPr id="6" name="사각형 설명선 8">
            <a:extLst>
              <a:ext uri="{FF2B5EF4-FFF2-40B4-BE49-F238E27FC236}">
                <a16:creationId xmlns:a16="http://schemas.microsoft.com/office/drawing/2014/main" id="{AB51D98C-14E8-5DD7-55DD-7AA30BB52DCD}"/>
              </a:ext>
            </a:extLst>
          </p:cNvPr>
          <p:cNvSpPr/>
          <p:nvPr/>
        </p:nvSpPr>
        <p:spPr>
          <a:xfrm>
            <a:off x="3041069" y="3629140"/>
            <a:ext cx="1989455" cy="423545"/>
          </a:xfrm>
          <a:prstGeom prst="wedgeRectCallout">
            <a:avLst>
              <a:gd name="adj1" fmla="val -58726"/>
              <a:gd name="adj2" fmla="val 55012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latinLnBrk="1">
              <a:spcAft>
                <a:spcPts val="120"/>
              </a:spcAft>
            </a:pPr>
            <a:r>
              <a:rPr lang="ko-KR" sz="1000" b="1" kern="100">
                <a:solidFill>
                  <a:srgbClr val="000000"/>
                </a:solidFill>
                <a:effectLst/>
                <a:cs typeface="Times New Roman"/>
              </a:rPr>
              <a:t>자바스크립트 파일</a:t>
            </a:r>
            <a:r>
              <a:rPr lang="en-US" sz="1000" b="1" kern="100">
                <a:solidFill>
                  <a:srgbClr val="000000"/>
                </a:solidFill>
                <a:effectLst/>
                <a:cs typeface="Times New Roman"/>
              </a:rPr>
              <a:t>, jQuery </a:t>
            </a:r>
            <a:r>
              <a:rPr lang="ko-KR" sz="1000" b="1" kern="100">
                <a:solidFill>
                  <a:srgbClr val="000000"/>
                </a:solidFill>
                <a:effectLst/>
                <a:cs typeface="Times New Roman"/>
              </a:rPr>
              <a:t>파일</a:t>
            </a:r>
            <a:r>
              <a:rPr lang="en-US" sz="1000" b="1" kern="100">
                <a:solidFill>
                  <a:srgbClr val="000000"/>
                </a:solidFill>
                <a:effectLst/>
                <a:cs typeface="Times New Roman"/>
              </a:rPr>
              <a:t>, </a:t>
            </a:r>
            <a:r>
              <a:rPr lang="ko-KR" sz="1000" b="1" kern="100">
                <a:solidFill>
                  <a:srgbClr val="000000"/>
                </a:solidFill>
                <a:effectLst/>
                <a:cs typeface="Times New Roman"/>
              </a:rPr>
              <a:t>이미지 파일 등</a:t>
            </a:r>
            <a:r>
              <a:rPr lang="en-US" sz="1000" b="1" kern="100">
                <a:effectLst/>
                <a:cs typeface="Times New Roman"/>
              </a:rPr>
              <a:t> </a:t>
            </a:r>
            <a:endParaRPr lang="ko-KR" sz="1000" b="1" kern="100">
              <a:effectLst/>
              <a:cs typeface="Times New Roman"/>
            </a:endParaRPr>
          </a:p>
        </p:txBody>
      </p:sp>
      <p:sp>
        <p:nvSpPr>
          <p:cNvPr id="7" name="사각형 설명선 9">
            <a:extLst>
              <a:ext uri="{FF2B5EF4-FFF2-40B4-BE49-F238E27FC236}">
                <a16:creationId xmlns:a16="http://schemas.microsoft.com/office/drawing/2014/main" id="{817C779D-FA61-1A2B-BB0D-D7DC8E02A3A0}"/>
              </a:ext>
            </a:extLst>
          </p:cNvPr>
          <p:cNvSpPr/>
          <p:nvPr/>
        </p:nvSpPr>
        <p:spPr>
          <a:xfrm>
            <a:off x="4094022" y="4735870"/>
            <a:ext cx="2044273" cy="389255"/>
          </a:xfrm>
          <a:prstGeom prst="wedgeRectCallout">
            <a:avLst>
              <a:gd name="adj1" fmla="val -56773"/>
              <a:gd name="adj2" fmla="val 4851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1600" indent="-101600" algn="l" latinLnBrk="1">
              <a:spcAft>
                <a:spcPts val="120"/>
              </a:spcAft>
            </a:pPr>
            <a:r>
              <a:rPr lang="ko-KR" sz="1000" b="1" kern="100">
                <a:solidFill>
                  <a:srgbClr val="000000"/>
                </a:solidFill>
                <a:effectLst/>
                <a:cs typeface="Times New Roman"/>
              </a:rPr>
              <a:t>스프링 관련 여러 가지 설정 파일</a:t>
            </a:r>
            <a:r>
              <a:rPr lang="en-US" sz="1000" b="1" kern="100">
                <a:effectLst/>
                <a:cs typeface="Times New Roman"/>
              </a:rPr>
              <a:t> </a:t>
            </a:r>
            <a:endParaRPr lang="ko-KR" sz="1000" b="1" kern="100">
              <a:effectLst/>
              <a:cs typeface="Times New Roman"/>
            </a:endParaRPr>
          </a:p>
        </p:txBody>
      </p:sp>
      <p:sp>
        <p:nvSpPr>
          <p:cNvPr id="8" name="사각형 설명선 10">
            <a:extLst>
              <a:ext uri="{FF2B5EF4-FFF2-40B4-BE49-F238E27FC236}">
                <a16:creationId xmlns:a16="http://schemas.microsoft.com/office/drawing/2014/main" id="{53F520D1-ED30-5BF0-5B7C-A125BCA3265B}"/>
              </a:ext>
            </a:extLst>
          </p:cNvPr>
          <p:cNvSpPr/>
          <p:nvPr/>
        </p:nvSpPr>
        <p:spPr>
          <a:xfrm>
            <a:off x="3525815" y="5529743"/>
            <a:ext cx="745831" cy="272415"/>
          </a:xfrm>
          <a:prstGeom prst="wedgeRectCallout">
            <a:avLst>
              <a:gd name="adj1" fmla="val -75640"/>
              <a:gd name="adj2" fmla="val -3499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latinLnBrk="1">
              <a:spcAft>
                <a:spcPts val="120"/>
              </a:spcAft>
            </a:pPr>
            <a:r>
              <a:rPr lang="en-US" sz="1000" b="1" kern="100">
                <a:solidFill>
                  <a:srgbClr val="000000"/>
                </a:solidFill>
                <a:effectLst/>
                <a:cs typeface="Times New Roman"/>
              </a:rPr>
              <a:t>JSP </a:t>
            </a:r>
            <a:r>
              <a:rPr lang="ko-KR" sz="1000" b="1" kern="100">
                <a:solidFill>
                  <a:srgbClr val="000000"/>
                </a:solidFill>
                <a:effectLst/>
                <a:cs typeface="Times New Roman"/>
              </a:rPr>
              <a:t>파일</a:t>
            </a:r>
            <a:r>
              <a:rPr lang="en-US" sz="1000" b="1" kern="100">
                <a:effectLst/>
                <a:cs typeface="Times New Roman"/>
              </a:rPr>
              <a:t> </a:t>
            </a:r>
            <a:endParaRPr lang="ko-KR" sz="1000" b="1" kern="100">
              <a:effectLst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6603772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097289" y="105748"/>
            <a:ext cx="408201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Web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MVC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5601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>
                <a:latin typeface="HY견고딕" panose="02030600000101010101" pitchFamily="18" charset="-127"/>
                <a:ea typeface="HY견고딕" panose="02030600000101010101" pitchFamily="18" charset="-127"/>
              </a:rPr>
              <a:t>web.xml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944" y="2043654"/>
            <a:ext cx="7029908" cy="3242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332033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097289" y="105748"/>
            <a:ext cx="408201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Web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MVC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5601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>
                <a:latin typeface="HY견고딕" panose="02030600000101010101" pitchFamily="18" charset="-127"/>
                <a:ea typeface="HY견고딕" panose="02030600000101010101" pitchFamily="18" charset="-127"/>
              </a:rPr>
              <a:t>DispatcherServlet</a:t>
            </a:r>
          </a:p>
        </p:txBody>
      </p:sp>
      <p:pic>
        <p:nvPicPr>
          <p:cNvPr id="6" name="그림 5" descr="https://blog.kakaocdn.net/dn/q43e6/btqCvx1OYiy/MJv6bpvTjEtC4XsNsR4m71/img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032" y="1913677"/>
            <a:ext cx="4798787" cy="422591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5442819" y="1594150"/>
            <a:ext cx="6260825" cy="4954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1600" dirty="0">
                <a:solidFill>
                  <a:srgbClr val="FF00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servlet-context</a:t>
            </a:r>
            <a:r>
              <a:rPr lang="en-US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(Web MVC </a:t>
            </a:r>
            <a:r>
              <a:rPr lang="ko-KR" altLang="en-US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전용 설정</a:t>
            </a:r>
            <a:r>
              <a:rPr lang="en-US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servlet-container</a:t>
            </a:r>
            <a:r>
              <a:rPr lang="ko-KR" altLang="en-US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에서만 사용되어진다</a:t>
            </a:r>
            <a:r>
              <a:rPr lang="en-US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1600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ViewResolver</a:t>
            </a:r>
            <a:r>
              <a:rPr lang="en-US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, Interceptor, </a:t>
            </a:r>
            <a:r>
              <a:rPr lang="en-US" altLang="ko-KR" sz="1600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MultipartResolver</a:t>
            </a:r>
            <a:r>
              <a:rPr lang="ko-KR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객체를 생성하고 웹과 관련된 </a:t>
            </a:r>
            <a:r>
              <a:rPr lang="ko-KR" altLang="ko-KR" sz="1600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어노테이션</a:t>
            </a:r>
            <a:r>
              <a:rPr lang="en-US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en-US" altLang="ko-KR" sz="1600" dirty="0">
                <a:solidFill>
                  <a:srgbClr val="FF0000"/>
                </a:solidFill>
                <a:highlight>
                  <a:srgbClr val="FFFF00"/>
                </a:highlight>
                <a:latin typeface="CookieRun Regular" panose="020B0600000101010101" pitchFamily="50" charset="-127"/>
                <a:ea typeface="CookieRun Regular" panose="020B0600000101010101" pitchFamily="50" charset="-127"/>
              </a:rPr>
              <a:t>Controller, </a:t>
            </a:r>
            <a:r>
              <a:rPr lang="en-US" altLang="ko-KR" sz="1600" dirty="0" err="1">
                <a:solidFill>
                  <a:srgbClr val="FF0000"/>
                </a:solidFill>
                <a:highlight>
                  <a:srgbClr val="FFFF00"/>
                </a:highlight>
                <a:latin typeface="CookieRun Regular" panose="020B0600000101010101" pitchFamily="50" charset="-127"/>
                <a:ea typeface="CookieRun Regular" panose="020B0600000101010101" pitchFamily="50" charset="-127"/>
              </a:rPr>
              <a:t>RestController</a:t>
            </a:r>
            <a:r>
              <a:rPr lang="ko-KR" altLang="ko-KR" sz="1600" dirty="0">
                <a:solidFill>
                  <a:srgbClr val="FF0000"/>
                </a:solidFill>
                <a:highlight>
                  <a:srgbClr val="FFFF00"/>
                </a:highlight>
                <a:latin typeface="CookieRun Regular" panose="020B0600000101010101" pitchFamily="50" charset="-127"/>
                <a:ea typeface="CookieRun Regular" panose="020B0600000101010101" pitchFamily="50" charset="-127"/>
              </a:rPr>
              <a:t>를 스캔한다</a:t>
            </a:r>
            <a:r>
              <a:rPr lang="en-US" altLang="ko-KR" sz="1600" dirty="0">
                <a:solidFill>
                  <a:srgbClr val="FF0000"/>
                </a:solidFill>
                <a:highlight>
                  <a:srgbClr val="FFFF00"/>
                </a:highlight>
                <a:latin typeface="CookieRun Regular" panose="020B0600000101010101" pitchFamily="50" charset="-127"/>
                <a:ea typeface="CookieRun Regular" panose="020B0600000101010101" pitchFamily="50" charset="-127"/>
              </a:rPr>
              <a:t>. </a:t>
            </a:r>
          </a:p>
          <a:p>
            <a:pPr algn="l">
              <a:lnSpc>
                <a:spcPct val="150000"/>
              </a:lnSpc>
            </a:pPr>
            <a:r>
              <a:rPr lang="en-US" altLang="ko-KR" sz="1600" dirty="0">
                <a:solidFill>
                  <a:srgbClr val="00808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&lt;</a:t>
            </a:r>
            <a:r>
              <a:rPr lang="en-US" altLang="ko-KR" sz="1600" dirty="0" err="1">
                <a:solidFill>
                  <a:srgbClr val="3F7F7F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context:component-scan</a:t>
            </a:r>
            <a:endParaRPr lang="en-US" altLang="ko-KR" sz="1600" dirty="0">
              <a:solidFill>
                <a:srgbClr val="3F7F7F"/>
              </a:solidFill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600" dirty="0">
                <a:solidFill>
                  <a:srgbClr val="7F007F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base-package</a:t>
            </a:r>
            <a:r>
              <a:rPr lang="en-US" altLang="ko-KR" sz="1600" dirty="0">
                <a:solidFill>
                  <a:srgbClr val="0000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=</a:t>
            </a:r>
            <a:r>
              <a:rPr lang="en-US" altLang="ko-KR" sz="1600" i="1" dirty="0">
                <a:solidFill>
                  <a:srgbClr val="2A00FF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"</a:t>
            </a:r>
            <a:r>
              <a:rPr lang="en-US" altLang="ko-KR" sz="1600" i="1" dirty="0" err="1">
                <a:solidFill>
                  <a:srgbClr val="2A00FF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com.shinhan.myapp.controller</a:t>
            </a:r>
            <a:r>
              <a:rPr lang="en-US" altLang="ko-KR" sz="1600" i="1" dirty="0">
                <a:solidFill>
                  <a:srgbClr val="2A00FF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" </a:t>
            </a:r>
            <a:r>
              <a:rPr lang="en-US" altLang="ko-KR" sz="1600" i="1" dirty="0">
                <a:solidFill>
                  <a:srgbClr val="00808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/&gt;</a:t>
            </a:r>
            <a:endParaRPr lang="ko-KR" altLang="ko-KR" sz="1600" dirty="0">
              <a:solidFill>
                <a:srgbClr val="FF0000"/>
              </a:solidFill>
              <a:highlight>
                <a:srgbClr val="FFFF00"/>
              </a:highlight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 startAt="3"/>
            </a:pPr>
            <a:r>
              <a:rPr lang="en-US" altLang="ko-KR" sz="1600" dirty="0">
                <a:solidFill>
                  <a:srgbClr val="00B05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Transaction </a:t>
            </a:r>
            <a:r>
              <a:rPr lang="ko-KR" altLang="en-US" sz="1600" dirty="0">
                <a:solidFill>
                  <a:srgbClr val="00B05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설정은 </a:t>
            </a:r>
            <a:r>
              <a:rPr lang="en-US" altLang="ko-KR" sz="1600" dirty="0">
                <a:solidFill>
                  <a:srgbClr val="00B05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servlet-context</a:t>
            </a:r>
            <a:r>
              <a:rPr lang="ko-KR" altLang="en-US" sz="1600" dirty="0">
                <a:solidFill>
                  <a:srgbClr val="00B05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에 설정한다</a:t>
            </a:r>
            <a:r>
              <a:rPr lang="en-US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. </a:t>
            </a:r>
            <a:endParaRPr lang="ko-KR" altLang="en-US" sz="1600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1600" dirty="0">
                <a:solidFill>
                  <a:srgbClr val="FF00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root-context (</a:t>
            </a:r>
            <a:r>
              <a:rPr lang="ko-KR" altLang="en-US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서비스</a:t>
            </a:r>
            <a:r>
              <a:rPr lang="en-US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/DAO/</a:t>
            </a:r>
            <a:r>
              <a:rPr lang="ko-KR" altLang="en-US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공통설정</a:t>
            </a:r>
            <a:r>
              <a:rPr lang="en-US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)</a:t>
            </a:r>
            <a:endParaRPr lang="en-US" altLang="ko-KR" sz="1600" dirty="0">
              <a:solidFill>
                <a:srgbClr val="FF0000"/>
              </a:solidFill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모든 </a:t>
            </a:r>
            <a:r>
              <a:rPr lang="en-US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context</a:t>
            </a:r>
            <a:r>
              <a:rPr lang="ko-KR" altLang="en-US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에서 공유 가능하다</a:t>
            </a:r>
            <a:r>
              <a:rPr lang="en-US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en-US" altLang="ko-KR" sz="1600" dirty="0">
                <a:highlight>
                  <a:srgbClr val="FFFF00"/>
                </a:highlight>
                <a:latin typeface="CookieRun Regular" panose="020B0600000101010101" pitchFamily="50" charset="-127"/>
                <a:ea typeface="CookieRun Regular" panose="020B0600000101010101" pitchFamily="50" charset="-127"/>
              </a:rPr>
              <a:t>@Service</a:t>
            </a:r>
            <a:r>
              <a:rPr lang="ko-KR" altLang="en-US" sz="1600" dirty="0">
                <a:highlight>
                  <a:srgbClr val="FFFF00"/>
                </a:highlight>
                <a:latin typeface="CookieRun Regular" panose="020B0600000101010101" pitchFamily="50" charset="-127"/>
                <a:ea typeface="CookieRun Regular" panose="020B0600000101010101" pitchFamily="50" charset="-127"/>
              </a:rPr>
              <a:t>와 </a:t>
            </a:r>
            <a:r>
              <a:rPr lang="en-US" altLang="ko-KR" sz="1600" dirty="0">
                <a:highlight>
                  <a:srgbClr val="FFFF00"/>
                </a:highlight>
                <a:latin typeface="CookieRun Regular" panose="020B0600000101010101" pitchFamily="50" charset="-127"/>
                <a:ea typeface="CookieRun Regular" panose="020B0600000101010101" pitchFamily="50" charset="-127"/>
              </a:rPr>
              <a:t>@Repository, AOP </a:t>
            </a:r>
            <a:r>
              <a:rPr lang="ko-KR" altLang="en-US" sz="1600" dirty="0">
                <a:highlight>
                  <a:srgbClr val="FFFF00"/>
                </a:highlight>
                <a:latin typeface="CookieRun Regular" panose="020B0600000101010101" pitchFamily="50" charset="-127"/>
                <a:ea typeface="CookieRun Regular" panose="020B0600000101010101" pitchFamily="50" charset="-127"/>
              </a:rPr>
              <a:t>설정 등</a:t>
            </a:r>
            <a:endParaRPr lang="en-US" altLang="ko-KR" sz="1600" dirty="0">
              <a:highlight>
                <a:srgbClr val="FFFF00"/>
              </a:highlight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DB</a:t>
            </a:r>
            <a:r>
              <a:rPr lang="ko-KR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관련 객체를 생성한다</a:t>
            </a:r>
            <a:endParaRPr lang="en-US" altLang="ko-KR" sz="1600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600" dirty="0">
                <a:solidFill>
                  <a:srgbClr val="00808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&lt;</a:t>
            </a:r>
            <a:r>
              <a:rPr lang="en-US" altLang="ko-KR" sz="1600" dirty="0" err="1">
                <a:solidFill>
                  <a:srgbClr val="3F7F7F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context:component-scan</a:t>
            </a:r>
            <a:endParaRPr lang="en-US" altLang="ko-KR" sz="1600" dirty="0">
              <a:solidFill>
                <a:srgbClr val="3F7F7F"/>
              </a:solidFill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600" dirty="0">
                <a:solidFill>
                  <a:srgbClr val="7F007F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base-package</a:t>
            </a:r>
            <a:r>
              <a:rPr lang="en-US" altLang="ko-KR" sz="1600" dirty="0">
                <a:solidFill>
                  <a:srgbClr val="0000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=</a:t>
            </a:r>
            <a:r>
              <a:rPr lang="en-US" altLang="ko-KR" sz="1600" i="1" dirty="0">
                <a:solidFill>
                  <a:srgbClr val="2A00FF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"</a:t>
            </a:r>
            <a:r>
              <a:rPr lang="en-US" altLang="ko-KR" sz="1600" i="1" dirty="0" err="1">
                <a:solidFill>
                  <a:srgbClr val="2A00FF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com.shinhan.myapp.model,org.firstzone</a:t>
            </a:r>
            <a:r>
              <a:rPr lang="en-US" altLang="ko-KR" sz="1600" i="1" dirty="0">
                <a:solidFill>
                  <a:srgbClr val="2A00FF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" </a:t>
            </a:r>
            <a:r>
              <a:rPr lang="en-US" altLang="ko-KR" sz="1600" i="1" dirty="0">
                <a:solidFill>
                  <a:srgbClr val="00808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/&gt;</a:t>
            </a:r>
            <a:endParaRPr lang="en-US" altLang="ko-KR" sz="1600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8F49DC-39CA-CA8C-8DB7-C6078904CF6E}"/>
              </a:ext>
            </a:extLst>
          </p:cNvPr>
          <p:cNvSpPr txBox="1"/>
          <p:nvPr/>
        </p:nvSpPr>
        <p:spPr>
          <a:xfrm>
            <a:off x="765810" y="613959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429749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097289" y="105748"/>
            <a:ext cx="408201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Web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MVC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servlet-context.xml</a:t>
            </a:r>
          </a:p>
          <a:p>
            <a:pPr marL="457200" indent="-457200">
              <a:buFont typeface="+mj-ea"/>
              <a:buAutoNum type="circleNumDbPlain"/>
            </a:pPr>
            <a:r>
              <a:rPr lang="en-US" altLang="ko-KR" sz="2000" dirty="0">
                <a:latin typeface="+mj-ea"/>
                <a:ea typeface="+mj-ea"/>
              </a:rPr>
              <a:t>&lt;</a:t>
            </a:r>
            <a:r>
              <a:rPr lang="en-US" altLang="ko-KR" sz="2000" dirty="0" err="1">
                <a:latin typeface="+mj-ea"/>
                <a:ea typeface="+mj-ea"/>
              </a:rPr>
              <a:t>context:component-scan</a:t>
            </a:r>
            <a:r>
              <a:rPr lang="en-US" altLang="ko-KR" sz="2000" dirty="0">
                <a:latin typeface="+mj-ea"/>
                <a:ea typeface="+mj-ea"/>
              </a:rPr>
              <a:t>&gt; </a:t>
            </a:r>
            <a:r>
              <a:rPr lang="ko-KR" altLang="en-US" sz="2000" dirty="0">
                <a:latin typeface="+mj-ea"/>
                <a:ea typeface="+mj-ea"/>
              </a:rPr>
              <a:t>태그를 사용해 패키지 이름을 지정하면 애플리케이션 실행 시 해당 패키지에서 </a:t>
            </a:r>
            <a:r>
              <a:rPr lang="ko-KR" altLang="en-US" sz="2000" dirty="0" err="1">
                <a:latin typeface="+mj-ea"/>
                <a:ea typeface="+mj-ea"/>
              </a:rPr>
              <a:t>애너테이션으로</a:t>
            </a:r>
            <a:r>
              <a:rPr lang="ko-KR" altLang="en-US" sz="2000" dirty="0">
                <a:latin typeface="+mj-ea"/>
                <a:ea typeface="+mj-ea"/>
              </a:rPr>
              <a:t> 지정된 클래스를 빈으로 만들어 준다</a:t>
            </a:r>
            <a:r>
              <a:rPr lang="en-US" altLang="ko-KR" sz="2000" dirty="0">
                <a:latin typeface="+mj-ea"/>
                <a:ea typeface="+mj-ea"/>
              </a:rPr>
              <a:t>. </a:t>
            </a:r>
            <a:endParaRPr lang="en-US" altLang="ko-KR" sz="2000" dirty="0">
              <a:ea typeface="나눔스퀘어" panose="020B0600000101010101" pitchFamily="50" charset="-127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ko-KR" sz="2000" dirty="0">
                <a:ea typeface="나눔스퀘어" panose="020B0600000101010101" pitchFamily="50" charset="-127"/>
              </a:rPr>
              <a:t>@Component, @Service, @Repository, @Controller</a:t>
            </a:r>
            <a:r>
              <a:rPr lang="ko-KR" altLang="en-US" sz="2000" dirty="0">
                <a:ea typeface="나눔스퀘어" panose="020B0600000101010101" pitchFamily="50" charset="-127"/>
              </a:rPr>
              <a:t>가 붙은 클래스들을 읽어 들여 </a:t>
            </a:r>
            <a:r>
              <a:rPr lang="en-US" altLang="ko-KR" sz="2000" dirty="0" err="1">
                <a:ea typeface="나눔스퀘어" panose="020B0600000101010101" pitchFamily="50" charset="-127"/>
              </a:rPr>
              <a:t>ApplicationContext</a:t>
            </a:r>
            <a:r>
              <a:rPr lang="en-US" altLang="ko-KR" sz="2000" dirty="0">
                <a:ea typeface="나눔스퀘어" panose="020B0600000101010101" pitchFamily="50" charset="-127"/>
              </a:rPr>
              <a:t>, </a:t>
            </a:r>
            <a:r>
              <a:rPr lang="en-US" altLang="ko-KR" sz="2000" dirty="0" err="1">
                <a:ea typeface="나눔스퀘어" panose="020B0600000101010101" pitchFamily="50" charset="-127"/>
              </a:rPr>
              <a:t>WebApplicationContext</a:t>
            </a:r>
            <a:r>
              <a:rPr lang="ko-KR" altLang="en-US" sz="2000" dirty="0">
                <a:ea typeface="나눔스퀘어" panose="020B0600000101010101" pitchFamily="50" charset="-127"/>
              </a:rPr>
              <a:t>에 </a:t>
            </a:r>
            <a:r>
              <a:rPr lang="en-US" altLang="ko-KR" sz="2000" dirty="0">
                <a:ea typeface="나눔스퀘어" panose="020B0600000101010101" pitchFamily="50" charset="-127"/>
              </a:rPr>
              <a:t>Bean</a:t>
            </a:r>
            <a:r>
              <a:rPr lang="ko-KR" altLang="en-US" sz="2000" dirty="0">
                <a:ea typeface="나눔스퀘어" panose="020B0600000101010101" pitchFamily="50" charset="-127"/>
              </a:rPr>
              <a:t>정보를 저장</a:t>
            </a:r>
            <a:r>
              <a:rPr lang="en-US" altLang="ko-KR" sz="2000" dirty="0">
                <a:ea typeface="나눔스퀘어" panose="020B0600000101010101" pitchFamily="50" charset="-127"/>
              </a:rPr>
              <a:t>, </a:t>
            </a:r>
            <a:r>
              <a:rPr lang="ko-KR" altLang="en-US" sz="2000" dirty="0">
                <a:ea typeface="나눔스퀘어" panose="020B0600000101010101" pitchFamily="50" charset="-127"/>
              </a:rPr>
              <a:t>관리한다</a:t>
            </a:r>
            <a:r>
              <a:rPr lang="en-US" altLang="ko-KR" sz="2000" dirty="0">
                <a:ea typeface="나눔스퀘어" panose="020B0600000101010101" pitchFamily="50" charset="-127"/>
              </a:rPr>
              <a:t>. </a:t>
            </a:r>
          </a:p>
          <a:p>
            <a:pPr marL="457200" indent="-457200">
              <a:buFont typeface="+mj-ea"/>
              <a:buAutoNum type="circleNumDbPlain"/>
            </a:pPr>
            <a:r>
              <a:rPr lang="en-US" altLang="ko-KR" sz="2000" dirty="0" err="1">
                <a:ea typeface="나눔스퀘어" panose="020B0600000101010101" pitchFamily="50" charset="-127"/>
              </a:rPr>
              <a:t>ViewResolver</a:t>
            </a:r>
            <a:r>
              <a:rPr lang="ko-KR" altLang="en-US" sz="2000" dirty="0">
                <a:ea typeface="나눔스퀘어" panose="020B0600000101010101" pitchFamily="50" charset="-127"/>
              </a:rPr>
              <a:t>를</a:t>
            </a:r>
            <a:r>
              <a:rPr lang="en-US" altLang="ko-KR" sz="2000" dirty="0">
                <a:ea typeface="나눔스퀘어" panose="020B0600000101010101" pitchFamily="50" charset="-127"/>
              </a:rPr>
              <a:t> </a:t>
            </a:r>
            <a:r>
              <a:rPr lang="ko-KR" altLang="en-US" sz="2000" dirty="0">
                <a:ea typeface="나눔스퀘어" panose="020B0600000101010101" pitchFamily="50" charset="-127"/>
              </a:rPr>
              <a:t>설정한다</a:t>
            </a:r>
            <a:r>
              <a:rPr lang="en-US" altLang="ko-KR" sz="2000" dirty="0">
                <a:ea typeface="나눔스퀘어" panose="020B0600000101010101" pitchFamily="50" charset="-127"/>
              </a:rPr>
              <a:t>. </a:t>
            </a:r>
            <a:r>
              <a:rPr lang="ko-KR" altLang="en-US" sz="2000" dirty="0">
                <a:ea typeface="나눔스퀘어" panose="020B0600000101010101" pitchFamily="50" charset="-127"/>
              </a:rPr>
              <a:t> 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909" y="3502364"/>
            <a:ext cx="8701047" cy="2917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828170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097289" y="105748"/>
            <a:ext cx="408201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Web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MVC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5601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>
                <a:latin typeface="HY견고딕" panose="02030600000101010101" pitchFamily="18" charset="-127"/>
                <a:ea typeface="HY견고딕" panose="02030600000101010101" pitchFamily="18" charset="-127"/>
              </a:rPr>
              <a:t>Controller</a:t>
            </a:r>
            <a:r>
              <a:rPr lang="ko-KR" altLang="en-US" sz="2400">
                <a:latin typeface="HY견고딕" panose="02030600000101010101" pitchFamily="18" charset="-127"/>
                <a:ea typeface="HY견고딕" panose="02030600000101010101" pitchFamily="18" charset="-127"/>
              </a:rPr>
              <a:t>와 </a:t>
            </a:r>
            <a:r>
              <a:rPr lang="en-US" altLang="ko-KR" sz="2400">
                <a:latin typeface="HY견고딕" panose="02030600000101010101" pitchFamily="18" charset="-127"/>
                <a:ea typeface="HY견고딕" panose="02030600000101010101" pitchFamily="18" charset="-127"/>
              </a:rPr>
              <a:t>View</a:t>
            </a:r>
            <a:r>
              <a:rPr lang="ko-KR" altLang="en-US" sz="2400">
                <a:latin typeface="HY견고딕" panose="02030600000101010101" pitchFamily="18" charset="-127"/>
                <a:ea typeface="HY견고딕" panose="02030600000101010101" pitchFamily="18" charset="-127"/>
              </a:rPr>
              <a:t> 구현</a:t>
            </a:r>
            <a:endParaRPr lang="en-US" altLang="ko-KR" sz="240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396" y="1789554"/>
            <a:ext cx="5581650" cy="473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712473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097288" y="105748"/>
            <a:ext cx="408201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Web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MVC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349847"/>
              </p:ext>
            </p:extLst>
          </p:nvPr>
        </p:nvGraphicFramePr>
        <p:xfrm>
          <a:off x="811879" y="3200714"/>
          <a:ext cx="10267712" cy="2758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5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1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03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annotation</a:t>
                      </a:r>
                      <a:endParaRPr lang="ko-KR" altLang="en-US" sz="1800" dirty="0">
                        <a:solidFill>
                          <a:schemeClr val="bg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설명</a:t>
                      </a:r>
                      <a:endParaRPr lang="ko-KR" altLang="en-US" sz="1800" dirty="0">
                        <a:solidFill>
                          <a:schemeClr val="bg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@Controller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해당 클래스가 </a:t>
                      </a:r>
                      <a:r>
                        <a:rPr lang="en-US" alt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Controller</a:t>
                      </a:r>
                      <a:r>
                        <a:rPr lang="ko-KR" altLang="en-US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임을 의미함</a:t>
                      </a:r>
                      <a:r>
                        <a:rPr lang="en-US" alt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.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@RequestMapping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요청에 대해 어떤 </a:t>
                      </a:r>
                      <a:r>
                        <a:rPr lang="en-US" alt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Controller, </a:t>
                      </a:r>
                      <a:r>
                        <a:rPr lang="ko-KR" altLang="en-US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어떤 메소드가 처리 할지를 </a:t>
                      </a:r>
                      <a:r>
                        <a:rPr lang="ko-KR" altLang="en-US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맵핑하기</a:t>
                      </a:r>
                      <a:r>
                        <a:rPr lang="ko-KR" altLang="en-US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위한 것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@RequestParam</a:t>
                      </a:r>
                      <a:endParaRPr lang="ko-KR" altLang="en-US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Controller </a:t>
                      </a:r>
                      <a:r>
                        <a:rPr lang="ko-KR" altLang="en-US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메소드의 파라미터와 </a:t>
                      </a:r>
                      <a:r>
                        <a:rPr lang="ko-KR" altLang="en-US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웹요청</a:t>
                      </a:r>
                      <a:r>
                        <a:rPr lang="ko-KR" altLang="en-US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파라미터 를 </a:t>
                      </a:r>
                      <a:r>
                        <a:rPr lang="ko-KR" altLang="en-US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맵핑하기</a:t>
                      </a:r>
                      <a:r>
                        <a:rPr lang="ko-KR" altLang="en-US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위한 것</a:t>
                      </a:r>
                      <a:r>
                        <a:rPr lang="en-US" alt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. 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@ModelAttribute</a:t>
                      </a:r>
                      <a:endParaRPr lang="ko-KR" altLang="en-US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Controller </a:t>
                      </a:r>
                      <a:r>
                        <a:rPr lang="ko-KR" altLang="en-US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메소드의 파라미터나 </a:t>
                      </a:r>
                      <a:r>
                        <a:rPr lang="ko-KR" altLang="en-US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리턴값을</a:t>
                      </a:r>
                      <a:r>
                        <a:rPr lang="ko-KR" altLang="en-US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Model </a:t>
                      </a:r>
                      <a:r>
                        <a:rPr lang="ko-KR" altLang="en-US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객체와 바인딩하기 위한 것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@SessionAttributes</a:t>
                      </a:r>
                      <a:endParaRPr lang="ko-KR" altLang="en-US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Model </a:t>
                      </a:r>
                      <a:r>
                        <a:rPr lang="ko-KR" altLang="en-US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객체를 세션에 저장하고 사용하기 위한 것</a:t>
                      </a:r>
                      <a:r>
                        <a:rPr lang="en-US" alt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. </a:t>
                      </a:r>
                      <a:r>
                        <a:rPr lang="ko-KR" altLang="en-US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클래스 레벨</a:t>
                      </a:r>
                      <a:r>
                        <a:rPr lang="en-US" alt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(type level)</a:t>
                      </a:r>
                      <a:r>
                        <a:rPr lang="ko-KR" altLang="en-US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에서 선언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18392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Spring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Annotation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j-ea"/>
                <a:ea typeface="+mj-ea"/>
              </a:rPr>
              <a:t>기존에 </a:t>
            </a:r>
            <a:r>
              <a:rPr lang="en-US" altLang="ko-KR" dirty="0">
                <a:latin typeface="+mj-ea"/>
                <a:ea typeface="+mj-ea"/>
              </a:rPr>
              <a:t>XML</a:t>
            </a:r>
            <a:r>
              <a:rPr lang="ko-KR" altLang="en-US" dirty="0">
                <a:latin typeface="+mj-ea"/>
                <a:ea typeface="+mj-ea"/>
              </a:rPr>
              <a:t>에서 빈 설정을 </a:t>
            </a:r>
            <a:r>
              <a:rPr lang="ko-KR" altLang="en-US" dirty="0" err="1">
                <a:latin typeface="+mj-ea"/>
                <a:ea typeface="+mj-ea"/>
              </a:rPr>
              <a:t>애너테이션을</a:t>
            </a:r>
            <a:r>
              <a:rPr lang="ko-KR" altLang="en-US" dirty="0">
                <a:latin typeface="+mj-ea"/>
                <a:ea typeface="+mj-ea"/>
              </a:rPr>
              <a:t> 이용해서 자바 코드에서 설정하는 방법</a:t>
            </a:r>
            <a:endParaRPr lang="en-US" altLang="ko-KR" dirty="0">
              <a:latin typeface="+mj-ea"/>
              <a:ea typeface="+mj-ea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j-ea"/>
                <a:ea typeface="+mj-ea"/>
              </a:rPr>
              <a:t>기능이 복잡해짐에 따라 </a:t>
            </a:r>
            <a:r>
              <a:rPr lang="en-US" altLang="ko-KR" dirty="0">
                <a:latin typeface="+mj-ea"/>
                <a:ea typeface="+mj-ea"/>
              </a:rPr>
              <a:t>XML</a:t>
            </a:r>
            <a:r>
              <a:rPr lang="ko-KR" altLang="en-US" dirty="0">
                <a:latin typeface="+mj-ea"/>
                <a:ea typeface="+mj-ea"/>
              </a:rPr>
              <a:t>에서 설정하는 것보다 유지 보수에 유리함</a:t>
            </a:r>
            <a:endParaRPr lang="en-US" altLang="ko-KR" dirty="0">
              <a:latin typeface="+mj-ea"/>
              <a:ea typeface="+mj-ea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j-ea"/>
                <a:ea typeface="+mj-ea"/>
              </a:rPr>
              <a:t>현재 애플리케이션 개발 시 </a:t>
            </a:r>
            <a:r>
              <a:rPr lang="en-US" altLang="ko-KR" dirty="0">
                <a:latin typeface="+mj-ea"/>
                <a:ea typeface="+mj-ea"/>
              </a:rPr>
              <a:t>XML </a:t>
            </a:r>
            <a:r>
              <a:rPr lang="ko-KR" altLang="en-US" dirty="0">
                <a:latin typeface="+mj-ea"/>
                <a:ea typeface="+mj-ea"/>
              </a:rPr>
              <a:t>설정 방법과 </a:t>
            </a:r>
            <a:r>
              <a:rPr lang="ko-KR" altLang="en-US" dirty="0" err="1">
                <a:latin typeface="+mj-ea"/>
                <a:ea typeface="+mj-ea"/>
              </a:rPr>
              <a:t>애너테이션</a:t>
            </a:r>
            <a:r>
              <a:rPr lang="ko-KR" altLang="en-US" dirty="0">
                <a:latin typeface="+mj-ea"/>
                <a:ea typeface="+mj-ea"/>
              </a:rPr>
              <a:t> 방법을 혼합해서 사용함</a:t>
            </a:r>
            <a:endParaRPr lang="en-US" altLang="ko-KR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8298105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097288" y="105748"/>
            <a:ext cx="408201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Web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MVC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1515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1)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@RequestMapping</a:t>
            </a:r>
            <a:endParaRPr lang="ko-KR" altLang="en-US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요청에 대해 어떤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Controller,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어떤 메소드가 처리할지를 매핑하기 위한 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어노테이션이다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클래스 단위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(type level)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나 메소드 단위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(method level)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 설정할 수 있다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948" y="2936758"/>
            <a:ext cx="5110272" cy="3170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1001068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097288" y="105748"/>
            <a:ext cx="408201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Web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MVC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5860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1)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@RequestMapping</a:t>
            </a:r>
            <a:endParaRPr lang="ko-KR" altLang="en-US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653" y="2057946"/>
            <a:ext cx="4733036" cy="28744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7689" y="2188525"/>
            <a:ext cx="4581525" cy="369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820100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097288" y="105748"/>
            <a:ext cx="408201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Web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MVC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428009"/>
              </p:ext>
            </p:extLst>
          </p:nvPr>
        </p:nvGraphicFramePr>
        <p:xfrm>
          <a:off x="811879" y="2012937"/>
          <a:ext cx="10267712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3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9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46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3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관련속성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타입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설명</a:t>
                      </a:r>
                      <a:endParaRPr lang="ko-KR" altLang="en-US" sz="1800" dirty="0">
                        <a:solidFill>
                          <a:schemeClr val="bg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value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String[] 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URL</a:t>
                      </a:r>
                      <a:r>
                        <a:rPr lang="ko-KR" altLang="en-US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값이다</a:t>
                      </a:r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. </a:t>
                      </a:r>
                    </a:p>
                    <a:p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@RequestMapping(value=“/insert.do”) @RequestMapping(value={“/insert.do”, “/memberInsert.do”}) </a:t>
                      </a:r>
                      <a:r>
                        <a:rPr lang="en-US" altLang="ko-KR" sz="1600" dirty="0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@RequestMapping(“/memberInsert.do”)</a:t>
                      </a:r>
                      <a:endParaRPr lang="ko-KR" altLang="en-US" sz="1600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Method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Request Method[] 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HTTP Request method</a:t>
                      </a:r>
                      <a:r>
                        <a:rPr lang="ko-KR" altLang="en-US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값이다</a:t>
                      </a:r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. </a:t>
                      </a:r>
                    </a:p>
                    <a:p>
                      <a:r>
                        <a:rPr lang="ko-KR" altLang="en-US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사용 가능한 메소드 </a:t>
                      </a:r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: GET, POST, HEAD, OPTIONS, PUT, DELETE, TRACE </a:t>
                      </a:r>
                      <a:r>
                        <a:rPr lang="en-US" altLang="ko-KR" sz="1600" dirty="0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@RequestMapping(method = </a:t>
                      </a:r>
                      <a:r>
                        <a:rPr lang="en-US" altLang="ko-KR" sz="1600" dirty="0" err="1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RequestMethod.POST</a:t>
                      </a:r>
                      <a:r>
                        <a:rPr lang="en-US" altLang="ko-KR" sz="1600" dirty="0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) </a:t>
                      </a:r>
                      <a:endParaRPr lang="ko-KR" altLang="en-US" sz="1600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params</a:t>
                      </a:r>
                      <a:endParaRPr lang="ko-KR" altLang="en-US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String[] </a:t>
                      </a:r>
                      <a:endParaRPr lang="ko-KR" altLang="en-US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HTTP Request URL</a:t>
                      </a:r>
                      <a:r>
                        <a:rPr lang="ko-KR" altLang="en-US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중에 파라미터 이름과 값을 </a:t>
                      </a:r>
                      <a:r>
                        <a:rPr lang="ko-KR" altLang="en-US" sz="16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맵핑한다</a:t>
                      </a:r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. </a:t>
                      </a:r>
                      <a:r>
                        <a:rPr lang="en-US" altLang="ko-KR" sz="1600" dirty="0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@RequestMapping(params=“Param</a:t>
                      </a:r>
                      <a:r>
                        <a:rPr lang="ko-KR" altLang="en-US" sz="1600" dirty="0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이름</a:t>
                      </a:r>
                      <a:r>
                        <a:rPr lang="en-US" altLang="ko-KR" sz="1600" dirty="0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=</a:t>
                      </a:r>
                      <a:r>
                        <a:rPr lang="ko-KR" altLang="en-US" sz="1600" dirty="0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값” </a:t>
                      </a:r>
                      <a:r>
                        <a:rPr lang="en-US" altLang="ko-KR" sz="1600" dirty="0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) </a:t>
                      </a:r>
                    </a:p>
                    <a:p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[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예제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]</a:t>
                      </a:r>
                    </a:p>
                    <a:p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@RequestMapping(params={“param1=value1”, “param2”, ”!param3”}) </a:t>
                      </a:r>
                    </a:p>
                    <a:p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[</a:t>
                      </a:r>
                      <a:r>
                        <a:rPr lang="ko-KR" altLang="en-US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의미</a:t>
                      </a:r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]Param1</a:t>
                      </a:r>
                      <a:r>
                        <a:rPr lang="ko-KR" altLang="en-US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이 </a:t>
                      </a:r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value1</a:t>
                      </a:r>
                      <a:r>
                        <a:rPr lang="ko-KR" altLang="en-US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값을 가지고 있고</a:t>
                      </a:r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param2 </a:t>
                      </a:r>
                      <a:r>
                        <a:rPr lang="ko-KR" altLang="en-US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파라미터가 있어야 하고</a:t>
                      </a:r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param3</a:t>
                      </a:r>
                      <a:r>
                        <a:rPr lang="ko-KR" altLang="en-US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라는 파라미터는 없어야 한다</a:t>
                      </a:r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.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5860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@RequestMapping</a:t>
            </a:r>
            <a:endParaRPr lang="en-US" altLang="ko-KR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677005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097288" y="105748"/>
            <a:ext cx="408201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Web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MVC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5860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@RequestMapping</a:t>
            </a:r>
            <a:endParaRPr lang="en-US" altLang="ko-KR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299" y="2201526"/>
            <a:ext cx="11287125" cy="302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6268690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097288" y="105748"/>
            <a:ext cx="408201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Web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MVC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5860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@RequestMapping</a:t>
            </a:r>
            <a:endParaRPr lang="en-US" altLang="ko-KR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170" y="2034978"/>
            <a:ext cx="10906125" cy="362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470519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097288" y="105748"/>
            <a:ext cx="408201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Web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MVC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@RequestParam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Controller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메소드의 파라미터와 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웹요청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파라미터를 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맵핑하기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위한 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어노테이션이다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value : 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파라메터이름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</a:p>
          <a:p>
            <a:pPr marL="914400" lvl="1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required :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파라메터가 반드시 필요한지 여부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(default=true)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8238" y="3194972"/>
            <a:ext cx="7542133" cy="3319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579166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097288" y="105748"/>
            <a:ext cx="408201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Web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MVC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1515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@RequestParam -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HTML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폼과 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자바빈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객체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HTML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폼의 항목 이름과 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자바빈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클래스의 프로퍼티 이름이 일치할 경우 폼 에 입력한 값을 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자바빈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객체의 프로퍼티 값으로 설정해주는 기능이다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Map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이용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가능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218" y="2843666"/>
            <a:ext cx="8294827" cy="220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6838" y="4585232"/>
            <a:ext cx="7868450" cy="203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9E65ABC-9688-2889-989B-C2B43E577B6F}"/>
              </a:ext>
            </a:extLst>
          </p:cNvPr>
          <p:cNvSpPr txBox="1"/>
          <p:nvPr/>
        </p:nvSpPr>
        <p:spPr>
          <a:xfrm>
            <a:off x="7703820" y="4137660"/>
            <a:ext cx="4218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//@RequestParam </a:t>
            </a:r>
            <a:r>
              <a:rPr lang="ko-KR" altLang="en-US" dirty="0"/>
              <a:t>를 </a:t>
            </a:r>
            <a:r>
              <a:rPr lang="ko-KR" altLang="en-US" dirty="0" err="1"/>
              <a:t>생략하지않는다</a:t>
            </a:r>
            <a:r>
              <a:rPr lang="en-US" altLang="ko-KR"/>
              <a:t>.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778172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097288" y="105748"/>
            <a:ext cx="408201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Web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MVC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@ModelAttribute – </a:t>
            </a:r>
            <a:r>
              <a:rPr lang="en-US" altLang="ko-KR" sz="2400" dirty="0"/>
              <a:t>form </a:t>
            </a:r>
            <a:r>
              <a:rPr lang="ko-KR" altLang="en-US" sz="2400" dirty="0"/>
              <a:t>방식 객체 전달 </a:t>
            </a:r>
            <a:r>
              <a:rPr lang="en-US" altLang="ko-KR" sz="2400" dirty="0"/>
              <a:t>,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View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 값 전달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ea typeface="나눔스퀘어" panose="020B0600000101010101" pitchFamily="50" charset="-127"/>
              </a:rPr>
              <a:t>일반적인 </a:t>
            </a:r>
            <a:r>
              <a:rPr lang="en-US" altLang="ko-KR" dirty="0">
                <a:ea typeface="나눔스퀘어" panose="020B0600000101010101" pitchFamily="50" charset="-127"/>
              </a:rPr>
              <a:t>form</a:t>
            </a:r>
            <a:r>
              <a:rPr lang="ko-KR" altLang="en-US" dirty="0">
                <a:ea typeface="나눔스퀘어" panose="020B0600000101010101" pitchFamily="50" charset="-127"/>
              </a:rPr>
              <a:t>의 </a:t>
            </a:r>
            <a:r>
              <a:rPr lang="en-US" altLang="ko-KR" dirty="0">
                <a:ea typeface="나눔스퀘어" panose="020B0600000101010101" pitchFamily="50" charset="-127"/>
              </a:rPr>
              <a:t>data (</a:t>
            </a:r>
            <a:r>
              <a:rPr lang="en-US" altLang="ko-KR" dirty="0" err="1">
                <a:ea typeface="나눔스퀘어" panose="020B0600000101010101" pitchFamily="50" charset="-127"/>
              </a:rPr>
              <a:t>enctype</a:t>
            </a:r>
            <a:r>
              <a:rPr lang="en-US" altLang="ko-KR" dirty="0">
                <a:ea typeface="나눔스퀘어" panose="020B0600000101010101" pitchFamily="50" charset="-127"/>
              </a:rPr>
              <a:t> : application/x-www-form-</a:t>
            </a:r>
            <a:r>
              <a:rPr lang="en-US" altLang="ko-KR" dirty="0" err="1">
                <a:ea typeface="나눔스퀘어" panose="020B0600000101010101" pitchFamily="50" charset="-127"/>
              </a:rPr>
              <a:t>urlencoded</a:t>
            </a:r>
            <a:r>
              <a:rPr lang="en-US" altLang="ko-KR" dirty="0">
                <a:ea typeface="나눔스퀘어" panose="020B0600000101010101" pitchFamily="50" charset="-127"/>
              </a:rPr>
              <a:t> )</a:t>
            </a:r>
            <a:r>
              <a:rPr lang="ko-KR" altLang="en-US" dirty="0">
                <a:ea typeface="나눔스퀘어" panose="020B0600000101010101" pitchFamily="50" charset="-127"/>
              </a:rPr>
              <a:t>를 받는다</a:t>
            </a:r>
            <a:r>
              <a:rPr lang="en-US" altLang="ko-KR" dirty="0">
                <a:ea typeface="나눔스퀘어" panose="020B0600000101010101" pitchFamily="50" charset="-127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ea typeface="나눔스퀘어" panose="020B0600000101010101" pitchFamily="50" charset="-127"/>
              </a:rPr>
              <a:t>자동으로 </a:t>
            </a:r>
            <a:r>
              <a:rPr lang="ko-KR" altLang="en-US" dirty="0"/>
              <a:t>바인딩된다</a:t>
            </a:r>
            <a:r>
              <a:rPr lang="en-US" altLang="ko-KR" dirty="0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ea typeface="나눔스퀘어" panose="020B0600000101010101" pitchFamily="50" charset="-127"/>
              </a:rPr>
              <a:t>JSON</a:t>
            </a:r>
            <a:r>
              <a:rPr lang="ko-KR" altLang="en-US" dirty="0">
                <a:ea typeface="나눔스퀘어" panose="020B0600000101010101" pitchFamily="50" charset="-127"/>
              </a:rPr>
              <a:t>은 지원하지 않는다</a:t>
            </a:r>
            <a:r>
              <a:rPr lang="en-US" altLang="ko-KR" dirty="0">
                <a:ea typeface="나눔스퀘어" panose="020B0600000101010101" pitchFamily="50" charset="-127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ea typeface="나눔스퀘어" panose="020B0600000101010101" pitchFamily="50" charset="-127"/>
              </a:rPr>
              <a:t>view</a:t>
            </a:r>
            <a:r>
              <a:rPr lang="ko-KR" altLang="en-US" dirty="0">
                <a:ea typeface="나눔스퀘어" panose="020B0600000101010101" pitchFamily="50" charset="-127"/>
              </a:rPr>
              <a:t>에서 사용할 객체의 이름을 </a:t>
            </a:r>
            <a:r>
              <a:rPr lang="en-US" altLang="ko-KR" dirty="0"/>
              <a:t>@ModelAttribute("user")</a:t>
            </a:r>
            <a:r>
              <a:rPr lang="ko-KR" altLang="en-US" dirty="0"/>
              <a:t>와</a:t>
            </a:r>
            <a:r>
              <a:rPr lang="en-US" altLang="ko-KR" dirty="0"/>
              <a:t> </a:t>
            </a:r>
            <a:r>
              <a:rPr lang="ko-KR" altLang="en-US" dirty="0"/>
              <a:t>같이 작성한다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    //@ModelAttribute("user")==&gt;default</a:t>
            </a:r>
            <a:r>
              <a:rPr lang="ko-KR" altLang="en-US" dirty="0"/>
              <a:t>이름을 변경할 수 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      //@ModelAttribute </a:t>
            </a:r>
            <a:r>
              <a:rPr lang="ko-KR" altLang="en-US" dirty="0"/>
              <a:t>이름이 생략되면 </a:t>
            </a:r>
            <a:r>
              <a:rPr lang="en-US" altLang="ko-KR" dirty="0"/>
              <a:t>view</a:t>
            </a:r>
            <a:r>
              <a:rPr lang="ko-KR" altLang="en-US" dirty="0"/>
              <a:t>에서 사용시 </a:t>
            </a:r>
            <a:r>
              <a:rPr lang="en-US" altLang="ko-KR" dirty="0" err="1"/>
              <a:t>UserVO</a:t>
            </a:r>
            <a:r>
              <a:rPr lang="en-US" altLang="ko-KR" dirty="0"/>
              <a:t> </a:t>
            </a:r>
            <a:r>
              <a:rPr lang="en-US" altLang="ko-KR" dirty="0" err="1"/>
              <a:t>userVO</a:t>
            </a:r>
            <a:r>
              <a:rPr lang="ko-KR" altLang="en-US" dirty="0"/>
              <a:t>와 </a:t>
            </a:r>
            <a:r>
              <a:rPr lang="ko-KR" altLang="en-US" dirty="0" err="1"/>
              <a:t>같이사용</a:t>
            </a:r>
            <a:r>
              <a:rPr lang="ko-KR" altLang="en-US" dirty="0"/>
              <a:t> </a:t>
            </a:r>
            <a:r>
              <a:rPr lang="ko-KR" altLang="en-US" dirty="0" err="1"/>
              <a:t>해야한다</a:t>
            </a:r>
            <a:r>
              <a:rPr lang="en-US" altLang="ko-KR" dirty="0"/>
              <a:t>. </a:t>
            </a:r>
            <a:endParaRPr lang="en-US" altLang="ko-KR" dirty="0">
              <a:ea typeface="나눔스퀘어" panose="020B0600000101010101" pitchFamily="50" charset="-127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357" y="4248086"/>
            <a:ext cx="8942897" cy="2058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901235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995CE-CA33-B269-AE27-B5B382C3E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0807625F-9BE6-0CC9-1A2D-9EE89B6C741F}"/>
              </a:ext>
            </a:extLst>
          </p:cNvPr>
          <p:cNvSpPr/>
          <p:nvPr/>
        </p:nvSpPr>
        <p:spPr>
          <a:xfrm>
            <a:off x="4097288" y="105748"/>
            <a:ext cx="408201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Web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MVC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DBED575-127B-3907-43E9-0C764281719C}"/>
              </a:ext>
            </a:extLst>
          </p:cNvPr>
          <p:cNvSpPr/>
          <p:nvPr/>
        </p:nvSpPr>
        <p:spPr>
          <a:xfrm>
            <a:off x="488356" y="1170422"/>
            <a:ext cx="10699149" cy="593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JSON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보내고 받기 예외처리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D55824-A7E9-7A8E-F54B-C459919B829A}"/>
              </a:ext>
            </a:extLst>
          </p:cNvPr>
          <p:cNvSpPr txBox="1"/>
          <p:nvPr/>
        </p:nvSpPr>
        <p:spPr>
          <a:xfrm>
            <a:off x="996102" y="1935591"/>
            <a:ext cx="10385728" cy="8835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solidFill>
                  <a:srgbClr val="FF0000"/>
                </a:solidFill>
              </a:rPr>
              <a:t>400 Bad Request  : </a:t>
            </a:r>
            <a:r>
              <a:rPr lang="en-US" altLang="ko-KR" dirty="0"/>
              <a:t>JSON </a:t>
            </a:r>
            <a:r>
              <a:rPr lang="ko-KR" altLang="en-US" dirty="0"/>
              <a:t>형식이 </a:t>
            </a:r>
            <a:r>
              <a:rPr lang="en-US" altLang="ko-KR" dirty="0"/>
              <a:t>DTO </a:t>
            </a:r>
            <a:r>
              <a:rPr lang="ko-KR" altLang="en-US" dirty="0"/>
              <a:t>필드와 안 맞을 때 발생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solidFill>
                  <a:srgbClr val="FF0000"/>
                </a:solidFill>
              </a:rPr>
              <a:t>415 Unsupported Media Type</a:t>
            </a:r>
            <a:r>
              <a:rPr lang="en-US" altLang="ko-KR" dirty="0"/>
              <a:t> : </a:t>
            </a:r>
            <a:r>
              <a:rPr lang="ko-KR" altLang="en-US" dirty="0"/>
              <a:t> </a:t>
            </a:r>
            <a:r>
              <a:rPr lang="en-US" altLang="ko-KR" dirty="0"/>
              <a:t>application/</a:t>
            </a:r>
            <a:r>
              <a:rPr lang="en-US" altLang="ko-KR" dirty="0" err="1"/>
              <a:t>json</a:t>
            </a:r>
            <a:r>
              <a:rPr lang="en-US" altLang="ko-KR" dirty="0"/>
              <a:t> </a:t>
            </a:r>
            <a:r>
              <a:rPr lang="ko-KR" altLang="en-US" dirty="0"/>
              <a:t>설정 안 되어 있거나 </a:t>
            </a:r>
            <a:r>
              <a:rPr lang="en-US" altLang="ko-KR" dirty="0"/>
              <a:t>Jackson </a:t>
            </a:r>
            <a:r>
              <a:rPr lang="ko-KR" altLang="en-US" dirty="0"/>
              <a:t>미포함 시 발생 </a:t>
            </a:r>
            <a:endParaRPr lang="ko-KR" altLang="en-US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662079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8DAD6-2704-CB51-B9BD-C63161ED9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93B16486-6417-BA94-5E30-1D6D0DC902D0}"/>
              </a:ext>
            </a:extLst>
          </p:cNvPr>
          <p:cNvSpPr/>
          <p:nvPr/>
        </p:nvSpPr>
        <p:spPr>
          <a:xfrm>
            <a:off x="4097288" y="105748"/>
            <a:ext cx="408201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Web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MVC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04CA51B-5133-2A25-2888-770C21AAD685}"/>
              </a:ext>
            </a:extLst>
          </p:cNvPr>
          <p:cNvSpPr/>
          <p:nvPr/>
        </p:nvSpPr>
        <p:spPr>
          <a:xfrm>
            <a:off x="488356" y="1170422"/>
            <a:ext cx="10699149" cy="593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JSON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보내고 받기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CFA7847-05D2-F551-08A6-640AB9A5F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235" y="1906627"/>
            <a:ext cx="5268060" cy="39820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B3ACD1-3C86-CF55-A4FE-86DD032344EE}"/>
              </a:ext>
            </a:extLst>
          </p:cNvPr>
          <p:cNvSpPr txBox="1"/>
          <p:nvPr/>
        </p:nvSpPr>
        <p:spPr>
          <a:xfrm>
            <a:off x="6208182" y="4055649"/>
            <a:ext cx="479881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Map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으로 받기</a:t>
            </a:r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@RequestBody Map&lt;String, Object&gt; map</a:t>
            </a: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2. DTO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로 받기</a:t>
            </a:r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 @RequestBody </a:t>
            </a: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RequestDTO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condition</a:t>
            </a: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3. </a:t>
            </a: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JsonNode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로 받기 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(Jackson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사용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)</a:t>
            </a:r>
          </a:p>
          <a:p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  @RequestBody </a:t>
            </a: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JsonNode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node</a:t>
            </a:r>
            <a:endParaRPr lang="ko-KR" altLang="en-US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E658C59-252B-7868-EE0C-C3BAC5D4C8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357" y="1906617"/>
            <a:ext cx="4098467" cy="137107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30A3210-95E0-25D2-F6D2-56D2EFC601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7233" y="3580310"/>
            <a:ext cx="3029373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60948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097288" y="105748"/>
            <a:ext cx="408201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Web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MVC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Model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클래스이용해 값 전달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Model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클래스를 이용하면 메서드 호출 시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JSP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 값을 바로 바인딩하여 전달할 수 있음</a:t>
            </a:r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Model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클래스의 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addAttribute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()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메서드는 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ModelAndView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addObject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()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메서드와 같은 기능 수행</a:t>
            </a:r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Model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클래스는 따로 뷰 정보를 전달할 필요가 없을 때 사용하면 편리함</a:t>
            </a:r>
          </a:p>
          <a:p>
            <a:pPr marL="814388" lvl="1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75" y="3202552"/>
            <a:ext cx="9419426" cy="1928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066159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097288" y="105748"/>
            <a:ext cx="408201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Web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MVC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Servlet API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파라메터 전달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@RequestMapping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적용 메서드에는 다섯 가지 타입의 파라미터를 전달 받을 수 있다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javax.servlet.http.HttpServletRequest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javax.servlet.ServletRequest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javax.servlet.http.HttpServletResponse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javax.servlet.ServletResponse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javax.servlet.http.HttpSession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942" y="4302104"/>
            <a:ext cx="6948105" cy="2332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535075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097288" y="105748"/>
            <a:ext cx="408201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Web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MVC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076023"/>
              </p:ext>
            </p:extLst>
          </p:nvPr>
        </p:nvGraphicFramePr>
        <p:xfrm>
          <a:off x="818554" y="2994081"/>
          <a:ext cx="10267712" cy="348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4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432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03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메서드 </a:t>
                      </a:r>
                      <a:r>
                        <a:rPr lang="ko-KR" altLang="en-US" sz="1600" dirty="0" err="1"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리턴값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설명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ModelAndView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리턴 데이터가 </a:t>
                      </a:r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Model</a:t>
                      </a:r>
                      <a:r>
                        <a:rPr lang="ko-KR" altLang="en-US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객체와 </a:t>
                      </a:r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View</a:t>
                      </a:r>
                      <a:r>
                        <a:rPr lang="ko-KR" altLang="en-US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정보가 담긴다</a:t>
                      </a:r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.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Model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리턴 데이터가 </a:t>
                      </a:r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Model</a:t>
                      </a:r>
                      <a:r>
                        <a:rPr lang="ko-KR" altLang="en-US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객체에 담긴다</a:t>
                      </a:r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.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String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리턴하는</a:t>
                      </a:r>
                      <a:r>
                        <a:rPr lang="ko-KR" altLang="en-US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String </a:t>
                      </a:r>
                      <a:r>
                        <a:rPr lang="ko-KR" altLang="en-US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값이 </a:t>
                      </a:r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View </a:t>
                      </a:r>
                      <a:r>
                        <a:rPr lang="ko-KR" altLang="en-US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이름이 된다</a:t>
                      </a:r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.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void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메소드가 </a:t>
                      </a:r>
                      <a:r>
                        <a:rPr lang="en-US" altLang="ko-KR" sz="16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ServletResponse</a:t>
                      </a:r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/ </a:t>
                      </a:r>
                      <a:r>
                        <a:rPr lang="en-US" altLang="ko-KR" sz="16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HttpServletResponse</a:t>
                      </a:r>
                      <a:r>
                        <a:rPr lang="ko-KR" altLang="en-US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등을 사용하여 직접 응답을 처리하는 경우이다</a:t>
                      </a:r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.</a:t>
                      </a:r>
                    </a:p>
                    <a:p>
                      <a:endParaRPr lang="en-US" altLang="ko-KR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r>
                        <a:rPr lang="en-US" altLang="ko-KR" sz="16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ServletResponse</a:t>
                      </a:r>
                      <a:r>
                        <a:rPr lang="ko-KR" altLang="en-US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나 </a:t>
                      </a:r>
                      <a:r>
                        <a:rPr lang="en-US" altLang="ko-KR" sz="16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HttpServletResponse</a:t>
                      </a:r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ko-KR" altLang="en-US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타입의 파라미터가 없는 경우 요청 </a:t>
                      </a:r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URI</a:t>
                      </a:r>
                      <a:r>
                        <a:rPr lang="ko-KR" altLang="en-US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로부터 맨 앞의 슬래시와 확장자를 제외한 나머지 부분을 뷰 이름으로 사용한다</a:t>
                      </a:r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.</a:t>
                      </a:r>
                    </a:p>
                    <a:p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[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예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]</a:t>
                      </a:r>
                    </a:p>
                    <a:p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http://localhost:9090/education/test/viewTest.do</a:t>
                      </a:r>
                      <a:r>
                        <a:rPr lang="en-US" altLang="ko-KR" sz="160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ko-KR" altLang="en-US" sz="160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요청</a:t>
                      </a:r>
                      <a:endParaRPr lang="en-US" altLang="ko-KR" sz="160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=&gt;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600" kern="1200" dirty="0">
                          <a:solidFill>
                            <a:schemeClr val="dk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/WEB-INF/views/</a:t>
                      </a:r>
                      <a:r>
                        <a:rPr lang="en-US" altLang="ko-KR" sz="1600" kern="1200" dirty="0">
                          <a:solidFill>
                            <a:srgbClr val="C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test/</a:t>
                      </a:r>
                      <a:r>
                        <a:rPr lang="en-US" altLang="ko-KR" sz="1600" kern="1200" dirty="0" err="1">
                          <a:solidFill>
                            <a:srgbClr val="C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viewTest.jsp</a:t>
                      </a:r>
                      <a:r>
                        <a:rPr lang="en-US" altLang="ko-KR" sz="1600" kern="1200" baseline="0" dirty="0">
                          <a:solidFill>
                            <a:srgbClr val="C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</a:t>
                      </a:r>
                      <a:endParaRPr lang="en-US" altLang="ko-KR" sz="1600" baseline="0" dirty="0">
                        <a:solidFill>
                          <a:srgbClr val="C0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>
                <a:latin typeface="HY견고딕" panose="02030600000101010101" pitchFamily="18" charset="-127"/>
                <a:ea typeface="HY견고딕" panose="02030600000101010101" pitchFamily="18" charset="-127"/>
              </a:rPr>
              <a:t>Controller</a:t>
            </a:r>
            <a:r>
              <a:rPr lang="ko-KR" altLang="en-US" sz="2400">
                <a:latin typeface="HY견고딕" panose="02030600000101010101" pitchFamily="18" charset="-127"/>
                <a:ea typeface="HY견고딕" panose="02030600000101010101" pitchFamily="18" charset="-127"/>
              </a:rPr>
              <a:t>에서 메서드의 리턴값</a:t>
            </a:r>
            <a:endParaRPr lang="en-US" altLang="ko-KR" sz="240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814388" lvl="1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/>
              <a:t>뷰 이름을 명시적으로 지정하려면 </a:t>
            </a:r>
            <a:r>
              <a:rPr lang="en-US" altLang="ko-KR"/>
              <a:t>ModelAndView</a:t>
            </a:r>
            <a:r>
              <a:rPr lang="ko-KR" altLang="en-US"/>
              <a:t>나 </a:t>
            </a:r>
            <a:r>
              <a:rPr lang="en-US" altLang="ko-KR"/>
              <a:t>String</a:t>
            </a:r>
            <a:r>
              <a:rPr lang="ko-KR" altLang="en-US"/>
              <a:t>을 리턴해야 한 다</a:t>
            </a:r>
            <a:r>
              <a:rPr lang="en-US" altLang="ko-KR"/>
              <a:t>. </a:t>
            </a:r>
          </a:p>
          <a:p>
            <a:pPr marL="814388" lvl="1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/>
              <a:t>ModelAndView </a:t>
            </a:r>
            <a:r>
              <a:rPr lang="ko-KR" altLang="en-US"/>
              <a:t>클래스의 생성자 또는 </a:t>
            </a:r>
            <a:r>
              <a:rPr lang="en-US" altLang="ko-KR"/>
              <a:t>setViewName()</a:t>
            </a:r>
            <a:r>
              <a:rPr lang="ko-KR" altLang="en-US"/>
              <a:t>을 이용해서 뷰 이름을 지정할 수 있다</a:t>
            </a:r>
            <a:endParaRPr lang="en-US" altLang="ko-KR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814568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097288" y="105748"/>
            <a:ext cx="408201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Web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MVC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View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설정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[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방법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1] </a:t>
            </a:r>
          </a:p>
          <a:p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ModelAndView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mv = new </a:t>
            </a:r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ModelAndView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("member/</a:t>
            </a:r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memberlist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");</a:t>
            </a:r>
          </a:p>
          <a:p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return mv; </a:t>
            </a:r>
          </a:p>
          <a:p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[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방법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2]</a:t>
            </a:r>
          </a:p>
          <a:p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ModelAndView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mv = new </a:t>
            </a:r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ModelAndView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();</a:t>
            </a:r>
          </a:p>
          <a:p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mv.setViewName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("member/</a:t>
            </a:r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memberlist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");</a:t>
            </a:r>
          </a:p>
          <a:p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return mv; </a:t>
            </a:r>
          </a:p>
          <a:p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[Redirect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와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Forward]</a:t>
            </a:r>
          </a:p>
          <a:p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Redirect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뷰 이름에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“redirect:”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접두어를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붙이면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지정한 페이지로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리다이렉트된다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653" y="4863741"/>
            <a:ext cx="5652705" cy="1661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957750" y="2414563"/>
            <a:ext cx="4684167" cy="1846659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redirect</a:t>
            </a:r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시 값 전달</a:t>
            </a:r>
            <a:endParaRPr lang="en-US" altLang="ko-KR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dirty="0" err="1">
                <a:ea typeface="나눔스퀘어" panose="020B0600000101010101" pitchFamily="50" charset="-127"/>
              </a:rPr>
              <a:t>RedirectAttributes</a:t>
            </a:r>
            <a:r>
              <a:rPr lang="en-US" altLang="ko-KR" dirty="0">
                <a:ea typeface="나눔스퀘어" panose="020B0600000101010101" pitchFamily="50" charset="-127"/>
              </a:rPr>
              <a:t> </a:t>
            </a:r>
            <a:r>
              <a:rPr lang="en-US" altLang="ko-KR" dirty="0" err="1">
                <a:ea typeface="나눔스퀘어" panose="020B0600000101010101" pitchFamily="50" charset="-127"/>
              </a:rPr>
              <a:t>redirectAttr</a:t>
            </a:r>
            <a:endParaRPr lang="en-US" altLang="ko-KR" dirty="0">
              <a:ea typeface="나눔스퀘어" panose="020B0600000101010101" pitchFamily="50" charset="-127"/>
            </a:endParaRPr>
          </a:p>
          <a:p>
            <a:r>
              <a:rPr lang="en-US" altLang="ko-KR" dirty="0" err="1">
                <a:ea typeface="나눔스퀘어" panose="020B0600000101010101" pitchFamily="50" charset="-127"/>
              </a:rPr>
              <a:t>redirectAttr.addFlashAttribute</a:t>
            </a:r>
            <a:r>
              <a:rPr lang="en-US" altLang="ko-KR" dirty="0">
                <a:ea typeface="나눔스퀘어" panose="020B0600000101010101" pitchFamily="50" charset="-127"/>
              </a:rPr>
              <a:t>(</a:t>
            </a:r>
            <a:r>
              <a:rPr lang="en-US" altLang="ko-KR" dirty="0" err="1">
                <a:ea typeface="나눔스퀘어" panose="020B0600000101010101" pitchFamily="50" charset="-127"/>
              </a:rPr>
              <a:t>name,value</a:t>
            </a:r>
            <a:r>
              <a:rPr lang="ko-KR" altLang="en-US" dirty="0">
                <a:ea typeface="나눔스퀘어" panose="020B0600000101010101" pitchFamily="50" charset="-127"/>
              </a:rPr>
              <a:t> </a:t>
            </a:r>
            <a:r>
              <a:rPr lang="en-US" altLang="ko-KR" dirty="0">
                <a:ea typeface="나눔스퀘어" panose="020B0600000101010101" pitchFamily="50" charset="-127"/>
              </a:rPr>
              <a:t>);</a:t>
            </a:r>
          </a:p>
          <a:p>
            <a:r>
              <a:rPr lang="en-US" altLang="ko-KR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redirect</a:t>
            </a:r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시 값 전달받기</a:t>
            </a:r>
            <a:endParaRPr lang="en-US" altLang="ko-KR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400" dirty="0"/>
              <a:t>Map&lt;String, ?&gt; </a:t>
            </a:r>
            <a:r>
              <a:rPr lang="en-US" altLang="ko-KR" sz="1400" dirty="0" err="1"/>
              <a:t>flashMap</a:t>
            </a:r>
            <a:r>
              <a:rPr lang="en-US" altLang="ko-KR" sz="1400" dirty="0"/>
              <a:t> =   </a:t>
            </a:r>
          </a:p>
          <a:p>
            <a:r>
              <a:rPr lang="en-US" altLang="ko-KR" sz="1400" dirty="0"/>
              <a:t>         </a:t>
            </a:r>
            <a:r>
              <a:rPr lang="en-US" altLang="ko-KR" sz="1400" dirty="0" err="1"/>
              <a:t>RequestContextUtils.</a:t>
            </a:r>
            <a:r>
              <a:rPr lang="en-US" altLang="ko-KR" sz="1400" i="1" dirty="0" err="1"/>
              <a:t>getInputFlashMap</a:t>
            </a:r>
            <a:r>
              <a:rPr lang="en-US" altLang="ko-KR" sz="1400" i="1" dirty="0"/>
              <a:t>(request);</a:t>
            </a:r>
          </a:p>
          <a:p>
            <a:r>
              <a:rPr lang="en-US" altLang="ko-KR" sz="1400" b="1" dirty="0"/>
              <a:t>if(</a:t>
            </a:r>
            <a:r>
              <a:rPr lang="en-US" altLang="ko-KR" sz="1400" b="1" dirty="0" err="1"/>
              <a:t>flashMap</a:t>
            </a:r>
            <a:r>
              <a:rPr lang="en-US" altLang="ko-KR" sz="1400" b="1" dirty="0"/>
              <a:t> !=null ) {</a:t>
            </a:r>
            <a:r>
              <a:rPr lang="en-US" altLang="ko-KR" sz="1400" dirty="0" err="1"/>
              <a:t>flashMap.get</a:t>
            </a:r>
            <a:r>
              <a:rPr lang="en-US" altLang="ko-KR" sz="1400" dirty="0"/>
              <a:t>("message");}</a:t>
            </a:r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713957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097288" y="105748"/>
            <a:ext cx="408201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Web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MVC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593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여러 건 처리하기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5385CFF-C299-C6B8-3AA0-40B483DC6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611" y="2281013"/>
            <a:ext cx="8440328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30054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2711652" y="105748"/>
            <a:ext cx="685328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Web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MVC Framework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10615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캐릭터 인코딩 처리 필터 설정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스프링은 요청 파라미터의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Character Encoding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을 설정할 수 있는 필터 클래스를 제공한다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751" y="2278418"/>
            <a:ext cx="7467600" cy="416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9732168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097288" y="105748"/>
            <a:ext cx="408201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Web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MVC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Exception Handling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컨트롤러의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@RequestMapping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 선언된 메소드는 모든 타입의 예외를 발생 시킬 수 있다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@RequestMapping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메서드가 예외를 발생시킬 경우 웹 브라우저에서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500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응답 코드와 함께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서블릿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컨테이너가 출력한 에러 페이지가 출력된다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@ExceptionHandler : @Controller annotation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 적용된 클래스에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@ExceptionHandler annotation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 적용된 메소드 구현한다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설정 파일을 이용한 선언적 예외 처리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SimpleMappingExceptionResolver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클래스를 이용하기 위해 설정 파일에 기술한다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5935512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097288" y="105748"/>
            <a:ext cx="408201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Web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MVC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Exception Handling</a:t>
            </a:r>
          </a:p>
          <a:p>
            <a:pPr marL="914400" lvl="1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Annotation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이용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14400" lvl="1" indent="-457200">
              <a:lnSpc>
                <a:spcPct val="150000"/>
              </a:lnSpc>
              <a:buFont typeface="+mj-ea"/>
              <a:buAutoNum type="circleNumDbPlain"/>
            </a:pP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14400" lvl="1" indent="-457200">
              <a:lnSpc>
                <a:spcPct val="150000"/>
              </a:lnSpc>
              <a:buFont typeface="+mj-ea"/>
              <a:buAutoNum type="circleNumDbPlain"/>
            </a:pP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14400" lvl="1" indent="-457200">
              <a:lnSpc>
                <a:spcPct val="150000"/>
              </a:lnSpc>
              <a:buFont typeface="+mj-ea"/>
              <a:buAutoNum type="circleNumDbPlain"/>
            </a:pP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14400" lvl="1" indent="-457200">
              <a:lnSpc>
                <a:spcPct val="150000"/>
              </a:lnSpc>
              <a:buFont typeface="+mj-ea"/>
              <a:buAutoNum type="circleNumDbPlain"/>
            </a:pP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14400" lvl="1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설정파일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이용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975" y="2228062"/>
            <a:ext cx="3393607" cy="123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060" y="4618949"/>
            <a:ext cx="6258465" cy="1276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863243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097288" y="105748"/>
            <a:ext cx="408201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Web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MVC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9397" y="1170422"/>
            <a:ext cx="11246974" cy="2895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1" dirty="0"/>
              <a:t>@ControllerAdvice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/>
              <a:t>Spring MVC</a:t>
            </a:r>
            <a:r>
              <a:rPr lang="ko-KR" altLang="en-US" sz="2000" b="1" dirty="0"/>
              <a:t>에서 전역적으로 </a:t>
            </a:r>
            <a:r>
              <a:rPr lang="en-US" altLang="ko-KR" sz="2000" b="1" dirty="0"/>
              <a:t>Controller</a:t>
            </a:r>
            <a:r>
              <a:rPr lang="ko-KR" altLang="en-US" sz="2000" b="1" dirty="0"/>
              <a:t>에 공통 기능을 적용하기 위해 사용</a:t>
            </a:r>
            <a:endParaRPr lang="en-US" altLang="ko-KR" sz="2000" b="1" dirty="0"/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ko-KR" altLang="en-US" sz="2000" b="1" dirty="0"/>
              <a:t>전역 예외 처리</a:t>
            </a:r>
            <a:r>
              <a:rPr lang="en-US" altLang="ko-KR" sz="2000" b="1" dirty="0"/>
              <a:t>(Global Exception Handling)</a:t>
            </a:r>
            <a:r>
              <a:rPr lang="en-US" altLang="ko-KR" sz="2000" dirty="0"/>
              <a:t>, </a:t>
            </a:r>
            <a:r>
              <a:rPr lang="ko-KR" altLang="en-US" sz="2000" b="1" dirty="0"/>
              <a:t>전역 데이터 바인딩</a:t>
            </a:r>
            <a:r>
              <a:rPr lang="en-US" altLang="ko-KR" sz="2000" b="1" dirty="0"/>
              <a:t>(Global Binding)</a:t>
            </a:r>
            <a:r>
              <a:rPr lang="en-US" altLang="ko-KR" sz="2000" dirty="0"/>
              <a:t>, </a:t>
            </a:r>
            <a:r>
              <a:rPr lang="ko-KR" altLang="en-US" sz="2000" b="1" dirty="0"/>
              <a:t>전역 모델 속성</a:t>
            </a:r>
            <a:r>
              <a:rPr lang="en-US" altLang="ko-KR" sz="2000" b="1" dirty="0"/>
              <a:t>(Global </a:t>
            </a:r>
            <a:r>
              <a:rPr lang="en-US" altLang="ko-KR" sz="2000" b="1" dirty="0" err="1"/>
              <a:t>ModelAttribute</a:t>
            </a:r>
            <a:r>
              <a:rPr lang="en-US" altLang="ko-KR" sz="2000" b="1" dirty="0"/>
              <a:t>)</a:t>
            </a:r>
            <a:r>
              <a:rPr lang="en-US" altLang="ko-KR" sz="2000" dirty="0"/>
              <a:t> </a:t>
            </a:r>
            <a:r>
              <a:rPr lang="ko-KR" altLang="en-US" sz="2000" dirty="0"/>
              <a:t>제공할 때 활용</a:t>
            </a:r>
            <a:endParaRPr lang="en-US" altLang="ko-KR" sz="2000" dirty="0"/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altLang="ko-KR" sz="2000" dirty="0">
                <a:ea typeface="나눔스퀘어" panose="020B0600000101010101" pitchFamily="50" charset="-127"/>
              </a:rPr>
              <a:t>@controller, @RestController</a:t>
            </a:r>
            <a:r>
              <a:rPr lang="ko-KR" altLang="en-US" sz="2000" dirty="0">
                <a:ea typeface="나눔스퀘어" panose="020B0600000101010101" pitchFamily="50" charset="-127"/>
              </a:rPr>
              <a:t>에서 발생하는 특정 이벤트</a:t>
            </a:r>
            <a:r>
              <a:rPr lang="en-US" altLang="ko-KR" sz="2000" dirty="0">
                <a:ea typeface="나눔스퀘어" panose="020B0600000101010101" pitchFamily="50" charset="-127"/>
              </a:rPr>
              <a:t>(</a:t>
            </a:r>
            <a:r>
              <a:rPr lang="ko-KR" altLang="en-US" sz="2000" dirty="0">
                <a:highlight>
                  <a:srgbClr val="FFFF00"/>
                </a:highlight>
              </a:rPr>
              <a:t>예외</a:t>
            </a:r>
            <a:r>
              <a:rPr lang="en-US" altLang="ko-KR" sz="2000" dirty="0"/>
              <a:t>, </a:t>
            </a:r>
            <a:r>
              <a:rPr lang="ko-KR" altLang="en-US" sz="2000" dirty="0"/>
              <a:t>바인딩</a:t>
            </a:r>
            <a:r>
              <a:rPr lang="en-US" altLang="ko-KR" sz="2000" dirty="0"/>
              <a:t>, </a:t>
            </a:r>
            <a:r>
              <a:rPr lang="ko-KR" altLang="en-US" sz="2000" dirty="0"/>
              <a:t>공통 모델 속성 등</a:t>
            </a:r>
            <a:r>
              <a:rPr lang="en-US" altLang="ko-KR" sz="2000" dirty="0"/>
              <a:t>)</a:t>
            </a:r>
            <a:r>
              <a:rPr lang="ko-KR" altLang="en-US" sz="2000" dirty="0"/>
              <a:t>를 가로채어 모든 </a:t>
            </a:r>
            <a:r>
              <a:rPr lang="en-US" altLang="ko-KR" sz="2000" dirty="0"/>
              <a:t>Controller</a:t>
            </a:r>
            <a:r>
              <a:rPr lang="ko-KR" altLang="en-US" sz="2000" dirty="0"/>
              <a:t>에 일괄 적용</a:t>
            </a:r>
            <a:r>
              <a:rPr lang="ko-KR" altLang="en-US" sz="2000" dirty="0">
                <a:ea typeface="나눔스퀘어" panose="020B0600000101010101" pitchFamily="50" charset="-127"/>
              </a:rPr>
              <a:t> </a:t>
            </a:r>
            <a:endParaRPr lang="en-US" altLang="ko-KR" sz="2000" dirty="0">
              <a:ea typeface="나눔스퀘어" panose="020B0600000101010101" pitchFamily="50" charset="-127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041" y="4286882"/>
            <a:ext cx="6249525" cy="2128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787649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097288" y="105748"/>
            <a:ext cx="408201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Web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MVC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1" dirty="0"/>
              <a:t>404 </a:t>
            </a:r>
            <a:r>
              <a:rPr lang="ko-KR" altLang="en-US" sz="2400" b="1" dirty="0"/>
              <a:t>오류</a:t>
            </a:r>
            <a:endParaRPr lang="en-US" altLang="ko-KR" sz="2400" b="1" dirty="0"/>
          </a:p>
          <a:p>
            <a:pPr lvl="1">
              <a:lnSpc>
                <a:spcPct val="150000"/>
              </a:lnSpc>
            </a:pPr>
            <a:r>
              <a:rPr lang="en-US" altLang="ko-KR" sz="2400" b="1" dirty="0"/>
              <a:t>import </a:t>
            </a:r>
            <a:r>
              <a:rPr lang="en-US" altLang="ko-KR" sz="2400" b="1" dirty="0" err="1"/>
              <a:t>org.springframework.web.servlet.NoHandlerFoundException</a:t>
            </a:r>
            <a:r>
              <a:rPr lang="en-US" altLang="ko-KR" sz="2400" b="1" dirty="0"/>
              <a:t>;</a:t>
            </a:r>
          </a:p>
          <a:p>
            <a:pPr lvl="1">
              <a:lnSpc>
                <a:spcPct val="150000"/>
              </a:lnSpc>
            </a:pP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6" y="2323807"/>
            <a:ext cx="10416906" cy="2283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226" y="4390879"/>
            <a:ext cx="5077337" cy="21151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735698" y="4305428"/>
            <a:ext cx="5077337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DispatcherServlet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 </a:t>
            </a:r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HandlerMapping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에게 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Request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처리할 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Handler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찾도록 요청할 때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Handler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찾지 못할 경우 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 err="1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NoHandlerFoundException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을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Throw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하게 해주어야 한다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612118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85494-14A2-128F-57C2-61342DE32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2F72E3C3-2454-07CD-8EC4-428460E80B23}"/>
              </a:ext>
            </a:extLst>
          </p:cNvPr>
          <p:cNvSpPr/>
          <p:nvPr/>
        </p:nvSpPr>
        <p:spPr>
          <a:xfrm>
            <a:off x="4097288" y="105748"/>
            <a:ext cx="408201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Web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MVC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109FC30-C592-C420-804D-0117AFBE3EDA}"/>
              </a:ext>
            </a:extLst>
          </p:cNvPr>
          <p:cNvSpPr/>
          <p:nvPr/>
        </p:nvSpPr>
        <p:spPr>
          <a:xfrm>
            <a:off x="488356" y="1170422"/>
            <a:ext cx="10591235" cy="1147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1" dirty="0"/>
              <a:t>415, 400 </a:t>
            </a:r>
            <a:r>
              <a:rPr lang="ko-KR" altLang="en-US" sz="2400" b="1" dirty="0"/>
              <a:t>오류</a:t>
            </a:r>
            <a:endParaRPr lang="en-US" altLang="ko-KR" sz="2400" b="1" dirty="0"/>
          </a:p>
          <a:p>
            <a:pPr lvl="1">
              <a:lnSpc>
                <a:spcPct val="150000"/>
              </a:lnSpc>
            </a:pP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930F2D4-2AA2-EBDC-ED2C-E58794BD8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518" y="1926667"/>
            <a:ext cx="7676681" cy="381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20704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61514-FBEE-F30D-D9E7-E61236642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A494CC6-DF48-FC86-D439-6881AC6B0058}"/>
              </a:ext>
            </a:extLst>
          </p:cNvPr>
          <p:cNvSpPr/>
          <p:nvPr/>
        </p:nvSpPr>
        <p:spPr>
          <a:xfrm>
            <a:off x="4097288" y="105748"/>
            <a:ext cx="408201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Web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MVC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CFA0FE6-0274-904E-5662-553A5E72CC08}"/>
              </a:ext>
            </a:extLst>
          </p:cNvPr>
          <p:cNvSpPr/>
          <p:nvPr/>
        </p:nvSpPr>
        <p:spPr>
          <a:xfrm>
            <a:off x="449720" y="1157543"/>
            <a:ext cx="10591235" cy="14805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b="1" dirty="0"/>
              <a:t>공통로직</a:t>
            </a:r>
            <a:endParaRPr lang="en-US" altLang="ko-KR" sz="2400" b="1" dirty="0"/>
          </a:p>
          <a:p>
            <a:pPr marL="814388" lvl="1" indent="-35718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모든 요청에 대해 수행하고자 하는 작업 추가하기</a:t>
            </a:r>
            <a:endParaRPr lang="en-US" altLang="ko-KR" sz="2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14388" lvl="1" indent="-35718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@ModelAttribute("springbooturl")</a:t>
            </a:r>
            <a:r>
              <a:rPr lang="ko-KR" altLang="en-US" dirty="0"/>
              <a:t>를 이용하면 </a:t>
            </a:r>
            <a:r>
              <a:rPr lang="en-US" altLang="ko-KR" dirty="0"/>
              <a:t>JSP</a:t>
            </a:r>
            <a:r>
              <a:rPr lang="ko-KR" altLang="en-US" dirty="0"/>
              <a:t>페이지에서 </a:t>
            </a:r>
            <a:r>
              <a:rPr lang="en-US" altLang="ko-KR" dirty="0"/>
              <a:t>${</a:t>
            </a:r>
            <a:r>
              <a:rPr lang="en-US" altLang="ko-KR" dirty="0" err="1"/>
              <a:t>springbooturl</a:t>
            </a:r>
            <a:r>
              <a:rPr lang="en-US" altLang="ko-KR" dirty="0"/>
              <a:t>}</a:t>
            </a:r>
            <a:r>
              <a:rPr lang="ko-KR" altLang="en-US" dirty="0"/>
              <a:t>접근 가능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68F3138-3A34-7EC1-5CDC-9A4FDF7D0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941" y="2882075"/>
            <a:ext cx="3324689" cy="309605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468B152-AFB6-D221-E141-C8BCCB3849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454" y="2856144"/>
            <a:ext cx="6788987" cy="331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84674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B0040-B37F-8575-50C0-27D62C5A5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76A25EB-4B7E-A4DC-A88C-41C6465B1AC0}"/>
              </a:ext>
            </a:extLst>
          </p:cNvPr>
          <p:cNvSpPr/>
          <p:nvPr/>
        </p:nvSpPr>
        <p:spPr>
          <a:xfrm>
            <a:off x="4097288" y="105748"/>
            <a:ext cx="408201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Web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MVC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103F6E8-961C-2944-102A-CE754F1A8356}"/>
              </a:ext>
            </a:extLst>
          </p:cNvPr>
          <p:cNvSpPr/>
          <p:nvPr/>
        </p:nvSpPr>
        <p:spPr>
          <a:xfrm>
            <a:off x="488356" y="1170422"/>
            <a:ext cx="10591235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1" dirty="0"/>
              <a:t>@WebFilter</a:t>
            </a:r>
          </a:p>
          <a:p>
            <a:pPr lvl="1">
              <a:lnSpc>
                <a:spcPct val="150000"/>
              </a:lnSpc>
            </a:pPr>
            <a:endParaRPr lang="en-US" altLang="ko-KR" sz="2400" b="1" dirty="0"/>
          </a:p>
          <a:p>
            <a:pPr algn="l"/>
            <a:r>
              <a:rPr lang="en-US" altLang="ko-KR" sz="1800" dirty="0">
                <a:solidFill>
                  <a:srgbClr val="646464"/>
                </a:solidFill>
                <a:latin typeface="Courier New" panose="02070309020205020404" pitchFamily="49" charset="0"/>
              </a:rPr>
              <a:t>@Slf4j</a:t>
            </a:r>
          </a:p>
          <a:p>
            <a:pPr algn="l"/>
            <a:r>
              <a:rPr lang="en-US" altLang="ko-KR" sz="1800" dirty="0">
                <a:solidFill>
                  <a:srgbClr val="646464"/>
                </a:solidFill>
                <a:latin typeface="Courier New" panose="02070309020205020404" pitchFamily="49" charset="0"/>
              </a:rPr>
              <a:t>@WebFilter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sz="1800" dirty="0">
                <a:solidFill>
                  <a:srgbClr val="2A00FF"/>
                </a:solidFill>
                <a:latin typeface="Courier New" panose="02070309020205020404" pitchFamily="49" charset="0"/>
              </a:rPr>
              <a:t>"*.do"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algn="l"/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class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LoginCheckFilter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b="1" dirty="0">
                <a:solidFill>
                  <a:srgbClr val="7F0055"/>
                </a:solidFill>
                <a:latin typeface="Courier New" panose="02070309020205020404" pitchFamily="49" charset="0"/>
              </a:rPr>
              <a:t>implements</a:t>
            </a:r>
            <a:r>
              <a:rPr lang="en-US" altLang="ko-KR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Filter {  }</a:t>
            </a:r>
            <a:endParaRPr lang="en-US" altLang="ko-KR" sz="2400" b="1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/>
            <a:endParaRPr lang="en-US" altLang="ko-KR" sz="2400" b="1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/>
            <a:endParaRPr lang="en-US" altLang="ko-KR" sz="2400" b="1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2400" b="1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https://mvnrepository.com/artifact/javax.servlet/javax.servlet-api/3.0.1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dependency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lvl="1"/>
            <a:r>
              <a:rPr lang="en-US" altLang="ko-KR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dirty="0" err="1">
                <a:solidFill>
                  <a:srgbClr val="3F7F7F"/>
                </a:solidFill>
                <a:latin typeface="Courier New" panose="02070309020205020404" pitchFamily="49" charset="0"/>
              </a:rPr>
              <a:t>groupId</a:t>
            </a:r>
            <a:r>
              <a:rPr lang="en-US" altLang="ko-KR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javax.servlet</a:t>
            </a:r>
            <a:r>
              <a:rPr lang="en-US" altLang="ko-KR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dirty="0" err="1">
                <a:solidFill>
                  <a:srgbClr val="3F7F7F"/>
                </a:solidFill>
                <a:latin typeface="Courier New" panose="02070309020205020404" pitchFamily="49" charset="0"/>
              </a:rPr>
              <a:t>groupId</a:t>
            </a:r>
            <a:r>
              <a:rPr lang="en-US" altLang="ko-KR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lvl="1"/>
            <a:r>
              <a:rPr lang="en-US" altLang="ko-KR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dirty="0" err="1">
                <a:solidFill>
                  <a:srgbClr val="3F7F7F"/>
                </a:solidFill>
                <a:latin typeface="Courier New" panose="02070309020205020404" pitchFamily="49" charset="0"/>
              </a:rPr>
              <a:t>artifactId</a:t>
            </a:r>
            <a:r>
              <a:rPr lang="en-US" altLang="ko-KR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javax.servlet-api</a:t>
            </a:r>
            <a:r>
              <a:rPr lang="en-US" altLang="ko-KR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dirty="0" err="1">
                <a:solidFill>
                  <a:srgbClr val="3F7F7F"/>
                </a:solidFill>
                <a:latin typeface="Courier New" panose="02070309020205020404" pitchFamily="49" charset="0"/>
              </a:rPr>
              <a:t>artifactId</a:t>
            </a:r>
            <a:r>
              <a:rPr lang="en-US" altLang="ko-KR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lvl="1"/>
            <a:r>
              <a:rPr lang="en-US" altLang="ko-KR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dirty="0">
                <a:solidFill>
                  <a:srgbClr val="3F7F7F"/>
                </a:solidFill>
                <a:latin typeface="Courier New" panose="02070309020205020404" pitchFamily="49" charset="0"/>
              </a:rPr>
              <a:t>version</a:t>
            </a:r>
            <a:r>
              <a:rPr lang="en-US" altLang="ko-KR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3.0.1</a:t>
            </a:r>
            <a:r>
              <a:rPr lang="en-US" altLang="ko-KR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dirty="0">
                <a:solidFill>
                  <a:srgbClr val="3F7F7F"/>
                </a:solidFill>
                <a:latin typeface="Courier New" panose="02070309020205020404" pitchFamily="49" charset="0"/>
              </a:rPr>
              <a:t>version</a:t>
            </a:r>
            <a:r>
              <a:rPr lang="en-US" altLang="ko-KR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lvl="1"/>
            <a:r>
              <a:rPr lang="en-US" altLang="ko-KR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dirty="0">
                <a:solidFill>
                  <a:srgbClr val="3F7F7F"/>
                </a:solidFill>
                <a:latin typeface="Courier New" panose="02070309020205020404" pitchFamily="49" charset="0"/>
              </a:rPr>
              <a:t>scope</a:t>
            </a:r>
            <a:r>
              <a:rPr lang="en-US" altLang="ko-KR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provided</a:t>
            </a:r>
            <a:r>
              <a:rPr lang="en-US" altLang="ko-KR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dirty="0">
                <a:solidFill>
                  <a:srgbClr val="3F7F7F"/>
                </a:solidFill>
                <a:latin typeface="Courier New" panose="02070309020205020404" pitchFamily="49" charset="0"/>
              </a:rPr>
              <a:t>scope</a:t>
            </a:r>
            <a:r>
              <a:rPr lang="en-US" altLang="ko-KR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dependency</a:t>
            </a:r>
            <a:r>
              <a:rPr lang="en-US" altLang="ko-KR" sz="18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endParaRPr lang="en-US" altLang="ko-KR" sz="2400" b="1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/>
            <a:endParaRPr lang="en-US" altLang="ko-KR" sz="18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5074696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FF01E098-FBDB-420F-88A9-27027F4759A5}"/>
              </a:ext>
            </a:extLst>
          </p:cNvPr>
          <p:cNvGrpSpPr/>
          <p:nvPr/>
        </p:nvGrpSpPr>
        <p:grpSpPr>
          <a:xfrm>
            <a:off x="3726874" y="2815838"/>
            <a:ext cx="7315199" cy="1226323"/>
            <a:chOff x="4793673" y="1246908"/>
            <a:chExt cx="6442363" cy="1080000"/>
          </a:xfrm>
        </p:grpSpPr>
        <p:sp>
          <p:nvSpPr>
            <p:cNvPr id="14" name="육각형 13">
              <a:extLst>
                <a:ext uri="{FF2B5EF4-FFF2-40B4-BE49-F238E27FC236}">
                  <a16:creationId xmlns:a16="http://schemas.microsoft.com/office/drawing/2014/main" id="{7ADDF6C6-9FD3-40F2-ADC2-37A43AADF7ED}"/>
                </a:ext>
              </a:extLst>
            </p:cNvPr>
            <p:cNvSpPr/>
            <p:nvPr/>
          </p:nvSpPr>
          <p:spPr>
            <a:xfrm>
              <a:off x="4793673" y="1246908"/>
              <a:ext cx="6442363" cy="1080000"/>
            </a:xfrm>
            <a:prstGeom prst="hexagon">
              <a:avLst>
                <a:gd name="adj" fmla="val 42671"/>
                <a:gd name="vf" fmla="val 11547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화살표: 오각형 14">
              <a:extLst>
                <a:ext uri="{FF2B5EF4-FFF2-40B4-BE49-F238E27FC236}">
                  <a16:creationId xmlns:a16="http://schemas.microsoft.com/office/drawing/2014/main" id="{81F229D3-E3EA-4A23-AA82-5E2AF3A625A9}"/>
                </a:ext>
              </a:extLst>
            </p:cNvPr>
            <p:cNvSpPr/>
            <p:nvPr/>
          </p:nvSpPr>
          <p:spPr>
            <a:xfrm>
              <a:off x="5632954" y="1371410"/>
              <a:ext cx="5339846" cy="830996"/>
            </a:xfrm>
            <a:prstGeom prst="homePlat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D920D6B8-E4ED-4528-A983-BD701AD4E691}"/>
                </a:ext>
              </a:extLst>
            </p:cNvPr>
            <p:cNvSpPr/>
            <p:nvPr/>
          </p:nvSpPr>
          <p:spPr>
            <a:xfrm>
              <a:off x="5196182" y="1364345"/>
              <a:ext cx="845127" cy="845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51810F50-4F4F-4ABD-840E-E581E3B8C415}"/>
                </a:ext>
              </a:extLst>
            </p:cNvPr>
            <p:cNvGrpSpPr/>
            <p:nvPr/>
          </p:nvGrpSpPr>
          <p:grpSpPr>
            <a:xfrm>
              <a:off x="5537401" y="1369809"/>
              <a:ext cx="4902870" cy="813160"/>
              <a:chOff x="5516922" y="1640913"/>
              <a:chExt cx="3535244" cy="586335"/>
            </a:xfrm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EB1F94F4-27C9-4570-8682-1A33FA68D416}"/>
                  </a:ext>
                </a:extLst>
              </p:cNvPr>
              <p:cNvSpPr/>
              <p:nvPr/>
            </p:nvSpPr>
            <p:spPr>
              <a:xfrm>
                <a:off x="6030979" y="1689774"/>
                <a:ext cx="3021187" cy="488612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defTabSz="1076865" eaLnBrk="0" latinLnBrk="0" hangingPunct="0">
                  <a:spcAft>
                    <a:spcPts val="486"/>
                  </a:spcAft>
                  <a:buSzPct val="100000"/>
                  <a:defRPr/>
                </a:pPr>
                <a:r>
                  <a:rPr lang="en-US" altLang="ko-KR" sz="4400">
                    <a:gradFill>
                      <a:gsLst>
                        <a:gs pos="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6200000" scaled="1"/>
                    </a:gradFill>
                    <a:latin typeface="HY견고딕" pitchFamily="18" charset="-127"/>
                    <a:ea typeface="HY견고딕" pitchFamily="18" charset="-127"/>
                  </a:rPr>
                  <a:t>Database</a:t>
                </a:r>
                <a:r>
                  <a:rPr lang="ko-KR" altLang="en-US" sz="4400">
                    <a:gradFill>
                      <a:gsLst>
                        <a:gs pos="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6200000" scaled="1"/>
                    </a:gradFill>
                    <a:latin typeface="HY견고딕" pitchFamily="18" charset="-127"/>
                    <a:ea typeface="HY견고딕" pitchFamily="18" charset="-127"/>
                  </a:rPr>
                  <a:t>연동</a:t>
                </a:r>
                <a:endParaRPr lang="ko-KR" altLang="en-US" sz="4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16200000" scaled="1"/>
                  </a:gradFill>
                  <a:latin typeface="HY견고딕" pitchFamily="18" charset="-127"/>
                  <a:ea typeface="HY견고딕" pitchFamily="18" charset="-127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4541CD06-C435-48C0-AA4F-7B628FBAD386}"/>
                  </a:ext>
                </a:extLst>
              </p:cNvPr>
              <p:cNvSpPr/>
              <p:nvPr/>
            </p:nvSpPr>
            <p:spPr>
              <a:xfrm>
                <a:off x="5516922" y="1640913"/>
                <a:ext cx="117307" cy="586335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5400" b="1" i="0" u="none" strike="noStrike" kern="0" normalizeH="0" baseline="0" noProof="0" dirty="0">
                  <a:ln w="2857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uLnTx/>
                  <a:uFillTx/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54049030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660056" y="105748"/>
            <a:ext cx="495648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Database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연동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56169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Data Source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설정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[pom.xml]   Oracle Driver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 대한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Dependency </a:t>
            </a:r>
          </a:p>
          <a:p>
            <a:endParaRPr lang="en-US" altLang="ko-KR" sz="1400" dirty="0"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tx2">
                    <a:lumMod val="60000"/>
                    <a:lumOff val="40000"/>
                  </a:schemeClr>
                </a:solidFill>
                <a:ea typeface="나눔스퀘어" panose="020B0600000101010101" pitchFamily="50" charset="-127"/>
              </a:rPr>
              <a:t>&lt;dependency&gt;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tx2">
                    <a:lumMod val="60000"/>
                    <a:lumOff val="40000"/>
                  </a:schemeClr>
                </a:solidFill>
                <a:ea typeface="나눔스퀘어" panose="020B0600000101010101" pitchFamily="50" charset="-127"/>
              </a:rPr>
              <a:t>&lt;</a:t>
            </a:r>
            <a:r>
              <a:rPr lang="en-US" altLang="ko-KR" dirty="0" err="1">
                <a:solidFill>
                  <a:schemeClr val="tx2">
                    <a:lumMod val="60000"/>
                    <a:lumOff val="40000"/>
                  </a:schemeClr>
                </a:solidFill>
                <a:ea typeface="나눔스퀘어" panose="020B0600000101010101" pitchFamily="50" charset="-127"/>
              </a:rPr>
              <a:t>groupId</a:t>
            </a:r>
            <a:r>
              <a:rPr lang="en-US" altLang="ko-KR" dirty="0">
                <a:solidFill>
                  <a:schemeClr val="tx2">
                    <a:lumMod val="60000"/>
                    <a:lumOff val="40000"/>
                  </a:schemeClr>
                </a:solidFill>
                <a:ea typeface="나눔스퀘어" panose="020B0600000101010101" pitchFamily="50" charset="-127"/>
              </a:rPr>
              <a:t>&gt;</a:t>
            </a:r>
            <a:r>
              <a:rPr lang="en-US" altLang="ko-KR" dirty="0" err="1">
                <a:solidFill>
                  <a:schemeClr val="tx2">
                    <a:lumMod val="60000"/>
                    <a:lumOff val="40000"/>
                  </a:schemeClr>
                </a:solidFill>
                <a:ea typeface="나눔스퀘어" panose="020B0600000101010101" pitchFamily="50" charset="-127"/>
              </a:rPr>
              <a:t>org.springframework</a:t>
            </a:r>
            <a:r>
              <a:rPr lang="en-US" altLang="ko-KR" dirty="0">
                <a:solidFill>
                  <a:schemeClr val="tx2">
                    <a:lumMod val="60000"/>
                    <a:lumOff val="40000"/>
                  </a:schemeClr>
                </a:solidFill>
                <a:ea typeface="나눔스퀘어" panose="020B0600000101010101" pitchFamily="50" charset="-127"/>
              </a:rPr>
              <a:t>&lt;/</a:t>
            </a:r>
            <a:r>
              <a:rPr lang="en-US" altLang="ko-KR" dirty="0" err="1">
                <a:solidFill>
                  <a:schemeClr val="tx2">
                    <a:lumMod val="60000"/>
                    <a:lumOff val="40000"/>
                  </a:schemeClr>
                </a:solidFill>
                <a:ea typeface="나눔스퀘어" panose="020B0600000101010101" pitchFamily="50" charset="-127"/>
              </a:rPr>
              <a:t>groupId</a:t>
            </a:r>
            <a:r>
              <a:rPr lang="en-US" altLang="ko-KR" dirty="0">
                <a:solidFill>
                  <a:schemeClr val="tx2">
                    <a:lumMod val="60000"/>
                    <a:lumOff val="40000"/>
                  </a:schemeClr>
                </a:solidFill>
                <a:ea typeface="나눔스퀘어" panose="020B0600000101010101" pitchFamily="50" charset="-127"/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tx2">
                    <a:lumMod val="60000"/>
                    <a:lumOff val="40000"/>
                  </a:schemeClr>
                </a:solidFill>
                <a:ea typeface="나눔스퀘어" panose="020B0600000101010101" pitchFamily="50" charset="-127"/>
              </a:rPr>
              <a:t>&lt;</a:t>
            </a:r>
            <a:r>
              <a:rPr lang="en-US" altLang="ko-KR" dirty="0" err="1">
                <a:solidFill>
                  <a:schemeClr val="tx2">
                    <a:lumMod val="60000"/>
                    <a:lumOff val="40000"/>
                  </a:schemeClr>
                </a:solidFill>
                <a:ea typeface="나눔스퀘어" panose="020B0600000101010101" pitchFamily="50" charset="-127"/>
              </a:rPr>
              <a:t>artifactId</a:t>
            </a:r>
            <a:r>
              <a:rPr lang="en-US" altLang="ko-KR" dirty="0">
                <a:solidFill>
                  <a:schemeClr val="tx2">
                    <a:lumMod val="60000"/>
                    <a:lumOff val="40000"/>
                  </a:schemeClr>
                </a:solidFill>
                <a:ea typeface="나눔스퀘어" panose="020B0600000101010101" pitchFamily="50" charset="-127"/>
              </a:rPr>
              <a:t>&gt;</a:t>
            </a:r>
            <a:r>
              <a:rPr lang="en-US" altLang="ko-KR" b="1" dirty="0">
                <a:solidFill>
                  <a:schemeClr val="tx2">
                    <a:lumMod val="60000"/>
                    <a:lumOff val="40000"/>
                  </a:schemeClr>
                </a:solidFill>
                <a:ea typeface="나눔스퀘어" panose="020B0600000101010101" pitchFamily="50" charset="-127"/>
              </a:rPr>
              <a:t>spring-</a:t>
            </a:r>
            <a:r>
              <a:rPr lang="en-US" altLang="ko-KR" b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나눔스퀘어" panose="020B0600000101010101" pitchFamily="50" charset="-127"/>
              </a:rPr>
              <a:t>jdbc</a:t>
            </a:r>
            <a:r>
              <a:rPr lang="en-US" altLang="ko-KR" dirty="0">
                <a:solidFill>
                  <a:schemeClr val="tx2">
                    <a:lumMod val="60000"/>
                    <a:lumOff val="40000"/>
                  </a:schemeClr>
                </a:solidFill>
                <a:ea typeface="나눔스퀘어" panose="020B0600000101010101" pitchFamily="50" charset="-127"/>
              </a:rPr>
              <a:t>&lt;/</a:t>
            </a:r>
            <a:r>
              <a:rPr lang="en-US" altLang="ko-KR" dirty="0" err="1">
                <a:solidFill>
                  <a:schemeClr val="tx2">
                    <a:lumMod val="60000"/>
                    <a:lumOff val="40000"/>
                  </a:schemeClr>
                </a:solidFill>
                <a:ea typeface="나눔스퀘어" panose="020B0600000101010101" pitchFamily="50" charset="-127"/>
              </a:rPr>
              <a:t>artifactId</a:t>
            </a:r>
            <a:r>
              <a:rPr lang="en-US" altLang="ko-KR" dirty="0">
                <a:solidFill>
                  <a:schemeClr val="tx2">
                    <a:lumMod val="60000"/>
                    <a:lumOff val="40000"/>
                  </a:schemeClr>
                </a:solidFill>
                <a:ea typeface="나눔스퀘어" panose="020B0600000101010101" pitchFamily="50" charset="-127"/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tx2">
                    <a:lumMod val="60000"/>
                    <a:lumOff val="40000"/>
                  </a:schemeClr>
                </a:solidFill>
                <a:ea typeface="나눔스퀘어" panose="020B0600000101010101" pitchFamily="50" charset="-127"/>
              </a:rPr>
              <a:t>&lt;version&gt;${</a:t>
            </a:r>
            <a:r>
              <a:rPr lang="en-US" altLang="ko-KR" dirty="0" err="1">
                <a:solidFill>
                  <a:schemeClr val="tx2">
                    <a:lumMod val="60000"/>
                    <a:lumOff val="40000"/>
                  </a:schemeClr>
                </a:solidFill>
                <a:ea typeface="나눔스퀘어" panose="020B0600000101010101" pitchFamily="50" charset="-127"/>
              </a:rPr>
              <a:t>org.springframework</a:t>
            </a:r>
            <a:r>
              <a:rPr lang="en-US" altLang="ko-KR" dirty="0">
                <a:solidFill>
                  <a:schemeClr val="tx2">
                    <a:lumMod val="60000"/>
                    <a:lumOff val="40000"/>
                  </a:schemeClr>
                </a:solidFill>
                <a:ea typeface="나눔스퀘어" panose="020B0600000101010101" pitchFamily="50" charset="-127"/>
              </a:rPr>
              <a:t>-version}&lt;/version&gt;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tx2">
                    <a:lumMod val="60000"/>
                    <a:lumOff val="40000"/>
                  </a:schemeClr>
                </a:solidFill>
                <a:ea typeface="나눔스퀘어" panose="020B0600000101010101" pitchFamily="50" charset="-127"/>
              </a:rPr>
              <a:t>&lt;/dependency&gt;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ea typeface="나눔스퀘어" panose="020B0600000101010101" pitchFamily="50" charset="-127"/>
              </a:rPr>
              <a:t> &lt;dependency&gt;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ea typeface="나눔스퀘어" panose="020B0600000101010101" pitchFamily="50" charset="-127"/>
              </a:rPr>
              <a:t>&lt;</a:t>
            </a:r>
            <a:r>
              <a:rPr lang="en-US" altLang="ko-KR" dirty="0" err="1">
                <a:solidFill>
                  <a:schemeClr val="accent6">
                    <a:lumMod val="75000"/>
                  </a:schemeClr>
                </a:solidFill>
                <a:ea typeface="나눔스퀘어" panose="020B0600000101010101" pitchFamily="50" charset="-127"/>
              </a:rPr>
              <a:t>groupId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ea typeface="나눔스퀘어" panose="020B0600000101010101" pitchFamily="50" charset="-127"/>
              </a:rPr>
              <a:t>&gt;</a:t>
            </a:r>
            <a:r>
              <a:rPr lang="en-US" altLang="ko-KR" dirty="0" err="1">
                <a:solidFill>
                  <a:schemeClr val="accent6">
                    <a:lumMod val="75000"/>
                  </a:schemeClr>
                </a:solidFill>
                <a:ea typeface="나눔스퀘어" panose="020B0600000101010101" pitchFamily="50" charset="-127"/>
              </a:rPr>
              <a:t>com.oracle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ea typeface="나눔스퀘어" panose="020B0600000101010101" pitchFamily="50" charset="-127"/>
              </a:rPr>
              <a:t>&lt;/</a:t>
            </a:r>
            <a:r>
              <a:rPr lang="en-US" altLang="ko-KR" dirty="0" err="1">
                <a:solidFill>
                  <a:schemeClr val="accent6">
                    <a:lumMod val="75000"/>
                  </a:schemeClr>
                </a:solidFill>
                <a:ea typeface="나눔스퀘어" panose="020B0600000101010101" pitchFamily="50" charset="-127"/>
              </a:rPr>
              <a:t>groupId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ea typeface="나눔스퀘어" panose="020B0600000101010101" pitchFamily="50" charset="-127"/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ea typeface="나눔스퀘어" panose="020B0600000101010101" pitchFamily="50" charset="-127"/>
              </a:rPr>
              <a:t>&lt;</a:t>
            </a:r>
            <a:r>
              <a:rPr lang="en-US" altLang="ko-KR" dirty="0" err="1">
                <a:solidFill>
                  <a:schemeClr val="accent6">
                    <a:lumMod val="75000"/>
                  </a:schemeClr>
                </a:solidFill>
                <a:ea typeface="나눔스퀘어" panose="020B0600000101010101" pitchFamily="50" charset="-127"/>
              </a:rPr>
              <a:t>artifactId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ea typeface="나눔스퀘어" panose="020B0600000101010101" pitchFamily="50" charset="-127"/>
              </a:rPr>
              <a:t>&gt;</a:t>
            </a:r>
            <a:r>
              <a:rPr lang="en-US" altLang="ko-KR" dirty="0" err="1">
                <a:solidFill>
                  <a:schemeClr val="accent6">
                    <a:lumMod val="75000"/>
                  </a:schemeClr>
                </a:solidFill>
                <a:ea typeface="나눔스퀘어" panose="020B0600000101010101" pitchFamily="50" charset="-127"/>
              </a:rPr>
              <a:t>ojdbc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ea typeface="나눔스퀘어" panose="020B0600000101010101" pitchFamily="50" charset="-127"/>
              </a:rPr>
              <a:t>&lt;/</a:t>
            </a:r>
            <a:r>
              <a:rPr lang="en-US" altLang="ko-KR" dirty="0" err="1">
                <a:solidFill>
                  <a:schemeClr val="accent6">
                    <a:lumMod val="75000"/>
                  </a:schemeClr>
                </a:solidFill>
                <a:ea typeface="나눔스퀘어" panose="020B0600000101010101" pitchFamily="50" charset="-127"/>
              </a:rPr>
              <a:t>artifactId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ea typeface="나눔스퀘어" panose="020B0600000101010101" pitchFamily="50" charset="-127"/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ea typeface="나눔스퀘어" panose="020B0600000101010101" pitchFamily="50" charset="-127"/>
              </a:rPr>
              <a:t>&lt;version&gt;6&lt;/version&gt;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ea typeface="나눔스퀘어" panose="020B0600000101010101" pitchFamily="50" charset="-127"/>
              </a:rPr>
              <a:t>&lt;/dependency&gt;  </a:t>
            </a:r>
          </a:p>
          <a:p>
            <a:endParaRPr lang="en-US" altLang="ko-KR" sz="1200" dirty="0"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464360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660056" y="105748"/>
            <a:ext cx="495648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Database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연동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Data Source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설정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[web.xml] </a:t>
            </a:r>
            <a:r>
              <a:rPr lang="en-US" altLang="ko-KR" sz="1400" dirty="0" err="1"/>
              <a:t>DispatcherServlet</a:t>
            </a:r>
            <a:r>
              <a:rPr lang="ko-KR" altLang="en-US" sz="1400" dirty="0"/>
              <a:t>의 파라메터 수정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dirty="0"/>
              <a:t>&lt;</a:t>
            </a:r>
            <a:r>
              <a:rPr lang="en-US" altLang="ko-KR" dirty="0" err="1"/>
              <a:t>init</a:t>
            </a:r>
            <a:r>
              <a:rPr lang="en-US" altLang="ko-KR" dirty="0"/>
              <a:t>-param&gt;</a:t>
            </a:r>
          </a:p>
          <a:p>
            <a:pPr lvl="1"/>
            <a:r>
              <a:rPr lang="en-US" altLang="ko-KR" dirty="0">
                <a:ea typeface="나눔스퀘어" panose="020B0600000101010101" pitchFamily="50" charset="-127"/>
              </a:rPr>
              <a:t>&lt;param-name&gt;</a:t>
            </a:r>
            <a:r>
              <a:rPr lang="en-US" altLang="ko-KR" dirty="0" err="1">
                <a:ea typeface="나눔스퀘어" panose="020B0600000101010101" pitchFamily="50" charset="-127"/>
              </a:rPr>
              <a:t>contextConfigLocation</a:t>
            </a:r>
            <a:r>
              <a:rPr lang="en-US" altLang="ko-KR" dirty="0">
                <a:ea typeface="나눔스퀘어" panose="020B0600000101010101" pitchFamily="50" charset="-127"/>
              </a:rPr>
              <a:t>&lt;/param-name&gt;</a:t>
            </a:r>
          </a:p>
          <a:p>
            <a:pPr lvl="1"/>
            <a:r>
              <a:rPr lang="en-US" altLang="ko-KR" dirty="0">
                <a:ea typeface="나눔스퀘어" panose="020B0600000101010101" pitchFamily="50" charset="-127"/>
              </a:rPr>
              <a:t>&lt;param-value&gt;</a:t>
            </a:r>
          </a:p>
          <a:p>
            <a:pPr lvl="1"/>
            <a:r>
              <a:rPr lang="en-US" altLang="ko-KR" dirty="0">
                <a:ea typeface="나눔스퀘어" panose="020B0600000101010101" pitchFamily="50" charset="-127"/>
              </a:rPr>
              <a:t>  /WEB-INF/spring/</a:t>
            </a:r>
            <a:r>
              <a:rPr lang="en-US" altLang="ko-KR" dirty="0" err="1"/>
              <a:t>appServlet</a:t>
            </a:r>
            <a:r>
              <a:rPr lang="en-US" altLang="ko-KR" dirty="0"/>
              <a:t>/servlet-context.xml</a:t>
            </a:r>
          </a:p>
          <a:p>
            <a:pPr lvl="1"/>
            <a:r>
              <a:rPr lang="en-US" altLang="ko-KR" dirty="0">
                <a:ea typeface="나눔스퀘어" panose="020B0600000101010101" pitchFamily="50" charset="-127"/>
              </a:rPr>
              <a:t>  /WEB-INF/spring/</a:t>
            </a:r>
            <a:r>
              <a:rPr lang="en-US" altLang="ko-KR" dirty="0" err="1">
                <a:ea typeface="나눔스퀘어" panose="020B0600000101010101" pitchFamily="50" charset="-127"/>
              </a:rPr>
              <a:t>appServlet</a:t>
            </a:r>
            <a:r>
              <a:rPr lang="en-US" altLang="ko-KR" dirty="0">
                <a:ea typeface="나눔스퀘어" panose="020B0600000101010101" pitchFamily="50" charset="-127"/>
              </a:rPr>
              <a:t>/action-dataSource.xml</a:t>
            </a:r>
          </a:p>
          <a:p>
            <a:pPr lvl="1"/>
            <a:r>
              <a:rPr lang="en-US" altLang="ko-KR" dirty="0">
                <a:ea typeface="나눔스퀘어" panose="020B0600000101010101" pitchFamily="50" charset="-127"/>
              </a:rPr>
              <a:t>&lt;/param-value&gt;</a:t>
            </a:r>
          </a:p>
          <a:p>
            <a:r>
              <a:rPr lang="en-US" altLang="ko-KR" dirty="0"/>
              <a:t>&lt;/</a:t>
            </a:r>
            <a:r>
              <a:rPr lang="en-US" altLang="ko-KR" dirty="0" err="1"/>
              <a:t>init</a:t>
            </a:r>
            <a:r>
              <a:rPr lang="en-US" altLang="ko-KR" dirty="0"/>
              <a:t>-param&gt;</a:t>
            </a:r>
          </a:p>
          <a:p>
            <a:endParaRPr lang="ko-KR" altLang="en-US" dirty="0"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[</a:t>
            </a:r>
            <a:r>
              <a:rPr lang="en-US" altLang="ko-KR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jdbc.properties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]</a:t>
            </a:r>
          </a:p>
          <a:p>
            <a:r>
              <a:rPr lang="en-US" altLang="ko-KR" dirty="0" err="1">
                <a:ea typeface="나눔스퀘어" panose="020B0600000101010101" pitchFamily="50" charset="-127"/>
              </a:rPr>
              <a:t>jdbc.driverClassName</a:t>
            </a:r>
            <a:r>
              <a:rPr lang="en-US" altLang="ko-KR" dirty="0">
                <a:ea typeface="나눔스퀘어" panose="020B0600000101010101" pitchFamily="50" charset="-127"/>
              </a:rPr>
              <a:t>=</a:t>
            </a:r>
            <a:r>
              <a:rPr lang="en-US" altLang="ko-KR" dirty="0" err="1">
                <a:ea typeface="나눔스퀘어" panose="020B0600000101010101" pitchFamily="50" charset="-127"/>
              </a:rPr>
              <a:t>oracle.jdbc.driver.OracleDriver</a:t>
            </a:r>
            <a:endParaRPr lang="en-US" altLang="ko-KR" dirty="0">
              <a:ea typeface="나눔스퀘어" panose="020B0600000101010101" pitchFamily="50" charset="-127"/>
            </a:endParaRPr>
          </a:p>
          <a:p>
            <a:r>
              <a:rPr lang="en-US" altLang="ko-KR" dirty="0">
                <a:ea typeface="나눔스퀘어" panose="020B0600000101010101" pitchFamily="50" charset="-127"/>
              </a:rPr>
              <a:t>jdbc.url=</a:t>
            </a:r>
            <a:r>
              <a:rPr lang="en-US" altLang="ko-KR" dirty="0" err="1">
                <a:ea typeface="나눔스퀘어" panose="020B0600000101010101" pitchFamily="50" charset="-127"/>
              </a:rPr>
              <a:t>jdbc:oracle:thin</a:t>
            </a:r>
            <a:r>
              <a:rPr lang="en-US" altLang="ko-KR" dirty="0">
                <a:ea typeface="나눔스퀘어" panose="020B0600000101010101" pitchFamily="50" charset="-127"/>
              </a:rPr>
              <a:t>:@localhost:1521:XE</a:t>
            </a:r>
          </a:p>
          <a:p>
            <a:r>
              <a:rPr lang="en-US" altLang="ko-KR" dirty="0" err="1">
                <a:ea typeface="나눔스퀘어" panose="020B0600000101010101" pitchFamily="50" charset="-127"/>
              </a:rPr>
              <a:t>jdbc.username</a:t>
            </a:r>
            <a:r>
              <a:rPr lang="en-US" altLang="ko-KR" dirty="0">
                <a:ea typeface="나눔스퀘어" panose="020B0600000101010101" pitchFamily="50" charset="-127"/>
              </a:rPr>
              <a:t>=</a:t>
            </a:r>
            <a:r>
              <a:rPr lang="en-US" altLang="ko-KR" dirty="0" err="1">
                <a:ea typeface="나눔스퀘어" panose="020B0600000101010101" pitchFamily="50" charset="-127"/>
              </a:rPr>
              <a:t>hr</a:t>
            </a:r>
            <a:endParaRPr lang="en-US" altLang="ko-KR" dirty="0">
              <a:ea typeface="나눔스퀘어" panose="020B0600000101010101" pitchFamily="50" charset="-127"/>
            </a:endParaRPr>
          </a:p>
          <a:p>
            <a:r>
              <a:rPr lang="en-US" altLang="ko-KR" dirty="0" err="1">
                <a:ea typeface="나눔스퀘어" panose="020B0600000101010101" pitchFamily="50" charset="-127"/>
              </a:rPr>
              <a:t>jdbc.password</a:t>
            </a:r>
            <a:r>
              <a:rPr lang="en-US" altLang="ko-KR" dirty="0">
                <a:ea typeface="나눔스퀘어" panose="020B0600000101010101" pitchFamily="50" charset="-127"/>
              </a:rPr>
              <a:t>=</a:t>
            </a:r>
            <a:r>
              <a:rPr lang="en-US" altLang="ko-KR" dirty="0" err="1">
                <a:ea typeface="나눔스퀘어" panose="020B0600000101010101" pitchFamily="50" charset="-127"/>
              </a:rPr>
              <a:t>hr</a:t>
            </a:r>
            <a:endParaRPr lang="en-US" altLang="ko-KR" dirty="0">
              <a:ea typeface="나눔스퀘어" panose="020B0600000101010101" pitchFamily="50" charset="-127"/>
            </a:endParaRPr>
          </a:p>
          <a:p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995984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790FF46C-D34B-25DA-5459-FE06994CF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609" y="2191291"/>
            <a:ext cx="7306695" cy="2810267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3660056" y="105748"/>
            <a:ext cx="495648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Database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연동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Data Source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설정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– </a:t>
            </a:r>
            <a:r>
              <a:rPr lang="en-US" altLang="ko-KR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DriverManager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이용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[action-dataSource.xml]</a:t>
            </a:r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B3A780D-7409-20EE-52CA-1BDF1570D7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5139" y="4635753"/>
            <a:ext cx="8345065" cy="19433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07005664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D5FC8-06A4-B3B9-81CF-DFC5E820B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3DA99ABC-13E0-205F-A401-838583CDA380}"/>
              </a:ext>
            </a:extLst>
          </p:cNvPr>
          <p:cNvSpPr/>
          <p:nvPr/>
        </p:nvSpPr>
        <p:spPr>
          <a:xfrm>
            <a:off x="3660056" y="105748"/>
            <a:ext cx="495648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Database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연동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C7DA6A9-8058-388E-AC4F-7CC24FCC6D05}"/>
              </a:ext>
            </a:extLst>
          </p:cNvPr>
          <p:cNvSpPr/>
          <p:nvPr/>
        </p:nvSpPr>
        <p:spPr>
          <a:xfrm>
            <a:off x="488356" y="1170422"/>
            <a:ext cx="10591235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Data Source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설정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– </a:t>
            </a:r>
            <a:r>
              <a:rPr lang="en-US" altLang="ko-KR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DriverManager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이용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[action-dataSource.xml]</a:t>
            </a:r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0409AD0-EB7D-B869-302F-6C3C75D20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56" y="2559990"/>
            <a:ext cx="8268854" cy="143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916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660056" y="105748"/>
            <a:ext cx="495648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Database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연동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Data Source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설정</a:t>
            </a:r>
          </a:p>
          <a:p>
            <a:pPr marL="357188" indent="-357188">
              <a:lnSpc>
                <a:spcPct val="150000"/>
              </a:lnSpc>
              <a:buFont typeface="+mj-ea"/>
              <a:buAutoNum type="circleNumDbPlain"/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Connection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객체의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Factory </a:t>
            </a:r>
          </a:p>
          <a:p>
            <a:pPr marL="357188" indent="-357188">
              <a:lnSpc>
                <a:spcPct val="150000"/>
              </a:lnSpc>
              <a:buFont typeface="+mj-ea"/>
              <a:buAutoNum type="circleNumDbPlain"/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Connection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객체의 생애 주기 관리 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57188" indent="-357188">
              <a:lnSpc>
                <a:spcPct val="150000"/>
              </a:lnSpc>
              <a:buFont typeface="+mj-ea"/>
              <a:buAutoNum type="circleNumDbPlain"/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Connection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객체 생성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삭제시의 시스템 부하 감소</a:t>
            </a: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822" y="3440680"/>
            <a:ext cx="6257925" cy="200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593912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660056" y="105748"/>
            <a:ext cx="495648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Database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연동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3385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Data Source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설정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서드파티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en-US" altLang="ko-KR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apache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제공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DBCP)</a:t>
            </a:r>
          </a:p>
          <a:p>
            <a:endParaRPr lang="en-US" altLang="ko-KR" sz="1600" dirty="0"/>
          </a:p>
          <a:p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[pom.xml]</a:t>
            </a:r>
          </a:p>
          <a:p>
            <a:r>
              <a:rPr lang="en-US" altLang="ko-KR" sz="1400" dirty="0"/>
              <a:t>&lt;dependency&gt;</a:t>
            </a:r>
          </a:p>
          <a:p>
            <a:r>
              <a:rPr lang="en-US" altLang="ko-KR" sz="1400" dirty="0"/>
              <a:t>    &lt;</a:t>
            </a:r>
            <a:r>
              <a:rPr lang="en-US" altLang="ko-KR" sz="1400" dirty="0" err="1"/>
              <a:t>groupId</a:t>
            </a:r>
            <a:r>
              <a:rPr lang="en-US" altLang="ko-KR" sz="1400" dirty="0"/>
              <a:t>&gt;</a:t>
            </a:r>
            <a:r>
              <a:rPr lang="en-US" altLang="ko-KR" sz="1400" dirty="0" err="1"/>
              <a:t>org.apache.commons</a:t>
            </a:r>
            <a:r>
              <a:rPr lang="en-US" altLang="ko-KR" sz="1400" dirty="0"/>
              <a:t>&lt;/</a:t>
            </a:r>
            <a:r>
              <a:rPr lang="en-US" altLang="ko-KR" sz="1400" dirty="0" err="1"/>
              <a:t>groupId</a:t>
            </a:r>
            <a:r>
              <a:rPr lang="en-US" altLang="ko-KR" sz="1400" dirty="0"/>
              <a:t>&gt;</a:t>
            </a:r>
          </a:p>
          <a:p>
            <a:r>
              <a:rPr lang="en-US" altLang="ko-KR" sz="1400" dirty="0"/>
              <a:t>    &lt;</a:t>
            </a:r>
            <a:r>
              <a:rPr lang="en-US" altLang="ko-KR" sz="1400" dirty="0" err="1"/>
              <a:t>artifactId</a:t>
            </a:r>
            <a:r>
              <a:rPr lang="en-US" altLang="ko-KR" sz="1400" dirty="0"/>
              <a:t>&gt;commons-dbcp2&lt;/</a:t>
            </a:r>
            <a:r>
              <a:rPr lang="en-US" altLang="ko-KR" sz="1400" dirty="0" err="1"/>
              <a:t>artifactId</a:t>
            </a:r>
            <a:r>
              <a:rPr lang="en-US" altLang="ko-KR" sz="1400" dirty="0"/>
              <a:t>&gt;</a:t>
            </a:r>
          </a:p>
          <a:p>
            <a:r>
              <a:rPr lang="en-US" altLang="ko-KR" sz="1400" dirty="0"/>
              <a:t>    &lt;version&gt;2.7.0&lt;/version&gt;</a:t>
            </a:r>
          </a:p>
          <a:p>
            <a:r>
              <a:rPr lang="en-US" altLang="ko-KR" sz="1400" dirty="0"/>
              <a:t>&lt;/dependency&gt;</a:t>
            </a:r>
          </a:p>
          <a:p>
            <a:endParaRPr lang="en-US" altLang="ko-KR" sz="1400" dirty="0">
              <a:ea typeface="나눔스퀘어" panose="020B0600000101010101" pitchFamily="50" charset="-127"/>
            </a:endParaRPr>
          </a:p>
          <a:p>
            <a:endParaRPr lang="en-US" altLang="ko-KR" sz="1400" dirty="0">
              <a:ea typeface="나눔스퀘어" panose="020B0600000101010101" pitchFamily="50" charset="-127"/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773" y="1785590"/>
            <a:ext cx="2257425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42B128E-F498-7F7A-F4D2-451B7B3F9A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56" y="4281836"/>
            <a:ext cx="7640116" cy="221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145092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660056" y="105748"/>
            <a:ext cx="495648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Database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연동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Data Source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설정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–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JNDI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이용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[context.xml]</a:t>
            </a:r>
          </a:p>
          <a:p>
            <a:r>
              <a:rPr lang="en-US" altLang="ko-KR" sz="1600" dirty="0"/>
              <a:t>&lt;Resource name=</a:t>
            </a:r>
            <a:r>
              <a:rPr lang="en-US" altLang="ko-KR" sz="1600" i="1" dirty="0"/>
              <a:t>"</a:t>
            </a:r>
            <a:r>
              <a:rPr lang="en-US" altLang="ko-KR" sz="1600" i="1" dirty="0" err="1"/>
              <a:t>jdbc</a:t>
            </a:r>
            <a:r>
              <a:rPr lang="en-US" altLang="ko-KR" sz="1600" i="1" dirty="0"/>
              <a:t>/</a:t>
            </a:r>
            <a:r>
              <a:rPr lang="en-US" altLang="ko-KR" sz="1600" i="1" dirty="0" err="1"/>
              <a:t>myoracle</a:t>
            </a:r>
            <a:r>
              <a:rPr lang="en-US" altLang="ko-KR" sz="1600" i="1" dirty="0"/>
              <a:t>" auth="Container"</a:t>
            </a:r>
          </a:p>
          <a:p>
            <a:r>
              <a:rPr lang="en-US" altLang="ko-KR" sz="1600" dirty="0"/>
              <a:t>              type=</a:t>
            </a:r>
            <a:r>
              <a:rPr lang="en-US" altLang="ko-KR" sz="1600" i="1" dirty="0"/>
              <a:t>"</a:t>
            </a:r>
            <a:r>
              <a:rPr lang="en-US" altLang="ko-KR" sz="1600" i="1" dirty="0" err="1"/>
              <a:t>javax.sql.DataSource</a:t>
            </a:r>
            <a:r>
              <a:rPr lang="en-US" altLang="ko-KR" sz="1600" i="1" dirty="0"/>
              <a:t>" </a:t>
            </a:r>
            <a:r>
              <a:rPr lang="en-US" altLang="ko-KR" sz="1600" i="1" dirty="0" err="1"/>
              <a:t>driverClassName</a:t>
            </a:r>
            <a:r>
              <a:rPr lang="en-US" altLang="ko-KR" sz="1600" i="1" dirty="0"/>
              <a:t>="</a:t>
            </a:r>
            <a:r>
              <a:rPr lang="en-US" altLang="ko-KR" sz="1600" i="1" dirty="0" err="1"/>
              <a:t>oracle.jdbc.OracleDriver</a:t>
            </a:r>
            <a:r>
              <a:rPr lang="en-US" altLang="ko-KR" sz="1600" i="1" dirty="0"/>
              <a:t>"</a:t>
            </a:r>
          </a:p>
          <a:p>
            <a:r>
              <a:rPr lang="en-US" altLang="ko-KR" sz="1600" dirty="0"/>
              <a:t>              </a:t>
            </a:r>
            <a:r>
              <a:rPr lang="en-US" altLang="ko-KR" sz="1600" dirty="0" err="1"/>
              <a:t>url</a:t>
            </a:r>
            <a:r>
              <a:rPr lang="en-US" altLang="ko-KR" sz="1600" dirty="0"/>
              <a:t>=</a:t>
            </a:r>
            <a:r>
              <a:rPr lang="en-US" altLang="ko-KR" sz="1600" i="1" dirty="0"/>
              <a:t>"</a:t>
            </a:r>
            <a:r>
              <a:rPr lang="en-US" altLang="ko-KR" sz="1600" i="1" dirty="0" err="1"/>
              <a:t>jdbc:oracle:thin</a:t>
            </a:r>
            <a:r>
              <a:rPr lang="en-US" altLang="ko-KR" sz="1600" i="1" dirty="0"/>
              <a:t>:@127.0.0.1:1521:xe"</a:t>
            </a:r>
          </a:p>
          <a:p>
            <a:r>
              <a:rPr lang="en-US" altLang="ko-KR" sz="1600" dirty="0"/>
              <a:t>              username=</a:t>
            </a:r>
            <a:r>
              <a:rPr lang="en-US" altLang="ko-KR" sz="1600" i="1" dirty="0"/>
              <a:t>"</a:t>
            </a:r>
            <a:r>
              <a:rPr lang="en-US" altLang="ko-KR" sz="1600" i="1" dirty="0" err="1"/>
              <a:t>hr</a:t>
            </a:r>
            <a:r>
              <a:rPr lang="en-US" altLang="ko-KR" sz="1600" i="1" dirty="0"/>
              <a:t>" password="</a:t>
            </a:r>
            <a:r>
              <a:rPr lang="en-US" altLang="ko-KR" sz="1600" i="1" dirty="0" err="1"/>
              <a:t>hr</a:t>
            </a:r>
            <a:r>
              <a:rPr lang="en-US" altLang="ko-KR" sz="1600" i="1" dirty="0"/>
              <a:t>" </a:t>
            </a:r>
            <a:r>
              <a:rPr lang="en-US" altLang="ko-KR" sz="1600" i="1" dirty="0" err="1"/>
              <a:t>maxTotal</a:t>
            </a:r>
            <a:r>
              <a:rPr lang="en-US" altLang="ko-KR" sz="1600" i="1" dirty="0"/>
              <a:t>="20" </a:t>
            </a:r>
            <a:r>
              <a:rPr lang="en-US" altLang="ko-KR" sz="1600" i="1" dirty="0" err="1"/>
              <a:t>maxIdle</a:t>
            </a:r>
            <a:r>
              <a:rPr lang="en-US" altLang="ko-KR" sz="1600" i="1" dirty="0"/>
              <a:t>="10"</a:t>
            </a:r>
          </a:p>
          <a:p>
            <a:r>
              <a:rPr lang="en-US" altLang="ko-KR" sz="1600" dirty="0"/>
              <a:t>              </a:t>
            </a:r>
            <a:r>
              <a:rPr lang="en-US" altLang="ko-KR" sz="1600" dirty="0" err="1"/>
              <a:t>maxWaitMillis</a:t>
            </a:r>
            <a:r>
              <a:rPr lang="en-US" altLang="ko-KR" sz="1600" dirty="0"/>
              <a:t>=</a:t>
            </a:r>
            <a:r>
              <a:rPr lang="en-US" altLang="ko-KR" sz="1600" i="1" dirty="0"/>
              <a:t>"-1"/&gt;</a:t>
            </a:r>
          </a:p>
          <a:p>
            <a:endParaRPr lang="en-US" altLang="ko-KR" sz="1600" dirty="0"/>
          </a:p>
          <a:p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[action-dataSource.xml]</a:t>
            </a:r>
          </a:p>
          <a:p>
            <a:r>
              <a:rPr lang="en-US" altLang="ko-KR" sz="1600" dirty="0"/>
              <a:t>&lt;</a:t>
            </a:r>
            <a:r>
              <a:rPr lang="en-US" altLang="ko-KR" sz="1600" dirty="0" err="1"/>
              <a:t>jee:jndi-lookup</a:t>
            </a:r>
            <a:r>
              <a:rPr lang="en-US" altLang="ko-KR" sz="1600" dirty="0"/>
              <a:t> id=</a:t>
            </a:r>
            <a:r>
              <a:rPr lang="en-US" altLang="ko-KR" sz="1600" i="1" dirty="0"/>
              <a:t>"</a:t>
            </a:r>
            <a:r>
              <a:rPr lang="en-US" altLang="ko-KR" sz="1600" i="1" dirty="0" err="1"/>
              <a:t>dataSource</a:t>
            </a:r>
            <a:r>
              <a:rPr lang="en-US" altLang="ko-KR" sz="1600" i="1" dirty="0"/>
              <a:t>" </a:t>
            </a:r>
            <a:r>
              <a:rPr lang="en-US" altLang="ko-KR" sz="1600" i="1" dirty="0" err="1"/>
              <a:t>jndi</a:t>
            </a:r>
            <a:r>
              <a:rPr lang="en-US" altLang="ko-KR" sz="1600" i="1" dirty="0"/>
              <a:t>-name="</a:t>
            </a:r>
            <a:r>
              <a:rPr lang="en-US" altLang="ko-KR" sz="1600" i="1" dirty="0" err="1"/>
              <a:t>jdbc</a:t>
            </a:r>
            <a:r>
              <a:rPr lang="en-US" altLang="ko-KR" sz="1600" i="1" dirty="0"/>
              <a:t>/</a:t>
            </a:r>
            <a:r>
              <a:rPr lang="en-US" altLang="ko-KR" sz="1600" i="1" dirty="0" err="1"/>
              <a:t>myoracle</a:t>
            </a:r>
            <a:r>
              <a:rPr lang="en-US" altLang="ko-KR" sz="1600" i="1" dirty="0"/>
              <a:t>"   resource-ref="true" /&gt;</a:t>
            </a:r>
            <a:endParaRPr lang="en-US" altLang="ko-KR" sz="1600" dirty="0"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32021298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FF01E098-FBDB-420F-88A9-27027F4759A5}"/>
              </a:ext>
            </a:extLst>
          </p:cNvPr>
          <p:cNvGrpSpPr/>
          <p:nvPr/>
        </p:nvGrpSpPr>
        <p:grpSpPr>
          <a:xfrm>
            <a:off x="3726874" y="2815838"/>
            <a:ext cx="7315199" cy="1226323"/>
            <a:chOff x="4793673" y="1246908"/>
            <a:chExt cx="6442363" cy="1080000"/>
          </a:xfrm>
        </p:grpSpPr>
        <p:sp>
          <p:nvSpPr>
            <p:cNvPr id="14" name="육각형 13">
              <a:extLst>
                <a:ext uri="{FF2B5EF4-FFF2-40B4-BE49-F238E27FC236}">
                  <a16:creationId xmlns:a16="http://schemas.microsoft.com/office/drawing/2014/main" id="{7ADDF6C6-9FD3-40F2-ADC2-37A43AADF7ED}"/>
                </a:ext>
              </a:extLst>
            </p:cNvPr>
            <p:cNvSpPr/>
            <p:nvPr/>
          </p:nvSpPr>
          <p:spPr>
            <a:xfrm>
              <a:off x="4793673" y="1246908"/>
              <a:ext cx="6442363" cy="1080000"/>
            </a:xfrm>
            <a:prstGeom prst="hexagon">
              <a:avLst>
                <a:gd name="adj" fmla="val 42671"/>
                <a:gd name="vf" fmla="val 11547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화살표: 오각형 14">
              <a:extLst>
                <a:ext uri="{FF2B5EF4-FFF2-40B4-BE49-F238E27FC236}">
                  <a16:creationId xmlns:a16="http://schemas.microsoft.com/office/drawing/2014/main" id="{81F229D3-E3EA-4A23-AA82-5E2AF3A625A9}"/>
                </a:ext>
              </a:extLst>
            </p:cNvPr>
            <p:cNvSpPr/>
            <p:nvPr/>
          </p:nvSpPr>
          <p:spPr>
            <a:xfrm>
              <a:off x="5632954" y="1371410"/>
              <a:ext cx="5339846" cy="830996"/>
            </a:xfrm>
            <a:prstGeom prst="homePlat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D920D6B8-E4ED-4528-A983-BD701AD4E691}"/>
                </a:ext>
              </a:extLst>
            </p:cNvPr>
            <p:cNvSpPr/>
            <p:nvPr/>
          </p:nvSpPr>
          <p:spPr>
            <a:xfrm>
              <a:off x="5196182" y="1364345"/>
              <a:ext cx="845127" cy="845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51810F50-4F4F-4ABD-840E-E581E3B8C415}"/>
                </a:ext>
              </a:extLst>
            </p:cNvPr>
            <p:cNvGrpSpPr/>
            <p:nvPr/>
          </p:nvGrpSpPr>
          <p:grpSpPr>
            <a:xfrm>
              <a:off x="5537400" y="1369809"/>
              <a:ext cx="4159582" cy="813160"/>
              <a:chOff x="5516922" y="1640913"/>
              <a:chExt cx="2999292" cy="586335"/>
            </a:xfrm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EB1F94F4-27C9-4570-8682-1A33FA68D416}"/>
                  </a:ext>
                </a:extLst>
              </p:cNvPr>
              <p:cNvSpPr/>
              <p:nvPr/>
            </p:nvSpPr>
            <p:spPr>
              <a:xfrm>
                <a:off x="6030979" y="1689775"/>
                <a:ext cx="2485235" cy="488612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defTabSz="1076865" eaLnBrk="0" latinLnBrk="0" hangingPunct="0">
                  <a:spcAft>
                    <a:spcPts val="486"/>
                  </a:spcAft>
                  <a:buSzPct val="100000"/>
                  <a:defRPr/>
                </a:pPr>
                <a:r>
                  <a:rPr lang="en-US" altLang="ko-KR" sz="4400">
                    <a:gradFill>
                      <a:gsLst>
                        <a:gs pos="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6200000" scaled="1"/>
                    </a:gradFill>
                    <a:latin typeface="HY견고딕" pitchFamily="18" charset="-127"/>
                    <a:ea typeface="HY견고딕" pitchFamily="18" charset="-127"/>
                  </a:rPr>
                  <a:t>Mybatis</a:t>
                </a:r>
                <a:endParaRPr lang="ko-KR" altLang="en-US" sz="4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16200000" scaled="1"/>
                  </a:gradFill>
                  <a:latin typeface="HY견고딕" pitchFamily="18" charset="-127"/>
                  <a:ea typeface="HY견고딕" pitchFamily="18" charset="-127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4541CD06-C435-48C0-AA4F-7B628FBAD386}"/>
                  </a:ext>
                </a:extLst>
              </p:cNvPr>
              <p:cNvSpPr/>
              <p:nvPr/>
            </p:nvSpPr>
            <p:spPr>
              <a:xfrm>
                <a:off x="5516922" y="1640913"/>
                <a:ext cx="117307" cy="586335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5400" b="1" i="0" u="none" strike="noStrike" kern="0" normalizeH="0" baseline="0" noProof="0" dirty="0">
                  <a:ln w="2857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uLnTx/>
                  <a:uFillTx/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</p:txBody>
          </p:sp>
        </p:grpSp>
      </p:grpSp>
      <p:pic>
        <p:nvPicPr>
          <p:cNvPr id="2" name="카메라 1">
            <a:extLst>
              <a:ext uri="{FF2B5EF4-FFF2-40B4-BE49-F238E27FC236}">
                <a16:creationId xmlns:a16="http://schemas.microsoft.com/office/drawing/2014/main" id="{2DCC7D6A-5B85-7627-A0C5-238AA5991B9A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617502441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60225" y="105748"/>
            <a:ext cx="37561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</a:t>
            </a:r>
            <a:r>
              <a:rPr lang="en-US" altLang="ko-KR" sz="4000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Mybatis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JDBC 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JDBC</a:t>
            </a:r>
            <a:r>
              <a:rPr lang="ko-KR" altLang="en-US" b="1" dirty="0"/>
              <a:t>는 </a:t>
            </a:r>
            <a:r>
              <a:rPr lang="en-US" altLang="ko-KR" b="1" dirty="0"/>
              <a:t>DB</a:t>
            </a:r>
            <a:r>
              <a:rPr lang="ko-KR" altLang="en-US" b="1" dirty="0"/>
              <a:t>에 접근할 수 있도록 </a:t>
            </a:r>
            <a:r>
              <a:rPr lang="en-US" altLang="ko-KR" b="1" dirty="0"/>
              <a:t>Java</a:t>
            </a:r>
            <a:r>
              <a:rPr lang="ko-KR" altLang="en-US" b="1" dirty="0"/>
              <a:t>에서 제공하는 </a:t>
            </a:r>
            <a:r>
              <a:rPr lang="en-US" altLang="ko-KR" b="1" dirty="0"/>
              <a:t>API</a:t>
            </a:r>
            <a:r>
              <a:rPr lang="ko-KR" altLang="en-US" b="1" dirty="0"/>
              <a:t>이다</a:t>
            </a:r>
            <a:r>
              <a:rPr lang="en-US" altLang="ko-KR" b="1" dirty="0"/>
              <a:t>. </a:t>
            </a:r>
            <a:r>
              <a:rPr lang="ko-KR" altLang="en-US" b="1" dirty="0"/>
              <a:t>모든 </a:t>
            </a:r>
            <a:r>
              <a:rPr lang="en-US" altLang="ko-KR" b="1" dirty="0"/>
              <a:t>Java Data Access </a:t>
            </a:r>
            <a:r>
              <a:rPr lang="ko-KR" altLang="en-US" b="1" dirty="0"/>
              <a:t>기술의 근간으로 모든 </a:t>
            </a:r>
            <a:r>
              <a:rPr lang="en-US" altLang="ko-KR" b="1" dirty="0"/>
              <a:t>Persistence Framework</a:t>
            </a:r>
            <a:r>
              <a:rPr lang="ko-KR" altLang="en-US" b="1" dirty="0"/>
              <a:t>는 내부적으로 </a:t>
            </a:r>
            <a:r>
              <a:rPr lang="en-US" altLang="ko-KR" b="1" dirty="0"/>
              <a:t>JDBC API</a:t>
            </a:r>
            <a:r>
              <a:rPr lang="ko-KR" altLang="en-US" b="1" dirty="0"/>
              <a:t>를 사용한다</a:t>
            </a:r>
            <a:r>
              <a:rPr lang="en-US" altLang="ko-KR" b="1" dirty="0"/>
              <a:t>.</a:t>
            </a:r>
            <a:endParaRPr lang="en-US" altLang="ko-KR" sz="1600" dirty="0"/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2423" y="2848739"/>
            <a:ext cx="6683489" cy="2891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5787947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1B69130-F2C4-4366-9118-23EF9C2C46E6}"/>
              </a:ext>
            </a:extLst>
          </p:cNvPr>
          <p:cNvSpPr/>
          <p:nvPr/>
        </p:nvSpPr>
        <p:spPr>
          <a:xfrm>
            <a:off x="1052946" y="1482436"/>
            <a:ext cx="10002982" cy="197524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ko-KR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Spring Mybatis</a:t>
            </a:r>
            <a:endParaRPr lang="ko-KR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6D22748D-54E6-4646-8F59-38951725FDFC}"/>
              </a:ext>
            </a:extLst>
          </p:cNvPr>
          <p:cNvSpPr/>
          <p:nvPr/>
        </p:nvSpPr>
        <p:spPr>
          <a:xfrm>
            <a:off x="1662545" y="2055731"/>
            <a:ext cx="8783782" cy="123569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connection → Statement </a:t>
            </a:r>
            <a:r>
              <a:rPr lang="ko-KR" altLang="en-US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객체 생성 → </a:t>
            </a:r>
            <a:r>
              <a:rPr lang="en-US" altLang="ko-KR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SQL</a:t>
            </a:r>
            <a:r>
              <a:rPr lang="ko-KR" altLang="en-US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문 전송 → 결과 반환 → </a:t>
            </a:r>
            <a:r>
              <a:rPr lang="en-US" altLang="ko-KR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close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SQL</a:t>
            </a:r>
            <a:r>
              <a:rPr lang="ko-KR" altLang="en-US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문이 프로그래밍 코드에 섞여 코드 복잡</a:t>
            </a:r>
            <a:r>
              <a:rPr lang="en-US" altLang="ko-KR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  <a:r>
              <a:rPr lang="ko-KR" altLang="en-US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유지 보수가 어렵다</a:t>
            </a:r>
            <a:r>
              <a:rPr lang="en-US" altLang="ko-KR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en-US" altLang="ko-KR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15451" y="1564041"/>
            <a:ext cx="3677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기존의 </a:t>
            </a:r>
            <a:r>
              <a:rPr lang="en-US" altLang="ko-KR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JDBC</a:t>
            </a:r>
            <a:r>
              <a:rPr lang="ko-KR" altLang="en-US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의 문제점</a:t>
            </a:r>
            <a:endParaRPr lang="ko-KR" altLang="en-US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" name="사각형: 둥근 모서리 5">
            <a:extLst>
              <a:ext uri="{FF2B5EF4-FFF2-40B4-BE49-F238E27FC236}">
                <a16:creationId xmlns:a16="http://schemas.microsoft.com/office/drawing/2014/main" id="{B1B69130-F2C4-4366-9118-23EF9C2C46E6}"/>
              </a:ext>
            </a:extLst>
          </p:cNvPr>
          <p:cNvSpPr/>
          <p:nvPr/>
        </p:nvSpPr>
        <p:spPr>
          <a:xfrm>
            <a:off x="1031822" y="3984084"/>
            <a:ext cx="10002982" cy="234327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사각형: 둥근 모서리 25">
            <a:extLst>
              <a:ext uri="{FF2B5EF4-FFF2-40B4-BE49-F238E27FC236}">
                <a16:creationId xmlns:a16="http://schemas.microsoft.com/office/drawing/2014/main" id="{6D22748D-54E6-4646-8F59-38951725FDFC}"/>
              </a:ext>
            </a:extLst>
          </p:cNvPr>
          <p:cNvSpPr/>
          <p:nvPr/>
        </p:nvSpPr>
        <p:spPr>
          <a:xfrm>
            <a:off x="1641421" y="4557379"/>
            <a:ext cx="8783782" cy="151635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SQL </a:t>
            </a:r>
            <a:r>
              <a:rPr lang="ko-KR" altLang="en-US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실행 결과를 </a:t>
            </a:r>
            <a:r>
              <a:rPr lang="en-US" altLang="ko-KR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Java Beans</a:t>
            </a:r>
            <a:r>
              <a:rPr lang="ko-KR" altLang="en-US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또는 </a:t>
            </a:r>
            <a:r>
              <a:rPr lang="en-US" altLang="ko-KR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Map </a:t>
            </a:r>
            <a:r>
              <a:rPr lang="ko-KR" altLang="en-US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객체에 매핑해 주는 </a:t>
            </a:r>
            <a:r>
              <a:rPr lang="en-US" altLang="ko-KR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Persistence </a:t>
            </a:r>
            <a:r>
              <a:rPr lang="ko-KR" altLang="en-US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솔루션으로 관리함</a:t>
            </a:r>
            <a:r>
              <a:rPr lang="en-US" altLang="ko-KR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(SQL</a:t>
            </a:r>
            <a:r>
              <a:rPr lang="ko-KR" altLang="en-US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을 소스 코드가 아닌 </a:t>
            </a:r>
            <a:r>
              <a:rPr lang="en-US" altLang="ko-KR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XML</a:t>
            </a:r>
            <a:r>
              <a:rPr lang="ko-KR" altLang="en-US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 분리함</a:t>
            </a:r>
            <a:r>
              <a:rPr lang="en-US" altLang="ko-KR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데이터소스</a:t>
            </a:r>
            <a:r>
              <a:rPr lang="en-US" altLang="ko-KR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en-US" altLang="ko-KR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DataSource</a:t>
            </a:r>
            <a:r>
              <a:rPr lang="en-US" altLang="ko-KR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  <a:r>
              <a:rPr lang="ko-KR" altLang="en-US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기능과 트랜잭션 처리 기능을 제공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94327" y="4065689"/>
            <a:ext cx="3677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Mybatis</a:t>
            </a:r>
            <a:r>
              <a:rPr lang="en-US" altLang="ko-KR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Framework</a:t>
            </a:r>
            <a:r>
              <a:rPr lang="ko-KR" altLang="en-US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의 특징</a:t>
            </a:r>
            <a:endParaRPr lang="ko-KR" altLang="en-US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" name="아래쪽 화살표 12"/>
          <p:cNvSpPr/>
          <p:nvPr/>
        </p:nvSpPr>
        <p:spPr>
          <a:xfrm>
            <a:off x="5617651" y="3541647"/>
            <a:ext cx="496148" cy="389606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7240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177"/>
    </mc:Choice>
    <mc:Fallback xmlns="">
      <p:transition spd="slow" advTm="130177"/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60225" y="105748"/>
            <a:ext cx="37561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</a:t>
            </a:r>
            <a:r>
              <a:rPr lang="en-US" altLang="ko-KR" sz="4000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Mybatis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2539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Persistence (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영속성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 : </a:t>
            </a: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dirty="0"/>
              <a:t>데이터를 생성한 프로그램이 종료되더라도 사리지지 않는 데이터의 특성을 말한다</a:t>
            </a:r>
            <a:r>
              <a:rPr lang="en-US" altLang="ko-KR" dirty="0"/>
              <a:t>.</a:t>
            </a: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dirty="0"/>
              <a:t>영속성을 갖지 않는 데이터는 단지 메모리에서만 존재하기 때문에 프로그램이 종료되면 모두 잃어버리게 된다</a:t>
            </a:r>
            <a:r>
              <a:rPr lang="en-US" altLang="ko-KR" dirty="0"/>
              <a:t>. </a:t>
            </a:r>
            <a:r>
              <a:rPr lang="ko-KR" altLang="en-US" dirty="0"/>
              <a:t>때문에 파일 시스템</a:t>
            </a:r>
            <a:r>
              <a:rPr lang="en-US" altLang="ko-KR" dirty="0"/>
              <a:t>, </a:t>
            </a:r>
            <a:r>
              <a:rPr lang="ko-KR" altLang="en-US" dirty="0"/>
              <a:t>관계형 데이터베이스 혹은 객체 데이터베이스 등을 활용하여 </a:t>
            </a:r>
            <a:r>
              <a:rPr lang="ko-KR" altLang="en-US" sz="1600" dirty="0"/>
              <a:t>데이터를 영구적으로 저장하여 영속성을 부여한다</a:t>
            </a:r>
            <a:r>
              <a:rPr lang="en-US" altLang="ko-KR" sz="1600" dirty="0"/>
              <a:t>.</a:t>
            </a: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600" dirty="0"/>
              <a:t>데이터 접근 계층</a:t>
            </a:r>
            <a:r>
              <a:rPr lang="en-US" altLang="ko-KR" sz="1600" dirty="0"/>
              <a:t>(Data access layer) - </a:t>
            </a:r>
            <a:r>
              <a:rPr lang="ko-KR" altLang="en-US" sz="1600" dirty="0"/>
              <a:t>영속계층 이라고도 함</a:t>
            </a:r>
            <a:endParaRPr lang="en-US" altLang="ko-KR" sz="1600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7879" y="3083598"/>
            <a:ext cx="2615793" cy="3152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8726528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60217" y="105748"/>
            <a:ext cx="375615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</a:t>
            </a:r>
            <a:r>
              <a:rPr lang="en-US" altLang="ko-KR" sz="4000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Mybatis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600772"/>
              </p:ext>
            </p:extLst>
          </p:nvPr>
        </p:nvGraphicFramePr>
        <p:xfrm>
          <a:off x="604972" y="2373357"/>
          <a:ext cx="10267712" cy="19671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37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3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03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SQL Mapper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ORM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SQL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문장으로 직접 데이터베이스를</a:t>
                      </a:r>
                      <a:r>
                        <a:rPr lang="en-US" altLang="ko-KR" sz="1600" b="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ko-KR" altLang="en-US" sz="1600" b="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다룬다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문이 아닌 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Method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통해 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DB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조작할 수 있다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객체를 통해 간접적으로 데이터베이스를 다룬다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필드를 매핑 시키는 것이 목적이다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관계형 데이터베이스의 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'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관계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'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를 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Object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에 반영하는 것이 목적이다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600" b="0" i="0" kern="1200" dirty="0" err="1">
                          <a:solidFill>
                            <a:schemeClr val="dk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MyBatis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en-US" altLang="ko-KR" sz="1600" b="0" i="0" kern="1200" dirty="0" err="1">
                          <a:solidFill>
                            <a:schemeClr val="dk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jdbcTemplates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등</a:t>
                      </a:r>
                      <a:endParaRPr lang="ko-KR" altLang="en-US" sz="1600" b="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JPA(Java Persistence API), Hibernate 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등</a:t>
                      </a:r>
                      <a:endParaRPr lang="en-US" altLang="ko-KR" sz="1600" b="0" baseline="0" dirty="0">
                        <a:solidFill>
                          <a:srgbClr val="C0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69914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SQL Mapper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와 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ORM</a:t>
            </a:r>
          </a:p>
          <a:p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Persistence Framework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는 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SQL Mapper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와 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ORM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으로 나뉜다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05454134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60225" y="105748"/>
            <a:ext cx="37561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</a:t>
            </a:r>
            <a:r>
              <a:rPr lang="en-US" altLang="ko-KR" sz="4000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Mybatis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Mybatis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b="1" dirty="0"/>
              <a:t>   </a:t>
            </a:r>
            <a:r>
              <a:rPr lang="en-US" altLang="ko-KR" b="1" dirty="0" err="1"/>
              <a:t>MyBatis</a:t>
            </a:r>
            <a:r>
              <a:rPr lang="ko-KR" altLang="en-US" b="1" dirty="0"/>
              <a:t>는 원래 </a:t>
            </a:r>
            <a:r>
              <a:rPr lang="en-US" altLang="ko-KR" b="1" dirty="0"/>
              <a:t>Apache Foundation</a:t>
            </a:r>
            <a:r>
              <a:rPr lang="ko-KR" altLang="en-US" b="1" dirty="0"/>
              <a:t>의 </a:t>
            </a:r>
            <a:r>
              <a:rPr lang="en-US" altLang="ko-KR" b="1" dirty="0" err="1"/>
              <a:t>iBatis</a:t>
            </a:r>
            <a:r>
              <a:rPr lang="ko-KR" altLang="en-US" b="1" dirty="0"/>
              <a:t>였으나 생산성</a:t>
            </a:r>
            <a:r>
              <a:rPr lang="en-US" altLang="ko-KR" b="1" dirty="0"/>
              <a:t>, </a:t>
            </a:r>
            <a:r>
              <a:rPr lang="ko-KR" altLang="en-US" b="1" dirty="0"/>
              <a:t>개발 프로세스</a:t>
            </a:r>
            <a:r>
              <a:rPr lang="en-US" altLang="ko-KR" b="1" dirty="0"/>
              <a:t>, </a:t>
            </a:r>
            <a:r>
              <a:rPr lang="ko-KR" altLang="en-US" b="1" dirty="0"/>
              <a:t>커뮤니티 등의</a:t>
            </a:r>
            <a:endParaRPr lang="ko-KR" altLang="en-US" dirty="0"/>
          </a:p>
          <a:p>
            <a:r>
              <a:rPr lang="ko-KR" altLang="en-US" b="1" dirty="0"/>
              <a:t>   이유로 </a:t>
            </a:r>
            <a:r>
              <a:rPr lang="en-US" altLang="ko-KR" b="1" dirty="0"/>
              <a:t>Google Code</a:t>
            </a:r>
            <a:r>
              <a:rPr lang="ko-KR" altLang="en-US" b="1" dirty="0"/>
              <a:t>로 이전되면서 이름이 바뀌었다</a:t>
            </a:r>
            <a:r>
              <a:rPr lang="en-US" altLang="ko-KR" b="1" dirty="0"/>
              <a:t>.</a:t>
            </a:r>
            <a:endParaRPr lang="ko-KR" altLang="en-US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841" y="2606611"/>
            <a:ext cx="6727223" cy="299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4170171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60225" y="105748"/>
            <a:ext cx="37561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</a:t>
            </a:r>
            <a:r>
              <a:rPr lang="en-US" altLang="ko-KR" sz="4000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Mybatis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JPA (</a:t>
            </a:r>
            <a:r>
              <a:rPr lang="en-US" altLang="ko-KR" sz="2400" b="1" dirty="0"/>
              <a:t>(Java Persistent API)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dirty="0"/>
              <a:t>자바 </a:t>
            </a:r>
            <a:r>
              <a:rPr lang="en-US" altLang="ko-KR" dirty="0"/>
              <a:t>ORM</a:t>
            </a:r>
            <a:r>
              <a:rPr lang="ko-KR" altLang="en-US" dirty="0"/>
              <a:t>기술에 대한 </a:t>
            </a:r>
            <a:r>
              <a:rPr lang="en-US" altLang="ko-KR" dirty="0"/>
              <a:t>API</a:t>
            </a:r>
            <a:r>
              <a:rPr lang="ko-KR" altLang="en-US" dirty="0"/>
              <a:t>표준 명세로 </a:t>
            </a:r>
            <a:r>
              <a:rPr lang="en-US" altLang="ko-KR" dirty="0"/>
              <a:t>Java</a:t>
            </a:r>
            <a:r>
              <a:rPr lang="ko-KR" altLang="en-US" dirty="0"/>
              <a:t>에서 제공하는 </a:t>
            </a:r>
            <a:r>
              <a:rPr lang="en-US" altLang="ko-KR" dirty="0"/>
              <a:t>API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  <a:br>
              <a:rPr lang="ko-KR" altLang="en-US" dirty="0"/>
            </a:br>
            <a:r>
              <a:rPr lang="en-US" altLang="ko-KR" dirty="0"/>
              <a:t>JPA</a:t>
            </a:r>
            <a:r>
              <a:rPr lang="ko-KR" altLang="en-US" dirty="0"/>
              <a:t>의 대표적인 구현체로는 </a:t>
            </a:r>
            <a:r>
              <a:rPr lang="en-US" altLang="ko-KR" dirty="0"/>
              <a:t>Hibernate, </a:t>
            </a:r>
            <a:r>
              <a:rPr lang="en-US" altLang="ko-KR" dirty="0" err="1"/>
              <a:t>EclipseLing</a:t>
            </a:r>
            <a:r>
              <a:rPr lang="en-US" altLang="ko-KR" dirty="0"/>
              <a:t>, </a:t>
            </a:r>
            <a:r>
              <a:rPr lang="en-US" altLang="ko-KR" dirty="0" err="1"/>
              <a:t>OpenJPA</a:t>
            </a:r>
            <a:r>
              <a:rPr lang="ko-KR" altLang="en-US" dirty="0"/>
              <a:t>등이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605" y="2504693"/>
            <a:ext cx="6067425" cy="294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1123523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60225" y="105748"/>
            <a:ext cx="37561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</a:t>
            </a:r>
            <a:r>
              <a:rPr lang="en-US" altLang="ko-KR" sz="4000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Mybatis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589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https://blog.mybatis.org/</a:t>
            </a:r>
            <a:endParaRPr lang="ko-KR" altLang="en-US" dirty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860" y="1948523"/>
            <a:ext cx="59817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7845869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60225" y="105748"/>
            <a:ext cx="37561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</a:t>
            </a:r>
            <a:r>
              <a:rPr lang="en-US" altLang="ko-KR" sz="4000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Mybatis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설정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[pom.xml]</a:t>
            </a:r>
          </a:p>
          <a:p>
            <a:r>
              <a:rPr lang="en-US" altLang="ko-KR" sz="1600" dirty="0">
                <a:ea typeface="나눔스퀘어" panose="020B0600000101010101" pitchFamily="50" charset="-127"/>
              </a:rPr>
              <a:t>&lt;dependency&gt;</a:t>
            </a:r>
          </a:p>
          <a:p>
            <a:pPr lvl="1"/>
            <a:r>
              <a:rPr lang="en-US" altLang="ko-KR" sz="1600" dirty="0">
                <a:ea typeface="나눔스퀘어" panose="020B0600000101010101" pitchFamily="50" charset="-127"/>
              </a:rPr>
              <a:t>&lt;</a:t>
            </a:r>
            <a:r>
              <a:rPr lang="en-US" altLang="ko-KR" sz="1600" dirty="0" err="1">
                <a:ea typeface="나눔스퀘어" panose="020B0600000101010101" pitchFamily="50" charset="-127"/>
              </a:rPr>
              <a:t>groupId</a:t>
            </a:r>
            <a:r>
              <a:rPr lang="en-US" altLang="ko-KR" sz="1600" dirty="0">
                <a:ea typeface="나눔스퀘어" panose="020B0600000101010101" pitchFamily="50" charset="-127"/>
              </a:rPr>
              <a:t>&gt;</a:t>
            </a:r>
            <a:r>
              <a:rPr lang="en-US" altLang="ko-KR" sz="1600" dirty="0" err="1">
                <a:ea typeface="나눔스퀘어" panose="020B0600000101010101" pitchFamily="50" charset="-127"/>
              </a:rPr>
              <a:t>org.mybatis</a:t>
            </a:r>
            <a:r>
              <a:rPr lang="en-US" altLang="ko-KR" sz="1600" dirty="0">
                <a:ea typeface="나눔스퀘어" panose="020B0600000101010101" pitchFamily="50" charset="-127"/>
              </a:rPr>
              <a:t>&lt;/</a:t>
            </a:r>
            <a:r>
              <a:rPr lang="en-US" altLang="ko-KR" sz="1600" dirty="0" err="1">
                <a:ea typeface="나눔스퀘어" panose="020B0600000101010101" pitchFamily="50" charset="-127"/>
              </a:rPr>
              <a:t>groupId</a:t>
            </a:r>
            <a:r>
              <a:rPr lang="en-US" altLang="ko-KR" sz="1600" dirty="0">
                <a:ea typeface="나눔스퀘어" panose="020B0600000101010101" pitchFamily="50" charset="-127"/>
              </a:rPr>
              <a:t>&gt;</a:t>
            </a:r>
          </a:p>
          <a:p>
            <a:pPr lvl="1"/>
            <a:r>
              <a:rPr lang="en-US" altLang="ko-KR" sz="1600" dirty="0">
                <a:ea typeface="나눔스퀘어" panose="020B0600000101010101" pitchFamily="50" charset="-127"/>
              </a:rPr>
              <a:t>&lt;</a:t>
            </a:r>
            <a:r>
              <a:rPr lang="en-US" altLang="ko-KR" sz="1600" dirty="0" err="1">
                <a:ea typeface="나눔스퀘어" panose="020B0600000101010101" pitchFamily="50" charset="-127"/>
              </a:rPr>
              <a:t>artifactId</a:t>
            </a:r>
            <a:r>
              <a:rPr lang="en-US" altLang="ko-KR" sz="1600" dirty="0">
                <a:ea typeface="나눔스퀘어" panose="020B0600000101010101" pitchFamily="50" charset="-127"/>
              </a:rPr>
              <a:t>&gt;</a:t>
            </a:r>
            <a:r>
              <a:rPr lang="en-US" altLang="ko-KR" sz="1600" dirty="0" err="1">
                <a:ea typeface="나눔스퀘어" panose="020B0600000101010101" pitchFamily="50" charset="-127"/>
              </a:rPr>
              <a:t>mybatis</a:t>
            </a:r>
            <a:r>
              <a:rPr lang="en-US" altLang="ko-KR" sz="1600" dirty="0">
                <a:ea typeface="나눔스퀘어" panose="020B0600000101010101" pitchFamily="50" charset="-127"/>
              </a:rPr>
              <a:t>&lt;/</a:t>
            </a:r>
            <a:r>
              <a:rPr lang="en-US" altLang="ko-KR" sz="1600" dirty="0" err="1">
                <a:ea typeface="나눔스퀘어" panose="020B0600000101010101" pitchFamily="50" charset="-127"/>
              </a:rPr>
              <a:t>artifactId</a:t>
            </a:r>
            <a:r>
              <a:rPr lang="en-US" altLang="ko-KR" sz="1600" dirty="0">
                <a:ea typeface="나눔스퀘어" panose="020B0600000101010101" pitchFamily="50" charset="-127"/>
              </a:rPr>
              <a:t>&gt;</a:t>
            </a:r>
          </a:p>
          <a:p>
            <a:pPr lvl="1"/>
            <a:r>
              <a:rPr lang="en-US" altLang="ko-KR" sz="1600" dirty="0">
                <a:ea typeface="나눔스퀘어" panose="020B0600000101010101" pitchFamily="50" charset="-127"/>
              </a:rPr>
              <a:t>&lt;version&gt;3.5.6&lt;/version&gt;</a:t>
            </a:r>
          </a:p>
          <a:p>
            <a:r>
              <a:rPr lang="en-US" altLang="ko-KR" sz="1600" dirty="0">
                <a:ea typeface="나눔스퀘어" panose="020B0600000101010101" pitchFamily="50" charset="-127"/>
              </a:rPr>
              <a:t>&lt;/dependency&gt;</a:t>
            </a:r>
          </a:p>
          <a:p>
            <a:endParaRPr lang="en-US" altLang="ko-KR" sz="1600" dirty="0">
              <a:ea typeface="나눔스퀘어" panose="020B0600000101010101" pitchFamily="50" charset="-127"/>
            </a:endParaRPr>
          </a:p>
          <a:p>
            <a:r>
              <a:rPr lang="en-US" altLang="ko-KR" sz="1600" dirty="0">
                <a:ea typeface="나눔스퀘어" panose="020B0600000101010101" pitchFamily="50" charset="-127"/>
              </a:rPr>
              <a:t>&lt;dependency&gt;</a:t>
            </a:r>
          </a:p>
          <a:p>
            <a:pPr lvl="1"/>
            <a:r>
              <a:rPr lang="en-US" altLang="ko-KR" sz="1600" dirty="0">
                <a:ea typeface="나눔스퀘어" panose="020B0600000101010101" pitchFamily="50" charset="-127"/>
              </a:rPr>
              <a:t>&lt;</a:t>
            </a:r>
            <a:r>
              <a:rPr lang="en-US" altLang="ko-KR" sz="1600" dirty="0" err="1">
                <a:ea typeface="나눔스퀘어" panose="020B0600000101010101" pitchFamily="50" charset="-127"/>
              </a:rPr>
              <a:t>groupId</a:t>
            </a:r>
            <a:r>
              <a:rPr lang="en-US" altLang="ko-KR" sz="1600" dirty="0">
                <a:ea typeface="나눔스퀘어" panose="020B0600000101010101" pitchFamily="50" charset="-127"/>
              </a:rPr>
              <a:t>&gt;</a:t>
            </a:r>
            <a:r>
              <a:rPr lang="en-US" altLang="ko-KR" sz="1600" dirty="0" err="1">
                <a:ea typeface="나눔스퀘어" panose="020B0600000101010101" pitchFamily="50" charset="-127"/>
              </a:rPr>
              <a:t>org.mybatis</a:t>
            </a:r>
            <a:r>
              <a:rPr lang="en-US" altLang="ko-KR" sz="1600" dirty="0">
                <a:ea typeface="나눔스퀘어" panose="020B0600000101010101" pitchFamily="50" charset="-127"/>
              </a:rPr>
              <a:t>&lt;/</a:t>
            </a:r>
            <a:r>
              <a:rPr lang="en-US" altLang="ko-KR" sz="1600" dirty="0" err="1">
                <a:ea typeface="나눔스퀘어" panose="020B0600000101010101" pitchFamily="50" charset="-127"/>
              </a:rPr>
              <a:t>groupId</a:t>
            </a:r>
            <a:r>
              <a:rPr lang="en-US" altLang="ko-KR" sz="1600" dirty="0">
                <a:ea typeface="나눔스퀘어" panose="020B0600000101010101" pitchFamily="50" charset="-127"/>
              </a:rPr>
              <a:t>&gt;</a:t>
            </a:r>
          </a:p>
          <a:p>
            <a:pPr lvl="1"/>
            <a:r>
              <a:rPr lang="en-US" altLang="ko-KR" sz="1600" dirty="0">
                <a:ea typeface="나눔스퀘어" panose="020B0600000101010101" pitchFamily="50" charset="-127"/>
              </a:rPr>
              <a:t>&lt;</a:t>
            </a:r>
            <a:r>
              <a:rPr lang="en-US" altLang="ko-KR" sz="1600" dirty="0" err="1">
                <a:ea typeface="나눔스퀘어" panose="020B0600000101010101" pitchFamily="50" charset="-127"/>
              </a:rPr>
              <a:t>artifactId</a:t>
            </a:r>
            <a:r>
              <a:rPr lang="en-US" altLang="ko-KR" sz="1600" dirty="0">
                <a:ea typeface="나눔스퀘어" panose="020B0600000101010101" pitchFamily="50" charset="-127"/>
              </a:rPr>
              <a:t>&gt;</a:t>
            </a:r>
            <a:r>
              <a:rPr lang="en-US" altLang="ko-KR" sz="1600" dirty="0" err="1">
                <a:ea typeface="나눔스퀘어" panose="020B0600000101010101" pitchFamily="50" charset="-127"/>
              </a:rPr>
              <a:t>mybatis</a:t>
            </a:r>
            <a:r>
              <a:rPr lang="en-US" altLang="ko-KR" sz="1600" dirty="0">
                <a:ea typeface="나눔스퀘어" panose="020B0600000101010101" pitchFamily="50" charset="-127"/>
              </a:rPr>
              <a:t>-spring&lt;/</a:t>
            </a:r>
            <a:r>
              <a:rPr lang="en-US" altLang="ko-KR" sz="1600" dirty="0" err="1">
                <a:ea typeface="나눔스퀘어" panose="020B0600000101010101" pitchFamily="50" charset="-127"/>
              </a:rPr>
              <a:t>artifactId</a:t>
            </a:r>
            <a:r>
              <a:rPr lang="en-US" altLang="ko-KR" sz="1600" dirty="0">
                <a:ea typeface="나눔스퀘어" panose="020B0600000101010101" pitchFamily="50" charset="-127"/>
              </a:rPr>
              <a:t>&gt;</a:t>
            </a:r>
          </a:p>
          <a:p>
            <a:pPr lvl="1"/>
            <a:r>
              <a:rPr lang="en-US" altLang="ko-KR" sz="1600" dirty="0">
                <a:ea typeface="나눔스퀘어" panose="020B0600000101010101" pitchFamily="50" charset="-127"/>
              </a:rPr>
              <a:t>&lt;version&gt;2.0.6&lt;/version&gt;</a:t>
            </a:r>
          </a:p>
          <a:p>
            <a:r>
              <a:rPr lang="en-US" altLang="ko-KR" sz="1600" dirty="0">
                <a:ea typeface="나눔스퀘어" panose="020B0600000101010101" pitchFamily="50" charset="-127"/>
              </a:rPr>
              <a:t>&lt;/dependency&gt;</a:t>
            </a:r>
          </a:p>
          <a:p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1979736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60225" y="105748"/>
            <a:ext cx="37561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</a:t>
            </a:r>
            <a:r>
              <a:rPr lang="en-US" altLang="ko-KR" sz="4000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Mybatis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설정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[ 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mybatis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/SqlMapConfig.xml ]</a:t>
            </a:r>
          </a:p>
          <a:p>
            <a:r>
              <a:rPr lang="en-US" altLang="ko-KR" sz="1600" dirty="0"/>
              <a:t>&lt;?xml version=</a:t>
            </a:r>
            <a:r>
              <a:rPr lang="en-US" altLang="ko-KR" sz="1600" i="1" dirty="0"/>
              <a:t>"1.0" encoding="UTF-8" ?&gt;</a:t>
            </a:r>
          </a:p>
          <a:p>
            <a:r>
              <a:rPr lang="en-US" altLang="ko-KR" sz="1600" dirty="0"/>
              <a:t>&lt;!DOCTYPE configuration PUBLIC "-//mybatis.org//DTD Config 3.0//EN"</a:t>
            </a:r>
          </a:p>
          <a:p>
            <a:r>
              <a:rPr lang="en-US" altLang="ko-KR" sz="1600" dirty="0"/>
              <a:t>"http://mybatis.org/</a:t>
            </a:r>
            <a:r>
              <a:rPr lang="en-US" altLang="ko-KR" sz="1600" dirty="0" err="1"/>
              <a:t>dtd</a:t>
            </a:r>
            <a:r>
              <a:rPr lang="en-US" altLang="ko-KR" sz="1600" dirty="0"/>
              <a:t>/mybatis-3-config.dtd"&gt;</a:t>
            </a:r>
          </a:p>
          <a:p>
            <a:endParaRPr lang="ko-KR" altLang="en-US" sz="1600" dirty="0"/>
          </a:p>
          <a:p>
            <a:r>
              <a:rPr lang="en-US" altLang="ko-KR" sz="1600" dirty="0"/>
              <a:t>&lt;configuration&gt;</a:t>
            </a:r>
          </a:p>
          <a:p>
            <a:r>
              <a:rPr lang="en-US" altLang="ko-KR" sz="1600" dirty="0"/>
              <a:t>&lt;settings&gt;</a:t>
            </a:r>
          </a:p>
          <a:p>
            <a:r>
              <a:rPr lang="en-US" altLang="ko-KR" sz="1600" dirty="0"/>
              <a:t>  &lt;setting name=</a:t>
            </a:r>
            <a:r>
              <a:rPr lang="en-US" altLang="ko-KR" sz="1600" i="1" dirty="0"/>
              <a:t>"</a:t>
            </a:r>
            <a:r>
              <a:rPr lang="en-US" altLang="ko-KR" sz="1600" i="1" dirty="0" err="1"/>
              <a:t>logImpl</a:t>
            </a:r>
            <a:r>
              <a:rPr lang="en-US" altLang="ko-KR" sz="1600" i="1" dirty="0"/>
              <a:t>" value="LOG4J"/&gt;</a:t>
            </a:r>
          </a:p>
          <a:p>
            <a:r>
              <a:rPr lang="en-US" altLang="ko-KR" sz="1600" dirty="0"/>
              <a:t>  &lt;setting name=</a:t>
            </a:r>
            <a:r>
              <a:rPr lang="en-US" altLang="ko-KR" sz="1600" i="1" dirty="0"/>
              <a:t>"</a:t>
            </a:r>
            <a:r>
              <a:rPr lang="en-US" altLang="ko-KR" sz="1600" i="1" dirty="0" err="1"/>
              <a:t>jdbcTypeForNull</a:t>
            </a:r>
            <a:r>
              <a:rPr lang="en-US" altLang="ko-KR" sz="1600" i="1" dirty="0"/>
              <a:t>" value="NULL"/&gt;</a:t>
            </a:r>
          </a:p>
          <a:p>
            <a:r>
              <a:rPr lang="en-US" altLang="ko-KR" sz="1600" dirty="0"/>
              <a:t>&lt;/settings&gt;</a:t>
            </a:r>
          </a:p>
          <a:p>
            <a:r>
              <a:rPr lang="en-US" altLang="ko-KR" sz="1600" dirty="0"/>
              <a:t>   &lt;</a:t>
            </a:r>
            <a:r>
              <a:rPr lang="en-US" altLang="ko-KR" sz="1600" dirty="0" err="1"/>
              <a:t>typeAliases</a:t>
            </a:r>
            <a:r>
              <a:rPr lang="en-US" altLang="ko-KR" sz="1600" dirty="0"/>
              <a:t>&gt;</a:t>
            </a:r>
          </a:p>
          <a:p>
            <a:r>
              <a:rPr lang="en-US" altLang="ko-KR" sz="1600" dirty="0"/>
              <a:t>      &lt;</a:t>
            </a:r>
            <a:r>
              <a:rPr lang="en-US" altLang="ko-KR" sz="1600" dirty="0" err="1"/>
              <a:t>typeAlias</a:t>
            </a:r>
            <a:r>
              <a:rPr lang="en-US" altLang="ko-KR" sz="1600" dirty="0"/>
              <a:t> type=</a:t>
            </a:r>
            <a:r>
              <a:rPr lang="en-US" altLang="ko-KR" sz="1600" i="1" dirty="0"/>
              <a:t>"</a:t>
            </a:r>
            <a:r>
              <a:rPr lang="en-US" altLang="ko-KR" sz="1600" i="1" dirty="0" err="1"/>
              <a:t>com.kosta.model.DeptVO</a:t>
            </a:r>
            <a:r>
              <a:rPr lang="en-US" altLang="ko-KR" sz="1600" i="1" dirty="0"/>
              <a:t>" alias="</a:t>
            </a:r>
            <a:r>
              <a:rPr lang="en-US" altLang="ko-KR" sz="1600" i="1" dirty="0" err="1"/>
              <a:t>dvo</a:t>
            </a:r>
            <a:r>
              <a:rPr lang="en-US" altLang="ko-KR" sz="1600" i="1" dirty="0"/>
              <a:t>"/&gt;</a:t>
            </a:r>
          </a:p>
          <a:p>
            <a:r>
              <a:rPr lang="en-US" altLang="ko-KR" sz="1600" dirty="0"/>
              <a:t>      &lt;</a:t>
            </a:r>
            <a:r>
              <a:rPr lang="en-US" altLang="ko-KR" sz="1600" dirty="0" err="1"/>
              <a:t>typeAlias</a:t>
            </a:r>
            <a:r>
              <a:rPr lang="en-US" altLang="ko-KR" sz="1600" dirty="0"/>
              <a:t> type=</a:t>
            </a:r>
            <a:r>
              <a:rPr lang="en-US" altLang="ko-KR" sz="1600" i="1" dirty="0"/>
              <a:t>"</a:t>
            </a:r>
            <a:r>
              <a:rPr lang="en-US" altLang="ko-KR" sz="1600" i="1" dirty="0" err="1"/>
              <a:t>com.kosta.model.EmpVO</a:t>
            </a:r>
            <a:r>
              <a:rPr lang="en-US" altLang="ko-KR" sz="1600" i="1" dirty="0"/>
              <a:t>" alias="evo"/&gt;</a:t>
            </a:r>
          </a:p>
          <a:p>
            <a:r>
              <a:rPr lang="en-US" altLang="ko-KR" sz="1600" dirty="0"/>
              <a:t>   &lt;/</a:t>
            </a:r>
            <a:r>
              <a:rPr lang="en-US" altLang="ko-KR" sz="1600" dirty="0" err="1"/>
              <a:t>typeAliases</a:t>
            </a:r>
            <a:r>
              <a:rPr lang="en-US" altLang="ko-KR" sz="1600" dirty="0"/>
              <a:t>&gt;</a:t>
            </a:r>
          </a:p>
          <a:p>
            <a:r>
              <a:rPr lang="en-US" altLang="ko-KR" sz="1600" dirty="0"/>
              <a:t>&lt;/configuration&gt;</a:t>
            </a:r>
          </a:p>
          <a:p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6533018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60225" y="105748"/>
            <a:ext cx="37561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</a:t>
            </a:r>
            <a:r>
              <a:rPr lang="en-US" altLang="ko-KR" sz="4000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Mybatis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설정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[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src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/main/resources/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mybatis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/mappers/deptMapper.xml]</a:t>
            </a:r>
          </a:p>
          <a:p>
            <a:r>
              <a:rPr lang="en-US" altLang="ko-KR" sz="1600" dirty="0"/>
              <a:t>&lt;?xml version=</a:t>
            </a:r>
            <a:r>
              <a:rPr lang="en-US" altLang="ko-KR" sz="1600" i="1" dirty="0"/>
              <a:t>"1.0" encoding="UTF-8" ?&gt;</a:t>
            </a:r>
          </a:p>
          <a:p>
            <a:r>
              <a:rPr lang="en-US" altLang="ko-KR" sz="1600" dirty="0"/>
              <a:t>&lt;!DOCTYPE mapper  PUBLIC "-//mybatis.org//DTD Mapper 3.0//EN"</a:t>
            </a:r>
          </a:p>
          <a:p>
            <a:r>
              <a:rPr lang="en-US" altLang="ko-KR" sz="1600" dirty="0"/>
              <a:t>   "http://mybatis.org/</a:t>
            </a:r>
            <a:r>
              <a:rPr lang="en-US" altLang="ko-KR" sz="1600" dirty="0" err="1"/>
              <a:t>dtd</a:t>
            </a:r>
            <a:r>
              <a:rPr lang="en-US" altLang="ko-KR" sz="1600" dirty="0"/>
              <a:t>/mybatis-3-mapper.dtd"&gt;</a:t>
            </a:r>
          </a:p>
          <a:p>
            <a:endParaRPr lang="ko-KR" altLang="en-US" sz="1600" dirty="0"/>
          </a:p>
          <a:p>
            <a:r>
              <a:rPr lang="en-US" altLang="ko-KR" sz="1600" dirty="0">
                <a:ea typeface="나눔스퀘어" panose="020B0600000101010101" pitchFamily="50" charset="-127"/>
              </a:rPr>
              <a:t>&lt;mapper namespace=</a:t>
            </a:r>
            <a:r>
              <a:rPr lang="en-US" altLang="ko-KR" sz="1600" i="1" dirty="0">
                <a:ea typeface="나눔스퀘어" panose="020B0600000101010101" pitchFamily="50" charset="-127"/>
              </a:rPr>
              <a:t>"</a:t>
            </a:r>
            <a:r>
              <a:rPr lang="en-US" altLang="ko-KR" sz="1600" i="1" dirty="0" err="1">
                <a:ea typeface="나눔스퀘어" panose="020B0600000101010101" pitchFamily="50" charset="-127"/>
              </a:rPr>
              <a:t>com.kosta.dept</a:t>
            </a:r>
            <a:r>
              <a:rPr lang="en-US" altLang="ko-KR" sz="1600" i="1" dirty="0">
                <a:ea typeface="나눔스퀘어" panose="020B0600000101010101" pitchFamily="50" charset="-127"/>
              </a:rPr>
              <a:t>"&gt;</a:t>
            </a:r>
            <a:endParaRPr lang="en-US" altLang="ko-KR" sz="1600" dirty="0">
              <a:ea typeface="나눔스퀘어" panose="020B0600000101010101" pitchFamily="50" charset="-127"/>
            </a:endParaRPr>
          </a:p>
          <a:p>
            <a:r>
              <a:rPr lang="en-US" altLang="ko-KR" sz="1600" dirty="0"/>
              <a:t>&lt;</a:t>
            </a:r>
            <a:r>
              <a:rPr lang="en-US" altLang="ko-KR" sz="1600" dirty="0" err="1"/>
              <a:t>resultMap</a:t>
            </a:r>
            <a:r>
              <a:rPr lang="en-US" altLang="ko-KR" sz="1600" dirty="0"/>
              <a:t> id=</a:t>
            </a:r>
            <a:r>
              <a:rPr lang="en-US" altLang="ko-KR" sz="1600" i="1" dirty="0"/>
              <a:t>"</a:t>
            </a:r>
            <a:r>
              <a:rPr lang="en-US" altLang="ko-KR" sz="1600" i="1" dirty="0" err="1"/>
              <a:t>deptResult</a:t>
            </a:r>
            <a:r>
              <a:rPr lang="en-US" altLang="ko-KR" sz="1600" i="1" dirty="0"/>
              <a:t>" type="</a:t>
            </a:r>
            <a:r>
              <a:rPr lang="en-US" altLang="ko-KR" sz="1600" i="1" dirty="0" err="1"/>
              <a:t>dvo</a:t>
            </a:r>
            <a:r>
              <a:rPr lang="en-US" altLang="ko-KR" sz="1600" i="1" dirty="0"/>
              <a:t>"&gt;</a:t>
            </a:r>
          </a:p>
          <a:p>
            <a:r>
              <a:rPr lang="en-US" altLang="ko-KR" sz="1600" dirty="0"/>
              <a:t>        &lt;result property=</a:t>
            </a:r>
            <a:r>
              <a:rPr lang="en-US" altLang="ko-KR" sz="1600" i="1" dirty="0"/>
              <a:t>"</a:t>
            </a:r>
            <a:r>
              <a:rPr lang="en-US" altLang="ko-KR" sz="1600" i="1" dirty="0" err="1"/>
              <a:t>department_id</a:t>
            </a:r>
            <a:r>
              <a:rPr lang="en-US" altLang="ko-KR" sz="1600" i="1" dirty="0"/>
              <a:t>" column="</a:t>
            </a:r>
            <a:r>
              <a:rPr lang="en-US" altLang="ko-KR" sz="1600" i="1" dirty="0" err="1"/>
              <a:t>department_id</a:t>
            </a:r>
            <a:r>
              <a:rPr lang="en-US" altLang="ko-KR" sz="1600" i="1" dirty="0"/>
              <a:t>" /&gt;</a:t>
            </a:r>
          </a:p>
          <a:p>
            <a:r>
              <a:rPr lang="en-US" altLang="ko-KR" sz="1600" dirty="0"/>
              <a:t>        &lt;result property=</a:t>
            </a:r>
            <a:r>
              <a:rPr lang="en-US" altLang="ko-KR" sz="1600" i="1" dirty="0"/>
              <a:t>"</a:t>
            </a:r>
            <a:r>
              <a:rPr lang="en-US" altLang="ko-KR" sz="1600" i="1" dirty="0" err="1"/>
              <a:t>department_name</a:t>
            </a:r>
            <a:r>
              <a:rPr lang="en-US" altLang="ko-KR" sz="1600" i="1" dirty="0"/>
              <a:t>" column="</a:t>
            </a:r>
            <a:r>
              <a:rPr lang="en-US" altLang="ko-KR" sz="1600" i="1" dirty="0" err="1"/>
              <a:t>department_name</a:t>
            </a:r>
            <a:r>
              <a:rPr lang="en-US" altLang="ko-KR" sz="1600" i="1" dirty="0"/>
              <a:t>" /&gt;</a:t>
            </a:r>
          </a:p>
          <a:p>
            <a:r>
              <a:rPr lang="en-US" altLang="ko-KR" sz="1600" dirty="0"/>
              <a:t>        &lt;result property=</a:t>
            </a:r>
            <a:r>
              <a:rPr lang="en-US" altLang="ko-KR" sz="1600" i="1" dirty="0"/>
              <a:t>"</a:t>
            </a:r>
            <a:r>
              <a:rPr lang="en-US" altLang="ko-KR" sz="1600" i="1" dirty="0" err="1"/>
              <a:t>manager_id</a:t>
            </a:r>
            <a:r>
              <a:rPr lang="en-US" altLang="ko-KR" sz="1600" i="1" dirty="0"/>
              <a:t>" column="</a:t>
            </a:r>
            <a:r>
              <a:rPr lang="en-US" altLang="ko-KR" sz="1600" i="1" dirty="0" err="1"/>
              <a:t>manager_id</a:t>
            </a:r>
            <a:r>
              <a:rPr lang="en-US" altLang="ko-KR" sz="1600" i="1" dirty="0"/>
              <a:t>" /&gt;</a:t>
            </a:r>
          </a:p>
          <a:p>
            <a:r>
              <a:rPr lang="en-US" altLang="ko-KR" sz="1600" dirty="0"/>
              <a:t>        &lt;result property=</a:t>
            </a:r>
            <a:r>
              <a:rPr lang="en-US" altLang="ko-KR" sz="1600" i="1" dirty="0"/>
              <a:t>"</a:t>
            </a:r>
            <a:r>
              <a:rPr lang="en-US" altLang="ko-KR" sz="1600" i="1" dirty="0" err="1"/>
              <a:t>location_id</a:t>
            </a:r>
            <a:r>
              <a:rPr lang="en-US" altLang="ko-KR" sz="1600" i="1" dirty="0"/>
              <a:t>" column="</a:t>
            </a:r>
            <a:r>
              <a:rPr lang="en-US" altLang="ko-KR" sz="1600" i="1" dirty="0" err="1"/>
              <a:t>location_id</a:t>
            </a:r>
            <a:r>
              <a:rPr lang="en-US" altLang="ko-KR" sz="1600" i="1" dirty="0"/>
              <a:t>" /&gt;</a:t>
            </a:r>
          </a:p>
          <a:p>
            <a:r>
              <a:rPr lang="en-US" altLang="ko-KR" sz="1600" dirty="0"/>
              <a:t>&lt;/</a:t>
            </a:r>
            <a:r>
              <a:rPr lang="en-US" altLang="ko-KR" sz="1600" dirty="0" err="1"/>
              <a:t>resultMap</a:t>
            </a:r>
            <a:r>
              <a:rPr lang="en-US" altLang="ko-KR" sz="1600" dirty="0"/>
              <a:t>&gt; </a:t>
            </a:r>
          </a:p>
          <a:p>
            <a:r>
              <a:rPr lang="ko-KR" altLang="en-US" sz="1600" dirty="0"/>
              <a:t> </a:t>
            </a:r>
          </a:p>
          <a:p>
            <a:r>
              <a:rPr lang="en-US" altLang="ko-KR" sz="1600" dirty="0"/>
              <a:t>&lt;select id=</a:t>
            </a:r>
            <a:r>
              <a:rPr lang="en-US" altLang="ko-KR" sz="1600" i="1" dirty="0"/>
              <a:t>"</a:t>
            </a:r>
            <a:r>
              <a:rPr lang="en-US" altLang="ko-KR" sz="1600" i="1" dirty="0" err="1"/>
              <a:t>selectAll</a:t>
            </a:r>
            <a:r>
              <a:rPr lang="en-US" altLang="ko-KR" sz="1600" i="1" dirty="0"/>
              <a:t>" </a:t>
            </a:r>
            <a:r>
              <a:rPr lang="en-US" altLang="ko-KR" sz="1600" i="1" dirty="0" err="1"/>
              <a:t>resultMap</a:t>
            </a:r>
            <a:r>
              <a:rPr lang="en-US" altLang="ko-KR" sz="1600" i="1" dirty="0"/>
              <a:t>="</a:t>
            </a:r>
            <a:r>
              <a:rPr lang="en-US" altLang="ko-KR" sz="1600" i="1" dirty="0" err="1"/>
              <a:t>deptResult</a:t>
            </a:r>
            <a:r>
              <a:rPr lang="en-US" altLang="ko-KR" sz="1600" i="1" dirty="0"/>
              <a:t>"&gt;</a:t>
            </a:r>
          </a:p>
          <a:p>
            <a:r>
              <a:rPr lang="en-US" altLang="ko-KR" sz="1600" dirty="0"/>
              <a:t>         select * from departments order by 1</a:t>
            </a:r>
          </a:p>
          <a:p>
            <a:r>
              <a:rPr lang="en-US" altLang="ko-KR" sz="1600" dirty="0"/>
              <a:t>&lt;/select&gt;</a:t>
            </a:r>
          </a:p>
          <a:p>
            <a:r>
              <a:rPr lang="en-US" altLang="ko-KR" sz="1600" dirty="0">
                <a:ea typeface="나눔스퀘어" panose="020B0600000101010101" pitchFamily="50" charset="-127"/>
              </a:rPr>
              <a:t>&lt;/mapper&gt;</a:t>
            </a:r>
            <a:endParaRPr lang="en-US" altLang="ko-KR" dirty="0"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9540720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60225" y="105748"/>
            <a:ext cx="37561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</a:t>
            </a:r>
            <a:r>
              <a:rPr lang="en-US" altLang="ko-KR" sz="4000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Mybatis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설정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[action-dataSource.xml]</a:t>
            </a:r>
          </a:p>
          <a:p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600" dirty="0"/>
              <a:t>&lt;bean id=</a:t>
            </a:r>
            <a:r>
              <a:rPr lang="en-US" altLang="ko-KR" sz="1600" i="1" dirty="0"/>
              <a:t>"</a:t>
            </a:r>
            <a:r>
              <a:rPr lang="en-US" altLang="ko-KR" sz="1600" i="1" dirty="0" err="1"/>
              <a:t>sqlSessionFactory</a:t>
            </a:r>
            <a:r>
              <a:rPr lang="en-US" altLang="ko-KR" sz="1600" i="1" dirty="0"/>
              <a:t>" class="</a:t>
            </a:r>
            <a:r>
              <a:rPr lang="en-US" altLang="ko-KR" sz="1600" i="1" dirty="0" err="1"/>
              <a:t>org.mybatis.spring.SqlSessionFactoryBean</a:t>
            </a:r>
            <a:r>
              <a:rPr lang="en-US" altLang="ko-KR" sz="1600" i="1" dirty="0"/>
              <a:t>"&gt;</a:t>
            </a:r>
          </a:p>
          <a:p>
            <a:pPr lvl="1"/>
            <a:r>
              <a:rPr lang="en-US" altLang="ko-KR" sz="1600" dirty="0"/>
              <a:t>&lt;property name=</a:t>
            </a:r>
            <a:r>
              <a:rPr lang="en-US" altLang="ko-KR" sz="1600" i="1" dirty="0"/>
              <a:t>"</a:t>
            </a:r>
            <a:r>
              <a:rPr lang="en-US" altLang="ko-KR" sz="1600" i="1" dirty="0" err="1"/>
              <a:t>dataSource</a:t>
            </a:r>
            <a:r>
              <a:rPr lang="en-US" altLang="ko-KR" sz="1600" i="1" dirty="0"/>
              <a:t>" ref="</a:t>
            </a:r>
            <a:r>
              <a:rPr lang="en-US" altLang="ko-KR" sz="1600" i="1" dirty="0" err="1"/>
              <a:t>dataSource</a:t>
            </a:r>
            <a:r>
              <a:rPr lang="en-US" altLang="ko-KR" sz="1600" i="1" dirty="0"/>
              <a:t>"&gt;&lt;/property&gt;</a:t>
            </a:r>
          </a:p>
          <a:p>
            <a:pPr lvl="1"/>
            <a:r>
              <a:rPr lang="en-US" altLang="ko-KR" sz="1600" dirty="0"/>
              <a:t>&lt;property name=</a:t>
            </a:r>
            <a:r>
              <a:rPr lang="en-US" altLang="ko-KR" sz="1600" i="1" dirty="0"/>
              <a:t>"</a:t>
            </a:r>
            <a:r>
              <a:rPr lang="en-US" altLang="ko-KR" sz="1600" i="1" dirty="0" err="1"/>
              <a:t>configLocation</a:t>
            </a:r>
            <a:r>
              <a:rPr lang="en-US" altLang="ko-KR" sz="1600" i="1" dirty="0"/>
              <a:t>" value="</a:t>
            </a:r>
            <a:r>
              <a:rPr lang="en-US" altLang="ko-KR" sz="1600" i="1" dirty="0" err="1"/>
              <a:t>classpath:mybatis</a:t>
            </a:r>
            <a:r>
              <a:rPr lang="en-US" altLang="ko-KR" sz="1600" i="1" dirty="0"/>
              <a:t>/SqlMapConfig.xml" /&gt;</a:t>
            </a:r>
          </a:p>
          <a:p>
            <a:pPr lvl="1"/>
            <a:r>
              <a:rPr lang="en-US" altLang="ko-KR" sz="1600" dirty="0"/>
              <a:t>&lt;property name=</a:t>
            </a:r>
            <a:r>
              <a:rPr lang="en-US" altLang="ko-KR" sz="1600" i="1" dirty="0"/>
              <a:t>"</a:t>
            </a:r>
            <a:r>
              <a:rPr lang="en-US" altLang="ko-KR" sz="1600" i="1" dirty="0" err="1"/>
              <a:t>mapperLocations</a:t>
            </a:r>
            <a:r>
              <a:rPr lang="en-US" altLang="ko-KR" sz="1600" i="1" dirty="0"/>
              <a:t>" value="</a:t>
            </a:r>
            <a:r>
              <a:rPr lang="en-US" altLang="ko-KR" sz="1600" i="1" dirty="0" err="1"/>
              <a:t>classpath:mybatis</a:t>
            </a:r>
            <a:r>
              <a:rPr lang="en-US" altLang="ko-KR" sz="1600" i="1" dirty="0"/>
              <a:t>/mappers/*.xml" /&gt;</a:t>
            </a:r>
          </a:p>
          <a:p>
            <a:r>
              <a:rPr lang="en-US" altLang="ko-KR" sz="1600" dirty="0"/>
              <a:t>&lt;/bean&gt;</a:t>
            </a:r>
          </a:p>
          <a:p>
            <a:endParaRPr lang="ko-KR" altLang="en-US" sz="1600" dirty="0"/>
          </a:p>
          <a:p>
            <a:r>
              <a:rPr lang="en-US" altLang="ko-KR" sz="1600" dirty="0"/>
              <a:t>&lt;bean id=</a:t>
            </a:r>
            <a:r>
              <a:rPr lang="en-US" altLang="ko-KR" sz="1600" i="1" dirty="0"/>
              <a:t>"</a:t>
            </a:r>
            <a:r>
              <a:rPr lang="en-US" altLang="ko-KR" sz="1600" i="1" dirty="0" err="1"/>
              <a:t>sqlSession</a:t>
            </a:r>
            <a:r>
              <a:rPr lang="en-US" altLang="ko-KR" sz="1600" i="1" dirty="0"/>
              <a:t>" class="</a:t>
            </a:r>
            <a:r>
              <a:rPr lang="en-US" altLang="ko-KR" sz="1600" i="1" dirty="0" err="1"/>
              <a:t>org.mybatis.spring.SqlSessionTemplate</a:t>
            </a:r>
            <a:r>
              <a:rPr lang="en-US" altLang="ko-KR" sz="1600" i="1" dirty="0"/>
              <a:t>"&gt;</a:t>
            </a:r>
          </a:p>
          <a:p>
            <a:r>
              <a:rPr lang="en-US" altLang="ko-KR" sz="1600" dirty="0"/>
              <a:t>	&lt;constructor-</a:t>
            </a:r>
            <a:r>
              <a:rPr lang="en-US" altLang="ko-KR" sz="1600" dirty="0" err="1"/>
              <a:t>arg</a:t>
            </a:r>
            <a:r>
              <a:rPr lang="en-US" altLang="ko-KR" sz="1600" dirty="0"/>
              <a:t> ref=</a:t>
            </a:r>
            <a:r>
              <a:rPr lang="en-US" altLang="ko-KR" sz="1600" i="1" dirty="0"/>
              <a:t>"</a:t>
            </a:r>
            <a:r>
              <a:rPr lang="en-US" altLang="ko-KR" sz="1600" i="1" dirty="0" err="1"/>
              <a:t>sqlSessionFactory</a:t>
            </a:r>
            <a:r>
              <a:rPr lang="en-US" altLang="ko-KR" sz="1600" i="1" dirty="0"/>
              <a:t>"&gt;&lt;/constructor-</a:t>
            </a:r>
            <a:r>
              <a:rPr lang="en-US" altLang="ko-KR" sz="1600" i="1" dirty="0" err="1"/>
              <a:t>arg</a:t>
            </a:r>
            <a:r>
              <a:rPr lang="en-US" altLang="ko-KR" sz="1600" i="1" dirty="0"/>
              <a:t>&gt;</a:t>
            </a:r>
          </a:p>
          <a:p>
            <a:r>
              <a:rPr lang="en-US" altLang="ko-KR" sz="1600" dirty="0"/>
              <a:t>&lt;/bean&gt;</a:t>
            </a:r>
            <a:endParaRPr lang="en-US" altLang="ko-KR" sz="1600" dirty="0">
              <a:ea typeface="나눔스퀘어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C17346B-5803-ECEE-ACC8-ACB6DF8BA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600" y="4809166"/>
            <a:ext cx="7544853" cy="106694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49F5F9A-E781-1A99-3DA3-57E9D924F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5402" y="1903326"/>
            <a:ext cx="2429214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381934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60225" y="105748"/>
            <a:ext cx="37561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</a:t>
            </a:r>
            <a:r>
              <a:rPr lang="en-US" altLang="ko-KR" sz="4000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Mybatis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590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SqlSession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클래스에서 제공하는 메서드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586337"/>
              </p:ext>
            </p:extLst>
          </p:nvPr>
        </p:nvGraphicFramePr>
        <p:xfrm>
          <a:off x="750284" y="1871033"/>
          <a:ext cx="10582936" cy="329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15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1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17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메서드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75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List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selectList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query_id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id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에 대한 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select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문을 실행한 후 여러 레코드를 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List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로 반환합니다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90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List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selectList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query_id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조건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id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에 대한 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select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문을 실행하면서 사용되는 조건도 전달합니다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T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selectOne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query_id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id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에 대한 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select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문을 실행한 후 지정한 타입으로 한 개의 레코드를 반환합니다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14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T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selectOne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query_id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조건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id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에 대한 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select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문을 실행하면서 사용되는 조건도 전달합니다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Map&lt;K,V)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selectMap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query_id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조건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id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에 대한 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select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문을 실행하면서 사용되는 조건도 전달합니다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 Map 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타입으로 레코드를 반환합니다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61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int insert(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query_id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Object obj)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id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에 대한 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insert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문을 실행하면서 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obj 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객체의 값을 테이블에 추가합니다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62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int update(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query_id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Object obj)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obj 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객체의 값을 조건문의 수정 값으로 사용해 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id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에 대한 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update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문을 실행합니다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66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int delete(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query_id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Object obj)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obj 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객체의 값을 조건문의 조건 값으로 사용해 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id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에 대한 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delete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문을 실행합니다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7928745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60225" y="105748"/>
            <a:ext cx="37561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</a:t>
            </a:r>
            <a:r>
              <a:rPr lang="en-US" altLang="ko-KR" sz="4000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Mybatis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설정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[DeptDAOMybatis.java]</a:t>
            </a:r>
          </a:p>
          <a:p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600" dirty="0"/>
              <a:t>@Repository("deptMybatis")</a:t>
            </a:r>
          </a:p>
          <a:p>
            <a:r>
              <a:rPr lang="en-US" altLang="ko-KR" sz="1600" dirty="0"/>
              <a:t>public class </a:t>
            </a:r>
            <a:r>
              <a:rPr lang="en-US" altLang="ko-KR" sz="1600" dirty="0" err="1"/>
              <a:t>DeptDAOMybatis</a:t>
            </a:r>
            <a:r>
              <a:rPr lang="en-US" altLang="ko-KR" sz="1600" dirty="0"/>
              <a:t> {</a:t>
            </a:r>
          </a:p>
          <a:p>
            <a:r>
              <a:rPr lang="en-US" altLang="ko-KR" sz="1600" dirty="0"/>
              <a:t>	@Autowired</a:t>
            </a:r>
          </a:p>
          <a:p>
            <a:r>
              <a:rPr lang="en-US" altLang="ko-KR" sz="1600" dirty="0"/>
              <a:t>	</a:t>
            </a:r>
            <a:r>
              <a:rPr lang="en-US" altLang="ko-KR" sz="1600" dirty="0" err="1"/>
              <a:t>SqlSession</a:t>
            </a:r>
            <a:r>
              <a:rPr lang="en-US" altLang="ko-KR" sz="1600" dirty="0"/>
              <a:t> </a:t>
            </a:r>
            <a:r>
              <a:rPr lang="en-US" altLang="ko-KR" sz="1600" dirty="0" err="1"/>
              <a:t>sqlSession</a:t>
            </a:r>
            <a:r>
              <a:rPr lang="en-US" altLang="ko-KR" sz="1600" dirty="0"/>
              <a:t>;</a:t>
            </a:r>
          </a:p>
          <a:p>
            <a:r>
              <a:rPr lang="en-US" altLang="ko-KR" sz="1600" dirty="0"/>
              <a:t>	String namespace="</a:t>
            </a:r>
            <a:r>
              <a:rPr lang="en-US" altLang="ko-KR" sz="1600" dirty="0" err="1"/>
              <a:t>com.kosta.dept</a:t>
            </a:r>
            <a:r>
              <a:rPr lang="en-US" altLang="ko-KR" sz="1600" dirty="0"/>
              <a:t>";</a:t>
            </a:r>
          </a:p>
          <a:p>
            <a:r>
              <a:rPr lang="en-US" altLang="ko-KR" sz="1600" dirty="0"/>
              <a:t>	public List&lt;</a:t>
            </a:r>
            <a:r>
              <a:rPr lang="en-US" altLang="ko-KR" sz="1600" dirty="0" err="1"/>
              <a:t>DeptVO</a:t>
            </a:r>
            <a:r>
              <a:rPr lang="en-US" altLang="ko-KR" sz="1600" dirty="0"/>
              <a:t>&gt; </a:t>
            </a:r>
            <a:r>
              <a:rPr lang="en-US" altLang="ko-KR" sz="1600" dirty="0" err="1"/>
              <a:t>selectAll</a:t>
            </a:r>
            <a:r>
              <a:rPr lang="en-US" altLang="ko-KR" sz="1600" dirty="0"/>
              <a:t>() {return </a:t>
            </a:r>
            <a:r>
              <a:rPr lang="en-US" altLang="ko-KR" sz="1600" dirty="0" err="1"/>
              <a:t>sqlSession.selectList</a:t>
            </a:r>
            <a:r>
              <a:rPr lang="en-US" altLang="ko-KR" sz="1600" dirty="0"/>
              <a:t>(namespace+".</a:t>
            </a:r>
            <a:r>
              <a:rPr lang="en-US" altLang="ko-KR" sz="1600" dirty="0" err="1"/>
              <a:t>selectAll</a:t>
            </a:r>
            <a:r>
              <a:rPr lang="en-US" altLang="ko-KR" sz="1600" dirty="0"/>
              <a:t>");}</a:t>
            </a:r>
          </a:p>
          <a:p>
            <a:r>
              <a:rPr lang="en-US" altLang="ko-KR" sz="1600" dirty="0"/>
              <a:t>	public int </a:t>
            </a:r>
            <a:r>
              <a:rPr lang="en-US" altLang="ko-KR" sz="1600" dirty="0" err="1"/>
              <a:t>insertDept</a:t>
            </a:r>
            <a:r>
              <a:rPr lang="en-US" altLang="ko-KR" sz="1600" dirty="0"/>
              <a:t>(</a:t>
            </a:r>
            <a:r>
              <a:rPr lang="en-US" altLang="ko-KR" sz="1600" dirty="0" err="1"/>
              <a:t>DeptVO</a:t>
            </a:r>
            <a:r>
              <a:rPr lang="en-US" altLang="ko-KR" sz="1600" dirty="0"/>
              <a:t> dept) {</a:t>
            </a:r>
          </a:p>
          <a:p>
            <a:r>
              <a:rPr lang="en-US" altLang="ko-KR" sz="1600" dirty="0"/>
              <a:t>		return </a:t>
            </a:r>
            <a:r>
              <a:rPr lang="en-US" altLang="ko-KR" sz="1600" dirty="0" err="1"/>
              <a:t>sqlSession.insert</a:t>
            </a:r>
            <a:r>
              <a:rPr lang="en-US" altLang="ko-KR" sz="1600" dirty="0"/>
              <a:t>(namespace+".</a:t>
            </a:r>
            <a:r>
              <a:rPr lang="en-US" altLang="ko-KR" sz="1600" dirty="0" err="1"/>
              <a:t>insertDept</a:t>
            </a:r>
            <a:r>
              <a:rPr lang="en-US" altLang="ko-KR" sz="1600" dirty="0"/>
              <a:t>", dept);}</a:t>
            </a:r>
          </a:p>
          <a:p>
            <a:r>
              <a:rPr lang="en-US" altLang="ko-KR" sz="1600" dirty="0"/>
              <a:t>	public </a:t>
            </a:r>
            <a:r>
              <a:rPr lang="en-US" altLang="ko-KR" sz="1600" dirty="0" err="1"/>
              <a:t>DeptVO</a:t>
            </a:r>
            <a:r>
              <a:rPr lang="en-US" altLang="ko-KR" sz="1600" dirty="0"/>
              <a:t> </a:t>
            </a:r>
            <a:r>
              <a:rPr lang="en-US" altLang="ko-KR" sz="1600" dirty="0" err="1"/>
              <a:t>selectById</a:t>
            </a:r>
            <a:r>
              <a:rPr lang="en-US" altLang="ko-KR" sz="1600" dirty="0"/>
              <a:t>(int </a:t>
            </a:r>
            <a:r>
              <a:rPr lang="en-US" altLang="ko-KR" sz="1600" dirty="0" err="1"/>
              <a:t>i_deptid</a:t>
            </a:r>
            <a:r>
              <a:rPr lang="en-US" altLang="ko-KR" sz="1600" dirty="0"/>
              <a:t>) {</a:t>
            </a:r>
          </a:p>
          <a:p>
            <a:r>
              <a:rPr lang="en-US" altLang="ko-KR" sz="1600" dirty="0"/>
              <a:t>		return </a:t>
            </a:r>
            <a:r>
              <a:rPr lang="en-US" altLang="ko-KR" sz="1600" dirty="0" err="1"/>
              <a:t>sqlSession.selectOne</a:t>
            </a:r>
            <a:r>
              <a:rPr lang="en-US" altLang="ko-KR" sz="1600" dirty="0"/>
              <a:t>(namespace+".</a:t>
            </a:r>
            <a:r>
              <a:rPr lang="en-US" altLang="ko-KR" sz="1600" dirty="0" err="1"/>
              <a:t>selectById</a:t>
            </a:r>
            <a:r>
              <a:rPr lang="en-US" altLang="ko-KR" sz="1600" dirty="0"/>
              <a:t>", </a:t>
            </a:r>
            <a:r>
              <a:rPr lang="en-US" altLang="ko-KR" sz="1600" dirty="0" err="1"/>
              <a:t>i_deptid</a:t>
            </a:r>
            <a:r>
              <a:rPr lang="en-US" altLang="ko-KR" sz="1600" dirty="0"/>
              <a:t>);}</a:t>
            </a:r>
          </a:p>
          <a:p>
            <a:r>
              <a:rPr lang="en-US" altLang="ko-KR" sz="1600" dirty="0"/>
              <a:t>	public int </a:t>
            </a:r>
            <a:r>
              <a:rPr lang="en-US" altLang="ko-KR" sz="1600" dirty="0" err="1"/>
              <a:t>updateDept</a:t>
            </a:r>
            <a:r>
              <a:rPr lang="en-US" altLang="ko-KR" sz="1600" dirty="0"/>
              <a:t>(</a:t>
            </a:r>
            <a:r>
              <a:rPr lang="en-US" altLang="ko-KR" sz="1600" dirty="0" err="1"/>
              <a:t>DeptVO</a:t>
            </a:r>
            <a:r>
              <a:rPr lang="en-US" altLang="ko-KR" sz="1600" dirty="0"/>
              <a:t> dept) {</a:t>
            </a:r>
          </a:p>
          <a:p>
            <a:r>
              <a:rPr lang="en-US" altLang="ko-KR" sz="1600" dirty="0"/>
              <a:t>		return </a:t>
            </a:r>
            <a:r>
              <a:rPr lang="en-US" altLang="ko-KR" sz="1600" dirty="0" err="1"/>
              <a:t>sqlSession.update</a:t>
            </a:r>
            <a:r>
              <a:rPr lang="en-US" altLang="ko-KR" sz="1600" dirty="0"/>
              <a:t>(namespace+".</a:t>
            </a:r>
            <a:r>
              <a:rPr lang="en-US" altLang="ko-KR" sz="1600" dirty="0" err="1"/>
              <a:t>updateDept</a:t>
            </a:r>
            <a:r>
              <a:rPr lang="en-US" altLang="ko-KR" sz="1600" dirty="0"/>
              <a:t>", dept);	}</a:t>
            </a:r>
          </a:p>
          <a:p>
            <a:r>
              <a:rPr lang="en-US" altLang="ko-KR" sz="1600" dirty="0"/>
              <a:t>	public int </a:t>
            </a:r>
            <a:r>
              <a:rPr lang="en-US" altLang="ko-KR" sz="1600" dirty="0" err="1"/>
              <a:t>deleteDept</a:t>
            </a:r>
            <a:r>
              <a:rPr lang="en-US" altLang="ko-KR" sz="1600" dirty="0"/>
              <a:t>(int </a:t>
            </a:r>
            <a:r>
              <a:rPr lang="en-US" altLang="ko-KR" sz="1600" dirty="0" err="1"/>
              <a:t>deptid</a:t>
            </a:r>
            <a:r>
              <a:rPr lang="en-US" altLang="ko-KR" sz="1600" dirty="0"/>
              <a:t>) {</a:t>
            </a:r>
          </a:p>
          <a:p>
            <a:r>
              <a:rPr lang="en-US" altLang="ko-KR" sz="1600" dirty="0"/>
              <a:t>		return </a:t>
            </a:r>
            <a:r>
              <a:rPr lang="en-US" altLang="ko-KR" sz="1600" dirty="0" err="1"/>
              <a:t>sqlSession.insert</a:t>
            </a:r>
            <a:r>
              <a:rPr lang="en-US" altLang="ko-KR" sz="1600" dirty="0"/>
              <a:t>(namespace+".</a:t>
            </a:r>
            <a:r>
              <a:rPr lang="en-US" altLang="ko-KR" sz="1600" dirty="0" err="1"/>
              <a:t>deleteDept</a:t>
            </a:r>
            <a:r>
              <a:rPr lang="en-US" altLang="ko-KR" sz="1600" dirty="0"/>
              <a:t>", </a:t>
            </a:r>
            <a:r>
              <a:rPr lang="en-US" altLang="ko-KR" sz="1600" dirty="0" err="1"/>
              <a:t>deptid</a:t>
            </a:r>
            <a:r>
              <a:rPr lang="en-US" altLang="ko-KR" sz="1600" dirty="0"/>
              <a:t>);	}	</a:t>
            </a:r>
          </a:p>
          <a:p>
            <a:r>
              <a:rPr lang="en-US" altLang="ko-KR" sz="1600" dirty="0"/>
              <a:t>}</a:t>
            </a:r>
            <a:endParaRPr lang="en-US" altLang="ko-KR" sz="1600" dirty="0"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8861069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60225" y="105748"/>
            <a:ext cx="37561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</a:t>
            </a:r>
            <a:r>
              <a:rPr lang="en-US" altLang="ko-KR" sz="4000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Mybatis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57246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사용가능한 </a:t>
            </a:r>
            <a:r>
              <a:rPr lang="en-US" altLang="ko-KR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jdbcType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VARCHAR , CHAR, INTEGER, FLOAT, DOUBLE, DECIMAL, DATE, TIME, BOOLEAN, TIMESTAMP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등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null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값 처리방법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14400" lvl="1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null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 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셋팅되는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파라메터 값에 옵션을 붙인다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(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불편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#{email,jdbcType=VARCHAR}), #{salary, </a:t>
            </a:r>
            <a:r>
              <a:rPr lang="en-US" altLang="ko-KR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jdbcType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=INTEGER}</a:t>
            </a:r>
          </a:p>
          <a:p>
            <a:pPr marL="914400" lvl="1" indent="-457200">
              <a:lnSpc>
                <a:spcPct val="150000"/>
              </a:lnSpc>
              <a:buFont typeface="+mj-ea"/>
              <a:buAutoNum type="circleNumDbPlain" startAt="2"/>
            </a:pPr>
            <a:r>
              <a:rPr lang="ko-KR" altLang="en-US" sz="20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설정파일에</a:t>
            </a:r>
            <a:r>
              <a:rPr lang="en-US" altLang="ko-KR" sz="20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0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추가</a:t>
            </a:r>
            <a:r>
              <a:rPr lang="en-US" altLang="ko-KR" sz="20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(Good)</a:t>
            </a:r>
          </a:p>
          <a:p>
            <a:pPr lvl="1"/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&lt;settings&gt;</a:t>
            </a:r>
          </a:p>
          <a:p>
            <a:pPr lvl="1"/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 &lt;setting name=</a:t>
            </a:r>
            <a:r>
              <a:rPr lang="en-US" altLang="ko-KR" sz="2000" i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"</a:t>
            </a:r>
            <a:r>
              <a:rPr lang="en-US" altLang="ko-KR" sz="2000" i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jdbcTypeForNull</a:t>
            </a:r>
            <a:r>
              <a:rPr lang="en-US" altLang="ko-KR" sz="2000" i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" value="NULL"/&gt;</a:t>
            </a:r>
          </a:p>
          <a:p>
            <a:pPr lvl="1"/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&lt;/settings&gt;</a:t>
            </a:r>
          </a:p>
          <a:p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1600" dirty="0"/>
          </a:p>
          <a:p>
            <a:r>
              <a:rPr lang="en-US" altLang="ko-KR" sz="1600" dirty="0"/>
              <a:t> </a:t>
            </a:r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FAAEA1E-47A0-C5F1-AE9D-7E8842DC5196}"/>
              </a:ext>
            </a:extLst>
          </p:cNvPr>
          <p:cNvSpPr/>
          <p:nvPr/>
        </p:nvSpPr>
        <p:spPr>
          <a:xfrm>
            <a:off x="8148787" y="2250041"/>
            <a:ext cx="3554857" cy="444871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/>
              <a:t>[</a:t>
            </a:r>
            <a:r>
              <a:rPr lang="ko-KR" altLang="en-US" dirty="0"/>
              <a:t>오류</a:t>
            </a:r>
            <a:r>
              <a:rPr lang="en-US" altLang="ko-KR" dirty="0"/>
              <a:t>]</a:t>
            </a:r>
          </a:p>
          <a:p>
            <a:r>
              <a:rPr lang="en-US" altLang="ko-KR" dirty="0" err="1"/>
              <a:t>org.springframework.validation.BeanPropertyBindingResult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View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에서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controller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로 넘어가는 값이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empty string(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빈 문자열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, </a:t>
            </a:r>
            <a:r>
              <a:rPr lang="en-US" altLang="ko-KR" b="0" i="0" dirty="0">
                <a:solidFill>
                  <a:srgbClr val="666666"/>
                </a:solidFill>
                <a:effectLst/>
                <a:latin typeface="Noto Sans KR"/>
              </a:rPr>
              <a:t>""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)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이거나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null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일 때</a:t>
            </a:r>
            <a:endParaRPr lang="en-US" altLang="ko-KR" b="0" i="0" dirty="0">
              <a:solidFill>
                <a:srgbClr val="000000"/>
              </a:solidFill>
              <a:effectLst/>
              <a:latin typeface="Noto Sans KR"/>
            </a:endParaRPr>
          </a:p>
          <a:p>
            <a:endParaRPr lang="en-US" altLang="ko-KR" dirty="0"/>
          </a:p>
          <a:p>
            <a:r>
              <a:rPr lang="en-US" altLang="ko-KR" dirty="0"/>
              <a:t>[</a:t>
            </a:r>
            <a:r>
              <a:rPr lang="ko-KR" altLang="en-US" dirty="0"/>
              <a:t>원인</a:t>
            </a:r>
            <a:r>
              <a:rPr lang="en-US" altLang="ko-KR" dirty="0"/>
              <a:t>]</a:t>
            </a:r>
          </a:p>
          <a:p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원시타입의 변수들은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empty string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이나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null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을 할당할 수 없기 때문에 타입 캐스팅시 발생  </a:t>
            </a:r>
            <a:endParaRPr lang="en-US" altLang="ko-KR" b="0" i="0" dirty="0">
              <a:solidFill>
                <a:srgbClr val="000000"/>
              </a:solidFill>
              <a:effectLst/>
              <a:latin typeface="Noto Sans KR"/>
            </a:endParaRPr>
          </a:p>
          <a:p>
            <a:endParaRPr lang="en-US" altLang="ko-KR" dirty="0"/>
          </a:p>
          <a:p>
            <a:r>
              <a:rPr lang="en-US" altLang="ko-KR" dirty="0"/>
              <a:t>[</a:t>
            </a:r>
            <a:r>
              <a:rPr lang="ko-KR" altLang="en-US" dirty="0"/>
              <a:t>해결</a:t>
            </a:r>
            <a:r>
              <a:rPr lang="en-US" altLang="ko-KR" dirty="0"/>
              <a:t>] DTO</a:t>
            </a:r>
            <a:r>
              <a:rPr lang="ko-KR" altLang="en-US" dirty="0"/>
              <a:t>의 타입을 </a:t>
            </a:r>
            <a:r>
              <a:rPr lang="en-US" altLang="ko-KR" dirty="0"/>
              <a:t>Wrapper class</a:t>
            </a:r>
            <a:r>
              <a:rPr lang="ko-KR" altLang="en-US" dirty="0"/>
              <a:t>로 변경</a:t>
            </a:r>
          </a:p>
        </p:txBody>
      </p:sp>
    </p:spTree>
    <p:extLst>
      <p:ext uri="{BB962C8B-B14F-4D97-AF65-F5344CB8AC3E}">
        <p14:creationId xmlns:p14="http://schemas.microsoft.com/office/powerpoint/2010/main" val="2296769182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60225" y="105748"/>
            <a:ext cx="37561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</a:t>
            </a:r>
            <a:r>
              <a:rPr lang="en-US" altLang="ko-KR" sz="4000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Mybatis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4985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동적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SQL 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주로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SQL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문의 조건절에서 사용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조건절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(where)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 조건을 동적으로 추가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JSTL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과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XML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기반으로 동적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SQL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문을 작성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endParaRPr lang="en-US" altLang="ko-KR" sz="2400" dirty="0">
              <a:latin typeface="+mj-ea"/>
              <a:ea typeface="나눔스퀘어" panose="020B0600000101010101" pitchFamily="50" charset="-127"/>
            </a:endParaRP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구성요소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if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choose(when, otherwise)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trim(where, set)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foreach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ko-KR" altLang="en-US" sz="160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04737548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60225" y="105748"/>
            <a:ext cx="37561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</a:t>
            </a:r>
            <a:r>
              <a:rPr lang="en-US" altLang="ko-KR" sz="4000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Mybatis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557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&lt;if&gt;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태그 사용법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b="1" dirty="0">
                <a:latin typeface="+mj-ea"/>
              </a:rPr>
              <a:t>&lt;where&gt;</a:t>
            </a:r>
          </a:p>
          <a:p>
            <a:r>
              <a:rPr lang="en-US" altLang="ko-KR" dirty="0">
                <a:latin typeface="+mj-ea"/>
              </a:rPr>
              <a:t>   &lt;if test=’</a:t>
            </a:r>
            <a:r>
              <a:rPr lang="ko-KR" altLang="en-US" dirty="0">
                <a:latin typeface="+mj-ea"/>
              </a:rPr>
              <a:t>조건식‘</a:t>
            </a:r>
            <a:r>
              <a:rPr lang="en-US" altLang="ko-KR" dirty="0">
                <a:latin typeface="+mj-ea"/>
              </a:rPr>
              <a:t>&gt;</a:t>
            </a:r>
          </a:p>
          <a:p>
            <a:r>
              <a:rPr lang="ko-KR" altLang="en-US" dirty="0">
                <a:latin typeface="+mj-ea"/>
              </a:rPr>
              <a:t>      </a:t>
            </a:r>
            <a:r>
              <a:rPr lang="ko-KR" altLang="en-US" b="1" dirty="0">
                <a:solidFill>
                  <a:srgbClr val="C00000"/>
                </a:solidFill>
                <a:latin typeface="+mj-ea"/>
              </a:rPr>
              <a:t>추가할 구문</a:t>
            </a:r>
          </a:p>
          <a:p>
            <a:r>
              <a:rPr lang="en-US" altLang="ko-KR" dirty="0">
                <a:latin typeface="+mj-ea"/>
              </a:rPr>
              <a:t>   &lt;/if&gt;</a:t>
            </a:r>
          </a:p>
          <a:p>
            <a:r>
              <a:rPr lang="en-US" altLang="ko-KR" b="1" dirty="0">
                <a:latin typeface="+mj-ea"/>
              </a:rPr>
              <a:t>&lt;/where&gt;</a:t>
            </a:r>
            <a:endParaRPr lang="ko-KR" altLang="en-US" b="1" dirty="0">
              <a:latin typeface="+mj-ea"/>
            </a:endParaRP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예제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600" dirty="0"/>
              <a:t>&lt;select id=</a:t>
            </a:r>
            <a:r>
              <a:rPr lang="en-US" altLang="ko-KR" sz="1600" i="1" dirty="0"/>
              <a:t>"</a:t>
            </a:r>
            <a:r>
              <a:rPr lang="en-US" altLang="ko-KR" sz="1600" i="1" dirty="0" err="1"/>
              <a:t>searchEmp</a:t>
            </a:r>
            <a:r>
              <a:rPr lang="en-US" altLang="ko-KR" sz="1600" i="1" dirty="0"/>
              <a:t>" </a:t>
            </a:r>
            <a:r>
              <a:rPr lang="en-US" altLang="ko-KR" sz="1600" i="1" dirty="0" err="1"/>
              <a:t>parameterType</a:t>
            </a:r>
            <a:r>
              <a:rPr lang="en-US" altLang="ko-KR" sz="1600" i="1" dirty="0"/>
              <a:t>="evo"   </a:t>
            </a:r>
            <a:r>
              <a:rPr lang="en-US" altLang="ko-KR" sz="1600" i="1" dirty="0" err="1"/>
              <a:t>resultMap</a:t>
            </a:r>
            <a:r>
              <a:rPr lang="en-US" altLang="ko-KR" sz="1600" i="1" dirty="0"/>
              <a:t>="</a:t>
            </a:r>
            <a:r>
              <a:rPr lang="en-US" altLang="ko-KR" sz="1600" i="1" dirty="0" err="1"/>
              <a:t>empResult</a:t>
            </a:r>
            <a:r>
              <a:rPr lang="en-US" altLang="ko-KR" sz="1600" i="1" dirty="0"/>
              <a:t>"&gt;</a:t>
            </a:r>
          </a:p>
          <a:p>
            <a:r>
              <a:rPr lang="en-US" altLang="ko-KR" sz="1600" dirty="0"/>
              <a:t>      select * from employees</a:t>
            </a:r>
          </a:p>
          <a:p>
            <a:r>
              <a:rPr lang="en-US" altLang="ko-KR" sz="1600" dirty="0"/>
              <a:t>      &lt;where&gt;</a:t>
            </a:r>
          </a:p>
          <a:p>
            <a:r>
              <a:rPr lang="en-US" altLang="ko-KR" sz="1600" dirty="0"/>
              <a:t>         &lt;if test=</a:t>
            </a:r>
            <a:r>
              <a:rPr lang="en-US" altLang="ko-KR" sz="1600" i="1" dirty="0"/>
              <a:t>"</a:t>
            </a:r>
            <a:r>
              <a:rPr lang="en-US" altLang="ko-KR" sz="1600" i="1" dirty="0" err="1"/>
              <a:t>first_name</a:t>
            </a:r>
            <a:r>
              <a:rPr lang="en-US" altLang="ko-KR" sz="1600" i="1" dirty="0"/>
              <a:t> != ''  and  </a:t>
            </a:r>
            <a:r>
              <a:rPr lang="en-US" altLang="ko-KR" sz="1600" i="1" dirty="0" err="1"/>
              <a:t>first_name</a:t>
            </a:r>
            <a:r>
              <a:rPr lang="en-US" altLang="ko-KR" sz="1600" i="1" dirty="0"/>
              <a:t> != null"&gt;</a:t>
            </a:r>
          </a:p>
          <a:p>
            <a:r>
              <a:rPr lang="en-US" altLang="ko-KR" sz="1600" dirty="0"/>
              <a:t>            </a:t>
            </a:r>
            <a:r>
              <a:rPr lang="en-US" altLang="ko-KR" sz="1600" dirty="0" err="1"/>
              <a:t>first_name</a:t>
            </a:r>
            <a:r>
              <a:rPr lang="en-US" altLang="ko-KR" sz="1600" dirty="0"/>
              <a:t>=#{first_name}</a:t>
            </a:r>
          </a:p>
          <a:p>
            <a:r>
              <a:rPr lang="en-US" altLang="ko-KR" sz="1600" dirty="0"/>
              <a:t>         &lt;/if&gt;</a:t>
            </a:r>
          </a:p>
          <a:p>
            <a:r>
              <a:rPr lang="en-US" altLang="ko-KR" sz="1600" dirty="0"/>
              <a:t>         &lt;if test=</a:t>
            </a:r>
            <a:r>
              <a:rPr lang="en-US" altLang="ko-KR" sz="1600" i="1" dirty="0"/>
              <a:t>"email != ''  and email != null "&gt;</a:t>
            </a:r>
          </a:p>
          <a:p>
            <a:r>
              <a:rPr lang="en-US" altLang="ko-KR" sz="1600" dirty="0"/>
              <a:t>           and email = #{email}</a:t>
            </a:r>
          </a:p>
          <a:p>
            <a:r>
              <a:rPr lang="en-US" altLang="ko-KR" sz="1600" dirty="0"/>
              <a:t>         &lt;/if&gt;</a:t>
            </a:r>
          </a:p>
          <a:p>
            <a:r>
              <a:rPr lang="en-US" altLang="ko-KR" sz="1600" dirty="0"/>
              <a:t>      &lt;/where&gt;</a:t>
            </a:r>
          </a:p>
          <a:p>
            <a:r>
              <a:rPr lang="en-US" altLang="ko-KR" sz="1600" dirty="0"/>
              <a:t>      order by </a:t>
            </a:r>
            <a:r>
              <a:rPr lang="en-US" altLang="ko-KR" sz="1600" dirty="0" err="1"/>
              <a:t>employee_id</a:t>
            </a:r>
            <a:r>
              <a:rPr lang="en-US" altLang="ko-KR" sz="1600" dirty="0"/>
              <a:t> </a:t>
            </a:r>
            <a:r>
              <a:rPr lang="en-US" altLang="ko-KR" sz="1600" u="sng" dirty="0"/>
              <a:t>desc</a:t>
            </a:r>
          </a:p>
          <a:p>
            <a:r>
              <a:rPr lang="en-US" altLang="ko-KR" sz="1600" dirty="0"/>
              <a:t>&lt;/select&gt;</a:t>
            </a:r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2545786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60225" y="105748"/>
            <a:ext cx="37561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</a:t>
            </a:r>
            <a:r>
              <a:rPr lang="en-US" altLang="ko-KR" sz="4000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Mybatis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5232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&lt;if&gt;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태그 사용법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nn-NO" altLang="ko-KR" sz="1600" dirty="0"/>
              <a:t>&lt;update id=</a:t>
            </a:r>
            <a:r>
              <a:rPr lang="nn-NO" altLang="ko-KR" sz="1600" i="1" dirty="0"/>
              <a:t>"update" parameterType="evo"&gt;</a:t>
            </a:r>
          </a:p>
          <a:p>
            <a:r>
              <a:rPr lang="en-US" altLang="ko-KR" sz="1600" dirty="0"/>
              <a:t>update employees</a:t>
            </a:r>
          </a:p>
          <a:p>
            <a:r>
              <a:rPr lang="en-US" altLang="ko-KR" sz="1600" dirty="0"/>
              <a:t>set </a:t>
            </a:r>
            <a:r>
              <a:rPr lang="en-US" altLang="ko-KR" sz="1600" dirty="0" err="1"/>
              <a:t>first_name</a:t>
            </a:r>
            <a:r>
              <a:rPr lang="en-US" altLang="ko-KR" sz="1600" dirty="0"/>
              <a:t>=#{first_name}, </a:t>
            </a:r>
          </a:p>
          <a:p>
            <a:r>
              <a:rPr lang="en-US" altLang="ko-KR" sz="1600" dirty="0"/>
              <a:t>   </a:t>
            </a:r>
            <a:r>
              <a:rPr lang="en-US" altLang="ko-KR" sz="1600" dirty="0" err="1"/>
              <a:t>last_name</a:t>
            </a:r>
            <a:r>
              <a:rPr lang="en-US" altLang="ko-KR" sz="1600" dirty="0"/>
              <a:t>=#{last_name},</a:t>
            </a:r>
          </a:p>
          <a:p>
            <a:r>
              <a:rPr lang="en-US" altLang="ko-KR" sz="1600" dirty="0"/>
              <a:t>   email= #{email}, </a:t>
            </a:r>
          </a:p>
          <a:p>
            <a:r>
              <a:rPr lang="en-US" altLang="ko-KR" sz="1600" dirty="0"/>
              <a:t>   </a:t>
            </a:r>
            <a:r>
              <a:rPr lang="en-US" altLang="ko-KR" sz="1600" dirty="0" err="1"/>
              <a:t>phone_number</a:t>
            </a:r>
            <a:r>
              <a:rPr lang="en-US" altLang="ko-KR" sz="1600" dirty="0"/>
              <a:t>=#{phone_number},</a:t>
            </a:r>
          </a:p>
          <a:p>
            <a:r>
              <a:rPr lang="en-US" altLang="ko-KR" sz="1600" dirty="0"/>
              <a:t>    </a:t>
            </a:r>
            <a:r>
              <a:rPr lang="en-US" altLang="ko-KR" sz="1600" dirty="0" err="1"/>
              <a:t>hire_date</a:t>
            </a:r>
            <a:r>
              <a:rPr lang="en-US" altLang="ko-KR" sz="1600" dirty="0"/>
              <a:t>=#{hire_date},</a:t>
            </a:r>
          </a:p>
          <a:p>
            <a:r>
              <a:rPr lang="en-US" altLang="ko-KR" sz="1600" dirty="0"/>
              <a:t>    </a:t>
            </a:r>
            <a:r>
              <a:rPr lang="en-US" altLang="ko-KR" sz="1600" dirty="0" err="1"/>
              <a:t>job_id</a:t>
            </a:r>
            <a:r>
              <a:rPr lang="en-US" altLang="ko-KR" sz="1600" dirty="0"/>
              <a:t>=#{job_id}, </a:t>
            </a:r>
          </a:p>
          <a:p>
            <a:r>
              <a:rPr lang="en-US" altLang="ko-KR" sz="1600" dirty="0"/>
              <a:t>   salary= #{salary}, </a:t>
            </a:r>
          </a:p>
          <a:p>
            <a:r>
              <a:rPr lang="en-US" altLang="ko-KR" sz="1600" dirty="0"/>
              <a:t>    </a:t>
            </a:r>
            <a:r>
              <a:rPr lang="en-US" altLang="ko-KR" sz="1600" dirty="0" err="1"/>
              <a:t>commission_pct</a:t>
            </a:r>
            <a:r>
              <a:rPr lang="en-US" altLang="ko-KR" sz="1600" dirty="0"/>
              <a:t>=#{commission_pct}, </a:t>
            </a:r>
          </a:p>
          <a:p>
            <a:r>
              <a:rPr lang="en-US" altLang="ko-KR" sz="1600" dirty="0"/>
              <a:t>    </a:t>
            </a:r>
            <a:r>
              <a:rPr lang="en-US" altLang="ko-KR" sz="1600" dirty="0">
                <a:solidFill>
                  <a:srgbClr val="FF0000"/>
                </a:solidFill>
              </a:rPr>
              <a:t>&lt;if test=</a:t>
            </a:r>
            <a:r>
              <a:rPr lang="en-US" altLang="ko-KR" sz="1600" i="1" dirty="0">
                <a:solidFill>
                  <a:srgbClr val="FF0000"/>
                </a:solidFill>
              </a:rPr>
              <a:t>"</a:t>
            </a:r>
            <a:r>
              <a:rPr lang="en-US" altLang="ko-KR" sz="1600" i="1" dirty="0" err="1">
                <a:solidFill>
                  <a:srgbClr val="FF0000"/>
                </a:solidFill>
              </a:rPr>
              <a:t>manager_id</a:t>
            </a:r>
            <a:r>
              <a:rPr lang="en-US" altLang="ko-KR" sz="1600" i="1" dirty="0">
                <a:solidFill>
                  <a:srgbClr val="FF0000"/>
                </a:solidFill>
              </a:rPr>
              <a:t>==0"&gt;</a:t>
            </a:r>
          </a:p>
          <a:p>
            <a:r>
              <a:rPr lang="en-US" altLang="ko-KR" sz="1600" dirty="0">
                <a:solidFill>
                  <a:srgbClr val="FF0000"/>
                </a:solidFill>
              </a:rPr>
              <a:t>    </a:t>
            </a:r>
            <a:r>
              <a:rPr lang="en-US" altLang="ko-KR" sz="1600" dirty="0" err="1">
                <a:solidFill>
                  <a:srgbClr val="FF0000"/>
                </a:solidFill>
              </a:rPr>
              <a:t>manager_id</a:t>
            </a:r>
            <a:r>
              <a:rPr lang="en-US" altLang="ko-KR" sz="1600" dirty="0">
                <a:solidFill>
                  <a:srgbClr val="FF0000"/>
                </a:solidFill>
              </a:rPr>
              <a:t> = null, </a:t>
            </a:r>
          </a:p>
          <a:p>
            <a:r>
              <a:rPr lang="en-US" altLang="ko-KR" sz="1600" dirty="0">
                <a:solidFill>
                  <a:srgbClr val="FF0000"/>
                </a:solidFill>
              </a:rPr>
              <a:t>  &lt;/if&gt;</a:t>
            </a:r>
          </a:p>
          <a:p>
            <a:r>
              <a:rPr lang="en-US" altLang="ko-KR" sz="1600" dirty="0">
                <a:solidFill>
                  <a:srgbClr val="FF0000"/>
                </a:solidFill>
              </a:rPr>
              <a:t>   &lt;if test=</a:t>
            </a:r>
            <a:r>
              <a:rPr lang="en-US" altLang="ko-KR" sz="1600" i="1" dirty="0">
                <a:solidFill>
                  <a:srgbClr val="FF0000"/>
                </a:solidFill>
              </a:rPr>
              <a:t>"</a:t>
            </a:r>
            <a:r>
              <a:rPr lang="en-US" altLang="ko-KR" sz="1600" i="1" dirty="0" err="1">
                <a:solidFill>
                  <a:srgbClr val="FF0000"/>
                </a:solidFill>
              </a:rPr>
              <a:t>manager_id</a:t>
            </a:r>
            <a:r>
              <a:rPr lang="en-US" altLang="ko-KR" sz="1600" i="1" dirty="0">
                <a:solidFill>
                  <a:srgbClr val="FF0000"/>
                </a:solidFill>
              </a:rPr>
              <a:t>!=0"&gt;</a:t>
            </a:r>
          </a:p>
          <a:p>
            <a:r>
              <a:rPr lang="en-US" altLang="ko-KR" sz="1600" dirty="0">
                <a:solidFill>
                  <a:srgbClr val="FF0000"/>
                </a:solidFill>
              </a:rPr>
              <a:t>    </a:t>
            </a:r>
            <a:r>
              <a:rPr lang="en-US" altLang="ko-KR" sz="1600" dirty="0" err="1">
                <a:solidFill>
                  <a:srgbClr val="FF0000"/>
                </a:solidFill>
              </a:rPr>
              <a:t>manager_id</a:t>
            </a:r>
            <a:r>
              <a:rPr lang="en-US" altLang="ko-KR" sz="1600" dirty="0">
                <a:solidFill>
                  <a:srgbClr val="FF0000"/>
                </a:solidFill>
              </a:rPr>
              <a:t> = #{manager_id} ,   </a:t>
            </a:r>
          </a:p>
          <a:p>
            <a:r>
              <a:rPr lang="en-US" altLang="ko-KR" sz="1600" dirty="0">
                <a:solidFill>
                  <a:srgbClr val="FF0000"/>
                </a:solidFill>
              </a:rPr>
              <a:t>  &lt;/if&gt;</a:t>
            </a:r>
            <a:r>
              <a:rPr lang="en-US" altLang="ko-KR" sz="1600" dirty="0"/>
              <a:t>    </a:t>
            </a:r>
          </a:p>
          <a:p>
            <a:r>
              <a:rPr lang="en-US" altLang="ko-KR" sz="1600" dirty="0" err="1"/>
              <a:t>department_id</a:t>
            </a:r>
            <a:r>
              <a:rPr lang="en-US" altLang="ko-KR" sz="1600" dirty="0"/>
              <a:t>=#{department_id}</a:t>
            </a:r>
          </a:p>
          <a:p>
            <a:r>
              <a:rPr lang="en-US" altLang="ko-KR" sz="1600" dirty="0"/>
              <a:t>where </a:t>
            </a:r>
            <a:r>
              <a:rPr lang="en-US" altLang="ko-KR" sz="1600" dirty="0" err="1"/>
              <a:t>employee_id</a:t>
            </a:r>
            <a:r>
              <a:rPr lang="en-US" altLang="ko-KR" sz="1600" dirty="0"/>
              <a:t> = #{employee_id}</a:t>
            </a:r>
          </a:p>
          <a:p>
            <a:r>
              <a:rPr lang="en-US" altLang="ko-KR" sz="1600" dirty="0"/>
              <a:t>&lt;/update&gt;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3106667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60225" y="105748"/>
            <a:ext cx="37561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</a:t>
            </a:r>
            <a:r>
              <a:rPr lang="en-US" altLang="ko-KR" sz="4000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Mybatis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&lt;choose&gt;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태그 사용법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b="1" dirty="0">
                <a:latin typeface="+mj-ea"/>
              </a:rPr>
              <a:t>&lt;choose&gt;</a:t>
            </a:r>
          </a:p>
          <a:p>
            <a:r>
              <a:rPr lang="en-US" altLang="ko-KR" b="1" dirty="0">
                <a:latin typeface="+mj-ea"/>
              </a:rPr>
              <a:t>   &lt;when test="</a:t>
            </a:r>
            <a:r>
              <a:rPr lang="ko-KR" altLang="en-US" b="1" dirty="0">
                <a:latin typeface="+mj-ea"/>
              </a:rPr>
              <a:t>조건식</a:t>
            </a:r>
            <a:r>
              <a:rPr lang="en-US" altLang="ko-KR" b="1" dirty="0">
                <a:latin typeface="+mj-ea"/>
              </a:rPr>
              <a:t>1"&gt;</a:t>
            </a:r>
          </a:p>
          <a:p>
            <a:r>
              <a:rPr lang="ko-KR" altLang="en-US" b="1" dirty="0">
                <a:latin typeface="+mj-ea"/>
              </a:rPr>
              <a:t>      </a:t>
            </a:r>
            <a:r>
              <a:rPr lang="ko-KR" altLang="en-US" b="1" dirty="0">
                <a:solidFill>
                  <a:srgbClr val="C00000"/>
                </a:solidFill>
                <a:latin typeface="+mj-ea"/>
              </a:rPr>
              <a:t>구문</a:t>
            </a:r>
            <a:r>
              <a:rPr lang="en-US" altLang="ko-KR" b="1" dirty="0">
                <a:solidFill>
                  <a:srgbClr val="C00000"/>
                </a:solidFill>
                <a:latin typeface="+mj-ea"/>
              </a:rPr>
              <a:t>1</a:t>
            </a:r>
          </a:p>
          <a:p>
            <a:r>
              <a:rPr lang="en-US" altLang="ko-KR" b="1" dirty="0">
                <a:latin typeface="+mj-ea"/>
              </a:rPr>
              <a:t>   &lt;/when&gt;</a:t>
            </a:r>
          </a:p>
          <a:p>
            <a:r>
              <a:rPr lang="en-US" altLang="ko-KR" b="1" dirty="0">
                <a:latin typeface="+mj-ea"/>
              </a:rPr>
              <a:t>   &lt;when test="</a:t>
            </a:r>
            <a:r>
              <a:rPr lang="ko-KR" altLang="en-US" b="1" dirty="0">
                <a:latin typeface="+mj-ea"/>
              </a:rPr>
              <a:t>조건식</a:t>
            </a:r>
            <a:r>
              <a:rPr lang="en-US" altLang="ko-KR" b="1" dirty="0">
                <a:latin typeface="+mj-ea"/>
              </a:rPr>
              <a:t>2"&gt;</a:t>
            </a:r>
          </a:p>
          <a:p>
            <a:r>
              <a:rPr lang="ko-KR" altLang="en-US" b="1" dirty="0">
                <a:latin typeface="+mj-ea"/>
              </a:rPr>
              <a:t>      </a:t>
            </a:r>
            <a:r>
              <a:rPr lang="ko-KR" altLang="en-US" b="1" dirty="0">
                <a:solidFill>
                  <a:srgbClr val="C00000"/>
                </a:solidFill>
                <a:latin typeface="+mj-ea"/>
              </a:rPr>
              <a:t>구문</a:t>
            </a:r>
            <a:r>
              <a:rPr lang="en-US" altLang="ko-KR" b="1" dirty="0">
                <a:solidFill>
                  <a:srgbClr val="C00000"/>
                </a:solidFill>
                <a:latin typeface="+mj-ea"/>
              </a:rPr>
              <a:t>2</a:t>
            </a:r>
          </a:p>
          <a:p>
            <a:r>
              <a:rPr lang="en-US" altLang="ko-KR" b="1" dirty="0">
                <a:latin typeface="+mj-ea"/>
              </a:rPr>
              <a:t>   &lt;/when&gt;</a:t>
            </a:r>
          </a:p>
          <a:p>
            <a:r>
              <a:rPr lang="en-US" altLang="ko-KR" b="1" dirty="0">
                <a:latin typeface="+mj-ea"/>
              </a:rPr>
              <a:t>      ...</a:t>
            </a:r>
          </a:p>
          <a:p>
            <a:r>
              <a:rPr lang="en-US" altLang="ko-KR" b="1" dirty="0">
                <a:latin typeface="+mj-ea"/>
              </a:rPr>
              <a:t>   &lt;otherwise&gt;</a:t>
            </a:r>
          </a:p>
          <a:p>
            <a:r>
              <a:rPr lang="ko-KR" altLang="en-US" b="1" dirty="0">
                <a:latin typeface="+mj-ea"/>
              </a:rPr>
              <a:t>      </a:t>
            </a:r>
            <a:r>
              <a:rPr lang="ko-KR" altLang="en-US" b="1" dirty="0">
                <a:solidFill>
                  <a:srgbClr val="C00000"/>
                </a:solidFill>
                <a:latin typeface="+mj-ea"/>
              </a:rPr>
              <a:t>구문 </a:t>
            </a:r>
            <a:r>
              <a:rPr lang="en-US" altLang="ko-KR" b="1" dirty="0">
                <a:solidFill>
                  <a:srgbClr val="C00000"/>
                </a:solidFill>
                <a:latin typeface="+mj-ea"/>
              </a:rPr>
              <a:t>n+1;</a:t>
            </a:r>
          </a:p>
          <a:p>
            <a:r>
              <a:rPr lang="en-US" altLang="ko-KR" b="1" dirty="0">
                <a:latin typeface="+mj-ea"/>
              </a:rPr>
              <a:t>   &lt;/otherwise&gt;</a:t>
            </a:r>
          </a:p>
          <a:p>
            <a:r>
              <a:rPr lang="en-US" altLang="ko-KR" b="1" dirty="0">
                <a:latin typeface="+mj-ea"/>
              </a:rPr>
              <a:t>&lt;/choose&gt;</a:t>
            </a:r>
            <a:endParaRPr lang="ko-KR" altLang="en-US" b="1" dirty="0">
              <a:latin typeface="+mj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084742" y="1948941"/>
            <a:ext cx="6207240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예제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400" dirty="0"/>
              <a:t>&lt;</a:t>
            </a:r>
            <a:r>
              <a:rPr lang="en-US" altLang="ko-KR" sz="1400" dirty="0" err="1"/>
              <a:t>sql</a:t>
            </a:r>
            <a:r>
              <a:rPr lang="en-US" altLang="ko-KR" sz="1400" dirty="0"/>
              <a:t> id=</a:t>
            </a:r>
            <a:r>
              <a:rPr lang="en-US" altLang="ko-KR" sz="1400" i="1" dirty="0"/>
              <a:t>"a"&gt;</a:t>
            </a:r>
            <a:r>
              <a:rPr lang="en-US" altLang="ko-KR" sz="1400" dirty="0"/>
              <a:t> select * from employees   &lt;/</a:t>
            </a:r>
            <a:r>
              <a:rPr lang="en-US" altLang="ko-KR" sz="1400" dirty="0" err="1"/>
              <a:t>sql</a:t>
            </a:r>
            <a:r>
              <a:rPr lang="en-US" altLang="ko-KR" sz="1400" dirty="0"/>
              <a:t>&gt; </a:t>
            </a:r>
          </a:p>
          <a:p>
            <a:r>
              <a:rPr lang="en-US" altLang="ko-KR" sz="1400" dirty="0"/>
              <a:t>&lt;select id=</a:t>
            </a:r>
            <a:r>
              <a:rPr lang="en-US" altLang="ko-KR" sz="1400" i="1" dirty="0"/>
              <a:t>"searchEmp2" </a:t>
            </a:r>
            <a:r>
              <a:rPr lang="en-US" altLang="ko-KR" sz="1400" i="1" dirty="0" err="1"/>
              <a:t>parameterType</a:t>
            </a:r>
            <a:r>
              <a:rPr lang="en-US" altLang="ko-KR" sz="1400" i="1" dirty="0"/>
              <a:t>="evo" </a:t>
            </a:r>
            <a:r>
              <a:rPr lang="en-US" altLang="ko-KR" sz="1400" i="1" dirty="0" err="1"/>
              <a:t>resultMap</a:t>
            </a:r>
            <a:r>
              <a:rPr lang="en-US" altLang="ko-KR" sz="1400" i="1" dirty="0"/>
              <a:t>="</a:t>
            </a:r>
            <a:r>
              <a:rPr lang="en-US" altLang="ko-KR" sz="1400" i="1" dirty="0" err="1"/>
              <a:t>empResult</a:t>
            </a:r>
            <a:r>
              <a:rPr lang="en-US" altLang="ko-KR" sz="1400" i="1" dirty="0"/>
              <a:t>"&gt;</a:t>
            </a:r>
          </a:p>
          <a:p>
            <a:r>
              <a:rPr lang="en-US" altLang="ko-KR" sz="1400" dirty="0"/>
              <a:t>     &lt;include </a:t>
            </a:r>
            <a:r>
              <a:rPr lang="en-US" altLang="ko-KR" sz="1400" dirty="0" err="1"/>
              <a:t>refid</a:t>
            </a:r>
            <a:r>
              <a:rPr lang="en-US" altLang="ko-KR" sz="1400" dirty="0"/>
              <a:t>=</a:t>
            </a:r>
            <a:r>
              <a:rPr lang="en-US" altLang="ko-KR" sz="1400" i="1" dirty="0"/>
              <a:t>"a" /&gt; </a:t>
            </a:r>
          </a:p>
          <a:p>
            <a:r>
              <a:rPr lang="en-US" altLang="ko-KR" sz="1400" dirty="0"/>
              <a:t>     &lt;where&gt;</a:t>
            </a:r>
          </a:p>
          <a:p>
            <a:r>
              <a:rPr lang="en-US" altLang="ko-KR" sz="1400" dirty="0"/>
              <a:t>     &lt;choose&gt;</a:t>
            </a:r>
          </a:p>
          <a:p>
            <a:r>
              <a:rPr lang="en-US" altLang="ko-KR" sz="1400" dirty="0"/>
              <a:t>      &lt;when test=</a:t>
            </a:r>
            <a:r>
              <a:rPr lang="en-US" altLang="ko-KR" sz="1400" i="1" dirty="0"/>
              <a:t>"</a:t>
            </a:r>
            <a:r>
              <a:rPr lang="en-US" altLang="ko-KR" sz="1400" i="1" dirty="0" err="1"/>
              <a:t>first_name</a:t>
            </a:r>
            <a:r>
              <a:rPr lang="en-US" altLang="ko-KR" sz="1400" i="1" dirty="0"/>
              <a:t> != '' and </a:t>
            </a:r>
            <a:r>
              <a:rPr lang="en-US" altLang="ko-KR" sz="1400" i="1" dirty="0" err="1"/>
              <a:t>first_name</a:t>
            </a:r>
            <a:r>
              <a:rPr lang="en-US" altLang="ko-KR" sz="1400" i="1" dirty="0"/>
              <a:t> != null </a:t>
            </a:r>
          </a:p>
          <a:p>
            <a:r>
              <a:rPr lang="en-US" altLang="ko-KR" sz="1400" i="1" dirty="0"/>
              <a:t>                            and  email != '' and email != null"&gt;</a:t>
            </a:r>
          </a:p>
          <a:p>
            <a:r>
              <a:rPr lang="en-US" altLang="ko-KR" sz="1400" dirty="0"/>
              <a:t>                   </a:t>
            </a:r>
            <a:r>
              <a:rPr lang="en-US" altLang="ko-KR" sz="1400" dirty="0" err="1"/>
              <a:t>first_name</a:t>
            </a:r>
            <a:r>
              <a:rPr lang="en-US" altLang="ko-KR" sz="1400" dirty="0"/>
              <a:t>=#{first_name} and email=#{email}</a:t>
            </a:r>
          </a:p>
          <a:p>
            <a:r>
              <a:rPr lang="en-US" altLang="ko-KR" sz="1400" dirty="0"/>
              <a:t>      &lt;/when&gt;</a:t>
            </a:r>
          </a:p>
          <a:p>
            <a:r>
              <a:rPr lang="en-US" altLang="ko-KR" sz="1400" dirty="0"/>
              <a:t>      &lt;when test=</a:t>
            </a:r>
            <a:r>
              <a:rPr lang="en-US" altLang="ko-KR" sz="1400" i="1" dirty="0"/>
              <a:t>"</a:t>
            </a:r>
            <a:r>
              <a:rPr lang="en-US" altLang="ko-KR" sz="1400" i="1" dirty="0" err="1"/>
              <a:t>first_name</a:t>
            </a:r>
            <a:r>
              <a:rPr lang="en-US" altLang="ko-KR" sz="1400" i="1" dirty="0"/>
              <a:t> != '' and </a:t>
            </a:r>
            <a:r>
              <a:rPr lang="en-US" altLang="ko-KR" sz="1400" i="1" dirty="0" err="1"/>
              <a:t>first_name</a:t>
            </a:r>
            <a:r>
              <a:rPr lang="en-US" altLang="ko-KR" sz="1400" i="1" dirty="0"/>
              <a:t> != null"&gt;</a:t>
            </a:r>
          </a:p>
          <a:p>
            <a:r>
              <a:rPr lang="en-US" altLang="ko-KR" sz="1400" dirty="0"/>
              <a:t>                   </a:t>
            </a:r>
            <a:r>
              <a:rPr lang="en-US" altLang="ko-KR" sz="1400" dirty="0" err="1"/>
              <a:t>first_name</a:t>
            </a:r>
            <a:r>
              <a:rPr lang="en-US" altLang="ko-KR" sz="1400" dirty="0"/>
              <a:t> = #{first_name}</a:t>
            </a:r>
          </a:p>
          <a:p>
            <a:r>
              <a:rPr lang="en-US" altLang="ko-KR" sz="1400" dirty="0"/>
              <a:t>      &lt;/when&gt;</a:t>
            </a:r>
          </a:p>
          <a:p>
            <a:r>
              <a:rPr lang="en-US" altLang="ko-KR" sz="1400" dirty="0"/>
              <a:t>      &lt;when test=</a:t>
            </a:r>
            <a:r>
              <a:rPr lang="en-US" altLang="ko-KR" sz="1400" i="1" dirty="0"/>
              <a:t>"email !='' and email != null"&gt;</a:t>
            </a:r>
          </a:p>
          <a:p>
            <a:r>
              <a:rPr lang="en-US" altLang="ko-KR" sz="1400" dirty="0"/>
              <a:t>                   email = #{email}</a:t>
            </a:r>
          </a:p>
          <a:p>
            <a:r>
              <a:rPr lang="en-US" altLang="ko-KR" sz="1400" dirty="0"/>
              <a:t>      &lt;/when&gt;</a:t>
            </a:r>
          </a:p>
          <a:p>
            <a:r>
              <a:rPr lang="en-US" altLang="ko-KR" sz="1400" dirty="0"/>
              <a:t>     &lt;/choose&gt;</a:t>
            </a:r>
          </a:p>
          <a:p>
            <a:r>
              <a:rPr lang="en-US" altLang="ko-KR" sz="1400" dirty="0"/>
              <a:t>     &lt;/where&gt;</a:t>
            </a:r>
          </a:p>
          <a:p>
            <a:r>
              <a:rPr lang="en-US" altLang="ko-KR" sz="1400" dirty="0"/>
              <a:t>       order by </a:t>
            </a:r>
            <a:r>
              <a:rPr lang="en-US" altLang="ko-KR" sz="1400" dirty="0" err="1"/>
              <a:t>employee_id</a:t>
            </a:r>
            <a:r>
              <a:rPr lang="en-US" altLang="ko-KR" sz="1400" dirty="0"/>
              <a:t> </a:t>
            </a:r>
            <a:r>
              <a:rPr lang="en-US" altLang="ko-KR" sz="1400" u="sng" dirty="0"/>
              <a:t>desc</a:t>
            </a:r>
          </a:p>
          <a:p>
            <a:r>
              <a:rPr lang="en-US" altLang="ko-KR" sz="1400" dirty="0"/>
              <a:t>   &lt;/select&gt; 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19339900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60225" y="105748"/>
            <a:ext cx="37561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</a:t>
            </a:r>
            <a:r>
              <a:rPr lang="en-US" altLang="ko-KR" sz="4000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Mybatis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&lt;foreach&gt;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태그 사용법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b="1" dirty="0"/>
              <a:t>&lt;foreach item="item" collection="list" index="index" open=" (" close=")" separator=","&gt;</a:t>
            </a:r>
          </a:p>
          <a:p>
            <a:r>
              <a:rPr lang="en-US" altLang="ko-KR" b="1" dirty="0"/>
              <a:t>   #{item}</a:t>
            </a:r>
          </a:p>
          <a:p>
            <a:r>
              <a:rPr lang="en-US" altLang="ko-KR" b="1" dirty="0"/>
              <a:t>&lt;/foreach&gt;</a:t>
            </a:r>
          </a:p>
          <a:p>
            <a:endParaRPr lang="ko-KR" altLang="en-US" b="1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033936"/>
              </p:ext>
            </p:extLst>
          </p:nvPr>
        </p:nvGraphicFramePr>
        <p:xfrm>
          <a:off x="596337" y="3023727"/>
          <a:ext cx="978911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25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6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33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속성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collection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전달받은 인자 값을 의미하며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배열과 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List 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계열 인스턴스를 전달할 수 있습니다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 List 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인스턴스 전달 시에는 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list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로 표시하고 배열 전달 시에는 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array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로 표시합니다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index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foreach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문이 반복될 때마다 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씩 증가시키면서 접근하는 값의 위치를 나타냅니다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최초 값의 위치는 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0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입니다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18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item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반복문이 실행될 때마다 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collection 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속성에 지정된 값에 접근하여 차례대로 사용합니다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841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open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해당 구문이 시작될 때의 지정한 기호를 추가합니다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close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해당 구문이 끝날 때의 지정한 기호를 추가합니다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4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separator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한 번 이상 반복될 때 반복되는 사이에 지정한 기호를 추가합니다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4232780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60225" y="105748"/>
            <a:ext cx="37561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</a:t>
            </a:r>
            <a:r>
              <a:rPr lang="en-US" altLang="ko-KR" sz="4000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Mybatis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&lt;foreach&gt;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예제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2400" baseline="-25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ko-KR" sz="2400" baseline="-25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&lt;select id="selectBydept2" </a:t>
            </a:r>
            <a:r>
              <a:rPr lang="en-US" altLang="ko-KR" sz="2400" baseline="-25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parameterType</a:t>
            </a:r>
            <a:r>
              <a:rPr lang="en-US" altLang="ko-KR" sz="2400" baseline="-25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="</a:t>
            </a:r>
            <a:r>
              <a:rPr lang="en-US" altLang="ko-KR" sz="2400" baseline="-25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java.util.List</a:t>
            </a:r>
            <a:r>
              <a:rPr lang="en-US" altLang="ko-KR" sz="2400" baseline="-25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</a:p>
          <a:p>
            <a:r>
              <a:rPr lang="en-US" altLang="ko-KR" sz="2400" baseline="-25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	</a:t>
            </a:r>
            <a:r>
              <a:rPr lang="en-US" altLang="ko-KR" sz="2400" baseline="-25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resultType</a:t>
            </a:r>
            <a:r>
              <a:rPr lang="en-US" altLang="ko-KR" sz="2400" baseline="-25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="</a:t>
            </a:r>
            <a:r>
              <a:rPr lang="en-US" altLang="ko-KR" sz="2400" baseline="-25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empvo</a:t>
            </a:r>
            <a:r>
              <a:rPr lang="en-US" altLang="ko-KR" sz="2400" baseline="-25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"&gt;</a:t>
            </a:r>
          </a:p>
          <a:p>
            <a:r>
              <a:rPr lang="en-US" altLang="ko-KR" sz="2400" baseline="-25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	select *</a:t>
            </a:r>
          </a:p>
          <a:p>
            <a:r>
              <a:rPr lang="en-US" altLang="ko-KR" sz="2400" baseline="-25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	from employees</a:t>
            </a:r>
          </a:p>
          <a:p>
            <a:r>
              <a:rPr lang="en-US" altLang="ko-KR" sz="2400" baseline="-25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	where </a:t>
            </a:r>
            <a:r>
              <a:rPr lang="en-US" altLang="ko-KR" sz="2400" baseline="-25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department_id</a:t>
            </a:r>
            <a:r>
              <a:rPr lang="en-US" altLang="ko-KR" sz="2400" baseline="-25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in</a:t>
            </a:r>
          </a:p>
          <a:p>
            <a:r>
              <a:rPr lang="en-US" altLang="ko-KR" sz="2400" baseline="-25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	&lt;foreach collection="list" item="item" open="(" close=")"</a:t>
            </a:r>
          </a:p>
          <a:p>
            <a:r>
              <a:rPr lang="en-US" altLang="ko-KR" sz="2400" baseline="-25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		separator=","&gt;</a:t>
            </a:r>
          </a:p>
          <a:p>
            <a:r>
              <a:rPr lang="en-US" altLang="ko-KR" sz="2400" baseline="-25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		#{item}</a:t>
            </a:r>
          </a:p>
          <a:p>
            <a:r>
              <a:rPr lang="en-US" altLang="ko-KR" sz="2400" baseline="-25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	&lt;/foreach&gt;</a:t>
            </a:r>
          </a:p>
          <a:p>
            <a:r>
              <a:rPr lang="en-US" altLang="ko-KR" sz="2400" baseline="-25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	order by 1 </a:t>
            </a:r>
            <a:r>
              <a:rPr lang="en-US" altLang="ko-KR" sz="2400" baseline="-25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asc</a:t>
            </a:r>
            <a:endParaRPr lang="en-US" altLang="ko-KR" sz="2400" baseline="-25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ko-KR" sz="2400" baseline="-25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&lt;/select&gt;</a:t>
            </a:r>
          </a:p>
          <a:p>
            <a:endParaRPr lang="en-US" altLang="ko-KR" sz="1600" dirty="0"/>
          </a:p>
          <a:p>
            <a:endParaRPr lang="en-US" altLang="ko-KR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$.ajax({ data:{</a:t>
            </a:r>
            <a:r>
              <a:rPr lang="en-US" altLang="ko-KR" sz="1800" u="sng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deptArr</a:t>
            </a:r>
            <a:r>
              <a:rPr lang="en-US" altLang="ko-KR" sz="1800" u="sng" dirty="0">
                <a:solidFill>
                  <a:srgbClr val="000000"/>
                </a:solidFill>
                <a:latin typeface="Courier New" panose="02070309020205020404" pitchFamily="49" charset="0"/>
              </a:rPr>
              <a:t>:[]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} });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800" dirty="0">
                <a:solidFill>
                  <a:srgbClr val="646464"/>
                </a:solidFill>
                <a:latin typeface="Courier New" panose="02070309020205020404" pitchFamily="49" charset="0"/>
              </a:rPr>
              <a:t>@RequestParam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(value = </a:t>
            </a:r>
            <a:r>
              <a:rPr lang="en-US" altLang="ko-KR" sz="1800" dirty="0">
                <a:solidFill>
                  <a:srgbClr val="2A00FF"/>
                </a:solidFill>
                <a:latin typeface="Courier New" panose="02070309020205020404" pitchFamily="49" charset="0"/>
              </a:rPr>
              <a:t>"</a:t>
            </a:r>
            <a:r>
              <a:rPr lang="en-US" altLang="ko-KR" sz="1800" dirty="0" err="1">
                <a:solidFill>
                  <a:srgbClr val="2A00FF"/>
                </a:solidFill>
                <a:latin typeface="Courier New" panose="02070309020205020404" pitchFamily="49" charset="0"/>
              </a:rPr>
              <a:t>deptArr</a:t>
            </a:r>
            <a:r>
              <a:rPr lang="en-US" altLang="ko-KR" sz="1800" dirty="0">
                <a:solidFill>
                  <a:srgbClr val="2A00FF"/>
                </a:solidFill>
                <a:latin typeface="Courier New" panose="02070309020205020404" pitchFamily="49" charset="0"/>
              </a:rPr>
              <a:t>[]"</a:t>
            </a:r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) Integer[] </a:t>
            </a:r>
            <a:r>
              <a:rPr lang="en-US" altLang="ko-KR" sz="1800" u="sng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deptArr</a:t>
            </a:r>
            <a:endParaRPr lang="en-US" altLang="ko-KR" sz="1600" u="sng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487669363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48029-968B-0705-6FB3-CA20177D8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097C8BEA-CEB8-C9C6-5A14-FCF018A8FF56}"/>
              </a:ext>
            </a:extLst>
          </p:cNvPr>
          <p:cNvSpPr/>
          <p:nvPr/>
        </p:nvSpPr>
        <p:spPr>
          <a:xfrm>
            <a:off x="4260225" y="105748"/>
            <a:ext cx="37561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</a:t>
            </a:r>
            <a:r>
              <a:rPr lang="en-US" altLang="ko-KR" sz="4000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Mybatis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0B0E676-94E2-FDF9-CF9C-5FE3A6AB798F}"/>
              </a:ext>
            </a:extLst>
          </p:cNvPr>
          <p:cNvSpPr/>
          <p:nvPr/>
        </p:nvSpPr>
        <p:spPr>
          <a:xfrm>
            <a:off x="488356" y="1170422"/>
            <a:ext cx="10591235" cy="598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Flat DTO</a:t>
            </a:r>
            <a:r>
              <a:rPr lang="ko-KR" altLang="en-US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로 모든 값을 한 객체에 담기</a:t>
            </a:r>
            <a:endParaRPr lang="en-US" altLang="ko-KR" sz="2400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364E221-89B9-B7A9-598B-57398F443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371" y="2225605"/>
            <a:ext cx="3324689" cy="265784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75D65D1-48DC-BD01-3B9C-96B2EB6791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8761" y="2924942"/>
            <a:ext cx="7973538" cy="2762636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330390000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F9DCA-54DE-A327-6E86-8A44373E1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A48D6A8E-CF65-EF13-E65D-C5FFCBE38C37}"/>
              </a:ext>
            </a:extLst>
          </p:cNvPr>
          <p:cNvSpPr/>
          <p:nvPr/>
        </p:nvSpPr>
        <p:spPr>
          <a:xfrm>
            <a:off x="4260225" y="105748"/>
            <a:ext cx="37561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</a:t>
            </a:r>
            <a:r>
              <a:rPr lang="en-US" altLang="ko-KR" sz="4000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Mybatis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A3471CF-44C1-EFD4-7677-9DF828FCD366}"/>
              </a:ext>
            </a:extLst>
          </p:cNvPr>
          <p:cNvSpPr/>
          <p:nvPr/>
        </p:nvSpPr>
        <p:spPr>
          <a:xfrm>
            <a:off x="488356" y="1170422"/>
            <a:ext cx="10591235" cy="598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연관관계</a:t>
            </a: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ko-KR" altLang="en-US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사용하기 </a:t>
            </a:r>
            <a:endParaRPr lang="en-US" altLang="ko-KR" sz="2400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816A5F4-C044-4802-6D35-A6710BCC4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0415" y="2014021"/>
            <a:ext cx="8049748" cy="4420217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00B94CC-1CBB-EF3A-1365-13718809B8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890" y="1921255"/>
            <a:ext cx="2829320" cy="33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14839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C50E1-EA31-E7BA-8466-6BF673307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9F8DE2F2-2B57-BA83-ED45-D972F8633719}"/>
              </a:ext>
            </a:extLst>
          </p:cNvPr>
          <p:cNvSpPr/>
          <p:nvPr/>
        </p:nvSpPr>
        <p:spPr>
          <a:xfrm>
            <a:off x="4260225" y="105748"/>
            <a:ext cx="37561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</a:t>
            </a:r>
            <a:r>
              <a:rPr lang="en-US" altLang="ko-KR" sz="4000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Mybatis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2709901-6B2A-03BB-5ED1-1DDFA4FF3A29}"/>
              </a:ext>
            </a:extLst>
          </p:cNvPr>
          <p:cNvSpPr/>
          <p:nvPr/>
        </p:nvSpPr>
        <p:spPr>
          <a:xfrm>
            <a:off x="488356" y="1170422"/>
            <a:ext cx="10591235" cy="598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연관관계</a:t>
            </a: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ko-KR" altLang="en-US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사용하기 </a:t>
            </a:r>
            <a:endParaRPr lang="en-US" altLang="ko-KR" sz="2400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846FB0F-B3EE-BDD2-829A-DA09A7F60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232" y="2007780"/>
            <a:ext cx="5515745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94290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59423" y="105748"/>
            <a:ext cx="375776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Logging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31822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Log4J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+mj-ea"/>
                <a:ea typeface="+mj-ea"/>
              </a:rPr>
              <a:t>로그 기능을 제공하는 오픈 소스 라이브러리</a:t>
            </a:r>
            <a:endParaRPr lang="en-US" altLang="ko-KR" sz="1600" dirty="0">
              <a:latin typeface="+mj-ea"/>
              <a:ea typeface="+mj-ea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+mj-ea"/>
                <a:ea typeface="+mj-ea"/>
              </a:rPr>
              <a:t>애플리케이션에서 웹 사이트에 접속한 사용자 정보나 각 클래스의 메서드 호출 시각 등 여러 가지 정보를 로그로 출력해서 관리</a:t>
            </a:r>
            <a:endParaRPr lang="en-US" altLang="ko-KR" sz="1600" dirty="0">
              <a:latin typeface="+mj-ea"/>
              <a:ea typeface="+mj-ea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 err="1">
                <a:latin typeface="+mj-ea"/>
                <a:ea typeface="+mj-ea"/>
              </a:rPr>
              <a:t>메이븐에서는</a:t>
            </a:r>
            <a:r>
              <a:rPr lang="en-US" altLang="ko-KR" sz="1600" dirty="0">
                <a:latin typeface="+mj-ea"/>
                <a:ea typeface="+mj-ea"/>
              </a:rPr>
              <a:t> </a:t>
            </a:r>
            <a:r>
              <a:rPr lang="ko-KR" altLang="en-US" sz="1600" dirty="0">
                <a:latin typeface="+mj-ea"/>
                <a:ea typeface="+mj-ea"/>
              </a:rPr>
              <a:t>프로젝트 생성 시 자동으로 </a:t>
            </a:r>
            <a:r>
              <a:rPr lang="en-US" altLang="ko-KR" sz="1600" dirty="0">
                <a:latin typeface="+mj-ea"/>
                <a:ea typeface="+mj-ea"/>
              </a:rPr>
              <a:t>log4j </a:t>
            </a:r>
            <a:r>
              <a:rPr lang="ko-KR" altLang="en-US" sz="1600" dirty="0">
                <a:latin typeface="+mj-ea"/>
                <a:ea typeface="+mj-ea"/>
              </a:rPr>
              <a:t>라이브러리가 설치됨</a:t>
            </a:r>
            <a:endParaRPr lang="en-US" altLang="ko-KR" sz="1600" dirty="0">
              <a:latin typeface="+mj-ea"/>
              <a:ea typeface="+mj-ea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err="1">
                <a:latin typeface="+mj-ea"/>
                <a:ea typeface="+mj-ea"/>
              </a:rPr>
              <a:t>println</a:t>
            </a:r>
            <a:r>
              <a:rPr lang="en-US" altLang="ko-KR" sz="1600" dirty="0">
                <a:latin typeface="+mj-ea"/>
                <a:ea typeface="+mj-ea"/>
              </a:rPr>
              <a:t>() </a:t>
            </a:r>
            <a:r>
              <a:rPr lang="ko-KR" altLang="en-US" sz="1600" dirty="0">
                <a:latin typeface="+mj-ea"/>
                <a:ea typeface="+mj-ea"/>
              </a:rPr>
              <a:t>메서드 사용 시 유지 보수 시 불편함</a:t>
            </a:r>
            <a:r>
              <a:rPr lang="en-US" altLang="ko-KR" sz="1600" dirty="0">
                <a:latin typeface="+mj-ea"/>
                <a:ea typeface="+mj-ea"/>
              </a:rPr>
              <a:t>.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+mj-ea"/>
                <a:ea typeface="+mj-ea"/>
              </a:rPr>
              <a:t>https://logging.apache.org/log4j/1.2/manual.html</a:t>
            </a:r>
            <a:endParaRPr lang="ko-KR" altLang="en-US" sz="1600" dirty="0">
              <a:latin typeface="+mj-ea"/>
              <a:ea typeface="+mj-ea"/>
            </a:endParaRPr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 </a:t>
            </a:r>
            <a:r>
              <a:rPr lang="en-US" altLang="ko-KR" sz="1600" b="1" dirty="0"/>
              <a:t> </a:t>
            </a:r>
            <a:endParaRPr lang="en-US" altLang="ko-KR" sz="16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2D8386D-DA49-C111-ED71-7DC61E7E6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519" y="4352703"/>
            <a:ext cx="9192908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691700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59423" y="105748"/>
            <a:ext cx="375776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Logging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9801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Log4J</a:t>
            </a:r>
          </a:p>
          <a:p>
            <a:pPr lvl="1">
              <a:lnSpc>
                <a:spcPct val="150000"/>
              </a:lnSpc>
            </a:pPr>
            <a:endParaRPr lang="en-US" altLang="ko-KR" sz="16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E5D23B3-71BE-D580-977F-A624220AB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579" y="1806726"/>
            <a:ext cx="7614813" cy="4707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254425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59423" y="105748"/>
            <a:ext cx="375776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Logging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28129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로그레벨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레벨의 숫자가 작을 수록 더 높음을 의미한다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root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</a:t>
            </a:r>
            <a:r>
              <a:rPr lang="en-US" altLang="ko-KR" sz="1600" b="1" dirty="0"/>
              <a:t>priority</a:t>
            </a:r>
            <a:r>
              <a:rPr lang="ko-KR" altLang="en-US" sz="1600" b="1" dirty="0"/>
              <a:t>값과 패키지의 </a:t>
            </a:r>
            <a:r>
              <a:rPr lang="en-US" altLang="ko-KR" sz="1600" b="1" dirty="0"/>
              <a:t>logger level</a:t>
            </a:r>
            <a:r>
              <a:rPr lang="ko-KR" altLang="en-US" sz="1600" b="1" dirty="0"/>
              <a:t>이</a:t>
            </a:r>
            <a:r>
              <a:rPr lang="en-US" altLang="ko-KR" sz="1600" b="1" dirty="0"/>
              <a:t> </a:t>
            </a:r>
            <a:r>
              <a:rPr lang="ko-KR" altLang="en-US" sz="1600" b="1" dirty="0"/>
              <a:t>다른 경우 패키지</a:t>
            </a:r>
            <a:r>
              <a:rPr lang="en-US" altLang="ko-KR" sz="1600" b="1" dirty="0"/>
              <a:t> logger</a:t>
            </a:r>
            <a:r>
              <a:rPr lang="ko-KR" altLang="en-US" sz="1600" b="1" dirty="0"/>
              <a:t>수준을 따른다</a:t>
            </a:r>
            <a:r>
              <a:rPr lang="en-US" altLang="ko-KR" sz="1600" b="1" dirty="0"/>
              <a:t>.</a:t>
            </a:r>
            <a:endParaRPr lang="en-US" altLang="ko-KR" sz="16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dirty="0"/>
              <a:t>예를 들어 출력 레벨을 </a:t>
            </a:r>
            <a:r>
              <a:rPr lang="en-US" altLang="ko-KR" sz="1600" b="1" dirty="0"/>
              <a:t>INFO</a:t>
            </a:r>
            <a:r>
              <a:rPr lang="ko-KR" altLang="en-US" sz="1600" b="1" dirty="0"/>
              <a:t>라고 설정했다면</a:t>
            </a:r>
            <a:r>
              <a:rPr lang="en-US" altLang="ko-KR" sz="1600" b="1" dirty="0"/>
              <a:t>,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b="1" dirty="0"/>
              <a:t>INFO</a:t>
            </a:r>
            <a:r>
              <a:rPr lang="ko-KR" altLang="en-US" sz="1600" b="1" dirty="0"/>
              <a:t>를 포함한 </a:t>
            </a:r>
            <a:r>
              <a:rPr lang="en-US" altLang="ko-KR" sz="1600" b="1" dirty="0"/>
              <a:t>INFO</a:t>
            </a:r>
            <a:r>
              <a:rPr lang="ko-KR" altLang="en-US" sz="1600" b="1" dirty="0"/>
              <a:t>보다 낮은 레벨인 </a:t>
            </a:r>
            <a:r>
              <a:rPr lang="en-US" altLang="ko-KR" sz="1600" b="1" dirty="0"/>
              <a:t>WARN, ERROR, FATAL</a:t>
            </a:r>
            <a:r>
              <a:rPr lang="ko-KR" altLang="en-US" sz="1600" b="1" dirty="0"/>
              <a:t>이 출력된다</a:t>
            </a:r>
            <a:r>
              <a:rPr lang="en-US" altLang="ko-KR" sz="1600" b="1" dirty="0"/>
              <a:t>. (</a:t>
            </a:r>
            <a:r>
              <a:rPr lang="ko-KR" altLang="en-US" sz="1600" b="1" dirty="0"/>
              <a:t>레벨이 더 낮은 </a:t>
            </a:r>
            <a:r>
              <a:rPr lang="en-US" altLang="ko-KR" sz="1600" b="1" dirty="0"/>
              <a:t>debug</a:t>
            </a:r>
            <a:r>
              <a:rPr lang="ko-KR" altLang="en-US" sz="1600" b="1" dirty="0"/>
              <a:t>는 출력되지 않는다</a:t>
            </a:r>
            <a:r>
              <a:rPr lang="en-US" altLang="ko-KR" sz="1600" b="1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 </a:t>
            </a:r>
            <a:r>
              <a:rPr lang="en-US" altLang="ko-KR" sz="1600" b="1" dirty="0"/>
              <a:t> </a:t>
            </a:r>
            <a:endParaRPr lang="en-US" altLang="ko-KR" sz="16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982" y="3635323"/>
            <a:ext cx="7210201" cy="2407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4322174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59423" y="105748"/>
            <a:ext cx="375776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Logging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590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로그이름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360" y="1799175"/>
            <a:ext cx="7883467" cy="4705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9218095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59423" y="105748"/>
            <a:ext cx="375776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Logging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설정 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깔끔한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Log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출력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[pom.xml]</a:t>
            </a:r>
          </a:p>
          <a:p>
            <a:r>
              <a:rPr lang="en-US" altLang="ko-KR" sz="1600" dirty="0"/>
              <a:t>&lt;dependency&gt;</a:t>
            </a:r>
          </a:p>
          <a:p>
            <a:pPr lvl="1"/>
            <a:r>
              <a:rPr lang="en-US" altLang="ko-KR" sz="1600" dirty="0"/>
              <a:t>&lt;</a:t>
            </a:r>
            <a:r>
              <a:rPr lang="en-US" altLang="ko-KR" sz="1600" dirty="0" err="1"/>
              <a:t>groupId</a:t>
            </a:r>
            <a:r>
              <a:rPr lang="en-US" altLang="ko-KR" sz="1600" dirty="0"/>
              <a:t>&gt;</a:t>
            </a:r>
            <a:r>
              <a:rPr lang="en-US" altLang="ko-KR" sz="1600" dirty="0" err="1"/>
              <a:t>org.lazyluke</a:t>
            </a:r>
            <a:r>
              <a:rPr lang="en-US" altLang="ko-KR" sz="1600" dirty="0"/>
              <a:t>&lt;/</a:t>
            </a:r>
            <a:r>
              <a:rPr lang="en-US" altLang="ko-KR" sz="1600" dirty="0" err="1"/>
              <a:t>groupId</a:t>
            </a:r>
            <a:r>
              <a:rPr lang="en-US" altLang="ko-KR" sz="1600" dirty="0"/>
              <a:t>&gt;</a:t>
            </a:r>
          </a:p>
          <a:p>
            <a:pPr lvl="1"/>
            <a:r>
              <a:rPr lang="en-US" altLang="ko-KR" sz="1600" dirty="0"/>
              <a:t>&lt;</a:t>
            </a:r>
            <a:r>
              <a:rPr lang="en-US" altLang="ko-KR" sz="1600" dirty="0" err="1"/>
              <a:t>artifactId</a:t>
            </a:r>
            <a:r>
              <a:rPr lang="en-US" altLang="ko-KR" sz="1600" dirty="0"/>
              <a:t>&gt;log4jdbc-remix&lt;/</a:t>
            </a:r>
            <a:r>
              <a:rPr lang="en-US" altLang="ko-KR" sz="1600" dirty="0" err="1"/>
              <a:t>artifactId</a:t>
            </a:r>
            <a:r>
              <a:rPr lang="en-US" altLang="ko-KR" sz="1600" dirty="0"/>
              <a:t>&gt;</a:t>
            </a:r>
          </a:p>
          <a:p>
            <a:pPr lvl="1"/>
            <a:r>
              <a:rPr lang="en-US" altLang="ko-KR" sz="1600" dirty="0"/>
              <a:t>&lt;version&gt;0.2.7&lt;/version&gt;</a:t>
            </a:r>
          </a:p>
          <a:p>
            <a:r>
              <a:rPr lang="en-US" altLang="ko-KR" sz="1600" dirty="0"/>
              <a:t>&lt;/dependency&gt;</a:t>
            </a:r>
          </a:p>
          <a:p>
            <a:endParaRPr lang="en-US" altLang="ko-KR" sz="1600" dirty="0"/>
          </a:p>
          <a:p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[action-dataSource.xml]</a:t>
            </a:r>
          </a:p>
          <a:p>
            <a:r>
              <a:rPr lang="en-US" altLang="ko-KR" sz="1600" dirty="0"/>
              <a:t>&lt;</a:t>
            </a:r>
            <a:r>
              <a:rPr lang="en-US" altLang="ko-KR" sz="1600" dirty="0" err="1"/>
              <a:t>jee:jndi-lookup</a:t>
            </a:r>
            <a:r>
              <a:rPr lang="en-US" altLang="ko-KR" sz="1600" dirty="0"/>
              <a:t> id=</a:t>
            </a:r>
            <a:r>
              <a:rPr lang="en-US" altLang="ko-KR" sz="1600" i="1" dirty="0"/>
              <a:t>"</a:t>
            </a:r>
            <a:r>
              <a:rPr lang="en-US" altLang="ko-KR" sz="1600" i="1" dirty="0" err="1"/>
              <a:t>dataSourceOriginal</a:t>
            </a:r>
            <a:r>
              <a:rPr lang="en-US" altLang="ko-KR" sz="1600" i="1" dirty="0"/>
              <a:t>" </a:t>
            </a:r>
            <a:r>
              <a:rPr lang="en-US" altLang="ko-KR" sz="1600" i="1" dirty="0" err="1"/>
              <a:t>jndi</a:t>
            </a:r>
            <a:r>
              <a:rPr lang="en-US" altLang="ko-KR" sz="1600" i="1" dirty="0"/>
              <a:t>-name="</a:t>
            </a:r>
            <a:r>
              <a:rPr lang="en-US" altLang="ko-KR" sz="1600" i="1" dirty="0" err="1"/>
              <a:t>jdbc</a:t>
            </a:r>
            <a:r>
              <a:rPr lang="en-US" altLang="ko-KR" sz="1600" i="1" dirty="0"/>
              <a:t>/</a:t>
            </a:r>
            <a:r>
              <a:rPr lang="en-US" altLang="ko-KR" sz="1600" i="1" dirty="0" err="1"/>
              <a:t>myoracle</a:t>
            </a:r>
            <a:r>
              <a:rPr lang="en-US" altLang="ko-KR" sz="1600" i="1" dirty="0"/>
              <a:t>“ </a:t>
            </a:r>
            <a:r>
              <a:rPr lang="en-US" altLang="ko-KR" sz="1600" dirty="0"/>
              <a:t> resource-ref=</a:t>
            </a:r>
            <a:r>
              <a:rPr lang="en-US" altLang="ko-KR" sz="1600" i="1" dirty="0"/>
              <a:t>"true"/&gt; </a:t>
            </a:r>
          </a:p>
          <a:p>
            <a:r>
              <a:rPr lang="en-US" altLang="ko-KR" sz="1600" i="1" dirty="0"/>
              <a:t> </a:t>
            </a:r>
          </a:p>
          <a:p>
            <a:r>
              <a:rPr lang="en-US" altLang="ko-KR" sz="1600" dirty="0"/>
              <a:t>&lt;bean id=</a:t>
            </a:r>
            <a:r>
              <a:rPr lang="en-US" altLang="ko-KR" sz="1600" i="1" dirty="0"/>
              <a:t>"</a:t>
            </a:r>
            <a:r>
              <a:rPr lang="en-US" altLang="ko-KR" sz="1600" i="1" dirty="0" err="1"/>
              <a:t>dataSource</a:t>
            </a:r>
            <a:r>
              <a:rPr lang="en-US" altLang="ko-KR" sz="1600" i="1" dirty="0"/>
              <a:t>"  class="net.sf.log4jdbc.Log4jdbcProxyDataSource"&gt;</a:t>
            </a:r>
          </a:p>
          <a:p>
            <a:r>
              <a:rPr lang="en-US" altLang="ko-KR" sz="1600" dirty="0"/>
              <a:t>&lt;constructor-</a:t>
            </a:r>
            <a:r>
              <a:rPr lang="en-US" altLang="ko-KR" sz="1600" dirty="0" err="1"/>
              <a:t>arg</a:t>
            </a:r>
            <a:r>
              <a:rPr lang="en-US" altLang="ko-KR" sz="1600" dirty="0"/>
              <a:t> ref=</a:t>
            </a:r>
            <a:r>
              <a:rPr lang="en-US" altLang="ko-KR" sz="1600" i="1" dirty="0"/>
              <a:t>"</a:t>
            </a:r>
            <a:r>
              <a:rPr lang="en-US" altLang="ko-KR" sz="1600" i="1" dirty="0" err="1"/>
              <a:t>dataSourceOriginal</a:t>
            </a:r>
            <a:r>
              <a:rPr lang="en-US" altLang="ko-KR" sz="1600" i="1" dirty="0"/>
              <a:t>" /&gt;</a:t>
            </a:r>
          </a:p>
          <a:p>
            <a:r>
              <a:rPr lang="en-US" altLang="ko-KR" sz="1600" dirty="0"/>
              <a:t>&lt;property name=</a:t>
            </a:r>
            <a:r>
              <a:rPr lang="en-US" altLang="ko-KR" sz="1600" i="1" dirty="0"/>
              <a:t>"</a:t>
            </a:r>
            <a:r>
              <a:rPr lang="en-US" altLang="ko-KR" sz="1600" i="1" dirty="0" err="1"/>
              <a:t>logFormatter</a:t>
            </a:r>
            <a:r>
              <a:rPr lang="en-US" altLang="ko-KR" sz="1600" i="1" dirty="0"/>
              <a:t>" &gt;</a:t>
            </a:r>
          </a:p>
          <a:p>
            <a:r>
              <a:rPr lang="en-US" altLang="ko-KR" sz="1600" dirty="0"/>
              <a:t>&lt;bean class=</a:t>
            </a:r>
            <a:r>
              <a:rPr lang="en-US" altLang="ko-KR" sz="1600" i="1" dirty="0"/>
              <a:t>"net.sf.log4jdbc.tools.Log4JdbcCustomFormatter"&gt;</a:t>
            </a:r>
          </a:p>
          <a:p>
            <a:r>
              <a:rPr lang="en-US" altLang="ko-KR" sz="1600" dirty="0"/>
              <a:t>&lt;property name=</a:t>
            </a:r>
            <a:r>
              <a:rPr lang="en-US" altLang="ko-KR" sz="1600" i="1" dirty="0"/>
              <a:t>"</a:t>
            </a:r>
            <a:r>
              <a:rPr lang="en-US" altLang="ko-KR" sz="1600" i="1" dirty="0" err="1"/>
              <a:t>loggingType</a:t>
            </a:r>
            <a:r>
              <a:rPr lang="en-US" altLang="ko-KR" sz="1600" i="1" dirty="0"/>
              <a:t>" value="MULTI_LINE"&gt;&lt;/property&gt;</a:t>
            </a:r>
          </a:p>
          <a:p>
            <a:r>
              <a:rPr lang="en-US" altLang="ko-KR" sz="1600" dirty="0"/>
              <a:t>&lt;property name=</a:t>
            </a:r>
            <a:r>
              <a:rPr lang="en-US" altLang="ko-KR" sz="1600" i="1" dirty="0"/>
              <a:t>"</a:t>
            </a:r>
            <a:r>
              <a:rPr lang="en-US" altLang="ko-KR" sz="1600" i="1" dirty="0" err="1"/>
              <a:t>sqlPrefix</a:t>
            </a:r>
            <a:r>
              <a:rPr lang="en-US" altLang="ko-KR" sz="1600" i="1" dirty="0"/>
              <a:t>" value="[ SQL</a:t>
            </a:r>
            <a:r>
              <a:rPr lang="ko-KR" altLang="en-US" sz="1600" i="1" dirty="0"/>
              <a:t>문장 </a:t>
            </a:r>
            <a:r>
              <a:rPr lang="en-US" altLang="ko-KR" sz="1600" i="1" dirty="0"/>
              <a:t>] "&gt;&lt;/property&gt;</a:t>
            </a:r>
          </a:p>
          <a:p>
            <a:r>
              <a:rPr lang="en-US" altLang="ko-KR" sz="1600" dirty="0"/>
              <a:t>&lt;/bean&gt;</a:t>
            </a:r>
          </a:p>
          <a:p>
            <a:r>
              <a:rPr lang="en-US" altLang="ko-KR" sz="1600" dirty="0"/>
              <a:t>&lt;/property&gt;</a:t>
            </a:r>
          </a:p>
          <a:p>
            <a:r>
              <a:rPr lang="en-US" altLang="ko-KR" sz="1600" dirty="0"/>
              <a:t>&lt;/bean&gt;</a:t>
            </a:r>
          </a:p>
        </p:txBody>
      </p:sp>
    </p:spTree>
    <p:extLst>
      <p:ext uri="{BB962C8B-B14F-4D97-AF65-F5344CB8AC3E}">
        <p14:creationId xmlns:p14="http://schemas.microsoft.com/office/powerpoint/2010/main" val="2429078890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60225" y="105748"/>
            <a:ext cx="37561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Logging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593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설정 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log4j 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[log4j.xml]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9165A54-AE22-ABC0-AED4-634480F5A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801" y="2044057"/>
            <a:ext cx="6630325" cy="188621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402AE00-F2DA-983A-006A-16F7FEAFC2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801" y="4210858"/>
            <a:ext cx="7735380" cy="238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780756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60225" y="105748"/>
            <a:ext cx="37561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Logging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설정 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log4j   (</a:t>
            </a:r>
            <a:r>
              <a:rPr lang="ko-KR" altLang="en-US" sz="2000" dirty="0">
                <a:highlight>
                  <a:srgbClr val="FFFF00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불필요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중복됨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i="1" dirty="0"/>
              <a:t>net.sf.log4jdbc.Log4jdbcProxyDataSource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[log4j.xml]</a:t>
            </a:r>
          </a:p>
          <a:p>
            <a:r>
              <a:rPr lang="en-US" altLang="ko-KR" sz="1600" dirty="0"/>
              <a:t> </a:t>
            </a:r>
          </a:p>
          <a:p>
            <a:endParaRPr lang="en-US" altLang="ko-KR" sz="1600" i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7E7850C-5FDA-1537-0E54-3143B0B77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56" y="2338235"/>
            <a:ext cx="5307607" cy="2455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612093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60225" y="105748"/>
            <a:ext cx="37561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</a:t>
            </a:r>
            <a:r>
              <a:rPr lang="en-US" altLang="ko-KR" sz="4000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Mybatis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593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설정 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en-US" altLang="ko-KR" sz="2400" dirty="0" err="1">
                <a:highlight>
                  <a:srgbClr val="FFFF00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resultset</a:t>
            </a:r>
            <a:r>
              <a:rPr lang="en-US" altLang="ko-KR" sz="2400" dirty="0">
                <a:highlight>
                  <a:srgbClr val="FFFF00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 OFF</a:t>
            </a:r>
            <a:endParaRPr lang="en-US" altLang="ko-KR" dirty="0">
              <a:highlight>
                <a:srgbClr val="FFFF00"/>
              </a:highligh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DF935F8-C15B-5BDA-2918-C7CCD8DBD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231" y="2120257"/>
            <a:ext cx="3508075" cy="163432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100687E-6084-72F1-05CB-86AC6E8F5A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8262" y="3754583"/>
            <a:ext cx="7497221" cy="237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362442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60225" y="105748"/>
            <a:ext cx="37561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</a:t>
            </a:r>
            <a:r>
              <a:rPr lang="en-US" altLang="ko-KR" sz="4000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Mybatis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설정 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log4j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배포경로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1600" i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826" y="2262276"/>
            <a:ext cx="10411179" cy="2318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8148799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60225" y="105748"/>
            <a:ext cx="37561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</a:t>
            </a:r>
            <a:r>
              <a:rPr lang="en-US" altLang="ko-KR" sz="4000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Mybatis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7540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1600" i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DD4FDF4-4DA9-391A-1460-8D0083A89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1613179"/>
            <a:ext cx="8107279" cy="461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160066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31580-6C51-D13A-60B6-78381D6FC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2B6B17C7-7E94-2EBB-D99C-6E36D73CD805}"/>
              </a:ext>
            </a:extLst>
          </p:cNvPr>
          <p:cNvSpPr/>
          <p:nvPr/>
        </p:nvSpPr>
        <p:spPr>
          <a:xfrm>
            <a:off x="4260225" y="105748"/>
            <a:ext cx="37561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</a:t>
            </a:r>
            <a:r>
              <a:rPr lang="en-US" altLang="ko-KR" sz="4000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Mybatis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44542EC-1F8C-1531-3B86-A83ED9DC56B2}"/>
              </a:ext>
            </a:extLst>
          </p:cNvPr>
          <p:cNvSpPr/>
          <p:nvPr/>
        </p:nvSpPr>
        <p:spPr>
          <a:xfrm>
            <a:off x="488356" y="1170422"/>
            <a:ext cx="10591235" cy="593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@Mapper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이용 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D25A78E-8C18-47FF-A2B1-4EB7A4EC7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5866" y="4618216"/>
            <a:ext cx="5906324" cy="4763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6599D9F-A55E-41D9-71CD-28FA479678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25" y="4300099"/>
            <a:ext cx="3581900" cy="2152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9430718-E74C-69AD-3A74-2F1D6D0E0C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325" y="1974361"/>
            <a:ext cx="3419952" cy="21148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DBB3A4D-1F1D-EB89-D483-EA55395BF9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5865" y="1974361"/>
            <a:ext cx="5906324" cy="21434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11280535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FF01E098-FBDB-420F-88A9-27027F4759A5}"/>
              </a:ext>
            </a:extLst>
          </p:cNvPr>
          <p:cNvGrpSpPr/>
          <p:nvPr/>
        </p:nvGrpSpPr>
        <p:grpSpPr>
          <a:xfrm>
            <a:off x="3726874" y="2815838"/>
            <a:ext cx="7315199" cy="1226323"/>
            <a:chOff x="4793673" y="1246908"/>
            <a:chExt cx="6442363" cy="1080000"/>
          </a:xfrm>
        </p:grpSpPr>
        <p:sp>
          <p:nvSpPr>
            <p:cNvPr id="14" name="육각형 13">
              <a:extLst>
                <a:ext uri="{FF2B5EF4-FFF2-40B4-BE49-F238E27FC236}">
                  <a16:creationId xmlns:a16="http://schemas.microsoft.com/office/drawing/2014/main" id="{7ADDF6C6-9FD3-40F2-ADC2-37A43AADF7ED}"/>
                </a:ext>
              </a:extLst>
            </p:cNvPr>
            <p:cNvSpPr/>
            <p:nvPr/>
          </p:nvSpPr>
          <p:spPr>
            <a:xfrm>
              <a:off x="4793673" y="1246908"/>
              <a:ext cx="6442363" cy="1080000"/>
            </a:xfrm>
            <a:prstGeom prst="hexagon">
              <a:avLst>
                <a:gd name="adj" fmla="val 42671"/>
                <a:gd name="vf" fmla="val 11547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화살표: 오각형 14">
              <a:extLst>
                <a:ext uri="{FF2B5EF4-FFF2-40B4-BE49-F238E27FC236}">
                  <a16:creationId xmlns:a16="http://schemas.microsoft.com/office/drawing/2014/main" id="{81F229D3-E3EA-4A23-AA82-5E2AF3A625A9}"/>
                </a:ext>
              </a:extLst>
            </p:cNvPr>
            <p:cNvSpPr/>
            <p:nvPr/>
          </p:nvSpPr>
          <p:spPr>
            <a:xfrm>
              <a:off x="5632954" y="1371410"/>
              <a:ext cx="5339846" cy="830996"/>
            </a:xfrm>
            <a:prstGeom prst="homePlat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D920D6B8-E4ED-4528-A983-BD701AD4E691}"/>
                </a:ext>
              </a:extLst>
            </p:cNvPr>
            <p:cNvSpPr/>
            <p:nvPr/>
          </p:nvSpPr>
          <p:spPr>
            <a:xfrm>
              <a:off x="5196182" y="1364345"/>
              <a:ext cx="845127" cy="845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51810F50-4F4F-4ABD-840E-E581E3B8C415}"/>
                </a:ext>
              </a:extLst>
            </p:cNvPr>
            <p:cNvGrpSpPr/>
            <p:nvPr/>
          </p:nvGrpSpPr>
          <p:grpSpPr>
            <a:xfrm>
              <a:off x="5537400" y="1369809"/>
              <a:ext cx="4159582" cy="813160"/>
              <a:chOff x="5516922" y="1640913"/>
              <a:chExt cx="2999292" cy="586335"/>
            </a:xfrm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EB1F94F4-27C9-4570-8682-1A33FA68D416}"/>
                  </a:ext>
                </a:extLst>
              </p:cNvPr>
              <p:cNvSpPr/>
              <p:nvPr/>
            </p:nvSpPr>
            <p:spPr>
              <a:xfrm>
                <a:off x="6030979" y="1689774"/>
                <a:ext cx="2485235" cy="488612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defTabSz="1076865" eaLnBrk="0" latinLnBrk="0" hangingPunct="0">
                  <a:spcAft>
                    <a:spcPts val="486"/>
                  </a:spcAft>
                  <a:buSzPct val="100000"/>
                  <a:defRPr/>
                </a:pPr>
                <a:r>
                  <a:rPr lang="en-US" altLang="ko-KR" sz="4400">
                    <a:gradFill>
                      <a:gsLst>
                        <a:gs pos="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6200000" scaled="1"/>
                    </a:gradFill>
                    <a:latin typeface="HY견고딕" pitchFamily="18" charset="-127"/>
                    <a:ea typeface="HY견고딕" pitchFamily="18" charset="-127"/>
                  </a:rPr>
                  <a:t>Transaction</a:t>
                </a:r>
                <a:endParaRPr lang="ko-KR" altLang="en-US" sz="4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16200000" scaled="1"/>
                  </a:gradFill>
                  <a:latin typeface="HY견고딕" pitchFamily="18" charset="-127"/>
                  <a:ea typeface="HY견고딕" pitchFamily="18" charset="-127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4541CD06-C435-48C0-AA4F-7B628FBAD386}"/>
                  </a:ext>
                </a:extLst>
              </p:cNvPr>
              <p:cNvSpPr/>
              <p:nvPr/>
            </p:nvSpPr>
            <p:spPr>
              <a:xfrm>
                <a:off x="5516922" y="1640913"/>
                <a:ext cx="117307" cy="586335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5400" b="1" i="0" u="none" strike="noStrike" kern="0" normalizeH="0" baseline="0" noProof="0" dirty="0">
                  <a:ln w="2857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uLnTx/>
                  <a:uFillTx/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54049030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D0221-BB5E-4711-BD30-025515444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20345FD5-24F8-8042-CE60-256D971192C2}"/>
              </a:ext>
            </a:extLst>
          </p:cNvPr>
          <p:cNvSpPr/>
          <p:nvPr/>
        </p:nvSpPr>
        <p:spPr>
          <a:xfrm>
            <a:off x="3502577" y="105748"/>
            <a:ext cx="527144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Web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MVC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복습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A4A1A31-9326-1D82-CEB9-C8209DA1DCE7}"/>
              </a:ext>
            </a:extLst>
          </p:cNvPr>
          <p:cNvSpPr/>
          <p:nvPr/>
        </p:nvSpPr>
        <p:spPr>
          <a:xfrm>
            <a:off x="488356" y="1170422"/>
            <a:ext cx="10699149" cy="5601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>
                <a:latin typeface="HY견고딕" panose="02030600000101010101" pitchFamily="18" charset="-127"/>
                <a:ea typeface="HY견고딕" panose="02030600000101010101" pitchFamily="18" charset="-127"/>
              </a:rPr>
              <a:t>DispatcherServlet</a:t>
            </a:r>
          </a:p>
        </p:txBody>
      </p:sp>
      <p:pic>
        <p:nvPicPr>
          <p:cNvPr id="6" name="그림 5" descr="https://blog.kakaocdn.net/dn/q43e6/btqCvx1OYiy/MJv6bpvTjEtC4XsNsR4m71/img.png">
            <a:extLst>
              <a:ext uri="{FF2B5EF4-FFF2-40B4-BE49-F238E27FC236}">
                <a16:creationId xmlns:a16="http://schemas.microsoft.com/office/drawing/2014/main" id="{E5B545E8-03EE-DBDB-816C-53DF38501C3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032" y="1913677"/>
            <a:ext cx="4798787" cy="422591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FECC253D-0B74-34F2-1B38-EEDDC534DE62}"/>
              </a:ext>
            </a:extLst>
          </p:cNvPr>
          <p:cNvSpPr/>
          <p:nvPr/>
        </p:nvSpPr>
        <p:spPr>
          <a:xfrm>
            <a:off x="5442819" y="1594150"/>
            <a:ext cx="6260825" cy="4954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1600" dirty="0">
                <a:solidFill>
                  <a:srgbClr val="FF00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servlet-context</a:t>
            </a:r>
            <a:r>
              <a:rPr lang="en-US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(Web MVC </a:t>
            </a:r>
            <a:r>
              <a:rPr lang="ko-KR" altLang="en-US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전용 설정</a:t>
            </a:r>
            <a:r>
              <a:rPr lang="en-US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servlet-container</a:t>
            </a:r>
            <a:r>
              <a:rPr lang="ko-KR" altLang="en-US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에서만 사용되어진다</a:t>
            </a:r>
            <a:r>
              <a:rPr lang="en-US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1600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ViewResolver</a:t>
            </a:r>
            <a:r>
              <a:rPr lang="en-US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, Interceptor, </a:t>
            </a:r>
            <a:r>
              <a:rPr lang="en-US" altLang="ko-KR" sz="1600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MultipartResolver</a:t>
            </a:r>
            <a:r>
              <a:rPr lang="ko-KR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객체를 생성하고 웹과 관련된 </a:t>
            </a:r>
            <a:r>
              <a:rPr lang="ko-KR" altLang="ko-KR" sz="1600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어노테이션</a:t>
            </a:r>
            <a:r>
              <a:rPr lang="en-US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en-US" altLang="ko-KR" sz="1600" dirty="0">
                <a:solidFill>
                  <a:srgbClr val="FF0000"/>
                </a:solidFill>
                <a:highlight>
                  <a:srgbClr val="FFFF00"/>
                </a:highlight>
                <a:latin typeface="CookieRun Regular" panose="020B0600000101010101" pitchFamily="50" charset="-127"/>
                <a:ea typeface="CookieRun Regular" panose="020B0600000101010101" pitchFamily="50" charset="-127"/>
              </a:rPr>
              <a:t>Controller, </a:t>
            </a:r>
            <a:r>
              <a:rPr lang="en-US" altLang="ko-KR" sz="1600" dirty="0" err="1">
                <a:solidFill>
                  <a:srgbClr val="FF0000"/>
                </a:solidFill>
                <a:highlight>
                  <a:srgbClr val="FFFF00"/>
                </a:highlight>
                <a:latin typeface="CookieRun Regular" panose="020B0600000101010101" pitchFamily="50" charset="-127"/>
                <a:ea typeface="CookieRun Regular" panose="020B0600000101010101" pitchFamily="50" charset="-127"/>
              </a:rPr>
              <a:t>RestController</a:t>
            </a:r>
            <a:r>
              <a:rPr lang="ko-KR" altLang="ko-KR" sz="1600" dirty="0">
                <a:solidFill>
                  <a:srgbClr val="FF0000"/>
                </a:solidFill>
                <a:highlight>
                  <a:srgbClr val="FFFF00"/>
                </a:highlight>
                <a:latin typeface="CookieRun Regular" panose="020B0600000101010101" pitchFamily="50" charset="-127"/>
                <a:ea typeface="CookieRun Regular" panose="020B0600000101010101" pitchFamily="50" charset="-127"/>
              </a:rPr>
              <a:t>를 스캔한다</a:t>
            </a:r>
            <a:r>
              <a:rPr lang="en-US" altLang="ko-KR" sz="1600" dirty="0">
                <a:solidFill>
                  <a:srgbClr val="FF0000"/>
                </a:solidFill>
                <a:highlight>
                  <a:srgbClr val="FFFF00"/>
                </a:highlight>
                <a:latin typeface="CookieRun Regular" panose="020B0600000101010101" pitchFamily="50" charset="-127"/>
                <a:ea typeface="CookieRun Regular" panose="020B0600000101010101" pitchFamily="50" charset="-127"/>
              </a:rPr>
              <a:t>. </a:t>
            </a:r>
          </a:p>
          <a:p>
            <a:pPr algn="l">
              <a:lnSpc>
                <a:spcPct val="150000"/>
              </a:lnSpc>
            </a:pPr>
            <a:r>
              <a:rPr lang="en-US" altLang="ko-KR" sz="1600" dirty="0">
                <a:solidFill>
                  <a:srgbClr val="00808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&lt;</a:t>
            </a:r>
            <a:r>
              <a:rPr lang="en-US" altLang="ko-KR" sz="1600" dirty="0" err="1">
                <a:solidFill>
                  <a:srgbClr val="3F7F7F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context:component-scan</a:t>
            </a:r>
            <a:endParaRPr lang="en-US" altLang="ko-KR" sz="1600" dirty="0">
              <a:solidFill>
                <a:srgbClr val="3F7F7F"/>
              </a:solidFill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600" dirty="0">
                <a:solidFill>
                  <a:srgbClr val="7F007F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base-package</a:t>
            </a:r>
            <a:r>
              <a:rPr lang="en-US" altLang="ko-KR" sz="1600" dirty="0">
                <a:solidFill>
                  <a:srgbClr val="0000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=</a:t>
            </a:r>
            <a:r>
              <a:rPr lang="en-US" altLang="ko-KR" sz="1600" i="1" dirty="0">
                <a:solidFill>
                  <a:srgbClr val="2A00FF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"</a:t>
            </a:r>
            <a:r>
              <a:rPr lang="en-US" altLang="ko-KR" sz="1600" i="1" dirty="0" err="1">
                <a:solidFill>
                  <a:srgbClr val="2A00FF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com.shinhan.myapp.controller</a:t>
            </a:r>
            <a:r>
              <a:rPr lang="en-US" altLang="ko-KR" sz="1600" i="1" dirty="0">
                <a:solidFill>
                  <a:srgbClr val="2A00FF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" </a:t>
            </a:r>
            <a:r>
              <a:rPr lang="en-US" altLang="ko-KR" sz="1600" i="1" dirty="0">
                <a:solidFill>
                  <a:srgbClr val="00808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/&gt;</a:t>
            </a:r>
            <a:endParaRPr lang="ko-KR" altLang="ko-KR" sz="1600" dirty="0">
              <a:solidFill>
                <a:srgbClr val="FF0000"/>
              </a:solidFill>
              <a:highlight>
                <a:srgbClr val="FFFF00"/>
              </a:highlight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 startAt="3"/>
            </a:pPr>
            <a:r>
              <a:rPr lang="en-US" altLang="ko-KR" sz="1600" dirty="0">
                <a:solidFill>
                  <a:srgbClr val="00B05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Transaction </a:t>
            </a:r>
            <a:r>
              <a:rPr lang="ko-KR" altLang="en-US" sz="1600" dirty="0">
                <a:solidFill>
                  <a:srgbClr val="00B05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설정은 </a:t>
            </a:r>
            <a:r>
              <a:rPr lang="en-US" altLang="ko-KR" sz="1600" dirty="0">
                <a:solidFill>
                  <a:srgbClr val="00B05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servlet-context</a:t>
            </a:r>
            <a:r>
              <a:rPr lang="ko-KR" altLang="en-US" sz="1600" dirty="0">
                <a:solidFill>
                  <a:srgbClr val="00B05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에 설정한다</a:t>
            </a:r>
            <a:r>
              <a:rPr lang="en-US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. </a:t>
            </a:r>
            <a:endParaRPr lang="ko-KR" altLang="en-US" sz="1600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1600" dirty="0">
                <a:solidFill>
                  <a:srgbClr val="FF00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root-context (</a:t>
            </a:r>
            <a:r>
              <a:rPr lang="ko-KR" altLang="en-US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서비스</a:t>
            </a:r>
            <a:r>
              <a:rPr lang="en-US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/DAO/</a:t>
            </a:r>
            <a:r>
              <a:rPr lang="ko-KR" altLang="en-US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공통설정</a:t>
            </a:r>
            <a:r>
              <a:rPr lang="en-US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)</a:t>
            </a:r>
            <a:endParaRPr lang="en-US" altLang="ko-KR" sz="1600" dirty="0">
              <a:solidFill>
                <a:srgbClr val="FF0000"/>
              </a:solidFill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모든 </a:t>
            </a:r>
            <a:r>
              <a:rPr lang="en-US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context</a:t>
            </a:r>
            <a:r>
              <a:rPr lang="ko-KR" altLang="en-US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에서 공유 가능하다</a:t>
            </a:r>
            <a:r>
              <a:rPr lang="en-US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en-US" altLang="ko-KR" sz="1600" dirty="0">
                <a:highlight>
                  <a:srgbClr val="FFFF00"/>
                </a:highlight>
                <a:latin typeface="CookieRun Regular" panose="020B0600000101010101" pitchFamily="50" charset="-127"/>
                <a:ea typeface="CookieRun Regular" panose="020B0600000101010101" pitchFamily="50" charset="-127"/>
              </a:rPr>
              <a:t>@Service</a:t>
            </a:r>
            <a:r>
              <a:rPr lang="ko-KR" altLang="en-US" sz="1600" dirty="0">
                <a:highlight>
                  <a:srgbClr val="FFFF00"/>
                </a:highlight>
                <a:latin typeface="CookieRun Regular" panose="020B0600000101010101" pitchFamily="50" charset="-127"/>
                <a:ea typeface="CookieRun Regular" panose="020B0600000101010101" pitchFamily="50" charset="-127"/>
              </a:rPr>
              <a:t>와 </a:t>
            </a:r>
            <a:r>
              <a:rPr lang="en-US" altLang="ko-KR" sz="1600" dirty="0">
                <a:highlight>
                  <a:srgbClr val="FFFF00"/>
                </a:highlight>
                <a:latin typeface="CookieRun Regular" panose="020B0600000101010101" pitchFamily="50" charset="-127"/>
                <a:ea typeface="CookieRun Regular" panose="020B0600000101010101" pitchFamily="50" charset="-127"/>
              </a:rPr>
              <a:t>@Repository, AOP </a:t>
            </a:r>
            <a:r>
              <a:rPr lang="ko-KR" altLang="en-US" sz="1600" dirty="0">
                <a:highlight>
                  <a:srgbClr val="FFFF00"/>
                </a:highlight>
                <a:latin typeface="CookieRun Regular" panose="020B0600000101010101" pitchFamily="50" charset="-127"/>
                <a:ea typeface="CookieRun Regular" panose="020B0600000101010101" pitchFamily="50" charset="-127"/>
              </a:rPr>
              <a:t>설정 등</a:t>
            </a:r>
            <a:endParaRPr lang="en-US" altLang="ko-KR" sz="1600" dirty="0">
              <a:highlight>
                <a:srgbClr val="FFFF00"/>
              </a:highlight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DB</a:t>
            </a:r>
            <a:r>
              <a:rPr lang="ko-KR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관련 객체를 생성한다</a:t>
            </a:r>
            <a:endParaRPr lang="en-US" altLang="ko-KR" sz="1600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600" dirty="0">
                <a:solidFill>
                  <a:srgbClr val="00808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&lt;</a:t>
            </a:r>
            <a:r>
              <a:rPr lang="en-US" altLang="ko-KR" sz="1600" dirty="0" err="1">
                <a:solidFill>
                  <a:srgbClr val="3F7F7F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context:component-scan</a:t>
            </a:r>
            <a:endParaRPr lang="en-US" altLang="ko-KR" sz="1600" dirty="0">
              <a:solidFill>
                <a:srgbClr val="3F7F7F"/>
              </a:solidFill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600" dirty="0">
                <a:solidFill>
                  <a:srgbClr val="7F007F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base-package</a:t>
            </a:r>
            <a:r>
              <a:rPr lang="en-US" altLang="ko-KR" sz="1600" dirty="0">
                <a:solidFill>
                  <a:srgbClr val="0000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=</a:t>
            </a:r>
            <a:r>
              <a:rPr lang="en-US" altLang="ko-KR" sz="1600" i="1" dirty="0">
                <a:solidFill>
                  <a:srgbClr val="2A00FF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"</a:t>
            </a:r>
            <a:r>
              <a:rPr lang="en-US" altLang="ko-KR" sz="1600" i="1" dirty="0" err="1">
                <a:solidFill>
                  <a:srgbClr val="2A00FF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com.shinhan.myapp.model,org.firstzone</a:t>
            </a:r>
            <a:r>
              <a:rPr lang="en-US" altLang="ko-KR" sz="1600" i="1" dirty="0">
                <a:solidFill>
                  <a:srgbClr val="2A00FF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" </a:t>
            </a:r>
            <a:r>
              <a:rPr lang="en-US" altLang="ko-KR" sz="1600" i="1" dirty="0">
                <a:solidFill>
                  <a:srgbClr val="00808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/&gt;</a:t>
            </a:r>
            <a:endParaRPr lang="en-US" altLang="ko-KR" sz="1600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993E71-E500-D42A-3CA1-F6F3F0F59D0B}"/>
              </a:ext>
            </a:extLst>
          </p:cNvPr>
          <p:cNvSpPr txBox="1"/>
          <p:nvPr/>
        </p:nvSpPr>
        <p:spPr>
          <a:xfrm>
            <a:off x="765810" y="613959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2784878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566710" y="105748"/>
            <a:ext cx="514320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Web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MVC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복습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6012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servlet-context.xml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Web MVC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전용 설정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Controller, </a:t>
            </a: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ViewResolver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, </a:t>
            </a:r>
            <a:r>
              <a:rPr lang="ko-KR" altLang="en-US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인터셉터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, </a:t>
            </a: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MultipartResolver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등 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Web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계층 관련 설정만 담는 게 원칙</a:t>
            </a:r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&lt;</a:t>
            </a: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context:component-scan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base-package=</a:t>
            </a:r>
            <a:r>
              <a:rPr lang="en-US" altLang="ko-KR" i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"</a:t>
            </a:r>
            <a:r>
              <a:rPr lang="en-US" altLang="ko-KR" i="1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com.shinhan.spring.controller</a:t>
            </a:r>
            <a:r>
              <a:rPr lang="en-US" altLang="ko-KR" i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" /&gt;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i="1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컨트롤러에 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AOP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적용 안되는 이유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?</a:t>
            </a: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Spring MVC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의 </a:t>
            </a: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HandlerMapping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단계에서 이미 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Handler(Controller)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가 결정됨</a:t>
            </a:r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실제 객체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(Real Object)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의 대리인으로 동작하는 객체임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.</a:t>
            </a:r>
            <a:endParaRPr lang="ko-KR" altLang="en-US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Controller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는 프록시 객체가 아닌 실제 객체로 등록되어 사용되므로 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AOP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적용이 어렵다</a:t>
            </a: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Controller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에 트랜잭션이나 로깅 같은 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AOP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를 쓰는 건 권장되지 않음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  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Service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계층에서 로깅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,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트랜잭션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,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보안 등 공통 로직을 처리하는 것이 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AOP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적용에 가장 적합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만약 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Controller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로직에도 꼭 적용하고 싶다면 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Filter, </a:t>
            </a: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HandlerInterceptor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또는 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Servlet Filter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를 사용하는 것이 일반적이다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. </a:t>
            </a:r>
            <a:endParaRPr lang="ko-KR" altLang="en-US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endParaRPr lang="en-US" altLang="ko-KR" i="1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037863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973D7-521A-747D-CE2F-178201154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43D254B6-CE96-55C6-3571-783D3649572D}"/>
              </a:ext>
            </a:extLst>
          </p:cNvPr>
          <p:cNvSpPr/>
          <p:nvPr/>
        </p:nvSpPr>
        <p:spPr>
          <a:xfrm>
            <a:off x="3566710" y="105748"/>
            <a:ext cx="514320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Web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MVC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복습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384FD7B-118C-2182-4118-661EF3A3F49B}"/>
              </a:ext>
            </a:extLst>
          </p:cNvPr>
          <p:cNvSpPr/>
          <p:nvPr/>
        </p:nvSpPr>
        <p:spPr>
          <a:xfrm>
            <a:off x="488356" y="1170422"/>
            <a:ext cx="10591235" cy="1054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000" b="1" dirty="0" err="1"/>
              <a:t>LoggingIntercepter</a:t>
            </a:r>
            <a:endParaRPr lang="en-US" altLang="ko-KR" sz="2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CADFAF0-6DC2-12C8-6514-ACFBDC1EF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681" y="1870857"/>
            <a:ext cx="7885983" cy="4647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296804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A69F0-193B-66FE-FAA1-FB7972165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66F62D5-F426-70CE-E4BE-0FA63F31EA2B}"/>
              </a:ext>
            </a:extLst>
          </p:cNvPr>
          <p:cNvSpPr/>
          <p:nvPr/>
        </p:nvSpPr>
        <p:spPr>
          <a:xfrm>
            <a:off x="3566710" y="105748"/>
            <a:ext cx="514320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Web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MVC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복습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720C98A-B6DA-34EA-4EBC-97036B9701CB}"/>
              </a:ext>
            </a:extLst>
          </p:cNvPr>
          <p:cNvSpPr/>
          <p:nvPr/>
        </p:nvSpPr>
        <p:spPr>
          <a:xfrm>
            <a:off x="488356" y="1170422"/>
            <a:ext cx="10591235" cy="1147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servlet-context.xml</a:t>
            </a:r>
          </a:p>
          <a:p>
            <a:pPr>
              <a:lnSpc>
                <a:spcPct val="150000"/>
              </a:lnSpc>
            </a:pPr>
            <a:endParaRPr lang="en-US" altLang="ko-KR" sz="2400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5476C80-D763-485F-B5F5-05EFB51E7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238" y="2080126"/>
            <a:ext cx="8154538" cy="210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506054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A11FF-89EF-9E6F-E276-E5049AD66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C250C826-354D-5D47-0E93-224481C0D738}"/>
              </a:ext>
            </a:extLst>
          </p:cNvPr>
          <p:cNvSpPr/>
          <p:nvPr/>
        </p:nvSpPr>
        <p:spPr>
          <a:xfrm>
            <a:off x="3857270" y="105748"/>
            <a:ext cx="45620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Transaction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8BDC8D-ED29-A24E-3B02-7DAB1E87417D}"/>
              </a:ext>
            </a:extLst>
          </p:cNvPr>
          <p:cNvSpPr/>
          <p:nvPr/>
        </p:nvSpPr>
        <p:spPr>
          <a:xfrm>
            <a:off x="488356" y="1170422"/>
            <a:ext cx="10591235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Transaction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이란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?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dirty="0">
                <a:highlight>
                  <a:srgbClr val="FFFF00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여러 개의 </a:t>
            </a:r>
            <a:r>
              <a:rPr lang="en-US" altLang="ko-KR" dirty="0">
                <a:highlight>
                  <a:srgbClr val="FFFF00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DML </a:t>
            </a:r>
            <a:r>
              <a:rPr lang="ko-KR" altLang="en-US" dirty="0">
                <a:highlight>
                  <a:srgbClr val="FFFF00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명령문을 하나의 논리적인 작업 단위로 묶어서 관리하는 것</a:t>
            </a:r>
            <a:endParaRPr lang="en-US" altLang="ko-KR" dirty="0">
              <a:highlight>
                <a:srgbClr val="FFFF00"/>
              </a:highligh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All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또는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Nothing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방식으로 작업을 처리함으로써 작업의 일관성을 유지함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웹 애플리케이션에선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Service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클래스의 각 메서드가 애플리케이션의 단위 기능을 수행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dirty="0">
                <a:ea typeface="+mj-ea"/>
              </a:rPr>
              <a:t>[</a:t>
            </a:r>
            <a:r>
              <a:rPr lang="ko-KR" altLang="en-US" dirty="0">
                <a:ea typeface="+mj-ea"/>
              </a:rPr>
              <a:t>예</a:t>
            </a:r>
            <a:r>
              <a:rPr lang="en-US" altLang="ko-KR" dirty="0">
                <a:ea typeface="+mj-ea"/>
              </a:rPr>
              <a:t>1]</a:t>
            </a:r>
            <a:r>
              <a:rPr lang="ko-KR" altLang="en-US" dirty="0">
                <a:ea typeface="+mj-ea"/>
              </a:rPr>
              <a:t> 은행에서 </a:t>
            </a:r>
            <a:r>
              <a:rPr lang="ko-KR" altLang="en-US" dirty="0" err="1">
                <a:ea typeface="+mj-ea"/>
              </a:rPr>
              <a:t>예금이체시</a:t>
            </a:r>
            <a:r>
              <a:rPr lang="ko-KR" altLang="en-US" dirty="0">
                <a:ea typeface="+mj-ea"/>
              </a:rPr>
              <a:t> 송금자의 잔고를 갱신하는 기능과 수신자의 잔고를 갱신하는 기능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dirty="0">
                <a:ea typeface="+mj-ea"/>
              </a:rPr>
              <a:t>[</a:t>
            </a:r>
            <a:r>
              <a:rPr lang="ko-KR" altLang="en-US" dirty="0">
                <a:ea typeface="+mj-ea"/>
              </a:rPr>
              <a:t>예</a:t>
            </a:r>
            <a:r>
              <a:rPr lang="en-US" altLang="ko-KR" dirty="0">
                <a:ea typeface="+mj-ea"/>
              </a:rPr>
              <a:t>2]</a:t>
            </a:r>
            <a:r>
              <a:rPr lang="ko-KR" altLang="en-US" dirty="0">
                <a:ea typeface="+mj-ea"/>
              </a:rPr>
              <a:t> 게시판 글 조회 시 해당 글을 조회하는 기능과 조회 수를 갱신하는 기능</a:t>
            </a:r>
            <a:endParaRPr lang="en-US" altLang="ko-KR" dirty="0">
              <a:ea typeface="+mj-ea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dirty="0">
                <a:ea typeface="+mj-ea"/>
              </a:rPr>
              <a:t>[</a:t>
            </a:r>
            <a:r>
              <a:rPr lang="ko-KR" altLang="en-US" dirty="0">
                <a:ea typeface="+mj-ea"/>
              </a:rPr>
              <a:t>예</a:t>
            </a:r>
            <a:r>
              <a:rPr lang="en-US" altLang="ko-KR" dirty="0">
                <a:ea typeface="+mj-ea"/>
              </a:rPr>
              <a:t>3] </a:t>
            </a:r>
            <a:r>
              <a:rPr lang="ko-KR" altLang="en-US" dirty="0">
                <a:ea typeface="+mj-ea"/>
              </a:rPr>
              <a:t>쇼핑몰에서 상품 주문 시 주문 상품을 테이블에 등록하는 기능과 주문자의 포인트를 갱신하는 기능</a:t>
            </a:r>
            <a:endParaRPr lang="en-US" altLang="ko-KR" dirty="0">
              <a:ea typeface="+mj-ea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1600" dirty="0"/>
          </a:p>
          <a:p>
            <a:endParaRPr lang="en-US" altLang="ko-KR" sz="1600" i="1" dirty="0"/>
          </a:p>
        </p:txBody>
      </p:sp>
    </p:spTree>
    <p:extLst>
      <p:ext uri="{BB962C8B-B14F-4D97-AF65-F5344CB8AC3E}">
        <p14:creationId xmlns:p14="http://schemas.microsoft.com/office/powerpoint/2010/main" val="2053697975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857270" y="105748"/>
            <a:ext cx="45620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Transaction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590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Transaction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적용 전후 비교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695" y="1866122"/>
            <a:ext cx="4639752" cy="4003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8312" y="1866122"/>
            <a:ext cx="5248482" cy="3528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1086601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857270" y="105748"/>
            <a:ext cx="45620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Transaction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실습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dirty="0"/>
              <a:t>create table </a:t>
            </a:r>
            <a:r>
              <a:rPr lang="en-US" altLang="ko-KR" dirty="0" err="1"/>
              <a:t>cust_account</a:t>
            </a:r>
            <a:endParaRPr lang="en-US" altLang="ko-KR" dirty="0"/>
          </a:p>
          <a:p>
            <a:r>
              <a:rPr lang="en-US" altLang="ko-KR" dirty="0"/>
              <a:t>( </a:t>
            </a:r>
            <a:r>
              <a:rPr lang="en-US" altLang="ko-KR" dirty="0" err="1"/>
              <a:t>accountNo</a:t>
            </a:r>
            <a:r>
              <a:rPr lang="en-US" altLang="ko-KR" dirty="0"/>
              <a:t> varchar2(10) primary key,</a:t>
            </a:r>
          </a:p>
          <a:p>
            <a:r>
              <a:rPr lang="en-US" altLang="ko-KR" dirty="0"/>
              <a:t> </a:t>
            </a:r>
            <a:r>
              <a:rPr lang="en-US" altLang="ko-KR" dirty="0" err="1"/>
              <a:t>custName</a:t>
            </a:r>
            <a:r>
              <a:rPr lang="en-US" altLang="ko-KR" dirty="0"/>
              <a:t> varchar2(20),</a:t>
            </a:r>
          </a:p>
          <a:p>
            <a:r>
              <a:rPr lang="en-US" altLang="ko-KR" dirty="0"/>
              <a:t> balance number(10,2)</a:t>
            </a:r>
          </a:p>
          <a:p>
            <a:r>
              <a:rPr lang="en-US" altLang="ko-KR" dirty="0"/>
              <a:t>);</a:t>
            </a:r>
          </a:p>
          <a:p>
            <a:r>
              <a:rPr lang="en-US" altLang="ko-KR" dirty="0"/>
              <a:t>insert into </a:t>
            </a:r>
            <a:r>
              <a:rPr lang="en-US" altLang="ko-KR" dirty="0" err="1"/>
              <a:t>cust_account</a:t>
            </a:r>
            <a:r>
              <a:rPr lang="en-US" altLang="ko-KR" dirty="0"/>
              <a:t> values('112', '</a:t>
            </a:r>
            <a:r>
              <a:rPr lang="ko-KR" altLang="en-US" dirty="0"/>
              <a:t>홍길동</a:t>
            </a:r>
            <a:r>
              <a:rPr lang="en-US" altLang="ko-KR" dirty="0"/>
              <a:t>', 1000000);</a:t>
            </a:r>
          </a:p>
          <a:p>
            <a:r>
              <a:rPr lang="en-US" altLang="ko-KR" dirty="0"/>
              <a:t>insert into </a:t>
            </a:r>
            <a:r>
              <a:rPr lang="en-US" altLang="ko-KR" dirty="0" err="1"/>
              <a:t>cust_account</a:t>
            </a:r>
            <a:r>
              <a:rPr lang="en-US" altLang="ko-KR" dirty="0"/>
              <a:t> values('113', '</a:t>
            </a:r>
            <a:r>
              <a:rPr lang="ko-KR" altLang="en-US" dirty="0"/>
              <a:t>김유신</a:t>
            </a:r>
            <a:r>
              <a:rPr lang="en-US" altLang="ko-KR" dirty="0"/>
              <a:t>', 1000000);</a:t>
            </a:r>
          </a:p>
          <a:p>
            <a:r>
              <a:rPr lang="en-US" altLang="ko-KR" dirty="0"/>
              <a:t>commit;</a:t>
            </a:r>
          </a:p>
          <a:p>
            <a:r>
              <a:rPr lang="en-US" altLang="ko-KR" dirty="0"/>
              <a:t>select * from </a:t>
            </a:r>
            <a:r>
              <a:rPr lang="en-US" altLang="ko-KR" dirty="0" err="1"/>
              <a:t>cust_account</a:t>
            </a:r>
            <a:r>
              <a:rPr lang="en-US" altLang="ko-KR" dirty="0"/>
              <a:t>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6345579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857270" y="105748"/>
            <a:ext cx="45620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Transaction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52168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실습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dirty="0"/>
              <a:t>&lt;?xml version=</a:t>
            </a:r>
            <a:r>
              <a:rPr lang="en-US" altLang="ko-KR" i="1" dirty="0"/>
              <a:t>"1.0" encoding="UTF-8" ?&gt;</a:t>
            </a:r>
          </a:p>
          <a:p>
            <a:r>
              <a:rPr lang="en-US" altLang="ko-KR" dirty="0"/>
              <a:t>&lt;!DOCTYPE mapper</a:t>
            </a:r>
          </a:p>
          <a:p>
            <a:r>
              <a:rPr lang="en-US" altLang="ko-KR" dirty="0"/>
              <a:t>      PUBLIC "-//mybatis.org//DTD Mapper 3.0//EN"</a:t>
            </a:r>
          </a:p>
          <a:p>
            <a:r>
              <a:rPr lang="en-US" altLang="ko-KR" dirty="0"/>
              <a:t>   "http://mybatis.org/</a:t>
            </a:r>
            <a:r>
              <a:rPr lang="en-US" altLang="ko-KR" dirty="0" err="1"/>
              <a:t>dtd</a:t>
            </a:r>
            <a:r>
              <a:rPr lang="en-US" altLang="ko-KR" dirty="0"/>
              <a:t>/mybatis-3-mapper.dtd"&gt;</a:t>
            </a:r>
          </a:p>
          <a:p>
            <a:r>
              <a:rPr lang="en-US" altLang="ko-KR" dirty="0"/>
              <a:t>&lt;mapper namespace=</a:t>
            </a:r>
            <a:r>
              <a:rPr lang="en-US" altLang="ko-KR" i="1" dirty="0"/>
              <a:t>"</a:t>
            </a:r>
            <a:r>
              <a:rPr lang="en-US" altLang="ko-KR" i="1" dirty="0" err="1"/>
              <a:t>com.kosta.account</a:t>
            </a:r>
            <a:r>
              <a:rPr lang="en-US" altLang="ko-KR" i="1" dirty="0"/>
              <a:t>"&gt;</a:t>
            </a:r>
          </a:p>
          <a:p>
            <a:r>
              <a:rPr lang="en-US" altLang="ko-KR" dirty="0"/>
              <a:t>    &lt;update id=</a:t>
            </a:r>
            <a:r>
              <a:rPr lang="en-US" altLang="ko-KR" i="1" dirty="0"/>
              <a:t>"update1" &gt;</a:t>
            </a:r>
          </a:p>
          <a:p>
            <a:r>
              <a:rPr lang="en-US" altLang="ko-KR" dirty="0"/>
              <a:t>    update </a:t>
            </a:r>
            <a:r>
              <a:rPr lang="en-US" altLang="ko-KR" dirty="0" err="1"/>
              <a:t>cust_account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    set balance = balance + 1</a:t>
            </a:r>
          </a:p>
          <a:p>
            <a:r>
              <a:rPr lang="en-US" altLang="ko-KR" dirty="0"/>
              <a:t>    where </a:t>
            </a:r>
            <a:r>
              <a:rPr lang="en-US" altLang="ko-KR" dirty="0" err="1"/>
              <a:t>accountNo</a:t>
            </a:r>
            <a:r>
              <a:rPr lang="en-US" altLang="ko-KR" dirty="0"/>
              <a:t> = '112'</a:t>
            </a:r>
          </a:p>
          <a:p>
            <a:r>
              <a:rPr lang="en-US" altLang="ko-KR" dirty="0"/>
              <a:t>   &lt;/update&gt; </a:t>
            </a:r>
          </a:p>
          <a:p>
            <a:r>
              <a:rPr lang="ko-KR" altLang="en-US" dirty="0"/>
              <a:t>     </a:t>
            </a:r>
          </a:p>
          <a:p>
            <a:r>
              <a:rPr lang="en-US" altLang="ko-KR" dirty="0"/>
              <a:t>   &lt;update id=</a:t>
            </a:r>
            <a:r>
              <a:rPr lang="en-US" altLang="ko-KR" i="1" dirty="0"/>
              <a:t>"update2" &gt;</a:t>
            </a:r>
          </a:p>
          <a:p>
            <a:r>
              <a:rPr lang="en-US" altLang="ko-KR" dirty="0"/>
              <a:t>    update </a:t>
            </a:r>
            <a:r>
              <a:rPr lang="en-US" altLang="ko-KR" dirty="0" err="1"/>
              <a:t>cust_account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    set balance = balance - 1   </a:t>
            </a:r>
          </a:p>
          <a:p>
            <a:r>
              <a:rPr lang="en-US" altLang="ko-KR" dirty="0"/>
              <a:t>    where </a:t>
            </a:r>
            <a:r>
              <a:rPr lang="en-US" altLang="ko-KR" dirty="0" err="1"/>
              <a:t>accountNo</a:t>
            </a:r>
            <a:r>
              <a:rPr lang="en-US" altLang="ko-KR" dirty="0"/>
              <a:t> = '113;  &lt;!-- </a:t>
            </a:r>
            <a:r>
              <a:rPr lang="ko-KR" altLang="en-US" dirty="0"/>
              <a:t>오류문장으로 변경함</a:t>
            </a:r>
            <a:r>
              <a:rPr lang="en-US" altLang="ko-KR" dirty="0"/>
              <a:t>(transaction</a:t>
            </a:r>
            <a:r>
              <a:rPr lang="ko-KR" altLang="en-US" dirty="0"/>
              <a:t>연습</a:t>
            </a:r>
            <a:r>
              <a:rPr lang="en-US" altLang="ko-KR" dirty="0"/>
              <a:t>) --&gt;</a:t>
            </a:r>
            <a:r>
              <a:rPr lang="ko-KR" altLang="en-US" dirty="0"/>
              <a:t>  </a:t>
            </a:r>
          </a:p>
          <a:p>
            <a:r>
              <a:rPr lang="en-US" altLang="ko-KR" dirty="0"/>
              <a:t>   &lt;/update&gt; </a:t>
            </a:r>
          </a:p>
          <a:p>
            <a:r>
              <a:rPr lang="en-US" altLang="ko-KR" dirty="0"/>
              <a:t>&lt;/mapper&gt;</a:t>
            </a:r>
          </a:p>
        </p:txBody>
      </p:sp>
    </p:spTree>
    <p:extLst>
      <p:ext uri="{BB962C8B-B14F-4D97-AF65-F5344CB8AC3E}">
        <p14:creationId xmlns:p14="http://schemas.microsoft.com/office/powerpoint/2010/main" val="3132223518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857270" y="105748"/>
            <a:ext cx="45620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Transaction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실습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–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설정 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/>
              <a:t>&lt;dependency&gt;</a:t>
            </a:r>
          </a:p>
          <a:p>
            <a:pPr lvl="1"/>
            <a:r>
              <a:rPr lang="en-US" altLang="ko-KR" dirty="0"/>
              <a:t>&lt;</a:t>
            </a:r>
            <a:r>
              <a:rPr lang="en-US" altLang="ko-KR" dirty="0" err="1"/>
              <a:t>groupId</a:t>
            </a:r>
            <a:r>
              <a:rPr lang="en-US" altLang="ko-KR" dirty="0"/>
              <a:t>&gt;</a:t>
            </a:r>
            <a:r>
              <a:rPr lang="en-US" altLang="ko-KR" dirty="0" err="1"/>
              <a:t>org.springframework</a:t>
            </a:r>
            <a:r>
              <a:rPr lang="en-US" altLang="ko-KR" dirty="0"/>
              <a:t>&lt;/</a:t>
            </a:r>
            <a:r>
              <a:rPr lang="en-US" altLang="ko-KR" dirty="0" err="1"/>
              <a:t>groupId</a:t>
            </a:r>
            <a:r>
              <a:rPr lang="en-US" altLang="ko-KR" dirty="0"/>
              <a:t>&gt;</a:t>
            </a:r>
          </a:p>
          <a:p>
            <a:pPr lvl="1"/>
            <a:r>
              <a:rPr lang="en-US" altLang="ko-KR" dirty="0"/>
              <a:t>&lt;</a:t>
            </a:r>
            <a:r>
              <a:rPr lang="en-US" altLang="ko-KR" dirty="0" err="1"/>
              <a:t>artifactId</a:t>
            </a:r>
            <a:r>
              <a:rPr lang="en-US" altLang="ko-KR" dirty="0"/>
              <a:t>&gt;spring-</a:t>
            </a:r>
            <a:r>
              <a:rPr lang="en-US" altLang="ko-KR" dirty="0" err="1"/>
              <a:t>tx</a:t>
            </a:r>
            <a:r>
              <a:rPr lang="en-US" altLang="ko-KR" dirty="0"/>
              <a:t>&lt;/</a:t>
            </a:r>
            <a:r>
              <a:rPr lang="en-US" altLang="ko-KR" dirty="0" err="1"/>
              <a:t>artifactId</a:t>
            </a:r>
            <a:r>
              <a:rPr lang="en-US" altLang="ko-KR" dirty="0"/>
              <a:t>&gt;</a:t>
            </a:r>
          </a:p>
          <a:p>
            <a:pPr lvl="1"/>
            <a:r>
              <a:rPr lang="en-US" altLang="ko-KR" dirty="0"/>
              <a:t>&lt;version&gt;${</a:t>
            </a:r>
            <a:r>
              <a:rPr lang="en-US" altLang="ko-KR" dirty="0" err="1"/>
              <a:t>org.springframework</a:t>
            </a:r>
            <a:r>
              <a:rPr lang="en-US" altLang="ko-KR" dirty="0"/>
              <a:t>-version}&lt;/version&gt;</a:t>
            </a:r>
          </a:p>
          <a:p>
            <a:r>
              <a:rPr lang="en-US" altLang="ko-KR" dirty="0"/>
              <a:t>&lt;/dependency&gt;</a:t>
            </a:r>
          </a:p>
          <a:p>
            <a:endParaRPr lang="en-US" altLang="ko-KR" dirty="0"/>
          </a:p>
          <a:p>
            <a:r>
              <a:rPr lang="en-US" altLang="ko-KR" dirty="0"/>
              <a:t>&lt;!-- Transaction </a:t>
            </a:r>
            <a:r>
              <a:rPr lang="ko-KR" altLang="en-US" dirty="0"/>
              <a:t>설정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(servlet-context.xml)  </a:t>
            </a:r>
            <a:r>
              <a:rPr lang="en-US" altLang="ko-KR" dirty="0"/>
              <a:t>--&gt;</a:t>
            </a:r>
          </a:p>
          <a:p>
            <a:r>
              <a:rPr lang="en-US" altLang="ko-KR" dirty="0"/>
              <a:t>&lt;bean id=</a:t>
            </a:r>
            <a:r>
              <a:rPr lang="en-US" altLang="ko-KR" i="1" dirty="0"/>
              <a:t>"</a:t>
            </a:r>
            <a:r>
              <a:rPr lang="en-US" altLang="ko-KR" i="1" dirty="0" err="1"/>
              <a:t>transactionManager</a:t>
            </a:r>
            <a:r>
              <a:rPr lang="en-US" altLang="ko-KR" i="1" dirty="0"/>
              <a:t>"</a:t>
            </a:r>
          </a:p>
          <a:p>
            <a:r>
              <a:rPr lang="en-US" altLang="ko-KR" dirty="0"/>
              <a:t>class=</a:t>
            </a:r>
            <a:r>
              <a:rPr lang="en-US" altLang="ko-KR" i="1" dirty="0"/>
              <a:t>"org.springframework.jdbc.datasource.DataSourceTransactionManager"&gt;</a:t>
            </a:r>
          </a:p>
          <a:p>
            <a:r>
              <a:rPr lang="en-US" altLang="ko-KR" dirty="0"/>
              <a:t>&lt;property name=</a:t>
            </a:r>
            <a:r>
              <a:rPr lang="en-US" altLang="ko-KR" i="1" dirty="0"/>
              <a:t>"</a:t>
            </a:r>
            <a:r>
              <a:rPr lang="en-US" altLang="ko-KR" i="1" dirty="0" err="1"/>
              <a:t>dataSource</a:t>
            </a:r>
            <a:r>
              <a:rPr lang="en-US" altLang="ko-KR" i="1" dirty="0"/>
              <a:t>" ref="</a:t>
            </a:r>
            <a:r>
              <a:rPr lang="en-US" altLang="ko-KR" i="1" dirty="0" err="1"/>
              <a:t>dataSource</a:t>
            </a:r>
            <a:r>
              <a:rPr lang="en-US" altLang="ko-KR" i="1" dirty="0"/>
              <a:t>"&gt;&lt;/property&gt;</a:t>
            </a:r>
          </a:p>
          <a:p>
            <a:r>
              <a:rPr lang="en-US" altLang="ko-KR" dirty="0"/>
              <a:t>&lt;/bean&gt;</a:t>
            </a:r>
          </a:p>
          <a:p>
            <a:endParaRPr lang="en-US" altLang="ko-KR" dirty="0"/>
          </a:p>
          <a:p>
            <a:r>
              <a:rPr lang="en-US" altLang="ko-KR" dirty="0"/>
              <a:t>&lt;</a:t>
            </a:r>
            <a:r>
              <a:rPr lang="en-US" altLang="ko-KR" dirty="0" err="1"/>
              <a:t>tx:annotation-driven</a:t>
            </a:r>
            <a:r>
              <a:rPr lang="en-US" altLang="ko-KR" dirty="0"/>
              <a:t> transaction-manager=</a:t>
            </a:r>
            <a:r>
              <a:rPr lang="en-US" altLang="ko-KR" i="1" dirty="0"/>
              <a:t>"</a:t>
            </a:r>
            <a:r>
              <a:rPr lang="en-US" altLang="ko-KR" i="1" dirty="0" err="1"/>
              <a:t>transactionManager</a:t>
            </a:r>
            <a:r>
              <a:rPr lang="en-US" altLang="ko-KR" i="1" dirty="0"/>
              <a:t>" /&gt;</a:t>
            </a:r>
          </a:p>
          <a:p>
            <a:endParaRPr lang="en-US" altLang="ko-KR" i="1" dirty="0">
              <a:ea typeface="나눔스퀘어" panose="020B0600000101010101" pitchFamily="50" charset="-127"/>
            </a:endParaRPr>
          </a:p>
          <a:p>
            <a:endParaRPr lang="en-US" altLang="ko-KR" i="1" dirty="0">
              <a:ea typeface="나눔스퀘어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5891FD-F560-EFBD-EA1F-35F7CC437F99}"/>
              </a:ext>
            </a:extLst>
          </p:cNvPr>
          <p:cNvSpPr txBox="1"/>
          <p:nvPr/>
        </p:nvSpPr>
        <p:spPr>
          <a:xfrm>
            <a:off x="7613964" y="1170422"/>
            <a:ext cx="381603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&lt;!-- AspectJ --&gt;</a:t>
            </a:r>
          </a:p>
          <a:p>
            <a:r>
              <a:rPr lang="en-US" altLang="ko-KR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&lt;dependency&gt;</a:t>
            </a:r>
          </a:p>
          <a:p>
            <a:r>
              <a:rPr lang="en-US" altLang="ko-KR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altLang="ko-KR" sz="7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groupId</a:t>
            </a:r>
            <a:r>
              <a:rPr lang="en-US" altLang="ko-KR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en-US" altLang="ko-KR" sz="7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org.aspectj</a:t>
            </a:r>
            <a:r>
              <a:rPr lang="en-US" altLang="ko-KR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</a:t>
            </a:r>
            <a:r>
              <a:rPr lang="en-US" altLang="ko-KR" sz="7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groupId</a:t>
            </a:r>
            <a:r>
              <a:rPr lang="en-US" altLang="ko-KR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altLang="ko-KR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altLang="ko-KR" sz="7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artifactId</a:t>
            </a:r>
            <a:r>
              <a:rPr lang="en-US" altLang="ko-KR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en-US" altLang="ko-KR" sz="7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aspectjrt</a:t>
            </a:r>
            <a:r>
              <a:rPr lang="en-US" altLang="ko-KR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</a:t>
            </a:r>
            <a:r>
              <a:rPr lang="en-US" altLang="ko-KR" sz="7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artifactId</a:t>
            </a:r>
            <a:r>
              <a:rPr lang="en-US" altLang="ko-KR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altLang="ko-KR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&lt;version&gt;${</a:t>
            </a:r>
            <a:r>
              <a:rPr lang="en-US" altLang="ko-KR" sz="7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org.aspectj</a:t>
            </a:r>
            <a:r>
              <a:rPr lang="en-US" altLang="ko-KR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-version}&lt;/version&gt;</a:t>
            </a:r>
          </a:p>
          <a:p>
            <a:r>
              <a:rPr lang="en-US" altLang="ko-KR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&lt;/dependency&gt;</a:t>
            </a:r>
          </a:p>
          <a:p>
            <a:endParaRPr lang="ko-KR" altLang="en-US" sz="7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&lt;dependency&gt;</a:t>
            </a:r>
          </a:p>
          <a:p>
            <a:r>
              <a:rPr lang="en-US" altLang="ko-KR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altLang="ko-KR" sz="7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groupId</a:t>
            </a:r>
            <a:r>
              <a:rPr lang="en-US" altLang="ko-KR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en-US" altLang="ko-KR" sz="7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org.aspectj</a:t>
            </a:r>
            <a:r>
              <a:rPr lang="en-US" altLang="ko-KR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</a:t>
            </a:r>
            <a:r>
              <a:rPr lang="en-US" altLang="ko-KR" sz="7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groupId</a:t>
            </a:r>
            <a:r>
              <a:rPr lang="en-US" altLang="ko-KR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altLang="ko-KR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altLang="ko-KR" sz="7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artifactId</a:t>
            </a:r>
            <a:r>
              <a:rPr lang="en-US" altLang="ko-KR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en-US" altLang="ko-KR" sz="7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aspectjweaver</a:t>
            </a:r>
            <a:r>
              <a:rPr lang="en-US" altLang="ko-KR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</a:t>
            </a:r>
            <a:r>
              <a:rPr lang="en-US" altLang="ko-KR" sz="7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artifactId</a:t>
            </a:r>
            <a:r>
              <a:rPr lang="en-US" altLang="ko-KR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&gt;&lt;!-- Runtime </a:t>
            </a:r>
            <a:r>
              <a:rPr lang="ko-KR" altLang="en-US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시 </a:t>
            </a:r>
            <a:r>
              <a:rPr lang="en-US" altLang="ko-KR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weaving</a:t>
            </a:r>
            <a:r>
              <a:rPr lang="ko-KR" altLang="en-US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되면서 메서드 시간을 </a:t>
            </a:r>
          </a:p>
          <a:p>
            <a:r>
              <a:rPr lang="en-US" altLang="ko-KR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trace</a:t>
            </a:r>
            <a:r>
              <a:rPr lang="ko-KR" altLang="en-US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해준다</a:t>
            </a:r>
            <a:r>
              <a:rPr lang="en-US" altLang="ko-KR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--&gt;</a:t>
            </a:r>
          </a:p>
          <a:p>
            <a:r>
              <a:rPr lang="en-US" altLang="ko-KR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&lt;version&gt;${</a:t>
            </a:r>
            <a:r>
              <a:rPr lang="en-US" altLang="ko-KR" sz="7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org.aspectj</a:t>
            </a:r>
            <a:r>
              <a:rPr lang="en-US" altLang="ko-KR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-version}&lt;/version&gt;</a:t>
            </a:r>
          </a:p>
          <a:p>
            <a:r>
              <a:rPr lang="en-US" altLang="ko-KR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&lt;/dependency&gt;</a:t>
            </a:r>
          </a:p>
          <a:p>
            <a:endParaRPr lang="ko-KR" altLang="en-US" sz="7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&lt;dependency&gt;</a:t>
            </a:r>
          </a:p>
          <a:p>
            <a:r>
              <a:rPr lang="en-US" altLang="ko-KR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altLang="ko-KR" sz="7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groupId</a:t>
            </a:r>
            <a:r>
              <a:rPr lang="en-US" altLang="ko-KR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en-US" altLang="ko-KR" sz="7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org.aspectj</a:t>
            </a:r>
            <a:r>
              <a:rPr lang="en-US" altLang="ko-KR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</a:t>
            </a:r>
            <a:r>
              <a:rPr lang="en-US" altLang="ko-KR" sz="7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groupId</a:t>
            </a:r>
            <a:r>
              <a:rPr lang="en-US" altLang="ko-KR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altLang="ko-KR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altLang="ko-KR" sz="7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artifactId</a:t>
            </a:r>
            <a:r>
              <a:rPr lang="en-US" altLang="ko-KR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en-US" altLang="ko-KR" sz="7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aspectjtools</a:t>
            </a:r>
            <a:r>
              <a:rPr lang="en-US" altLang="ko-KR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</a:t>
            </a:r>
            <a:r>
              <a:rPr lang="en-US" altLang="ko-KR" sz="7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artifactId</a:t>
            </a:r>
            <a:r>
              <a:rPr lang="en-US" altLang="ko-KR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&gt;&lt;!-- </a:t>
            </a:r>
            <a:r>
              <a:rPr lang="en-US" altLang="ko-KR" sz="700" u="sng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Aspectj</a:t>
            </a:r>
            <a:r>
              <a:rPr lang="en-US" altLang="ko-KR" sz="7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7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컴파일 </a:t>
            </a:r>
            <a:r>
              <a:rPr lang="en-US" altLang="ko-KR" sz="7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--&gt;</a:t>
            </a:r>
          </a:p>
          <a:p>
            <a:r>
              <a:rPr lang="en-US" altLang="ko-KR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&lt;version&gt;${</a:t>
            </a:r>
            <a:r>
              <a:rPr lang="en-US" altLang="ko-KR" sz="7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org.aspectj</a:t>
            </a:r>
            <a:r>
              <a:rPr lang="en-US" altLang="ko-KR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-version}&lt;/version&gt;</a:t>
            </a:r>
          </a:p>
          <a:p>
            <a:r>
              <a:rPr lang="en-US" altLang="ko-KR" sz="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&lt;/dependency&gt;</a:t>
            </a:r>
            <a:endParaRPr lang="ko-KR" altLang="en-US" sz="700" dirty="0"/>
          </a:p>
          <a:p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791823745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857270" y="105748"/>
            <a:ext cx="45620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Transaction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43858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실습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설정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b="1" dirty="0"/>
              <a:t>transaction</a:t>
            </a:r>
            <a:r>
              <a:rPr lang="ko-KR" altLang="en-US" b="1" dirty="0"/>
              <a:t>적용범위 지정 </a:t>
            </a:r>
            <a:r>
              <a:rPr lang="en-US" altLang="ko-KR" b="1" dirty="0"/>
              <a:t>(advice)</a:t>
            </a:r>
          </a:p>
          <a:p>
            <a:pPr lvl="1"/>
            <a:r>
              <a:rPr lang="en-US" altLang="ko-KR" dirty="0"/>
              <a:t>&lt;</a:t>
            </a:r>
            <a:r>
              <a:rPr lang="en-US" altLang="ko-KR" dirty="0" err="1"/>
              <a:t>tx:advice</a:t>
            </a:r>
            <a:r>
              <a:rPr lang="en-US" altLang="ko-KR" dirty="0"/>
              <a:t> id="</a:t>
            </a:r>
            <a:r>
              <a:rPr lang="en-US" altLang="ko-KR" dirty="0" err="1"/>
              <a:t>txAdvice</a:t>
            </a:r>
            <a:r>
              <a:rPr lang="en-US" altLang="ko-KR" dirty="0"/>
              <a:t>"  transaction-manager="</a:t>
            </a:r>
            <a:r>
              <a:rPr lang="en-US" altLang="ko-KR" dirty="0" err="1"/>
              <a:t>transactionManager</a:t>
            </a:r>
            <a:r>
              <a:rPr lang="en-US" altLang="ko-KR" dirty="0"/>
              <a:t>"&gt;</a:t>
            </a:r>
          </a:p>
          <a:p>
            <a:pPr lvl="2"/>
            <a:r>
              <a:rPr lang="en-US" altLang="ko-KR" dirty="0"/>
              <a:t>&lt;</a:t>
            </a:r>
            <a:r>
              <a:rPr lang="en-US" altLang="ko-KR" dirty="0" err="1"/>
              <a:t>tx:attributes</a:t>
            </a:r>
            <a:r>
              <a:rPr lang="en-US" altLang="ko-KR" dirty="0"/>
              <a:t>&gt;</a:t>
            </a:r>
          </a:p>
          <a:p>
            <a:pPr lvl="2"/>
            <a:r>
              <a:rPr lang="en-US" altLang="ko-KR" dirty="0"/>
              <a:t>	&lt;</a:t>
            </a:r>
            <a:r>
              <a:rPr lang="en-US" altLang="ko-KR" dirty="0" err="1"/>
              <a:t>tx:method</a:t>
            </a:r>
            <a:r>
              <a:rPr lang="en-US" altLang="ko-KR" dirty="0"/>
              <a:t> name="*" /&gt; &lt;!--</a:t>
            </a:r>
            <a:r>
              <a:rPr lang="ko-KR" altLang="en-US" sz="1400" dirty="0" err="1"/>
              <a:t>메서드별로</a:t>
            </a:r>
            <a:r>
              <a:rPr lang="ko-KR" altLang="en-US" sz="1400" dirty="0"/>
              <a:t> 제약조건 별도설정 가능 </a:t>
            </a:r>
            <a:r>
              <a:rPr lang="en-US" altLang="ko-KR" sz="1400" dirty="0"/>
              <a:t>--&gt;</a:t>
            </a:r>
          </a:p>
          <a:p>
            <a:pPr lvl="2"/>
            <a:r>
              <a:rPr lang="en-US" altLang="ko-KR" dirty="0"/>
              <a:t>&lt;/</a:t>
            </a:r>
            <a:r>
              <a:rPr lang="en-US" altLang="ko-KR" dirty="0" err="1"/>
              <a:t>tx:attributes</a:t>
            </a:r>
            <a:r>
              <a:rPr lang="en-US" altLang="ko-KR" dirty="0"/>
              <a:t>&gt;</a:t>
            </a:r>
          </a:p>
          <a:p>
            <a:pPr lvl="1"/>
            <a:r>
              <a:rPr lang="en-US" altLang="ko-KR" dirty="0"/>
              <a:t>&lt;/</a:t>
            </a:r>
            <a:r>
              <a:rPr lang="en-US" altLang="ko-KR" dirty="0" err="1"/>
              <a:t>tx:advice</a:t>
            </a:r>
            <a:r>
              <a:rPr lang="en-US" altLang="ko-KR" dirty="0"/>
              <a:t>&gt;</a:t>
            </a:r>
          </a:p>
          <a:p>
            <a:endParaRPr lang="en-US" altLang="ko-KR" dirty="0"/>
          </a:p>
          <a:p>
            <a:endParaRPr lang="en-US" altLang="ko-KR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b="1" dirty="0"/>
              <a:t>transaction pointcut</a:t>
            </a:r>
            <a:r>
              <a:rPr lang="ko-KR" altLang="en-US" b="1" dirty="0"/>
              <a:t>지정</a:t>
            </a:r>
          </a:p>
          <a:p>
            <a:pPr lvl="1"/>
            <a:r>
              <a:rPr lang="en-US" altLang="ko-KR" dirty="0"/>
              <a:t>&lt;</a:t>
            </a:r>
            <a:r>
              <a:rPr lang="en-US" altLang="ko-KR" dirty="0" err="1"/>
              <a:t>aop:config</a:t>
            </a:r>
            <a:r>
              <a:rPr lang="en-US" altLang="ko-KR" dirty="0"/>
              <a:t>&gt;</a:t>
            </a:r>
          </a:p>
          <a:p>
            <a:pPr lvl="1"/>
            <a:r>
              <a:rPr lang="en-US" altLang="ko-KR" dirty="0"/>
              <a:t>     &lt;</a:t>
            </a:r>
            <a:r>
              <a:rPr lang="en-US" altLang="ko-KR" dirty="0" err="1"/>
              <a:t>aop:advisor</a:t>
            </a:r>
            <a:r>
              <a:rPr lang="en-US" altLang="ko-KR" dirty="0"/>
              <a:t> advice-ref="</a:t>
            </a:r>
            <a:r>
              <a:rPr lang="en-US" altLang="ko-KR" dirty="0" err="1"/>
              <a:t>txAdvice</a:t>
            </a:r>
            <a:r>
              <a:rPr lang="en-US" altLang="ko-KR" dirty="0"/>
              <a:t>" pointcut="execution(* aa(..))" /&gt;</a:t>
            </a:r>
          </a:p>
          <a:p>
            <a:pPr lvl="1"/>
            <a:r>
              <a:rPr lang="en-US" altLang="ko-KR" dirty="0"/>
              <a:t>&lt;/</a:t>
            </a:r>
            <a:r>
              <a:rPr lang="en-US" altLang="ko-KR" dirty="0" err="1"/>
              <a:t>aop:config</a:t>
            </a:r>
            <a:r>
              <a:rPr lang="en-US" altLang="ko-KR" dirty="0"/>
              <a:t>&gt;</a:t>
            </a:r>
            <a:endParaRPr lang="en-US" altLang="ko-KR" i="1" dirty="0">
              <a:ea typeface="나눔스퀘어" panose="020B0600000101010101" pitchFamily="50" charset="-127"/>
            </a:endParaRPr>
          </a:p>
          <a:p>
            <a:endParaRPr lang="en-US" altLang="ko-KR" i="1" dirty="0">
              <a:ea typeface="나눔스퀘어" panose="020B0600000101010101" pitchFamily="50" charset="-127"/>
            </a:endParaRPr>
          </a:p>
          <a:p>
            <a:endParaRPr lang="en-US" altLang="ko-KR" i="1" dirty="0"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9025580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857270" y="105748"/>
            <a:ext cx="45620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Transaction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38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1400" dirty="0">
              <a:ea typeface="나눔스퀘어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AC5E0A5-AA99-E877-E17A-B99556B51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0" y="1064739"/>
            <a:ext cx="7889380" cy="212441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519A7AC-9816-8009-F3F2-3DB303F1F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0" y="3246563"/>
            <a:ext cx="7889381" cy="3337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140710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857270" y="105748"/>
            <a:ext cx="45620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Transaction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5247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실습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– java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소스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400" dirty="0"/>
              <a:t>@Repository</a:t>
            </a:r>
          </a:p>
          <a:p>
            <a:r>
              <a:rPr lang="en-US" altLang="ko-KR" sz="1400" dirty="0"/>
              <a:t>public class </a:t>
            </a:r>
            <a:r>
              <a:rPr lang="en-US" altLang="ko-KR" sz="1400" dirty="0" err="1"/>
              <a:t>AccountDAOMybatis</a:t>
            </a:r>
            <a:r>
              <a:rPr lang="en-US" altLang="ko-KR" sz="1400" dirty="0"/>
              <a:t>  {</a:t>
            </a:r>
          </a:p>
          <a:p>
            <a:pPr lvl="1"/>
            <a:r>
              <a:rPr lang="en-US" altLang="ko-KR" sz="1400" dirty="0"/>
              <a:t>@Autowired</a:t>
            </a:r>
          </a:p>
          <a:p>
            <a:pPr lvl="1"/>
            <a:r>
              <a:rPr lang="en-US" altLang="ko-KR" sz="1400" dirty="0" err="1"/>
              <a:t>SqlSession</a:t>
            </a:r>
            <a:r>
              <a:rPr lang="en-US" altLang="ko-KR" sz="1400" dirty="0"/>
              <a:t> </a:t>
            </a:r>
            <a:r>
              <a:rPr lang="en-US" altLang="ko-KR" sz="1400" dirty="0" err="1"/>
              <a:t>sqlSession</a:t>
            </a:r>
            <a:r>
              <a:rPr lang="en-US" altLang="ko-KR" sz="1400" dirty="0"/>
              <a:t>;</a:t>
            </a:r>
          </a:p>
          <a:p>
            <a:pPr lvl="1"/>
            <a:r>
              <a:rPr lang="en-US" altLang="ko-KR" sz="1400" dirty="0"/>
              <a:t>String namespace="</a:t>
            </a:r>
            <a:r>
              <a:rPr lang="en-US" altLang="ko-KR" sz="1400" dirty="0" err="1"/>
              <a:t>com.kosta.account</a:t>
            </a:r>
            <a:r>
              <a:rPr lang="en-US" altLang="ko-KR" sz="1400" dirty="0"/>
              <a:t>";</a:t>
            </a:r>
          </a:p>
          <a:p>
            <a:pPr lvl="1"/>
            <a:r>
              <a:rPr lang="en-US" altLang="ko-KR" sz="1400" dirty="0"/>
              <a:t>public void update1()throws </a:t>
            </a:r>
            <a:r>
              <a:rPr lang="en-US" altLang="ko-KR" sz="1400" dirty="0" err="1"/>
              <a:t>DataAccessException</a:t>
            </a:r>
            <a:r>
              <a:rPr lang="en-US" altLang="ko-KR" sz="1400" dirty="0"/>
              <a:t> {</a:t>
            </a:r>
          </a:p>
          <a:p>
            <a:pPr lvl="1"/>
            <a:r>
              <a:rPr lang="en-US" altLang="ko-KR" sz="1400" dirty="0"/>
              <a:t>	</a:t>
            </a:r>
            <a:r>
              <a:rPr lang="en-US" altLang="ko-KR" sz="1400" dirty="0" err="1"/>
              <a:t>sqlSession.update</a:t>
            </a:r>
            <a:r>
              <a:rPr lang="en-US" altLang="ko-KR" sz="1400" dirty="0"/>
              <a:t>(namespace+".update1");</a:t>
            </a:r>
          </a:p>
          <a:p>
            <a:pPr lvl="1"/>
            <a:r>
              <a:rPr lang="en-US" altLang="ko-KR" sz="1400" dirty="0"/>
              <a:t>}</a:t>
            </a:r>
          </a:p>
          <a:p>
            <a:pPr lvl="1"/>
            <a:r>
              <a:rPr lang="en-US" altLang="ko-KR" sz="1400" dirty="0"/>
              <a:t>public void update2() throws </a:t>
            </a:r>
            <a:r>
              <a:rPr lang="en-US" altLang="ko-KR" sz="1400" dirty="0" err="1"/>
              <a:t>DataAccessException</a:t>
            </a:r>
            <a:r>
              <a:rPr lang="en-US" altLang="ko-KR" sz="1400" dirty="0"/>
              <a:t> { </a:t>
            </a:r>
          </a:p>
          <a:p>
            <a:pPr lvl="1"/>
            <a:r>
              <a:rPr lang="en-US" altLang="ko-KR" sz="1400" dirty="0"/>
              <a:t>	</a:t>
            </a:r>
            <a:r>
              <a:rPr lang="en-US" altLang="ko-KR" sz="1400" dirty="0" err="1"/>
              <a:t>sqlSession.update</a:t>
            </a:r>
            <a:r>
              <a:rPr lang="en-US" altLang="ko-KR" sz="1400" dirty="0"/>
              <a:t>(namespace+".update2");</a:t>
            </a:r>
          </a:p>
          <a:p>
            <a:pPr lvl="1"/>
            <a:r>
              <a:rPr lang="en-US" altLang="ko-KR" sz="1400" dirty="0"/>
              <a:t>}</a:t>
            </a:r>
          </a:p>
          <a:p>
            <a:r>
              <a:rPr lang="en-US" altLang="ko-KR" sz="1400" dirty="0"/>
              <a:t>}</a:t>
            </a:r>
            <a:endParaRPr lang="en-US" altLang="ko-KR" sz="1400" dirty="0">
              <a:ea typeface="나눔스퀘어" panose="020B0600000101010101" pitchFamily="50" charset="-127"/>
            </a:endParaRPr>
          </a:p>
          <a:p>
            <a:r>
              <a:rPr lang="en-US" altLang="ko-KR" sz="1400" dirty="0"/>
              <a:t>@Service</a:t>
            </a:r>
          </a:p>
          <a:p>
            <a:r>
              <a:rPr lang="en-US" altLang="ko-KR" sz="1400" b="1" dirty="0">
                <a:solidFill>
                  <a:srgbClr val="FF0000"/>
                </a:solidFill>
              </a:rPr>
              <a:t>@Transactional(propagation = </a:t>
            </a:r>
            <a:r>
              <a:rPr lang="en-US" altLang="ko-KR" sz="1400" b="1" dirty="0" err="1">
                <a:solidFill>
                  <a:srgbClr val="FF0000"/>
                </a:solidFill>
              </a:rPr>
              <a:t>Propagation.</a:t>
            </a:r>
            <a:r>
              <a:rPr lang="en-US" altLang="ko-KR" sz="1400" b="1" i="1" dirty="0" err="1">
                <a:solidFill>
                  <a:srgbClr val="FF0000"/>
                </a:solidFill>
              </a:rPr>
              <a:t>REQUIRED</a:t>
            </a:r>
            <a:r>
              <a:rPr lang="en-US" altLang="ko-KR" sz="1400" b="1" i="1" dirty="0">
                <a:solidFill>
                  <a:srgbClr val="FF0000"/>
                </a:solidFill>
              </a:rPr>
              <a:t>)   //</a:t>
            </a:r>
            <a:r>
              <a:rPr lang="en-US" altLang="ko-KR" sz="1400" b="1" i="1" dirty="0" err="1">
                <a:solidFill>
                  <a:srgbClr val="FF0000"/>
                </a:solidFill>
              </a:rPr>
              <a:t>tracsaction</a:t>
            </a:r>
            <a:r>
              <a:rPr lang="ko-KR" altLang="en-US" sz="1400" b="1" i="1" dirty="0">
                <a:solidFill>
                  <a:srgbClr val="FF0000"/>
                </a:solidFill>
              </a:rPr>
              <a:t> 전파규칙 설정 </a:t>
            </a:r>
            <a:r>
              <a:rPr lang="en-US" altLang="ko-KR" sz="1400" b="1" i="1" dirty="0">
                <a:solidFill>
                  <a:srgbClr val="FF0000"/>
                </a:solidFill>
              </a:rPr>
              <a:t> </a:t>
            </a:r>
            <a:r>
              <a:rPr lang="en-US" altLang="ko-KR" sz="1400" b="1" i="1" dirty="0"/>
              <a:t>  </a:t>
            </a:r>
          </a:p>
          <a:p>
            <a:r>
              <a:rPr lang="en-US" altLang="ko-KR" sz="1400" dirty="0"/>
              <a:t>public class </a:t>
            </a:r>
            <a:r>
              <a:rPr lang="en-US" altLang="ko-KR" sz="1400" dirty="0" err="1"/>
              <a:t>AccountServiceImpl</a:t>
            </a:r>
            <a:r>
              <a:rPr lang="en-US" altLang="ko-KR" sz="1400" dirty="0"/>
              <a:t> {</a:t>
            </a:r>
          </a:p>
          <a:p>
            <a:pPr lvl="1"/>
            <a:r>
              <a:rPr lang="en-US" altLang="ko-KR" sz="1400" dirty="0"/>
              <a:t>@Autowired</a:t>
            </a:r>
          </a:p>
          <a:p>
            <a:pPr lvl="1"/>
            <a:r>
              <a:rPr lang="en-US" altLang="ko-KR" sz="1400" dirty="0" err="1"/>
              <a:t>AccountDAOMybatis</a:t>
            </a:r>
            <a:r>
              <a:rPr lang="en-US" altLang="ko-KR" sz="1400" dirty="0"/>
              <a:t> </a:t>
            </a:r>
            <a:r>
              <a:rPr lang="en-US" altLang="ko-KR" sz="1400" dirty="0" err="1"/>
              <a:t>dao</a:t>
            </a:r>
            <a:r>
              <a:rPr lang="en-US" altLang="ko-KR" sz="1400" dirty="0"/>
              <a:t>;</a:t>
            </a:r>
          </a:p>
          <a:p>
            <a:pPr lvl="1"/>
            <a:r>
              <a:rPr lang="en-US" altLang="ko-KR" sz="1400" dirty="0"/>
              <a:t>public void update() throws </a:t>
            </a:r>
            <a:r>
              <a:rPr lang="en-US" altLang="ko-KR" sz="1400" dirty="0" err="1"/>
              <a:t>DataAccessException</a:t>
            </a:r>
            <a:r>
              <a:rPr lang="en-US" altLang="ko-KR" sz="1400" dirty="0"/>
              <a:t> {</a:t>
            </a:r>
          </a:p>
          <a:p>
            <a:pPr lvl="2"/>
            <a:r>
              <a:rPr lang="en-US" altLang="ko-KR" sz="1400" dirty="0"/>
              <a:t>dao.update1();</a:t>
            </a:r>
          </a:p>
          <a:p>
            <a:pPr lvl="2"/>
            <a:r>
              <a:rPr lang="en-US" altLang="ko-KR" sz="1400" dirty="0"/>
              <a:t>dao.update2();</a:t>
            </a:r>
            <a:r>
              <a:rPr lang="ko-KR" altLang="en-US" sz="1400" dirty="0"/>
              <a:t> </a:t>
            </a:r>
          </a:p>
          <a:p>
            <a:pPr lvl="1"/>
            <a:r>
              <a:rPr lang="en-US" altLang="ko-KR" sz="1400" dirty="0"/>
              <a:t>}</a:t>
            </a:r>
          </a:p>
          <a:p>
            <a:r>
              <a:rPr lang="en-US" altLang="ko-KR" sz="1400" dirty="0"/>
              <a:t>}</a:t>
            </a:r>
            <a:endParaRPr lang="en-US" altLang="ko-KR" sz="1400" dirty="0"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5667497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FF01E098-FBDB-420F-88A9-27027F4759A5}"/>
              </a:ext>
            </a:extLst>
          </p:cNvPr>
          <p:cNvGrpSpPr/>
          <p:nvPr/>
        </p:nvGrpSpPr>
        <p:grpSpPr>
          <a:xfrm>
            <a:off x="3726874" y="2815838"/>
            <a:ext cx="7315199" cy="1226323"/>
            <a:chOff x="4793673" y="1246908"/>
            <a:chExt cx="6442363" cy="1080000"/>
          </a:xfrm>
        </p:grpSpPr>
        <p:sp>
          <p:nvSpPr>
            <p:cNvPr id="14" name="육각형 13">
              <a:extLst>
                <a:ext uri="{FF2B5EF4-FFF2-40B4-BE49-F238E27FC236}">
                  <a16:creationId xmlns:a16="http://schemas.microsoft.com/office/drawing/2014/main" id="{7ADDF6C6-9FD3-40F2-ADC2-37A43AADF7ED}"/>
                </a:ext>
              </a:extLst>
            </p:cNvPr>
            <p:cNvSpPr/>
            <p:nvPr/>
          </p:nvSpPr>
          <p:spPr>
            <a:xfrm>
              <a:off x="4793673" y="1246908"/>
              <a:ext cx="6442363" cy="1080000"/>
            </a:xfrm>
            <a:prstGeom prst="hexagon">
              <a:avLst>
                <a:gd name="adj" fmla="val 42671"/>
                <a:gd name="vf" fmla="val 11547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화살표: 오각형 14">
              <a:extLst>
                <a:ext uri="{FF2B5EF4-FFF2-40B4-BE49-F238E27FC236}">
                  <a16:creationId xmlns:a16="http://schemas.microsoft.com/office/drawing/2014/main" id="{81F229D3-E3EA-4A23-AA82-5E2AF3A625A9}"/>
                </a:ext>
              </a:extLst>
            </p:cNvPr>
            <p:cNvSpPr/>
            <p:nvPr/>
          </p:nvSpPr>
          <p:spPr>
            <a:xfrm>
              <a:off x="5632954" y="1371410"/>
              <a:ext cx="5339846" cy="830996"/>
            </a:xfrm>
            <a:prstGeom prst="homePlat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D920D6B8-E4ED-4528-A983-BD701AD4E691}"/>
                </a:ext>
              </a:extLst>
            </p:cNvPr>
            <p:cNvSpPr/>
            <p:nvPr/>
          </p:nvSpPr>
          <p:spPr>
            <a:xfrm>
              <a:off x="5196182" y="1364345"/>
              <a:ext cx="845127" cy="845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51810F50-4F4F-4ABD-840E-E581E3B8C415}"/>
                </a:ext>
              </a:extLst>
            </p:cNvPr>
            <p:cNvGrpSpPr/>
            <p:nvPr/>
          </p:nvGrpSpPr>
          <p:grpSpPr>
            <a:xfrm>
              <a:off x="5537400" y="1369809"/>
              <a:ext cx="4159582" cy="813160"/>
              <a:chOff x="5516922" y="1640913"/>
              <a:chExt cx="2999292" cy="586335"/>
            </a:xfrm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EB1F94F4-27C9-4570-8682-1A33FA68D416}"/>
                  </a:ext>
                </a:extLst>
              </p:cNvPr>
              <p:cNvSpPr/>
              <p:nvPr/>
            </p:nvSpPr>
            <p:spPr>
              <a:xfrm>
                <a:off x="6030979" y="1689774"/>
                <a:ext cx="2485235" cy="488612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defTabSz="1076865" eaLnBrk="0" latinLnBrk="0" hangingPunct="0">
                  <a:spcAft>
                    <a:spcPts val="486"/>
                  </a:spcAft>
                  <a:buSzPct val="100000"/>
                  <a:defRPr/>
                </a:pPr>
                <a:r>
                  <a:rPr lang="en-US" altLang="ko-KR" sz="4400">
                    <a:gradFill>
                      <a:gsLst>
                        <a:gs pos="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6200000" scaled="1"/>
                    </a:gradFill>
                    <a:latin typeface="HY견고딕" pitchFamily="18" charset="-127"/>
                    <a:ea typeface="HY견고딕" pitchFamily="18" charset="-127"/>
                  </a:rPr>
                  <a:t>Restful API</a:t>
                </a:r>
                <a:endParaRPr lang="ko-KR" altLang="en-US" sz="4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16200000" scaled="1"/>
                  </a:gradFill>
                  <a:latin typeface="HY견고딕" pitchFamily="18" charset="-127"/>
                  <a:ea typeface="HY견고딕" pitchFamily="18" charset="-127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4541CD06-C435-48C0-AA4F-7B628FBAD386}"/>
                  </a:ext>
                </a:extLst>
              </p:cNvPr>
              <p:cNvSpPr/>
              <p:nvPr/>
            </p:nvSpPr>
            <p:spPr>
              <a:xfrm>
                <a:off x="5516922" y="1640913"/>
                <a:ext cx="117307" cy="586335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5400" b="1" i="0" u="none" strike="noStrike" kern="0" normalizeH="0" baseline="0" noProof="0" dirty="0">
                  <a:ln w="2857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uLnTx/>
                  <a:uFillTx/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14343124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768379" y="105748"/>
            <a:ext cx="27398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Restful API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326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Rest (Representational State Transfer)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HTTP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와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URI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기반으로 자원에 접근할 수 있도록 제공하는 어플리케이션 개발 인터페이스다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HTTP URI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통해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resource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표현한다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자원에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대한 행위는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HTTP Method(GET, POST, PUT, DELETE)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통해 표현한다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해당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resource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 대한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CRUD operation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을 적용하는 것이다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/>
              <a:t>REST API</a:t>
            </a:r>
            <a:r>
              <a:rPr lang="ko-KR" altLang="en-US" sz="2000" b="1" dirty="0"/>
              <a:t>의 설계 규칙을 올바르게 지킨 시스템을 </a:t>
            </a:r>
            <a:r>
              <a:rPr lang="en-US" altLang="ko-KR" sz="2000" b="1" dirty="0"/>
              <a:t>“RESTful</a:t>
            </a:r>
            <a:r>
              <a:rPr lang="ko-KR" altLang="en-US" sz="2000" b="1" dirty="0"/>
              <a:t>하다</a:t>
            </a:r>
            <a:r>
              <a:rPr lang="en-US" altLang="ko-KR" sz="2000" b="1" dirty="0"/>
              <a:t>”</a:t>
            </a:r>
            <a:r>
              <a:rPr lang="ko-KR" altLang="en-US" sz="2000" b="1" dirty="0"/>
              <a:t>라고 한다</a:t>
            </a:r>
            <a:r>
              <a:rPr lang="en-US" altLang="ko-KR" sz="2000" b="1" dirty="0"/>
              <a:t>. 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551882260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768379" y="105748"/>
            <a:ext cx="27398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Restful API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Rest Http Method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표현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14388" lvl="1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Rest API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세부규칙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271588" lvl="2" indent="-35718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슬래시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(/)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는 계층관계를 나타낸다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1271588" lvl="2" indent="-35718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URI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마지막에 슬래시를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포함하지않는다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1271588" lvl="2" indent="-35718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경로는 소문자를 사용한다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1271588" lvl="2" indent="-35718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경로는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언더바를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사용하지 않고 하이픈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(-)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을 사용한다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367958"/>
              </p:ext>
            </p:extLst>
          </p:nvPr>
        </p:nvGraphicFramePr>
        <p:xfrm>
          <a:off x="601417" y="4155883"/>
          <a:ext cx="7199424" cy="208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9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12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55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31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33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METHOD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CRUD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Action</a:t>
                      </a:r>
                      <a:r>
                        <a:rPr lang="ko-KR" altLang="en-US" sz="1600" baseline="0" dirty="0"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예제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Resource</a:t>
                      </a:r>
                      <a:r>
                        <a:rPr lang="en-US" altLang="ko-KR" sz="1600" baseline="0" dirty="0"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URI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GET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Read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직원목록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/</a:t>
                      </a:r>
                      <a:r>
                        <a:rPr lang="en-US" altLang="ko-KR" sz="16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emplist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GET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Read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직원상세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/</a:t>
                      </a:r>
                      <a:r>
                        <a:rPr lang="en-US" altLang="ko-KR" sz="16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empDetail</a:t>
                      </a:r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/{100}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184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POST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Create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직원등록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/</a:t>
                      </a:r>
                      <a:r>
                        <a:rPr lang="en-US" altLang="ko-KR" sz="16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empInsert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84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PUT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update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직원수정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/</a:t>
                      </a:r>
                      <a:r>
                        <a:rPr lang="en-US" altLang="ko-KR" sz="16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empUpdate</a:t>
                      </a:r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/{100}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84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DELETE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Delete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직원삭제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/</a:t>
                      </a:r>
                      <a:r>
                        <a:rPr lang="en-US" altLang="ko-KR" sz="1600" dirty="0" err="1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empDelete</a:t>
                      </a:r>
                      <a:r>
                        <a:rPr lang="en-US" altLang="ko-KR" sz="16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/{100}</a:t>
                      </a:r>
                      <a:endParaRPr lang="ko-KR" altLang="en-US" sz="16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2238784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768387" y="105748"/>
            <a:ext cx="27398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Restful API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43373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Rest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기능 구현하기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57188" indent="-357188">
              <a:lnSpc>
                <a:spcPct val="150000"/>
              </a:lnSpc>
              <a:buFont typeface="+mj-ea"/>
              <a:buAutoNum type="circleNumDbPlain"/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스프링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버전에서는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@ResponseBody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애너테이션을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지원하면서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REST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방식의 데이터 처리를 지원함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</a:p>
          <a:p>
            <a:pPr marL="357188" indent="-357188">
              <a:lnSpc>
                <a:spcPct val="150000"/>
              </a:lnSpc>
              <a:buFont typeface="+mj-ea"/>
              <a:buAutoNum type="circleNumDbPlain"/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스프링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4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버전에서는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@RestController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애너테이션을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이용해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REST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방식의 데이터 처리를 지원함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57188" indent="-357188">
              <a:lnSpc>
                <a:spcPct val="150000"/>
              </a:lnSpc>
              <a:buFont typeface="+mj-ea"/>
              <a:buAutoNum type="circleNumDbPlain"/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들어오는 데이터 정의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consumes</a:t>
            </a:r>
          </a:p>
          <a:p>
            <a:pPr marL="357188" indent="-357188">
              <a:lnSpc>
                <a:spcPct val="150000"/>
              </a:lnSpc>
              <a:buFont typeface="+mj-ea"/>
              <a:buAutoNum type="circleNumDbPlain"/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반환되는 데이터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produces</a:t>
            </a:r>
          </a:p>
          <a:p>
            <a:pPr marL="357188" indent="-357188">
              <a:lnSpc>
                <a:spcPct val="150000"/>
              </a:lnSpc>
              <a:buFont typeface="+mj-ea"/>
              <a:buAutoNum type="circleNumDbPlain"/>
            </a:pP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@RestController(consumes= </a:t>
            </a:r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MediaType.APPLICATION_JSON_VALUE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@RestController(consumes = “application/</a:t>
            </a:r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json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”) 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	=&gt; </a:t>
            </a:r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Content-Type:application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json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 변환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0006448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768387" y="105748"/>
            <a:ext cx="27398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Restful API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4324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실습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1"/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@</a:t>
            </a:r>
            <a:r>
              <a:rPr lang="en-US" altLang="ko-KR" dirty="0">
                <a:highlight>
                  <a:srgbClr val="FFFF00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RestController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@RequestMapping("/emp/*")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public class </a:t>
            </a:r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EmpTestController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{	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    @RequestMapping(value = "/</a:t>
            </a:r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emplist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", produces = "text/</a:t>
            </a:r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plain;charset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=UTF-8")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	public String </a:t>
            </a:r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emplist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() {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		return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"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직원을 모두 조회합니다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.";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	}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}</a:t>
            </a:r>
            <a:endParaRPr lang="ko-KR" altLang="en-US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8484546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768387" y="105748"/>
            <a:ext cx="27398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Restful API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5176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JSON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기능 이용하기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&lt;dependency&gt;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  &lt;</a:t>
            </a:r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groupId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&gt;</a:t>
            </a:r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com.fasterxml.jackson.core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&lt;/</a:t>
            </a:r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groupId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  &lt;</a:t>
            </a:r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artifactId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&gt;</a:t>
            </a:r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jackson-databind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&lt;/</a:t>
            </a:r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artifactId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  &lt;version&gt;2.12.2&lt;/version&gt;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&lt;/dependency&gt;</a:t>
            </a:r>
          </a:p>
          <a:p>
            <a:pPr>
              <a:lnSpc>
                <a:spcPct val="150000"/>
              </a:lnSpc>
            </a:pP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JSON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사용하는 이유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57188" indent="-357188">
              <a:lnSpc>
                <a:spcPct val="150000"/>
              </a:lnSpc>
              <a:buFont typeface="+mj-ea"/>
              <a:buAutoNum type="circleNumDbPlain"/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XML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기반의 다른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SOAP(Simple Object Access Protocol)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등 다른 프로토콜에 비해 매우 가볍고 적은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text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 데이터 표현이 가능하다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357188" indent="-357188">
              <a:lnSpc>
                <a:spcPct val="150000"/>
              </a:lnSpc>
              <a:buFont typeface="+mj-ea"/>
              <a:buAutoNum type="circleNumDbPlain"/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JSON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은 자바스크립트에서 사용되는 기본 직렬화 프로토콜이다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JavaScript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성장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SPA(Single Page Application)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증가로 </a:t>
            </a:r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FrontEnd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웹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클라이어트가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서비스를 호출하는 데 사용한다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369082794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768387" y="105748"/>
            <a:ext cx="27398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Restful API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1176422" cy="4345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VO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객체전달하기 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- produces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생략가능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- consumes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생략가능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</a:p>
          <a:p>
            <a:pPr>
              <a:lnSpc>
                <a:spcPct val="150000"/>
              </a:lnSpc>
            </a:pP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@RequestMapping(value = "/empdetail.do/{empid}", </a:t>
            </a:r>
            <a:r>
              <a:rPr lang="en-US" altLang="ko-KR" dirty="0">
                <a:highlight>
                  <a:srgbClr val="FFFF00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produces = </a:t>
            </a:r>
            <a:r>
              <a:rPr lang="en-US" altLang="ko-KR" dirty="0" err="1">
                <a:highlight>
                  <a:srgbClr val="FFFF00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MediaType.</a:t>
            </a:r>
            <a:r>
              <a:rPr lang="en-US" altLang="ko-KR" i="1" dirty="0" err="1">
                <a:highlight>
                  <a:srgbClr val="FFFF00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APPLICATION_JSON_VALUE</a:t>
            </a:r>
            <a:r>
              <a:rPr lang="en-US" altLang="ko-KR" i="1" dirty="0">
                <a:highlight>
                  <a:srgbClr val="FFFF00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i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public </a:t>
            </a:r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EmpVO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empById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(@PathVariable int empid) {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	</a:t>
            </a:r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EmpVO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emp = new </a:t>
            </a:r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EmpVO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	</a:t>
            </a:r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emp.setEmployee_id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(empid);</a:t>
            </a:r>
            <a:r>
              <a:rPr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emp.setFirst_name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("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홍길동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");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	return emp;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21939867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768387" y="105748"/>
            <a:ext cx="27398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Restful API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List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객체전달하기 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@RequestMapping(value = "/emplist.do", produces = {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MediaType.</a:t>
            </a:r>
            <a:r>
              <a:rPr lang="en-US" altLang="ko-KR" sz="1600" i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APPLICATION_JSON_VALUE</a:t>
            </a:r>
            <a:r>
              <a:rPr lang="en-US" altLang="ko-KR" sz="1600" i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})</a:t>
            </a:r>
          </a:p>
          <a:p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public List&lt;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EmpVO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&gt;  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emplist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() { </a:t>
            </a:r>
          </a:p>
          <a:p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	List&lt;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EmployeeVO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&gt; 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emplist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= 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eservice.selectAll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();</a:t>
            </a:r>
          </a:p>
          <a:p>
            <a:pPr lvl="2"/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return 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emplist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;</a:t>
            </a:r>
          </a:p>
          <a:p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}</a:t>
            </a:r>
          </a:p>
          <a:p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Map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객체 전달하기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600" dirty="0">
                <a:ea typeface="나눔스퀘어" panose="020B0600000101010101" pitchFamily="50" charset="-127"/>
              </a:rPr>
              <a:t>@RequestMapping(value = "/emplist4" )</a:t>
            </a:r>
          </a:p>
          <a:p>
            <a:r>
              <a:rPr lang="en-US" altLang="ko-KR" sz="1600" dirty="0">
                <a:ea typeface="나눔스퀘어" panose="020B0600000101010101" pitchFamily="50" charset="-127"/>
              </a:rPr>
              <a:t>public Map&lt;</a:t>
            </a:r>
            <a:r>
              <a:rPr lang="en-US" altLang="ko-KR" sz="1600" dirty="0" err="1">
                <a:ea typeface="나눔스퀘어" panose="020B0600000101010101" pitchFamily="50" charset="-127"/>
              </a:rPr>
              <a:t>Integer,EmpVO</a:t>
            </a:r>
            <a:r>
              <a:rPr lang="en-US" altLang="ko-KR" sz="1600" dirty="0">
                <a:ea typeface="나눔스퀘어" panose="020B0600000101010101" pitchFamily="50" charset="-127"/>
              </a:rPr>
              <a:t>&gt; emplist4() {</a:t>
            </a:r>
          </a:p>
          <a:p>
            <a:r>
              <a:rPr lang="en-US" altLang="ko-KR" sz="1600" dirty="0">
                <a:ea typeface="나눔스퀘어" panose="020B0600000101010101" pitchFamily="50" charset="-127"/>
              </a:rPr>
              <a:t>	Map&lt;Integer, </a:t>
            </a:r>
            <a:r>
              <a:rPr lang="en-US" altLang="ko-KR" sz="1600" dirty="0" err="1">
                <a:ea typeface="나눔스퀘어" panose="020B0600000101010101" pitchFamily="50" charset="-127"/>
              </a:rPr>
              <a:t>EmpVO</a:t>
            </a:r>
            <a:r>
              <a:rPr lang="en-US" altLang="ko-KR" sz="1600" dirty="0">
                <a:ea typeface="나눔스퀘어" panose="020B0600000101010101" pitchFamily="50" charset="-127"/>
              </a:rPr>
              <a:t>&gt; map = new HashMap&lt;&gt;();</a:t>
            </a:r>
          </a:p>
          <a:p>
            <a:r>
              <a:rPr lang="en-US" altLang="ko-KR" sz="1600" dirty="0">
                <a:ea typeface="나눔스퀘어" panose="020B0600000101010101" pitchFamily="50" charset="-127"/>
              </a:rPr>
              <a:t>	List&lt;</a:t>
            </a:r>
            <a:r>
              <a:rPr lang="en-US" altLang="ko-KR" sz="1600" dirty="0" err="1">
                <a:ea typeface="나눔스퀘어" panose="020B0600000101010101" pitchFamily="50" charset="-127"/>
              </a:rPr>
              <a:t>EmpVO</a:t>
            </a:r>
            <a:r>
              <a:rPr lang="en-US" altLang="ko-KR" sz="1600" dirty="0">
                <a:ea typeface="나눔스퀘어" panose="020B0600000101010101" pitchFamily="50" charset="-127"/>
              </a:rPr>
              <a:t>&gt; </a:t>
            </a:r>
            <a:r>
              <a:rPr lang="en-US" altLang="ko-KR" sz="1600" dirty="0" err="1">
                <a:ea typeface="나눔스퀘어" panose="020B0600000101010101" pitchFamily="50" charset="-127"/>
              </a:rPr>
              <a:t>emplist</a:t>
            </a:r>
            <a:r>
              <a:rPr lang="en-US" altLang="ko-KR" sz="1600" dirty="0">
                <a:ea typeface="나눔스퀘어" panose="020B0600000101010101" pitchFamily="50" charset="-127"/>
              </a:rPr>
              <a:t> = </a:t>
            </a:r>
            <a:r>
              <a:rPr lang="en-US" altLang="ko-KR" sz="1600" dirty="0" err="1"/>
              <a:t>eservice</a:t>
            </a:r>
            <a:r>
              <a:rPr lang="en-US" altLang="ko-KR" sz="1600" dirty="0" err="1">
                <a:ea typeface="나눔스퀘어" panose="020B0600000101010101" pitchFamily="50" charset="-127"/>
              </a:rPr>
              <a:t>.selectAll</a:t>
            </a:r>
            <a:r>
              <a:rPr lang="en-US" altLang="ko-KR" sz="1600" dirty="0">
                <a:ea typeface="나눔스퀘어" panose="020B0600000101010101" pitchFamily="50" charset="-127"/>
              </a:rPr>
              <a:t>();</a:t>
            </a:r>
          </a:p>
          <a:p>
            <a:r>
              <a:rPr lang="en-US" altLang="ko-KR" sz="1600" dirty="0">
                <a:ea typeface="나눔스퀘어" panose="020B0600000101010101" pitchFamily="50" charset="-127"/>
              </a:rPr>
              <a:t>	</a:t>
            </a:r>
            <a:r>
              <a:rPr lang="en-US" altLang="ko-KR" sz="1600" dirty="0" err="1">
                <a:ea typeface="나눔스퀘어" panose="020B0600000101010101" pitchFamily="50" charset="-127"/>
              </a:rPr>
              <a:t>emplist.forEach</a:t>
            </a:r>
            <a:r>
              <a:rPr lang="en-US" altLang="ko-KR" sz="1600" dirty="0">
                <a:ea typeface="나눔스퀘어" panose="020B0600000101010101" pitchFamily="50" charset="-127"/>
              </a:rPr>
              <a:t>(emp-&gt;{</a:t>
            </a:r>
          </a:p>
          <a:p>
            <a:r>
              <a:rPr lang="en-US" altLang="ko-KR" sz="1600" dirty="0">
                <a:ea typeface="나눔스퀘어" panose="020B0600000101010101" pitchFamily="50" charset="-127"/>
              </a:rPr>
              <a:t>		</a:t>
            </a:r>
            <a:r>
              <a:rPr lang="en-US" altLang="ko-KR" sz="1600" dirty="0" err="1">
                <a:ea typeface="나눔스퀘어" panose="020B0600000101010101" pitchFamily="50" charset="-127"/>
              </a:rPr>
              <a:t>map.put</a:t>
            </a:r>
            <a:r>
              <a:rPr lang="en-US" altLang="ko-KR" sz="1600" dirty="0">
                <a:ea typeface="나눔스퀘어" panose="020B0600000101010101" pitchFamily="50" charset="-127"/>
              </a:rPr>
              <a:t>(</a:t>
            </a:r>
            <a:r>
              <a:rPr lang="en-US" altLang="ko-KR" sz="1600" dirty="0" err="1">
                <a:ea typeface="나눔스퀘어" panose="020B0600000101010101" pitchFamily="50" charset="-127"/>
              </a:rPr>
              <a:t>emp.getEmployee_id</a:t>
            </a:r>
            <a:r>
              <a:rPr lang="en-US" altLang="ko-KR" sz="1600" dirty="0">
                <a:ea typeface="나눔스퀘어" panose="020B0600000101010101" pitchFamily="50" charset="-127"/>
              </a:rPr>
              <a:t>(), emp);</a:t>
            </a:r>
          </a:p>
          <a:p>
            <a:r>
              <a:rPr lang="en-US" altLang="ko-KR" sz="1600" dirty="0">
                <a:ea typeface="나눔스퀘어" panose="020B0600000101010101" pitchFamily="50" charset="-127"/>
              </a:rPr>
              <a:t>	});</a:t>
            </a:r>
          </a:p>
          <a:p>
            <a:r>
              <a:rPr lang="en-US" altLang="ko-KR" sz="1600" dirty="0">
                <a:ea typeface="나눔스퀘어" panose="020B0600000101010101" pitchFamily="50" charset="-127"/>
              </a:rPr>
              <a:t>	return map;</a:t>
            </a:r>
          </a:p>
          <a:p>
            <a:r>
              <a:rPr lang="en-US" altLang="ko-KR" sz="1600" dirty="0">
                <a:ea typeface="나눔스퀘어" panose="020B0600000101010101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62821086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768387" y="105748"/>
            <a:ext cx="27398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Restful API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5786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16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PostMapping</a:t>
            </a:r>
            <a:endParaRPr lang="en-US" altLang="ko-KR" sz="16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1"/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@PostMapping(value = "/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insert.do",consumes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= "application/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json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") </a:t>
            </a:r>
          </a:p>
          <a:p>
            <a:pPr lvl="1"/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public String 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empinsert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(@RequestBody 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EmpVO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member) { </a:t>
            </a:r>
          </a:p>
          <a:p>
            <a:pPr lvl="1"/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	return "OK";</a:t>
            </a:r>
          </a:p>
          <a:p>
            <a:pPr lvl="1"/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16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PutMapping</a:t>
            </a:r>
            <a:endParaRPr lang="en-US" altLang="ko-KR" sz="16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1"/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@PutMapping(value = "/empupdate.do" ,consumes = "application/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json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") </a:t>
            </a:r>
          </a:p>
          <a:p>
            <a:pPr lvl="1"/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public String 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empupdate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(@RequestBody 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EmpVO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emp) { </a:t>
            </a:r>
          </a:p>
          <a:p>
            <a:pPr lvl="1"/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	return "OK";</a:t>
            </a:r>
          </a:p>
          <a:p>
            <a:pPr lvl="1"/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}</a:t>
            </a:r>
          </a:p>
          <a:p>
            <a:pPr lvl="1"/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16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DeleteMapping</a:t>
            </a:r>
            <a:endParaRPr lang="en-US" altLang="ko-KR" sz="16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1"/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@DeleteMapping(value = "/empdelete.do/{empid}")</a:t>
            </a:r>
          </a:p>
          <a:p>
            <a:pPr lvl="1"/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public String 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empdelete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(@PathVariable int empid) {</a:t>
            </a:r>
          </a:p>
          <a:p>
            <a:pPr lvl="1"/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	return "OK";</a:t>
            </a:r>
          </a:p>
          <a:p>
            <a:pPr lvl="1"/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}</a:t>
            </a:r>
          </a:p>
          <a:p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b="1" dirty="0"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7823364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768387" y="105748"/>
            <a:ext cx="27398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Restful API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47243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Ajax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요청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$("#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btnRetrieve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").click(function(){</a:t>
            </a:r>
          </a:p>
          <a:p>
            <a:pPr lvl="1"/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$.ajax({</a:t>
            </a:r>
          </a:p>
          <a:p>
            <a:pPr lvl="2"/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url:"${path}/emp/empdetail.do/100",</a:t>
            </a:r>
          </a:p>
          <a:p>
            <a:pPr lvl="2"/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success:function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responseData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){ </a:t>
            </a:r>
          </a:p>
          <a:p>
            <a:pPr lvl="2"/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	$("#here").html(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responseData.first_name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);</a:t>
            </a:r>
          </a:p>
          <a:p>
            <a:pPr lvl="2"/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}</a:t>
            </a:r>
          </a:p>
          <a:p>
            <a:pPr lvl="1"/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});</a:t>
            </a:r>
          </a:p>
          <a:p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});</a:t>
            </a:r>
          </a:p>
          <a:p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$("#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btnRetrieveAll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").click(function(){</a:t>
            </a:r>
          </a:p>
          <a:p>
            <a:pPr lvl="1"/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$.ajax({</a:t>
            </a:r>
          </a:p>
          <a:p>
            <a:pPr lvl="2"/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url:"${path}/emp/emplist.do",</a:t>
            </a:r>
          </a:p>
          <a:p>
            <a:pPr lvl="2"/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success:function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responseData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){</a:t>
            </a:r>
          </a:p>
          <a:p>
            <a:pPr lvl="2"/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	console.log(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responseData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lvl="2"/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}</a:t>
            </a:r>
          </a:p>
          <a:p>
            <a:pPr lvl="1"/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});</a:t>
            </a:r>
          </a:p>
          <a:p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4258767134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768387" y="105748"/>
            <a:ext cx="27398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Restful API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4693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Ajax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요청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var 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arr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= $("#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myfrm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").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serializeArray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();</a:t>
            </a:r>
          </a:p>
          <a:p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var obj = {};</a:t>
            </a:r>
          </a:p>
          <a:p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$.each(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arr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function(){ obj[this.name] = 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this.value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; })</a:t>
            </a:r>
          </a:p>
          <a:p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$("#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btnInsert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").click(function(){</a:t>
            </a:r>
          </a:p>
          <a:p>
            <a:pPr lvl="1"/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$.ajax({</a:t>
            </a:r>
          </a:p>
          <a:p>
            <a:pPr lvl="2"/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url:"${path}/emp/insert.do",</a:t>
            </a:r>
          </a:p>
          <a:p>
            <a:pPr lvl="2"/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type:"post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",</a:t>
            </a:r>
          </a:p>
          <a:p>
            <a:pPr lvl="2"/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data:JSON.stringify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(obj),</a:t>
            </a:r>
          </a:p>
          <a:p>
            <a:pPr lvl="2"/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contentType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：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'application/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json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; charset=utf-8‘,</a:t>
            </a:r>
          </a:p>
          <a:p>
            <a:pPr lvl="2"/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success:function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responseData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){</a:t>
            </a:r>
          </a:p>
          <a:p>
            <a:pPr lvl="2"/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	console.log(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responseData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lvl="2"/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}</a:t>
            </a:r>
          </a:p>
          <a:p>
            <a:pPr lvl="1"/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});</a:t>
            </a:r>
          </a:p>
          <a:p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});</a:t>
            </a:r>
          </a:p>
          <a:p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dirty="0">
                <a:solidFill>
                  <a:srgbClr val="3F7F5F"/>
                </a:solidFill>
                <a:latin typeface="Courier New" panose="02070309020205020404" pitchFamily="49" charset="0"/>
              </a:rPr>
              <a:t>//Content type</a:t>
            </a:r>
            <a:r>
              <a:rPr lang="ko-KR" altLang="en-US" sz="1800" dirty="0" err="1">
                <a:solidFill>
                  <a:srgbClr val="3F7F5F"/>
                </a:solidFill>
                <a:latin typeface="Courier New" panose="02070309020205020404" pitchFamily="49" charset="0"/>
              </a:rPr>
              <a:t>생략시</a:t>
            </a:r>
            <a:r>
              <a:rPr lang="ko-KR" altLang="en-US" sz="1800" dirty="0">
                <a:solidFill>
                  <a:srgbClr val="3F7F5F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800" dirty="0">
                <a:solidFill>
                  <a:srgbClr val="3F7F5F"/>
                </a:solidFill>
                <a:latin typeface="Courier New" panose="02070309020205020404" pitchFamily="49" charset="0"/>
              </a:rPr>
              <a:t>:  'application/</a:t>
            </a:r>
            <a:r>
              <a:rPr lang="en-US" altLang="ko-KR" sz="1800" dirty="0" err="1">
                <a:solidFill>
                  <a:srgbClr val="3F7F5F"/>
                </a:solidFill>
                <a:latin typeface="Courier New" panose="02070309020205020404" pitchFamily="49" charset="0"/>
              </a:rPr>
              <a:t>x-www-form-urlencoded;charset</a:t>
            </a:r>
            <a:r>
              <a:rPr lang="en-US" altLang="ko-KR" sz="1800" dirty="0">
                <a:solidFill>
                  <a:srgbClr val="3F7F5F"/>
                </a:solidFill>
                <a:latin typeface="Courier New" panose="02070309020205020404" pitchFamily="49" charset="0"/>
              </a:rPr>
              <a:t>=UTF-8'</a:t>
            </a:r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6315710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768387" y="105748"/>
            <a:ext cx="27398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Restful API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5463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Ajax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요청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$("#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btnUpdate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").click(function(){</a:t>
            </a:r>
          </a:p>
          <a:p>
            <a:pPr lvl="1"/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$.ajax({</a:t>
            </a:r>
          </a:p>
          <a:p>
            <a:pPr lvl="2"/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url:"${path}/emp/empupdate.do",</a:t>
            </a:r>
          </a:p>
          <a:p>
            <a:pPr lvl="2"/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type:”put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",</a:t>
            </a:r>
          </a:p>
          <a:p>
            <a:pPr lvl="2"/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data:JSON.stringify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(obj),</a:t>
            </a:r>
          </a:p>
          <a:p>
            <a:pPr lvl="2"/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contentType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:"application/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json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",</a:t>
            </a:r>
          </a:p>
          <a:p>
            <a:pPr lvl="2"/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success:function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responseData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){</a:t>
            </a:r>
          </a:p>
          <a:p>
            <a:pPr lvl="2"/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	console.log(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responseData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lvl="2"/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}</a:t>
            </a:r>
          </a:p>
          <a:p>
            <a:pPr lvl="1"/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});</a:t>
            </a:r>
          </a:p>
          <a:p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});</a:t>
            </a:r>
          </a:p>
          <a:p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$("#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btnDelete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").click(function(){</a:t>
            </a:r>
          </a:p>
          <a:p>
            <a:pPr lvl="1"/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$.ajax({</a:t>
            </a:r>
          </a:p>
          <a:p>
            <a:pPr lvl="2"/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url:"${path}/emp/empdelete.do/100",</a:t>
            </a:r>
          </a:p>
          <a:p>
            <a:pPr lvl="2"/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type:"delete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",</a:t>
            </a:r>
          </a:p>
          <a:p>
            <a:pPr lvl="2"/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success:function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responseData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){</a:t>
            </a:r>
          </a:p>
          <a:p>
            <a:pPr lvl="2"/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	console.log(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responseData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lvl="2"/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}</a:t>
            </a:r>
          </a:p>
          <a:p>
            <a:pPr lvl="1"/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});</a:t>
            </a:r>
          </a:p>
          <a:p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3790093361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768387" y="105748"/>
            <a:ext cx="27398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Restful API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1757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Postman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app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혹은 </a:t>
            </a:r>
            <a:r>
              <a:rPr lang="en-US" altLang="ko-KR" b="1" dirty="0"/>
              <a:t>Talend API Tester(</a:t>
            </a:r>
            <a:r>
              <a:rPr lang="ko-KR" altLang="en-US" b="1" dirty="0"/>
              <a:t>크롬</a:t>
            </a:r>
            <a:r>
              <a:rPr lang="en-US" altLang="ko-KR" b="1" dirty="0"/>
              <a:t> </a:t>
            </a:r>
            <a:r>
              <a:rPr lang="ko-KR" altLang="en-US" b="1" dirty="0"/>
              <a:t>확장</a:t>
            </a:r>
            <a:r>
              <a:rPr lang="en-US" altLang="ko-KR" b="1"/>
              <a:t>)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     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ea typeface="+mj-ea"/>
              </a:rPr>
              <a:t>Rest </a:t>
            </a:r>
            <a:r>
              <a:rPr lang="en-US" altLang="ko-KR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ea typeface="+mj-ea"/>
              </a:rPr>
              <a:t>api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ea typeface="+mj-ea"/>
              </a:rPr>
              <a:t>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ea typeface="+mj-ea"/>
              </a:rPr>
              <a:t>을 호출할 수 있는 도구</a:t>
            </a:r>
            <a:endParaRPr lang="en-US" altLang="ko-KR" b="0" i="0" dirty="0">
              <a:solidFill>
                <a:srgbClr val="333333"/>
              </a:solidFill>
              <a:effectLst/>
              <a:highlight>
                <a:srgbClr val="FFFFFF"/>
              </a:highlight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ea typeface="+mj-ea"/>
              </a:rPr>
              <a:t>     https://www.postman.com/downloads/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333333"/>
                </a:solidFill>
                <a:highlight>
                  <a:srgbClr val="FFFFFF"/>
                </a:highlight>
                <a:latin typeface="+mj-ea"/>
                <a:ea typeface="+mj-ea"/>
              </a:rPr>
              <a:t>    [</a:t>
            </a:r>
            <a:r>
              <a:rPr lang="ko-KR" altLang="en-US" dirty="0">
                <a:solidFill>
                  <a:srgbClr val="333333"/>
                </a:solidFill>
                <a:highlight>
                  <a:srgbClr val="FFFFFF"/>
                </a:highlight>
                <a:latin typeface="+mj-ea"/>
                <a:ea typeface="+mj-ea"/>
              </a:rPr>
              <a:t>조회</a:t>
            </a:r>
            <a:r>
              <a:rPr lang="en-US" altLang="ko-KR" dirty="0">
                <a:solidFill>
                  <a:srgbClr val="333333"/>
                </a:solidFill>
                <a:highlight>
                  <a:srgbClr val="FFFFFF"/>
                </a:highlight>
                <a:latin typeface="+mj-ea"/>
                <a:ea typeface="+mj-ea"/>
              </a:rPr>
              <a:t>]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F61F0A9-38F0-99C3-BA48-0D1D9C68C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804" y="2872258"/>
            <a:ext cx="8202170" cy="323895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1D9F440-7A5F-B325-281C-4BD53E0864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3566" y="1683944"/>
            <a:ext cx="2652913" cy="982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3792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768387" y="105748"/>
            <a:ext cx="27398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Restful API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1345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Postman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app</a:t>
            </a:r>
          </a:p>
          <a:p>
            <a:pPr>
              <a:lnSpc>
                <a:spcPct val="150000"/>
              </a:lnSpc>
            </a:pP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     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ea typeface="+mj-ea"/>
              </a:rPr>
              <a:t>Rest </a:t>
            </a:r>
            <a:r>
              <a:rPr lang="en-US" altLang="ko-KR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ea typeface="+mj-ea"/>
              </a:rPr>
              <a:t>api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ea typeface="+mj-ea"/>
              </a:rPr>
              <a:t>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ea typeface="+mj-ea"/>
              </a:rPr>
              <a:t>을 호출할 수 있는 도구</a:t>
            </a:r>
            <a:endParaRPr lang="en-US" altLang="ko-KR" b="0" i="0" dirty="0">
              <a:solidFill>
                <a:srgbClr val="333333"/>
              </a:solidFill>
              <a:effectLst/>
              <a:highlight>
                <a:srgbClr val="FFFFFF"/>
              </a:highlight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333333"/>
                </a:solidFill>
                <a:highlight>
                  <a:srgbClr val="FFFFFF"/>
                </a:highlight>
                <a:latin typeface="+mj-ea"/>
                <a:ea typeface="+mj-ea"/>
              </a:rPr>
              <a:t>    [</a:t>
            </a:r>
            <a:r>
              <a:rPr lang="ko-KR" altLang="en-US" dirty="0">
                <a:solidFill>
                  <a:srgbClr val="333333"/>
                </a:solidFill>
                <a:highlight>
                  <a:srgbClr val="FFFFFF"/>
                </a:highlight>
                <a:latin typeface="+mj-ea"/>
                <a:ea typeface="+mj-ea"/>
              </a:rPr>
              <a:t>상세보기</a:t>
            </a:r>
            <a:r>
              <a:rPr lang="en-US" altLang="ko-KR" dirty="0">
                <a:solidFill>
                  <a:srgbClr val="333333"/>
                </a:solidFill>
                <a:highlight>
                  <a:srgbClr val="FFFFFF"/>
                </a:highlight>
                <a:latin typeface="+mj-ea"/>
                <a:ea typeface="+mj-ea"/>
              </a:rPr>
              <a:t>] </a:t>
            </a:r>
            <a:r>
              <a:rPr lang="en-US" altLang="ko-KR" dirty="0" err="1">
                <a:solidFill>
                  <a:srgbClr val="333333"/>
                </a:solidFill>
                <a:highlight>
                  <a:srgbClr val="FFFFFF"/>
                </a:highlight>
                <a:latin typeface="+mj-ea"/>
                <a:ea typeface="+mj-ea"/>
              </a:rPr>
              <a:t>url</a:t>
            </a:r>
            <a:r>
              <a:rPr lang="ko-KR" altLang="en-US" dirty="0">
                <a:solidFill>
                  <a:srgbClr val="333333"/>
                </a:solidFill>
                <a:highlight>
                  <a:srgbClr val="FFFFFF"/>
                </a:highlight>
                <a:latin typeface="+mj-ea"/>
                <a:ea typeface="+mj-ea"/>
              </a:rPr>
              <a:t>주소가 </a:t>
            </a:r>
            <a:r>
              <a:rPr lang="en-US" altLang="ko-KR" dirty="0">
                <a:solidFill>
                  <a:srgbClr val="333333"/>
                </a:solidFill>
                <a:highlight>
                  <a:srgbClr val="FFFFFF"/>
                </a:highlight>
                <a:latin typeface="+mj-ea"/>
                <a:ea typeface="+mj-ea"/>
              </a:rPr>
              <a:t>Result </a:t>
            </a:r>
            <a:r>
              <a:rPr lang="ko-KR" altLang="en-US" dirty="0">
                <a:solidFill>
                  <a:srgbClr val="333333"/>
                </a:solidFill>
                <a:highlight>
                  <a:srgbClr val="FFFFFF"/>
                </a:highlight>
                <a:latin typeface="+mj-ea"/>
                <a:ea typeface="+mj-ea"/>
              </a:rPr>
              <a:t>규칙에 맞지 않으면 동작하지 않음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40C7EBC-B14E-5824-46A6-0D9A92D00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912" y="2588595"/>
            <a:ext cx="8240275" cy="321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096211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768387" y="105748"/>
            <a:ext cx="27398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Restful API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929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Postman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app</a:t>
            </a:r>
          </a:p>
          <a:p>
            <a:pPr>
              <a:lnSpc>
                <a:spcPct val="150000"/>
              </a:lnSpc>
            </a:pP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      </a:t>
            </a:r>
            <a:r>
              <a:rPr lang="en-US" altLang="ko-KR" dirty="0">
                <a:solidFill>
                  <a:srgbClr val="333333"/>
                </a:solidFill>
                <a:highlight>
                  <a:srgbClr val="FFFFFF"/>
                </a:highlight>
                <a:latin typeface="+mj-ea"/>
                <a:ea typeface="+mj-ea"/>
              </a:rPr>
              <a:t>[</a:t>
            </a:r>
            <a:r>
              <a:rPr lang="ko-KR" altLang="en-US" dirty="0">
                <a:solidFill>
                  <a:srgbClr val="333333"/>
                </a:solidFill>
                <a:highlight>
                  <a:srgbClr val="FFFFFF"/>
                </a:highlight>
                <a:latin typeface="+mj-ea"/>
                <a:ea typeface="+mj-ea"/>
              </a:rPr>
              <a:t>수정</a:t>
            </a:r>
            <a:r>
              <a:rPr lang="en-US" altLang="ko-KR" dirty="0">
                <a:solidFill>
                  <a:srgbClr val="333333"/>
                </a:solidFill>
                <a:highlight>
                  <a:srgbClr val="FFFFFF"/>
                </a:highlight>
                <a:latin typeface="+mj-ea"/>
                <a:ea typeface="+mj-ea"/>
              </a:rPr>
              <a:t>]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C6456AD-ED1F-E973-9B84-FEEAB7814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860" y="2099972"/>
            <a:ext cx="8316486" cy="406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178652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768387" y="105748"/>
            <a:ext cx="27398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Restful API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000" dirty="0">
                <a:ea typeface="나눔스퀘어" panose="020B0600000101010101" pitchFamily="50" charset="-127"/>
              </a:rPr>
              <a:t>Postman </a:t>
            </a:r>
          </a:p>
          <a:p>
            <a:pPr algn="l" fontAlgn="base"/>
            <a:r>
              <a:rPr lang="en-US" altLang="ko-KR" dirty="0">
                <a:ea typeface="나눔스퀘어" panose="020B0600000101010101" pitchFamily="50" charset="-127"/>
              </a:rPr>
              <a:t>    </a:t>
            </a:r>
          </a:p>
          <a:p>
            <a:pPr algn="l" fontAlgn="base"/>
            <a:r>
              <a:rPr lang="en-US" altLang="ko-KR" dirty="0">
                <a:ea typeface="나눔스퀘어" panose="020B0600000101010101" pitchFamily="50" charset="-127"/>
              </a:rPr>
              <a:t>    [</a:t>
            </a:r>
            <a:r>
              <a:rPr lang="ko-KR" altLang="en-US" dirty="0">
                <a:ea typeface="나눔스퀘어" panose="020B0600000101010101" pitchFamily="50" charset="-127"/>
              </a:rPr>
              <a:t>입력</a:t>
            </a:r>
            <a:r>
              <a:rPr lang="en-US" altLang="ko-KR" dirty="0">
                <a:ea typeface="나눔스퀘어" panose="020B0600000101010101" pitchFamily="50" charset="-127"/>
              </a:rPr>
              <a:t>]	</a:t>
            </a:r>
            <a:endParaRPr lang="en-US" altLang="ko-KR" dirty="0">
              <a:ea typeface="+mj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E054E90-18E6-97BB-BC11-4CC7D8E91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60" y="2340093"/>
            <a:ext cx="8268854" cy="289600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F239867-27AE-996E-5572-E5AD2DFD7B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536" y="5101665"/>
            <a:ext cx="2076740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926571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FF01E098-FBDB-420F-88A9-27027F4759A5}"/>
              </a:ext>
            </a:extLst>
          </p:cNvPr>
          <p:cNvGrpSpPr/>
          <p:nvPr/>
        </p:nvGrpSpPr>
        <p:grpSpPr>
          <a:xfrm>
            <a:off x="3726874" y="2815838"/>
            <a:ext cx="7900834" cy="1226323"/>
            <a:chOff x="4793673" y="1246908"/>
            <a:chExt cx="6442363" cy="1080000"/>
          </a:xfrm>
        </p:grpSpPr>
        <p:sp>
          <p:nvSpPr>
            <p:cNvPr id="14" name="육각형 13">
              <a:extLst>
                <a:ext uri="{FF2B5EF4-FFF2-40B4-BE49-F238E27FC236}">
                  <a16:creationId xmlns:a16="http://schemas.microsoft.com/office/drawing/2014/main" id="{7ADDF6C6-9FD3-40F2-ADC2-37A43AADF7ED}"/>
                </a:ext>
              </a:extLst>
            </p:cNvPr>
            <p:cNvSpPr/>
            <p:nvPr/>
          </p:nvSpPr>
          <p:spPr>
            <a:xfrm>
              <a:off x="4793673" y="1246908"/>
              <a:ext cx="6442363" cy="1080000"/>
            </a:xfrm>
            <a:prstGeom prst="hexagon">
              <a:avLst>
                <a:gd name="adj" fmla="val 42671"/>
                <a:gd name="vf" fmla="val 11547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화살표: 오각형 14">
              <a:extLst>
                <a:ext uri="{FF2B5EF4-FFF2-40B4-BE49-F238E27FC236}">
                  <a16:creationId xmlns:a16="http://schemas.microsoft.com/office/drawing/2014/main" id="{81F229D3-E3EA-4A23-AA82-5E2AF3A625A9}"/>
                </a:ext>
              </a:extLst>
            </p:cNvPr>
            <p:cNvSpPr/>
            <p:nvPr/>
          </p:nvSpPr>
          <p:spPr>
            <a:xfrm>
              <a:off x="5632954" y="1371410"/>
              <a:ext cx="5339846" cy="830996"/>
            </a:xfrm>
            <a:prstGeom prst="homePlat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D920D6B8-E4ED-4528-A983-BD701AD4E691}"/>
                </a:ext>
              </a:extLst>
            </p:cNvPr>
            <p:cNvSpPr/>
            <p:nvPr/>
          </p:nvSpPr>
          <p:spPr>
            <a:xfrm>
              <a:off x="5196182" y="1364345"/>
              <a:ext cx="845127" cy="845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51810F50-4F4F-4ABD-840E-E581E3B8C415}"/>
                </a:ext>
              </a:extLst>
            </p:cNvPr>
            <p:cNvGrpSpPr/>
            <p:nvPr/>
          </p:nvGrpSpPr>
          <p:grpSpPr>
            <a:xfrm>
              <a:off x="5537399" y="1369809"/>
              <a:ext cx="5530955" cy="813160"/>
              <a:chOff x="5516922" y="1640913"/>
              <a:chExt cx="3988129" cy="586335"/>
            </a:xfrm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EB1F94F4-27C9-4570-8682-1A33FA68D416}"/>
                  </a:ext>
                </a:extLst>
              </p:cNvPr>
              <p:cNvSpPr/>
              <p:nvPr/>
            </p:nvSpPr>
            <p:spPr>
              <a:xfrm>
                <a:off x="5880267" y="1689774"/>
                <a:ext cx="3624784" cy="488612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defTabSz="1076865" eaLnBrk="0" latinLnBrk="0" hangingPunct="0">
                  <a:spcAft>
                    <a:spcPts val="486"/>
                  </a:spcAft>
                  <a:buSzPct val="100000"/>
                  <a:defRPr/>
                </a:pPr>
                <a:r>
                  <a:rPr lang="en-US" altLang="ko-KR" sz="4400" dirty="0">
                    <a:gradFill>
                      <a:gsLst>
                        <a:gs pos="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6200000" scaled="1"/>
                    </a:gradFill>
                    <a:latin typeface="HY견고딕" pitchFamily="18" charset="-127"/>
                    <a:ea typeface="HY견고딕" pitchFamily="18" charset="-127"/>
                  </a:rPr>
                  <a:t>Upload/Download</a:t>
                </a:r>
                <a:r>
                  <a:rPr lang="ko-KR" altLang="en-US" sz="4400" dirty="0">
                    <a:gradFill>
                      <a:gsLst>
                        <a:gs pos="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6200000" scaled="1"/>
                    </a:gradFill>
                    <a:latin typeface="HY견고딕" pitchFamily="18" charset="-127"/>
                    <a:ea typeface="HY견고딕" pitchFamily="18" charset="-127"/>
                  </a:rPr>
                  <a:t> </a:t>
                </a: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4541CD06-C435-48C0-AA4F-7B628FBAD386}"/>
                  </a:ext>
                </a:extLst>
              </p:cNvPr>
              <p:cNvSpPr/>
              <p:nvPr/>
            </p:nvSpPr>
            <p:spPr>
              <a:xfrm>
                <a:off x="5516922" y="1640913"/>
                <a:ext cx="117307" cy="586335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5400" b="1" i="0" u="none" strike="noStrike" kern="0" normalizeH="0" baseline="0" noProof="0" dirty="0">
                  <a:ln w="2857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uLnTx/>
                  <a:uFillTx/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875570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794043" y="105748"/>
            <a:ext cx="468852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Upload &amp; Download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설정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1600" dirty="0"/>
          </a:p>
          <a:p>
            <a:r>
              <a:rPr lang="en-US" altLang="ko-KR" sz="1600" dirty="0"/>
              <a:t>&lt;dependency&gt;</a:t>
            </a:r>
          </a:p>
          <a:p>
            <a:pPr lvl="1"/>
            <a:r>
              <a:rPr lang="en-US" altLang="ko-KR" sz="1600" dirty="0"/>
              <a:t>&lt;</a:t>
            </a:r>
            <a:r>
              <a:rPr lang="en-US" altLang="ko-KR" sz="1600" dirty="0" err="1"/>
              <a:t>groupId</a:t>
            </a:r>
            <a:r>
              <a:rPr lang="en-US" altLang="ko-KR" sz="1600" dirty="0"/>
              <a:t>&gt;commons-</a:t>
            </a:r>
            <a:r>
              <a:rPr lang="en-US" altLang="ko-KR" sz="1600" dirty="0" err="1"/>
              <a:t>fileupload</a:t>
            </a:r>
            <a:r>
              <a:rPr lang="en-US" altLang="ko-KR" sz="1600" dirty="0"/>
              <a:t>&lt;/</a:t>
            </a:r>
            <a:r>
              <a:rPr lang="en-US" altLang="ko-KR" sz="1600" dirty="0" err="1"/>
              <a:t>groupId</a:t>
            </a:r>
            <a:r>
              <a:rPr lang="en-US" altLang="ko-KR" sz="1600" dirty="0"/>
              <a:t>&gt;</a:t>
            </a:r>
          </a:p>
          <a:p>
            <a:pPr lvl="1"/>
            <a:r>
              <a:rPr lang="en-US" altLang="ko-KR" sz="1600" dirty="0"/>
              <a:t>&lt;</a:t>
            </a:r>
            <a:r>
              <a:rPr lang="en-US" altLang="ko-KR" sz="1600" dirty="0" err="1"/>
              <a:t>artifactId</a:t>
            </a:r>
            <a:r>
              <a:rPr lang="en-US" altLang="ko-KR" sz="1600" dirty="0"/>
              <a:t>&gt;commons-</a:t>
            </a:r>
            <a:r>
              <a:rPr lang="en-US" altLang="ko-KR" sz="1600" dirty="0" err="1"/>
              <a:t>fileupload</a:t>
            </a:r>
            <a:r>
              <a:rPr lang="en-US" altLang="ko-KR" sz="1600" dirty="0"/>
              <a:t>&lt;/</a:t>
            </a:r>
            <a:r>
              <a:rPr lang="en-US" altLang="ko-KR" sz="1600" dirty="0" err="1"/>
              <a:t>artifactId</a:t>
            </a:r>
            <a:r>
              <a:rPr lang="en-US" altLang="ko-KR" sz="1600" dirty="0"/>
              <a:t>&gt;</a:t>
            </a:r>
          </a:p>
          <a:p>
            <a:pPr lvl="1"/>
            <a:r>
              <a:rPr lang="en-US" altLang="ko-KR" sz="1600" dirty="0"/>
              <a:t>&lt;version&gt;1.2.2&lt;/version&gt;</a:t>
            </a:r>
          </a:p>
          <a:p>
            <a:r>
              <a:rPr lang="en-US" altLang="ko-KR" sz="1600" dirty="0"/>
              <a:t>&lt;/dependency&gt;</a:t>
            </a:r>
          </a:p>
          <a:p>
            <a:endParaRPr lang="en-US" altLang="ko-KR" sz="1600" dirty="0"/>
          </a:p>
          <a:p>
            <a:r>
              <a:rPr lang="en-US" altLang="ko-KR" sz="1600" dirty="0"/>
              <a:t>&lt;dependency&gt;</a:t>
            </a:r>
          </a:p>
          <a:p>
            <a:pPr lvl="1"/>
            <a:r>
              <a:rPr lang="en-US" altLang="ko-KR" sz="1600" dirty="0"/>
              <a:t>&lt;</a:t>
            </a:r>
            <a:r>
              <a:rPr lang="en-US" altLang="ko-KR" sz="1600" dirty="0" err="1"/>
              <a:t>groupId</a:t>
            </a:r>
            <a:r>
              <a:rPr lang="en-US" altLang="ko-KR" sz="1600" dirty="0"/>
              <a:t>&gt;commons-io&lt;/</a:t>
            </a:r>
            <a:r>
              <a:rPr lang="en-US" altLang="ko-KR" sz="1600" dirty="0" err="1"/>
              <a:t>groupId</a:t>
            </a:r>
            <a:r>
              <a:rPr lang="en-US" altLang="ko-KR" sz="1600" dirty="0"/>
              <a:t>&gt;</a:t>
            </a:r>
          </a:p>
          <a:p>
            <a:pPr lvl="1"/>
            <a:r>
              <a:rPr lang="en-US" altLang="ko-KR" sz="1600" dirty="0"/>
              <a:t>&lt;</a:t>
            </a:r>
            <a:r>
              <a:rPr lang="en-US" altLang="ko-KR" sz="1600" dirty="0" err="1"/>
              <a:t>artifactId</a:t>
            </a:r>
            <a:r>
              <a:rPr lang="en-US" altLang="ko-KR" sz="1600" dirty="0"/>
              <a:t>&gt;commons-io&lt;/</a:t>
            </a:r>
            <a:r>
              <a:rPr lang="en-US" altLang="ko-KR" sz="1600" dirty="0" err="1"/>
              <a:t>artifactId</a:t>
            </a:r>
            <a:r>
              <a:rPr lang="en-US" altLang="ko-KR" sz="1600" dirty="0"/>
              <a:t>&gt;</a:t>
            </a:r>
          </a:p>
          <a:p>
            <a:pPr lvl="1"/>
            <a:r>
              <a:rPr lang="en-US" altLang="ko-KR" sz="1600" dirty="0"/>
              <a:t>&lt;version&gt;1.3.2&lt;/version&gt;</a:t>
            </a:r>
          </a:p>
          <a:p>
            <a:r>
              <a:rPr lang="en-US" altLang="ko-KR" sz="1600" dirty="0"/>
              <a:t>&lt;/dependency&gt;</a:t>
            </a:r>
          </a:p>
          <a:p>
            <a:endParaRPr lang="en-US" altLang="ko-KR" sz="1600" i="1" dirty="0"/>
          </a:p>
          <a:p>
            <a:r>
              <a:rPr lang="en-US" altLang="ko-KR" sz="1600" i="1" dirty="0"/>
              <a:t>&lt;dependency&gt;			</a:t>
            </a:r>
          </a:p>
          <a:p>
            <a:pPr lvl="1"/>
            <a:r>
              <a:rPr lang="en-US" altLang="ko-KR" sz="1600" i="1" dirty="0"/>
              <a:t>&lt;</a:t>
            </a:r>
            <a:r>
              <a:rPr lang="en-US" altLang="ko-KR" sz="1600" i="1" dirty="0" err="1"/>
              <a:t>groupId</a:t>
            </a:r>
            <a:r>
              <a:rPr lang="en-US" altLang="ko-KR" sz="1600" i="1" dirty="0"/>
              <a:t>&gt;</a:t>
            </a:r>
            <a:r>
              <a:rPr lang="en-US" altLang="ko-KR" sz="1600" i="1" dirty="0" err="1"/>
              <a:t>net.coobird</a:t>
            </a:r>
            <a:r>
              <a:rPr lang="en-US" altLang="ko-KR" sz="1600" i="1" dirty="0"/>
              <a:t>&lt;/</a:t>
            </a:r>
            <a:r>
              <a:rPr lang="en-US" altLang="ko-KR" sz="1600" i="1" dirty="0" err="1"/>
              <a:t>groupId</a:t>
            </a:r>
            <a:r>
              <a:rPr lang="en-US" altLang="ko-KR" sz="1600" i="1" dirty="0"/>
              <a:t>&gt;			</a:t>
            </a:r>
          </a:p>
          <a:p>
            <a:pPr lvl="1"/>
            <a:r>
              <a:rPr lang="en-US" altLang="ko-KR" sz="1600" i="1" dirty="0"/>
              <a:t>&lt;</a:t>
            </a:r>
            <a:r>
              <a:rPr lang="en-US" altLang="ko-KR" sz="1600" i="1" dirty="0" err="1"/>
              <a:t>artifactId</a:t>
            </a:r>
            <a:r>
              <a:rPr lang="en-US" altLang="ko-KR" sz="1600" i="1" dirty="0"/>
              <a:t>&gt;</a:t>
            </a:r>
            <a:r>
              <a:rPr lang="en-US" altLang="ko-KR" sz="1600" i="1" dirty="0" err="1"/>
              <a:t>thumbnailator</a:t>
            </a:r>
            <a:r>
              <a:rPr lang="en-US" altLang="ko-KR" sz="1600" i="1" dirty="0"/>
              <a:t>&lt;/</a:t>
            </a:r>
            <a:r>
              <a:rPr lang="en-US" altLang="ko-KR" sz="1600" i="1" dirty="0" err="1"/>
              <a:t>artifactId</a:t>
            </a:r>
            <a:r>
              <a:rPr lang="en-US" altLang="ko-KR" sz="1600" i="1" dirty="0"/>
              <a:t>&gt;			</a:t>
            </a:r>
          </a:p>
          <a:p>
            <a:pPr lvl="1"/>
            <a:r>
              <a:rPr lang="en-US" altLang="ko-KR" sz="1600" i="1" dirty="0"/>
              <a:t>&lt;version&gt;0.4.6&lt;/version&gt;		</a:t>
            </a:r>
          </a:p>
          <a:p>
            <a:r>
              <a:rPr lang="en-US" altLang="ko-KR" sz="1600" i="1" dirty="0"/>
              <a:t>&lt;/dependency&gt;</a:t>
            </a:r>
          </a:p>
        </p:txBody>
      </p:sp>
    </p:spTree>
    <p:extLst>
      <p:ext uri="{BB962C8B-B14F-4D97-AF65-F5344CB8AC3E}">
        <p14:creationId xmlns:p14="http://schemas.microsoft.com/office/powerpoint/2010/main" val="364119070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794043" y="105748"/>
            <a:ext cx="468852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Upload &amp; Download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3491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1600" dirty="0"/>
              <a:t>HTML &lt;FORM&gt;</a:t>
            </a:r>
            <a:r>
              <a:rPr lang="ko-KR" altLang="en-US" sz="1600" dirty="0"/>
              <a:t>태그의 </a:t>
            </a:r>
            <a:r>
              <a:rPr lang="en-US" altLang="ko-KR" sz="1600" dirty="0" err="1"/>
              <a:t>enctype</a:t>
            </a:r>
            <a:r>
              <a:rPr lang="en-US" altLang="ko-KR" sz="1600" dirty="0"/>
              <a:t> </a:t>
            </a:r>
            <a:r>
              <a:rPr lang="ko-KR" altLang="en-US" sz="1600" dirty="0"/>
              <a:t>속성을 </a:t>
            </a:r>
            <a:r>
              <a:rPr lang="en-US" altLang="ko-KR" sz="1600" dirty="0"/>
              <a:t>multipart/form-data </a:t>
            </a:r>
            <a:r>
              <a:rPr lang="ko-KR" altLang="en-US" sz="1600" dirty="0"/>
              <a:t>설정</a:t>
            </a:r>
            <a:endParaRPr lang="en-US" altLang="ko-KR" sz="1600" dirty="0"/>
          </a:p>
          <a:p>
            <a:r>
              <a:rPr lang="en-US" altLang="ko-KR" sz="1600" dirty="0"/>
              <a:t>&lt;form action=</a:t>
            </a:r>
            <a:r>
              <a:rPr lang="en-US" altLang="ko-KR" sz="1600" i="1" dirty="0"/>
              <a:t>"add.do" </a:t>
            </a:r>
            <a:r>
              <a:rPr lang="en-US" altLang="ko-KR" sz="1600" i="1" dirty="0">
                <a:solidFill>
                  <a:srgbClr val="FF0000"/>
                </a:solidFill>
              </a:rPr>
              <a:t>method="post" </a:t>
            </a:r>
            <a:r>
              <a:rPr lang="en-US" altLang="ko-KR" sz="1600" b="1" i="1" dirty="0" err="1">
                <a:solidFill>
                  <a:srgbClr val="C00000"/>
                </a:solidFill>
              </a:rPr>
              <a:t>enctype</a:t>
            </a:r>
            <a:r>
              <a:rPr lang="en-US" altLang="ko-KR" sz="1600" b="1" i="1" dirty="0">
                <a:solidFill>
                  <a:srgbClr val="C00000"/>
                </a:solidFill>
              </a:rPr>
              <a:t>="multipart/form-data"&gt;</a:t>
            </a:r>
          </a:p>
          <a:p>
            <a:r>
              <a:rPr lang="en-US" altLang="ko-KR" sz="1600" dirty="0"/>
              <a:t>&lt;input type=</a:t>
            </a:r>
            <a:r>
              <a:rPr lang="en-US" altLang="ko-KR" sz="1600" i="1" dirty="0"/>
              <a:t>"file" name="</a:t>
            </a:r>
            <a:r>
              <a:rPr lang="en-US" altLang="ko-KR" sz="1600" i="1" dirty="0" err="1"/>
              <a:t>uploadfile</a:t>
            </a:r>
            <a:r>
              <a:rPr lang="en-US" altLang="ko-KR" sz="1600" i="1" dirty="0"/>
              <a:t>" required="required"&gt;</a:t>
            </a:r>
          </a:p>
          <a:p>
            <a:r>
              <a:rPr lang="en-US" altLang="ko-KR" sz="1600" dirty="0"/>
              <a:t>&lt;input type=</a:t>
            </a:r>
            <a:r>
              <a:rPr lang="en-US" altLang="ko-KR" sz="1600" i="1" dirty="0"/>
              <a:t>"submit" value="</a:t>
            </a:r>
            <a:r>
              <a:rPr lang="ko-KR" altLang="en-US" sz="1600" i="1" dirty="0"/>
              <a:t>입력하기</a:t>
            </a:r>
            <a:r>
              <a:rPr lang="en-US" altLang="ko-KR" sz="1600" i="1" dirty="0"/>
              <a:t>"&gt;</a:t>
            </a:r>
          </a:p>
          <a:p>
            <a:r>
              <a:rPr lang="en-US" altLang="ko-KR" sz="1600" dirty="0"/>
              <a:t>&lt;/form&gt;</a:t>
            </a:r>
          </a:p>
          <a:p>
            <a:pPr>
              <a:lnSpc>
                <a:spcPct val="150000"/>
              </a:lnSpc>
            </a:pPr>
            <a:endParaRPr lang="en-US" altLang="ko-KR" sz="1600" dirty="0"/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1600" dirty="0"/>
              <a:t>스프링 설정 파일에 </a:t>
            </a:r>
            <a:r>
              <a:rPr lang="en-US" altLang="ko-KR" sz="1600" dirty="0" err="1"/>
              <a:t>MultipartResolver</a:t>
            </a:r>
            <a:r>
              <a:rPr lang="en-US" altLang="ko-KR" sz="1600" dirty="0"/>
              <a:t> </a:t>
            </a:r>
            <a:r>
              <a:rPr lang="ko-KR" altLang="en-US" sz="1600" dirty="0"/>
              <a:t>설정</a:t>
            </a:r>
            <a:endParaRPr lang="en-US" altLang="ko-KR" sz="1600" dirty="0"/>
          </a:p>
          <a:p>
            <a:r>
              <a:rPr lang="en-US" altLang="ko-KR" sz="1600" dirty="0"/>
              <a:t>&lt;bean name=</a:t>
            </a:r>
            <a:r>
              <a:rPr lang="en-US" altLang="ko-KR" sz="1600" i="1" dirty="0"/>
              <a:t>"</a:t>
            </a:r>
            <a:r>
              <a:rPr lang="en-US" altLang="ko-KR" sz="1600" i="1" dirty="0" err="1"/>
              <a:t>multipartResolver</a:t>
            </a:r>
            <a:r>
              <a:rPr lang="en-US" altLang="ko-KR" sz="1600" i="1" dirty="0"/>
              <a:t>" </a:t>
            </a:r>
          </a:p>
          <a:p>
            <a:r>
              <a:rPr lang="en-US" altLang="ko-KR" sz="1600" dirty="0"/>
              <a:t>	class=</a:t>
            </a:r>
            <a:r>
              <a:rPr lang="en-US" altLang="ko-KR" sz="1600" i="1" dirty="0"/>
              <a:t>"</a:t>
            </a:r>
            <a:r>
              <a:rPr lang="en-US" altLang="ko-KR" sz="1600" b="1" i="1" dirty="0">
                <a:solidFill>
                  <a:srgbClr val="C00000"/>
                </a:solidFill>
              </a:rPr>
              <a:t>org.springframework.web.multipart.commons.CommonsMultipartResolver</a:t>
            </a:r>
            <a:r>
              <a:rPr lang="en-US" altLang="ko-KR" sz="1600" i="1" dirty="0"/>
              <a:t>"&gt;</a:t>
            </a:r>
          </a:p>
          <a:p>
            <a:r>
              <a:rPr lang="en-US" altLang="ko-KR" sz="1600" dirty="0"/>
              <a:t>    &lt;property name=</a:t>
            </a:r>
            <a:r>
              <a:rPr lang="en-US" altLang="ko-KR" sz="1600" i="1" dirty="0"/>
              <a:t>"</a:t>
            </a:r>
            <a:r>
              <a:rPr lang="en-US" altLang="ko-KR" sz="1600" i="1" dirty="0" err="1"/>
              <a:t>maxUploadSize</a:t>
            </a:r>
            <a:r>
              <a:rPr lang="en-US" altLang="ko-KR" sz="1600" i="1" dirty="0"/>
              <a:t>" value="10000000"/&gt;</a:t>
            </a:r>
          </a:p>
          <a:p>
            <a:r>
              <a:rPr lang="en-US" altLang="ko-KR" sz="1600" dirty="0"/>
              <a:t>&lt;/bean&gt;</a:t>
            </a:r>
          </a:p>
          <a:p>
            <a:pPr>
              <a:lnSpc>
                <a:spcPct val="150000"/>
              </a:lnSpc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136799173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794043" y="105748"/>
            <a:ext cx="468852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Upload &amp; Download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5596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1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Ajax</a:t>
            </a:r>
            <a:r>
              <a:rPr lang="ko-KR" altLang="en-US" sz="1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요청</a:t>
            </a:r>
            <a:endParaRPr lang="en-US" altLang="ko-KR" sz="16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1"/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  <a:cs typeface="Cascadia Code" panose="020B0609020000020004" pitchFamily="49" charset="0"/>
            </a:endParaRPr>
          </a:p>
          <a:p>
            <a:pPr lvl="1"/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  <a:cs typeface="Cascadia Code" panose="020B0609020000020004" pitchFamily="49" charset="0"/>
            </a:endParaRPr>
          </a:p>
          <a:p>
            <a:pPr lvl="1"/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  <a:cs typeface="Cascadia Code" panose="020B0609020000020004" pitchFamily="49" charset="0"/>
            </a:endParaRPr>
          </a:p>
          <a:p>
            <a:pPr lvl="1"/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  <a:cs typeface="Cascadia Code" panose="020B0609020000020004" pitchFamily="49" charset="0"/>
            </a:endParaRPr>
          </a:p>
          <a:p>
            <a:pPr lvl="1"/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  <a:cs typeface="Cascadia Code" panose="020B0609020000020004" pitchFamily="49" charset="0"/>
            </a:endParaRPr>
          </a:p>
          <a:p>
            <a:pPr lvl="1"/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  <a:cs typeface="Cascadia Code" panose="020B0609020000020004" pitchFamily="49" charset="0"/>
            </a:endParaRPr>
          </a:p>
          <a:p>
            <a:pPr lvl="1"/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  <a:cs typeface="Cascadia Code" panose="020B0609020000020004" pitchFamily="49" charset="0"/>
            </a:endParaRPr>
          </a:p>
          <a:p>
            <a:pPr lvl="1"/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  <a:cs typeface="Cascadia Code" panose="020B0609020000020004" pitchFamily="49" charset="0"/>
            </a:endParaRPr>
          </a:p>
          <a:p>
            <a:pPr lvl="1"/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  <a:cs typeface="Cascadia Code" panose="020B0609020000020004" pitchFamily="49" charset="0"/>
            </a:endParaRPr>
          </a:p>
          <a:p>
            <a:pPr lvl="1"/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  <a:cs typeface="Cascadia Code" panose="020B0609020000020004" pitchFamily="49" charset="0"/>
            </a:endParaRPr>
          </a:p>
          <a:p>
            <a:pPr lvl="1"/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  <a:cs typeface="Cascadia Code" panose="020B0609020000020004" pitchFamily="49" charset="0"/>
            </a:endParaRPr>
          </a:p>
          <a:p>
            <a:pPr lvl="1"/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  <a:cs typeface="Cascadia Code" panose="020B0609020000020004" pitchFamily="49" charset="0"/>
            </a:endParaRPr>
          </a:p>
          <a:p>
            <a:pPr lvl="1"/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  <a:cs typeface="Cascadia Code" panose="020B0609020000020004" pitchFamily="49" charset="0"/>
            </a:endParaRPr>
          </a:p>
          <a:p>
            <a:pPr lvl="1"/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  <a:cs typeface="Cascadia Code" panose="020B0609020000020004" pitchFamily="49" charset="0"/>
            </a:endParaRPr>
          </a:p>
          <a:p>
            <a:pPr lvl="1"/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Cascadia Code" panose="020B0609020000020004" pitchFamily="49" charset="0"/>
              </a:rPr>
              <a:t> </a:t>
            </a: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Cascadia Code" panose="020B0609020000020004" pitchFamily="49" charset="0"/>
              </a:rPr>
              <a:t>processData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Cascadia Code" panose="020B0609020000020004" pitchFamily="49" charset="0"/>
              </a:rPr>
              <a:t> : data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Cascadia Code" panose="020B0609020000020004" pitchFamily="49" charset="0"/>
              </a:rPr>
              <a:t>파라미터로 전달된 데이터를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Cascadia Code" panose="020B0609020000020004" pitchFamily="49" charset="0"/>
              </a:rPr>
              <a:t>jQuery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Cascadia Code" panose="020B0609020000020004" pitchFamily="49" charset="0"/>
              </a:rPr>
              <a:t>내부적으로 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Cascadia Code" panose="020B0609020000020004" pitchFamily="49" charset="0"/>
              </a:rPr>
              <a:t>query string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Cascadia Code" panose="020B0609020000020004" pitchFamily="49" charset="0"/>
              </a:rPr>
              <a:t>으로 만드는데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Cascadia Code" panose="020B0609020000020004" pitchFamily="49" charset="0"/>
              </a:rPr>
              <a:t>,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Cascadia Code" panose="020B0609020000020004" pitchFamily="49" charset="0"/>
              </a:rPr>
              <a:t>파일 전송의 경우 이를 하지 않음으로 변경 </a:t>
            </a:r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  <a:cs typeface="Cascadia Code" panose="020B0609020000020004" pitchFamily="49" charset="0"/>
            </a:endParaRP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Cascadia Code" panose="020B0609020000020004" pitchFamily="49" charset="0"/>
              </a:rPr>
              <a:t>contentType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Cascadia Code" panose="020B0609020000020004" pitchFamily="49" charset="0"/>
              </a:rPr>
              <a:t> :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Cascadia Code" panose="020B0609020000020004" pitchFamily="49" charset="0"/>
              </a:rPr>
              <a:t>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Cascadia Code" panose="020B0609020000020004" pitchFamily="49" charset="0"/>
              </a:rPr>
              <a:t>default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Cascadia Code" panose="020B0609020000020004" pitchFamily="49" charset="0"/>
              </a:rPr>
              <a:t>값이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Cascadia Code" panose="020B0609020000020004" pitchFamily="49" charset="0"/>
              </a:rPr>
              <a:t>"application/x-www-form-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Cascadia Code" panose="020B0609020000020004" pitchFamily="49" charset="0"/>
              </a:rPr>
              <a:t>urlencoded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Cascadia Code" panose="020B0609020000020004" pitchFamily="49" charset="0"/>
              </a:rPr>
              <a:t>; charset=UTF-8"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Cascadia Code" panose="020B0609020000020004" pitchFamily="49" charset="0"/>
              </a:rPr>
              <a:t>인데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Cascadia Code" panose="020B0609020000020004" pitchFamily="49" charset="0"/>
              </a:rPr>
              <a:t>, "multipart/form-data"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Cascadia Code" panose="020B0609020000020004" pitchFamily="49" charset="0"/>
              </a:rPr>
              <a:t>로 전송이 되게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Cascadia Code" panose="020B0609020000020004" pitchFamily="49" charset="0"/>
              </a:rPr>
              <a:t>false</a:t>
            </a:r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17FAB76-7746-194A-3DA0-492B97AF6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618" y="1784958"/>
            <a:ext cx="7209063" cy="347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199212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794043" y="105748"/>
            <a:ext cx="468852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Upload &amp; Download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1600" dirty="0"/>
              <a:t>Controller</a:t>
            </a:r>
            <a:r>
              <a:rPr lang="ko-KR" altLang="en-US" sz="1600" dirty="0"/>
              <a:t>처리 </a:t>
            </a:r>
            <a:endParaRPr lang="en-US" altLang="ko-KR" sz="1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025912F-E3A4-936F-34C6-FE560737B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291" y="1661474"/>
            <a:ext cx="7590355" cy="4882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476534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4E9E4-3BC4-EE75-6224-0B7B4C44F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DD52F976-3484-BDE6-5D3B-B657F92009F8}"/>
              </a:ext>
            </a:extLst>
          </p:cNvPr>
          <p:cNvSpPr/>
          <p:nvPr/>
        </p:nvSpPr>
        <p:spPr>
          <a:xfrm>
            <a:off x="3794043" y="105748"/>
            <a:ext cx="468852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Upload &amp; Download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C9B9E7A-DBFC-5774-8B37-AD3006662390}"/>
              </a:ext>
            </a:extLst>
          </p:cNvPr>
          <p:cNvSpPr/>
          <p:nvPr/>
        </p:nvSpPr>
        <p:spPr>
          <a:xfrm>
            <a:off x="488356" y="1170422"/>
            <a:ext cx="10591235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1600" dirty="0"/>
              <a:t>Ajax</a:t>
            </a:r>
            <a:r>
              <a:rPr lang="ko-KR" altLang="en-US" sz="1600" dirty="0"/>
              <a:t>요청</a:t>
            </a:r>
            <a:r>
              <a:rPr lang="en-US" altLang="ko-KR" sz="1600" dirty="0"/>
              <a:t> </a:t>
            </a:r>
            <a:r>
              <a:rPr lang="ko-KR" altLang="en-US" sz="1600" dirty="0"/>
              <a:t>처리 </a:t>
            </a:r>
            <a:endParaRPr lang="en-US" altLang="ko-KR" sz="16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E47F947-A894-4910-E5CF-2181BA3BE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966" y="1693584"/>
            <a:ext cx="7492359" cy="481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119079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794043" y="105748"/>
            <a:ext cx="468852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Upload &amp; Download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1600" dirty="0"/>
              <a:t>HTML</a:t>
            </a:r>
          </a:p>
          <a:p>
            <a:endParaRPr lang="en-US" altLang="ko-KR" sz="1600" i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D61FFAC-EC76-E128-665F-0A76D538E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131" y="2069693"/>
            <a:ext cx="9126224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444863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794043" y="105748"/>
            <a:ext cx="468852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Upload &amp; Download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059123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[download]</a:t>
            </a:r>
          </a:p>
          <a:p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56C56FC-A3C6-4A40-DF85-0493DF1ED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014" y="1643449"/>
            <a:ext cx="11447971" cy="471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999741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FF01E098-FBDB-420F-88A9-27027F4759A5}"/>
              </a:ext>
            </a:extLst>
          </p:cNvPr>
          <p:cNvGrpSpPr/>
          <p:nvPr/>
        </p:nvGrpSpPr>
        <p:grpSpPr>
          <a:xfrm>
            <a:off x="3726874" y="2815838"/>
            <a:ext cx="7315199" cy="1226323"/>
            <a:chOff x="4793673" y="1246908"/>
            <a:chExt cx="6442363" cy="1080000"/>
          </a:xfrm>
        </p:grpSpPr>
        <p:sp>
          <p:nvSpPr>
            <p:cNvPr id="14" name="육각형 13">
              <a:extLst>
                <a:ext uri="{FF2B5EF4-FFF2-40B4-BE49-F238E27FC236}">
                  <a16:creationId xmlns:a16="http://schemas.microsoft.com/office/drawing/2014/main" id="{7ADDF6C6-9FD3-40F2-ADC2-37A43AADF7ED}"/>
                </a:ext>
              </a:extLst>
            </p:cNvPr>
            <p:cNvSpPr/>
            <p:nvPr/>
          </p:nvSpPr>
          <p:spPr>
            <a:xfrm>
              <a:off x="4793673" y="1246908"/>
              <a:ext cx="6442363" cy="1080000"/>
            </a:xfrm>
            <a:prstGeom prst="hexagon">
              <a:avLst>
                <a:gd name="adj" fmla="val 42671"/>
                <a:gd name="vf" fmla="val 11547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화살표: 오각형 14">
              <a:extLst>
                <a:ext uri="{FF2B5EF4-FFF2-40B4-BE49-F238E27FC236}">
                  <a16:creationId xmlns:a16="http://schemas.microsoft.com/office/drawing/2014/main" id="{81F229D3-E3EA-4A23-AA82-5E2AF3A625A9}"/>
                </a:ext>
              </a:extLst>
            </p:cNvPr>
            <p:cNvSpPr/>
            <p:nvPr/>
          </p:nvSpPr>
          <p:spPr>
            <a:xfrm>
              <a:off x="5632954" y="1371410"/>
              <a:ext cx="5339846" cy="830996"/>
            </a:xfrm>
            <a:prstGeom prst="homePlat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D920D6B8-E4ED-4528-A983-BD701AD4E691}"/>
                </a:ext>
              </a:extLst>
            </p:cNvPr>
            <p:cNvSpPr/>
            <p:nvPr/>
          </p:nvSpPr>
          <p:spPr>
            <a:xfrm>
              <a:off x="5196182" y="1364345"/>
              <a:ext cx="845127" cy="845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51810F50-4F4F-4ABD-840E-E581E3B8C415}"/>
                </a:ext>
              </a:extLst>
            </p:cNvPr>
            <p:cNvGrpSpPr/>
            <p:nvPr/>
          </p:nvGrpSpPr>
          <p:grpSpPr>
            <a:xfrm>
              <a:off x="5537400" y="1369809"/>
              <a:ext cx="4159582" cy="813160"/>
              <a:chOff x="5516922" y="1640913"/>
              <a:chExt cx="2999292" cy="586335"/>
            </a:xfrm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EB1F94F4-27C9-4570-8682-1A33FA68D416}"/>
                  </a:ext>
                </a:extLst>
              </p:cNvPr>
              <p:cNvSpPr/>
              <p:nvPr/>
            </p:nvSpPr>
            <p:spPr>
              <a:xfrm>
                <a:off x="6030979" y="1689775"/>
                <a:ext cx="2485235" cy="488612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defTabSz="1076865" eaLnBrk="0" latinLnBrk="0" hangingPunct="0">
                  <a:spcAft>
                    <a:spcPts val="486"/>
                  </a:spcAft>
                  <a:buSzPct val="100000"/>
                  <a:defRPr/>
                </a:pPr>
                <a:r>
                  <a:rPr lang="en-US" altLang="ko-KR" sz="4400" dirty="0">
                    <a:gradFill>
                      <a:gsLst>
                        <a:gs pos="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6200000" scaled="1"/>
                    </a:gradFill>
                    <a:latin typeface="HY견고딕" pitchFamily="18" charset="-127"/>
                    <a:ea typeface="HY견고딕" pitchFamily="18" charset="-127"/>
                  </a:rPr>
                  <a:t>WebSocket</a:t>
                </a:r>
                <a:endParaRPr lang="ko-KR" altLang="en-US" sz="4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16200000" scaled="1"/>
                  </a:gradFill>
                  <a:latin typeface="HY견고딕" pitchFamily="18" charset="-127"/>
                  <a:ea typeface="HY견고딕" pitchFamily="18" charset="-127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4541CD06-C435-48C0-AA4F-7B628FBAD386}"/>
                  </a:ext>
                </a:extLst>
              </p:cNvPr>
              <p:cNvSpPr/>
              <p:nvPr/>
            </p:nvSpPr>
            <p:spPr>
              <a:xfrm>
                <a:off x="5516922" y="1640913"/>
                <a:ext cx="117307" cy="586335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5400" b="1" i="0" u="none" strike="noStrike" kern="0" normalizeH="0" baseline="0" noProof="0" dirty="0">
                  <a:ln w="2857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uLnTx/>
                  <a:uFillTx/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98840373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719233" y="105748"/>
            <a:ext cx="283814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WebSocket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1151709" cy="54032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WebSocket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이란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?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0" i="0" dirty="0" err="1">
                <a:solidFill>
                  <a:srgbClr val="1B1B1B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ws</a:t>
            </a:r>
            <a:r>
              <a:rPr lang="en-US" altLang="ko-KR" sz="2000" b="0" i="0" dirty="0">
                <a:solidFill>
                  <a:srgbClr val="1B1B1B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000" b="0" i="0" dirty="0">
                <a:solidFill>
                  <a:srgbClr val="1B1B1B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프로토콜을 기반으로 클라이언트와 서버 사이에 양방향 연결 스트림을 만들어 주는 기술이다</a:t>
            </a:r>
            <a:r>
              <a:rPr lang="en-US" altLang="ko-KR" sz="2000" b="0" i="0" dirty="0">
                <a:solidFill>
                  <a:srgbClr val="1B1B1B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. 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0" i="0" dirty="0">
                <a:solidFill>
                  <a:srgbClr val="1B1B1B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접속 후에는  요청없이</a:t>
            </a:r>
            <a:r>
              <a:rPr lang="en-US" altLang="ko-KR" sz="2000" b="0" i="0" dirty="0">
                <a:solidFill>
                  <a:srgbClr val="1B1B1B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000" b="0" i="0" dirty="0">
                <a:solidFill>
                  <a:srgbClr val="1B1B1B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실시간 응답 받기가 가능하다</a:t>
            </a:r>
            <a:r>
              <a:rPr lang="en-US" altLang="ko-KR" sz="2000" b="0" i="0" dirty="0">
                <a:solidFill>
                  <a:srgbClr val="1B1B1B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WebSocket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 필요한 경우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647700" lvl="1" indent="-323850">
              <a:lnSpc>
                <a:spcPct val="150000"/>
              </a:lnSpc>
              <a:buFont typeface="Arial"/>
              <a:buChar char="•"/>
            </a:pPr>
            <a:r>
              <a:rPr lang="en-US" altLang="ko-KR" sz="2000" dirty="0" err="1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실시간</a:t>
            </a:r>
            <a:r>
              <a:rPr lang="en-US" altLang="ko-KR" sz="2000" dirty="0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dirty="0" err="1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양방향</a:t>
            </a:r>
            <a:r>
              <a:rPr lang="en-US" altLang="ko-KR" sz="2000" dirty="0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dirty="0" err="1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</a:t>
            </a:r>
            <a:r>
              <a:rPr lang="en-US" altLang="ko-KR" sz="2000" dirty="0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dirty="0" err="1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통신이</a:t>
            </a:r>
            <a:r>
              <a:rPr lang="en-US" altLang="ko-KR" sz="2000" dirty="0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dirty="0" err="1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필요한</a:t>
            </a:r>
            <a:r>
              <a:rPr lang="en-US" altLang="ko-KR" sz="2000" dirty="0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dirty="0" err="1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경우</a:t>
            </a:r>
            <a:endParaRPr lang="en-US" altLang="ko-KR" sz="2000" dirty="0">
              <a:solidFill>
                <a:srgbClr val="191919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647700" lvl="1" indent="-323850">
              <a:lnSpc>
                <a:spcPct val="150000"/>
              </a:lnSpc>
              <a:buFont typeface="Arial"/>
              <a:buChar char="•"/>
            </a:pPr>
            <a:r>
              <a:rPr lang="en-US" altLang="ko-KR" sz="2000" dirty="0" err="1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많은</a:t>
            </a:r>
            <a:r>
              <a:rPr lang="en-US" altLang="ko-KR" sz="2000" dirty="0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dirty="0" err="1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수의</a:t>
            </a:r>
            <a:r>
              <a:rPr lang="en-US" altLang="ko-KR" sz="2000" dirty="0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dirty="0" err="1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동시</a:t>
            </a:r>
            <a:r>
              <a:rPr lang="en-US" altLang="ko-KR" sz="2000" dirty="0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dirty="0" err="1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접속자를</a:t>
            </a:r>
            <a:r>
              <a:rPr lang="en-US" altLang="ko-KR" sz="2000" dirty="0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dirty="0" err="1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수용해야</a:t>
            </a:r>
            <a:r>
              <a:rPr lang="en-US" altLang="ko-KR" sz="2000" dirty="0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할 </a:t>
            </a:r>
            <a:r>
              <a:rPr lang="en-US" altLang="ko-KR" sz="2000" dirty="0" err="1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경우</a:t>
            </a:r>
            <a:endParaRPr lang="en-US" altLang="ko-KR" sz="2000" dirty="0">
              <a:solidFill>
                <a:srgbClr val="191919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647700" lvl="1" indent="-323850">
              <a:lnSpc>
                <a:spcPct val="150000"/>
              </a:lnSpc>
              <a:buFont typeface="Arial"/>
              <a:buChar char="•"/>
            </a:pPr>
            <a:r>
              <a:rPr lang="en-US" altLang="ko-KR" sz="2000" dirty="0" err="1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브라우저에서</a:t>
            </a:r>
            <a:r>
              <a:rPr lang="en-US" altLang="ko-KR" sz="2000" dirty="0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TCP </a:t>
            </a:r>
            <a:r>
              <a:rPr lang="en-US" altLang="ko-KR" sz="2000" dirty="0" err="1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기반의</a:t>
            </a:r>
            <a:r>
              <a:rPr lang="en-US" altLang="ko-KR" sz="2000" dirty="0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dirty="0" err="1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통신으로</a:t>
            </a:r>
            <a:r>
              <a:rPr lang="en-US" altLang="ko-KR" sz="2000" dirty="0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dirty="0" err="1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확장해야</a:t>
            </a:r>
            <a:r>
              <a:rPr lang="en-US" altLang="ko-KR" sz="2000" dirty="0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dirty="0" err="1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하는</a:t>
            </a:r>
            <a:r>
              <a:rPr lang="en-US" altLang="ko-KR" sz="2000" dirty="0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dirty="0" err="1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경우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사용 예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 err="1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페이스북과</a:t>
            </a:r>
            <a:r>
              <a:rPr lang="en-US" altLang="ko-KR" sz="2000" dirty="0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dirty="0" err="1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같은</a:t>
            </a:r>
            <a:r>
              <a:rPr lang="en-US" altLang="ko-KR" sz="2000" dirty="0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SNS APP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 err="1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LOL같은</a:t>
            </a:r>
            <a:r>
              <a:rPr lang="en-US" altLang="ko-KR" sz="2000" dirty="0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dirty="0" err="1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멀티플레이어</a:t>
            </a:r>
            <a:r>
              <a:rPr lang="en-US" altLang="ko-KR" sz="2000" dirty="0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GAME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 err="1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화상</a:t>
            </a:r>
            <a:r>
              <a:rPr lang="en-US" altLang="ko-KR" sz="2000" dirty="0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dirty="0" err="1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채팅</a:t>
            </a:r>
            <a:r>
              <a:rPr lang="en-US" altLang="ko-KR" sz="2000" dirty="0">
                <a:solidFill>
                  <a:srgbClr val="19191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APP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434F967-B955-93AA-7868-11E31C373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7382" y="2540958"/>
            <a:ext cx="3057952" cy="356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579058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719233" y="105748"/>
            <a:ext cx="283814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WebSocket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1151709" cy="2116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Library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준비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1">
              <a:lnSpc>
                <a:spcPct val="150000"/>
              </a:lnSpc>
            </a:pPr>
            <a:endParaRPr lang="ko-KR" altLang="en-US" i="0" dirty="0">
              <a:effectLst/>
              <a:highlight>
                <a:srgbClr val="FFFFFF"/>
              </a:highligh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14400" lvl="1" indent="-457200">
              <a:lnSpc>
                <a:spcPct val="150000"/>
              </a:lnSpc>
              <a:buFont typeface="+mj-ea"/>
              <a:buAutoNum type="circleNumDbPlain" startAt="2"/>
            </a:pPr>
            <a:endParaRPr lang="ko-KR" altLang="en-US" sz="2400" b="1" i="0" dirty="0">
              <a:solidFill>
                <a:srgbClr val="1B1B1B"/>
              </a:solidFill>
              <a:effectLst/>
              <a:highlight>
                <a:srgbClr val="FFFFFF"/>
              </a:highlight>
              <a:latin typeface="Inter"/>
            </a:endParaRPr>
          </a:p>
          <a:p>
            <a:pPr marL="914400" lvl="1" indent="-457200">
              <a:lnSpc>
                <a:spcPct val="150000"/>
              </a:lnSpc>
              <a:buFont typeface="+mj-ea"/>
              <a:buAutoNum type="circleNumDbPlain" startAt="2"/>
            </a:pP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" name="Freeform 4">
            <a:extLst>
              <a:ext uri="{FF2B5EF4-FFF2-40B4-BE49-F238E27FC236}">
                <a16:creationId xmlns:a16="http://schemas.microsoft.com/office/drawing/2014/main" id="{5B0A80A4-16F4-F6D4-304A-3BF6F1F41649}"/>
              </a:ext>
            </a:extLst>
          </p:cNvPr>
          <p:cNvSpPr/>
          <p:nvPr/>
        </p:nvSpPr>
        <p:spPr>
          <a:xfrm>
            <a:off x="667011" y="1868795"/>
            <a:ext cx="7352524" cy="4618502"/>
          </a:xfrm>
          <a:custGeom>
            <a:avLst/>
            <a:gdLst/>
            <a:ahLst/>
            <a:cxnLst/>
            <a:rect l="l" t="t" r="r" b="b"/>
            <a:pathLst>
              <a:path w="7361792" h="5589269">
                <a:moveTo>
                  <a:pt x="0" y="0"/>
                </a:moveTo>
                <a:lnTo>
                  <a:pt x="7361792" y="0"/>
                </a:lnTo>
                <a:lnTo>
                  <a:pt x="7361792" y="5589269"/>
                </a:lnTo>
                <a:lnTo>
                  <a:pt x="0" y="55892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6578777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719233" y="105748"/>
            <a:ext cx="283814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WebSocket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1151709" cy="1147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WebSocketServer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1">
              <a:lnSpc>
                <a:spcPct val="150000"/>
              </a:lnSpc>
            </a:pP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EAA2B23-AFBA-1DD6-A11F-E7D8EAB0EE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978746"/>
              </p:ext>
            </p:extLst>
          </p:nvPr>
        </p:nvGraphicFramePr>
        <p:xfrm>
          <a:off x="907535" y="1967698"/>
          <a:ext cx="10176476" cy="3375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2613">
                  <a:extLst>
                    <a:ext uri="{9D8B030D-6E8A-4147-A177-3AD203B41FA5}">
                      <a16:colId xmlns:a16="http://schemas.microsoft.com/office/drawing/2014/main" val="3851845378"/>
                    </a:ext>
                  </a:extLst>
                </a:gridCol>
                <a:gridCol w="7243863">
                  <a:extLst>
                    <a:ext uri="{9D8B030D-6E8A-4147-A177-3AD203B41FA5}">
                      <a16:colId xmlns:a16="http://schemas.microsoft.com/office/drawing/2014/main" val="26586984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Annotation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역할</a:t>
                      </a:r>
                      <a:r>
                        <a:rPr lang="en-US" altLang="ko-KR" dirty="0"/>
                        <a:t> 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1823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@ServerEndPoint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웹 </a:t>
                      </a:r>
                      <a:r>
                        <a:rPr lang="en-US" altLang="ko-KR" sz="2000" b="0" dirty="0" err="1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소켓을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 </a:t>
                      </a:r>
                      <a:r>
                        <a:rPr lang="en-US" altLang="ko-KR" sz="2000" b="0" dirty="0" err="1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통한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 </a:t>
                      </a:r>
                      <a:r>
                        <a:rPr lang="en-US" altLang="ko-KR" sz="2000" b="0" dirty="0" err="1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실시간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 </a:t>
                      </a:r>
                      <a:r>
                        <a:rPr lang="en-US" altLang="ko-KR" sz="2000" b="0" dirty="0" err="1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양방향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 </a:t>
                      </a:r>
                      <a:r>
                        <a:rPr lang="en-US" altLang="ko-KR" sz="2000" b="0" dirty="0" err="1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통신을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 </a:t>
                      </a:r>
                      <a:r>
                        <a:rPr lang="en-US" altLang="ko-KR" sz="2000" b="0" dirty="0" err="1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가능하게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 </a:t>
                      </a:r>
                      <a:r>
                        <a:rPr lang="en-US" altLang="ko-KR" sz="2000" b="0" dirty="0" err="1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하는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 </a:t>
                      </a:r>
                      <a:r>
                        <a:rPr lang="en-US" altLang="ko-KR" sz="2000" b="0" dirty="0" err="1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서버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 </a:t>
                      </a:r>
                      <a:r>
                        <a:rPr lang="en-US" altLang="ko-KR" sz="2000" b="0" dirty="0" err="1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사이드의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 </a:t>
                      </a:r>
                      <a:r>
                        <a:rPr lang="en-US" altLang="ko-KR" sz="2000" b="0" dirty="0" err="1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연결점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, </a:t>
                      </a:r>
                      <a:r>
                        <a:rPr lang="en-US" altLang="ko-KR" sz="2000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Spring </a:t>
                      </a:r>
                      <a:r>
                        <a:rPr lang="ko-KR" altLang="en-US" sz="2000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관리 </a:t>
                      </a:r>
                      <a:r>
                        <a:rPr lang="en-US" altLang="ko-KR" sz="2000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Bean </a:t>
                      </a:r>
                      <a:r>
                        <a:rPr lang="ko-KR" altLang="en-US" sz="2000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아님 → 외부 </a:t>
                      </a:r>
                      <a:r>
                        <a:rPr lang="ko-KR" altLang="en-US" sz="2000" dirty="0" err="1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톰캣이</a:t>
                      </a:r>
                      <a:r>
                        <a:rPr lang="ko-KR" altLang="en-US" sz="2000" dirty="0"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 직접 스캔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effectLst/>
                        <a:latin typeface="CookieRun Regular" panose="020B0600000101010101" pitchFamily="50" charset="-127"/>
                        <a:ea typeface="CookieRun Regular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665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@OnOpen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웹 </a:t>
                      </a:r>
                      <a:r>
                        <a:rPr lang="en-US" altLang="ko-KR" sz="2000" b="0" dirty="0" err="1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소켓이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 </a:t>
                      </a:r>
                      <a:r>
                        <a:rPr lang="en-US" altLang="ko-KR" sz="2000" b="0" dirty="0" err="1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연결되면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 </a:t>
                      </a:r>
                      <a:r>
                        <a:rPr lang="en-US" altLang="ko-KR" sz="2000" b="0" dirty="0" err="1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호출되는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 </a:t>
                      </a:r>
                      <a:r>
                        <a:rPr lang="en-US" altLang="ko-KR" sz="2000" b="0" dirty="0" err="1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이벤트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effectLst/>
                        <a:latin typeface="CookieRun Regular" panose="020B0600000101010101" pitchFamily="50" charset="-127"/>
                        <a:ea typeface="CookieRun Regular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3793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@OnMessage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dirty="0" err="1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클라이언트에서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 </a:t>
                      </a:r>
                      <a:r>
                        <a:rPr lang="en-US" altLang="ko-KR" sz="2000" b="0" dirty="0" err="1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서버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 </a:t>
                      </a:r>
                      <a:r>
                        <a:rPr lang="en-US" altLang="ko-KR" sz="2000" b="0" dirty="0" err="1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측으로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 </a:t>
                      </a:r>
                      <a:r>
                        <a:rPr lang="en-US" altLang="ko-KR" sz="2000" b="0" dirty="0" err="1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메시지를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 </a:t>
                      </a:r>
                      <a:r>
                        <a:rPr lang="en-US" altLang="ko-KR" sz="2000" b="0" dirty="0" err="1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보내면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 </a:t>
                      </a:r>
                      <a:r>
                        <a:rPr lang="en-US" altLang="ko-KR" sz="2000" b="0" dirty="0" err="1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호출되는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 </a:t>
                      </a:r>
                      <a:r>
                        <a:rPr lang="en-US" altLang="ko-KR" sz="2000" b="0" dirty="0" err="1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이벤트</a:t>
                      </a:r>
                      <a:endParaRPr lang="en-US" altLang="ko-KR" sz="2000" b="0" dirty="0">
                        <a:solidFill>
                          <a:schemeClr val="tx1"/>
                        </a:solidFill>
                        <a:effectLst/>
                        <a:latin typeface="CookieRun Regular" panose="020B0600000101010101" pitchFamily="50" charset="-127"/>
                        <a:ea typeface="CookieRun Regular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998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@OnClose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웹 </a:t>
                      </a:r>
                      <a:r>
                        <a:rPr lang="en-US" altLang="ko-KR" sz="2000" b="0" dirty="0" err="1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소켓이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 </a:t>
                      </a:r>
                      <a:r>
                        <a:rPr lang="en-US" altLang="ko-KR" sz="2000" b="0" dirty="0" err="1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닫히면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 </a:t>
                      </a:r>
                      <a:r>
                        <a:rPr lang="en-US" altLang="ko-KR" sz="2000" b="0" dirty="0" err="1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호출되는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 </a:t>
                      </a:r>
                      <a:r>
                        <a:rPr lang="en-US" altLang="ko-KR" sz="2000" b="0" dirty="0" err="1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이벤트</a:t>
                      </a:r>
                      <a:endParaRPr lang="en-US" altLang="ko-KR" sz="2000" b="0" dirty="0">
                        <a:solidFill>
                          <a:schemeClr val="tx1"/>
                        </a:solidFill>
                        <a:effectLst/>
                        <a:latin typeface="CookieRun Regular" panose="020B0600000101010101" pitchFamily="50" charset="-127"/>
                        <a:ea typeface="CookieRun Regular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9957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@OnError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웹 </a:t>
                      </a:r>
                      <a:r>
                        <a:rPr lang="en-US" altLang="ko-KR" sz="2000" b="0" dirty="0" err="1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소켓이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 </a:t>
                      </a:r>
                      <a:r>
                        <a:rPr lang="en-US" altLang="ko-KR" sz="2000" b="0" dirty="0" err="1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에러가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 </a:t>
                      </a:r>
                      <a:r>
                        <a:rPr lang="en-US" altLang="ko-KR" sz="2000" b="0" dirty="0" err="1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나면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 </a:t>
                      </a:r>
                      <a:r>
                        <a:rPr lang="en-US" altLang="ko-KR" sz="2000" b="0" dirty="0" err="1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발생하는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 </a:t>
                      </a:r>
                      <a:r>
                        <a:rPr lang="en-US" altLang="ko-KR" sz="2000" b="0" dirty="0" err="1">
                          <a:solidFill>
                            <a:schemeClr val="tx1"/>
                          </a:solidFill>
                          <a:effectLst/>
                          <a:latin typeface="CookieRun Regular" panose="020B0600000101010101" pitchFamily="50" charset="-127"/>
                          <a:ea typeface="CookieRun Regular" panose="020B0600000101010101" pitchFamily="50" charset="-127"/>
                        </a:rPr>
                        <a:t>이벤트</a:t>
                      </a:r>
                      <a:endParaRPr lang="en-US" altLang="ko-KR" sz="2000" b="0" dirty="0">
                        <a:solidFill>
                          <a:schemeClr val="tx1"/>
                        </a:solidFill>
                        <a:effectLst/>
                        <a:latin typeface="CookieRun Regular" panose="020B0600000101010101" pitchFamily="50" charset="-127"/>
                        <a:ea typeface="CookieRun Regular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3858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9991090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719233" y="105748"/>
            <a:ext cx="283814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WebSocket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1151709" cy="1147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WebSocketServer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1">
              <a:lnSpc>
                <a:spcPct val="150000"/>
              </a:lnSpc>
            </a:pP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6DF8A27-7470-D0A4-96F9-60A05E564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39" y="2007407"/>
            <a:ext cx="6555151" cy="429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113259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719233" y="105748"/>
            <a:ext cx="283814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WebSocket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1151709" cy="1147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WebSocketServer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1">
              <a:lnSpc>
                <a:spcPct val="150000"/>
              </a:lnSpc>
            </a:pP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41ED546-0F0B-03BC-F015-6902FDD4B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009" y="1787996"/>
            <a:ext cx="5970306" cy="474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10524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719233" y="105748"/>
            <a:ext cx="283814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WebSocket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1151709" cy="593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chatting.jsp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[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연결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]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2D44BC8-96D7-3DA7-29E6-FE963DB09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3579" y="1346887"/>
            <a:ext cx="2490691" cy="509357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29BF764-6F82-BBF8-CB83-12BA14B33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161" y="2362889"/>
            <a:ext cx="7135221" cy="332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980863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B7A8E-EB16-0B1D-CA2C-7B46881A2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3954615-34EC-EA48-4848-72280A5E0D24}"/>
              </a:ext>
            </a:extLst>
          </p:cNvPr>
          <p:cNvSpPr/>
          <p:nvPr/>
        </p:nvSpPr>
        <p:spPr>
          <a:xfrm>
            <a:off x="4719233" y="105748"/>
            <a:ext cx="283814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WebSocket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F10B700-4409-283D-F4F3-D5DDF1568BB5}"/>
              </a:ext>
            </a:extLst>
          </p:cNvPr>
          <p:cNvSpPr/>
          <p:nvPr/>
        </p:nvSpPr>
        <p:spPr>
          <a:xfrm>
            <a:off x="488356" y="1170422"/>
            <a:ext cx="11151709" cy="593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chatting.jsp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[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해제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]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EB1C721-DAD4-015D-A376-6BFB4B3C3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3579" y="1346887"/>
            <a:ext cx="2490691" cy="509357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F29B4EE-6AE4-D2E4-E259-977A0BB61B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034" y="2019941"/>
            <a:ext cx="5887272" cy="366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226387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82D18-C489-FDA3-C02E-8A1F6D560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29F1AE8B-6626-C75F-48CE-F70B6AF90F7E}"/>
              </a:ext>
            </a:extLst>
          </p:cNvPr>
          <p:cNvSpPr/>
          <p:nvPr/>
        </p:nvSpPr>
        <p:spPr>
          <a:xfrm>
            <a:off x="4719233" y="105748"/>
            <a:ext cx="283814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WebSocket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888DFAC-6615-B5D5-AEC2-48AF8273B72B}"/>
              </a:ext>
            </a:extLst>
          </p:cNvPr>
          <p:cNvSpPr/>
          <p:nvPr/>
        </p:nvSpPr>
        <p:spPr>
          <a:xfrm>
            <a:off x="488356" y="1170422"/>
            <a:ext cx="11151709" cy="593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chatting.jsp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[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메시지 전송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]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CB4226B-A5BD-B39B-DF97-675CF944B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3579" y="1346887"/>
            <a:ext cx="2490691" cy="509357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1E8BC58-580B-184D-0DDE-57CEA8C93C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886" y="1948484"/>
            <a:ext cx="6105090" cy="430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763797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F57E9-9134-E41B-9F98-67CDFA88A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4F0D0ED2-A735-C74E-0CD5-1F2DD312F497}"/>
              </a:ext>
            </a:extLst>
          </p:cNvPr>
          <p:cNvSpPr/>
          <p:nvPr/>
        </p:nvSpPr>
        <p:spPr>
          <a:xfrm>
            <a:off x="4719233" y="105748"/>
            <a:ext cx="283814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WebSocket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DF8B3A4-AB14-EBDB-1192-5709ABF2AF9B}"/>
              </a:ext>
            </a:extLst>
          </p:cNvPr>
          <p:cNvSpPr/>
          <p:nvPr/>
        </p:nvSpPr>
        <p:spPr>
          <a:xfrm>
            <a:off x="488356" y="1170422"/>
            <a:ext cx="11151709" cy="593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chatting.jsp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[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메시지 출력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]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9D8603B-B1CA-FF9D-3756-A8BA1FBE1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3579" y="1346887"/>
            <a:ext cx="2490691" cy="509357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44E1EAC-D0F6-D231-81A9-30D7CB0B5F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845" y="1932377"/>
            <a:ext cx="5427939" cy="433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571048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1D7B6-BC00-57E7-C90E-33776CDBF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44DE255F-15BF-34E2-3074-6D89A558F947}"/>
              </a:ext>
            </a:extLst>
          </p:cNvPr>
          <p:cNvSpPr/>
          <p:nvPr/>
        </p:nvSpPr>
        <p:spPr>
          <a:xfrm>
            <a:off x="4719233" y="105748"/>
            <a:ext cx="283814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WebSocket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E9C936B-04E6-9042-ABA0-B7AB6E2181CA}"/>
              </a:ext>
            </a:extLst>
          </p:cNvPr>
          <p:cNvSpPr/>
          <p:nvPr/>
        </p:nvSpPr>
        <p:spPr>
          <a:xfrm>
            <a:off x="488356" y="1170422"/>
            <a:ext cx="11151709" cy="593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chatting.jsp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[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메시지 출력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]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A8B21E4-DDB9-08D8-246B-07C296E3B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3579" y="1346887"/>
            <a:ext cx="2490691" cy="509357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EECCCDE-5376-8192-0B86-FC3931985F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433" y="1775734"/>
            <a:ext cx="6284203" cy="466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152509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FF01E098-FBDB-420F-88A9-27027F4759A5}"/>
              </a:ext>
            </a:extLst>
          </p:cNvPr>
          <p:cNvGrpSpPr/>
          <p:nvPr/>
        </p:nvGrpSpPr>
        <p:grpSpPr>
          <a:xfrm>
            <a:off x="3726874" y="2815838"/>
            <a:ext cx="7315199" cy="1226323"/>
            <a:chOff x="4793673" y="1246908"/>
            <a:chExt cx="6442363" cy="1080000"/>
          </a:xfrm>
        </p:grpSpPr>
        <p:sp>
          <p:nvSpPr>
            <p:cNvPr id="14" name="육각형 13">
              <a:extLst>
                <a:ext uri="{FF2B5EF4-FFF2-40B4-BE49-F238E27FC236}">
                  <a16:creationId xmlns:a16="http://schemas.microsoft.com/office/drawing/2014/main" id="{7ADDF6C6-9FD3-40F2-ADC2-37A43AADF7ED}"/>
                </a:ext>
              </a:extLst>
            </p:cNvPr>
            <p:cNvSpPr/>
            <p:nvPr/>
          </p:nvSpPr>
          <p:spPr>
            <a:xfrm>
              <a:off x="4793673" y="1246908"/>
              <a:ext cx="6442363" cy="1080000"/>
            </a:xfrm>
            <a:prstGeom prst="hexagon">
              <a:avLst>
                <a:gd name="adj" fmla="val 42671"/>
                <a:gd name="vf" fmla="val 11547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화살표: 오각형 14">
              <a:extLst>
                <a:ext uri="{FF2B5EF4-FFF2-40B4-BE49-F238E27FC236}">
                  <a16:creationId xmlns:a16="http://schemas.microsoft.com/office/drawing/2014/main" id="{81F229D3-E3EA-4A23-AA82-5E2AF3A625A9}"/>
                </a:ext>
              </a:extLst>
            </p:cNvPr>
            <p:cNvSpPr/>
            <p:nvPr/>
          </p:nvSpPr>
          <p:spPr>
            <a:xfrm>
              <a:off x="5632954" y="1371410"/>
              <a:ext cx="5339846" cy="830996"/>
            </a:xfrm>
            <a:prstGeom prst="homePlat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D920D6B8-E4ED-4528-A983-BD701AD4E691}"/>
                </a:ext>
              </a:extLst>
            </p:cNvPr>
            <p:cNvSpPr/>
            <p:nvPr/>
          </p:nvSpPr>
          <p:spPr>
            <a:xfrm>
              <a:off x="5196182" y="1364345"/>
              <a:ext cx="845127" cy="845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51810F50-4F4F-4ABD-840E-E581E3B8C415}"/>
                </a:ext>
              </a:extLst>
            </p:cNvPr>
            <p:cNvGrpSpPr/>
            <p:nvPr/>
          </p:nvGrpSpPr>
          <p:grpSpPr>
            <a:xfrm>
              <a:off x="5537393" y="1369809"/>
              <a:ext cx="5104389" cy="813160"/>
              <a:chOff x="5516922" y="1640913"/>
              <a:chExt cx="3680552" cy="586335"/>
            </a:xfrm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EB1F94F4-27C9-4570-8682-1A33FA68D416}"/>
                  </a:ext>
                </a:extLst>
              </p:cNvPr>
              <p:cNvSpPr/>
              <p:nvPr/>
            </p:nvSpPr>
            <p:spPr>
              <a:xfrm>
                <a:off x="5881889" y="1689774"/>
                <a:ext cx="3315585" cy="488612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defTabSz="1076865" eaLnBrk="0" latinLnBrk="0" hangingPunct="0">
                  <a:spcAft>
                    <a:spcPts val="486"/>
                  </a:spcAft>
                  <a:buSzPct val="100000"/>
                  <a:defRPr/>
                </a:pPr>
                <a:r>
                  <a:rPr lang="en-US" altLang="ko-KR" sz="4400" dirty="0">
                    <a:gradFill>
                      <a:gsLst>
                        <a:gs pos="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6200000" scaled="1"/>
                    </a:gradFill>
                    <a:latin typeface="HY견고딕" pitchFamily="18" charset="-127"/>
                    <a:ea typeface="HY견고딕" pitchFamily="18" charset="-127"/>
                  </a:rPr>
                  <a:t>END</a:t>
                </a:r>
                <a:endParaRPr lang="ko-KR" altLang="en-US" sz="4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16200000" scaled="1"/>
                  </a:gradFill>
                  <a:latin typeface="HY견고딕" pitchFamily="18" charset="-127"/>
                  <a:ea typeface="HY견고딕" pitchFamily="18" charset="-127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4541CD06-C435-48C0-AA4F-7B628FBAD386}"/>
                  </a:ext>
                </a:extLst>
              </p:cNvPr>
              <p:cNvSpPr/>
              <p:nvPr/>
            </p:nvSpPr>
            <p:spPr>
              <a:xfrm>
                <a:off x="5516922" y="1640913"/>
                <a:ext cx="117307" cy="586335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5400" b="1" i="0" u="none" strike="noStrike" kern="0" normalizeH="0" baseline="0" noProof="0" dirty="0">
                  <a:ln w="2857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uLnTx/>
                  <a:uFillTx/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14432029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FF01E098-FBDB-420F-88A9-27027F4759A5}"/>
              </a:ext>
            </a:extLst>
          </p:cNvPr>
          <p:cNvGrpSpPr/>
          <p:nvPr/>
        </p:nvGrpSpPr>
        <p:grpSpPr>
          <a:xfrm>
            <a:off x="3726874" y="2815838"/>
            <a:ext cx="7315199" cy="1226323"/>
            <a:chOff x="4793673" y="1246908"/>
            <a:chExt cx="6442363" cy="1080000"/>
          </a:xfrm>
        </p:grpSpPr>
        <p:sp>
          <p:nvSpPr>
            <p:cNvPr id="14" name="육각형 13">
              <a:extLst>
                <a:ext uri="{FF2B5EF4-FFF2-40B4-BE49-F238E27FC236}">
                  <a16:creationId xmlns:a16="http://schemas.microsoft.com/office/drawing/2014/main" id="{7ADDF6C6-9FD3-40F2-ADC2-37A43AADF7ED}"/>
                </a:ext>
              </a:extLst>
            </p:cNvPr>
            <p:cNvSpPr/>
            <p:nvPr/>
          </p:nvSpPr>
          <p:spPr>
            <a:xfrm>
              <a:off x="4793673" y="1246908"/>
              <a:ext cx="6442363" cy="1080000"/>
            </a:xfrm>
            <a:prstGeom prst="hexagon">
              <a:avLst>
                <a:gd name="adj" fmla="val 42671"/>
                <a:gd name="vf" fmla="val 11547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화살표: 오각형 14">
              <a:extLst>
                <a:ext uri="{FF2B5EF4-FFF2-40B4-BE49-F238E27FC236}">
                  <a16:creationId xmlns:a16="http://schemas.microsoft.com/office/drawing/2014/main" id="{81F229D3-E3EA-4A23-AA82-5E2AF3A625A9}"/>
                </a:ext>
              </a:extLst>
            </p:cNvPr>
            <p:cNvSpPr/>
            <p:nvPr/>
          </p:nvSpPr>
          <p:spPr>
            <a:xfrm>
              <a:off x="5632954" y="1371410"/>
              <a:ext cx="5339846" cy="830996"/>
            </a:xfrm>
            <a:prstGeom prst="homePlat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D920D6B8-E4ED-4528-A983-BD701AD4E691}"/>
                </a:ext>
              </a:extLst>
            </p:cNvPr>
            <p:cNvSpPr/>
            <p:nvPr/>
          </p:nvSpPr>
          <p:spPr>
            <a:xfrm>
              <a:off x="5196182" y="1364345"/>
              <a:ext cx="845127" cy="845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51810F50-4F4F-4ABD-840E-E581E3B8C415}"/>
                </a:ext>
              </a:extLst>
            </p:cNvPr>
            <p:cNvGrpSpPr/>
            <p:nvPr/>
          </p:nvGrpSpPr>
          <p:grpSpPr>
            <a:xfrm>
              <a:off x="5537400" y="1369809"/>
              <a:ext cx="4159582" cy="813160"/>
              <a:chOff x="5516922" y="1640913"/>
              <a:chExt cx="2999292" cy="586335"/>
            </a:xfrm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EB1F94F4-27C9-4570-8682-1A33FA68D416}"/>
                  </a:ext>
                </a:extLst>
              </p:cNvPr>
              <p:cNvSpPr/>
              <p:nvPr/>
            </p:nvSpPr>
            <p:spPr>
              <a:xfrm>
                <a:off x="6030979" y="1689775"/>
                <a:ext cx="2485235" cy="488612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defTabSz="1076865" eaLnBrk="0" latinLnBrk="0" hangingPunct="0">
                  <a:spcAft>
                    <a:spcPts val="486"/>
                  </a:spcAft>
                  <a:buSzPct val="100000"/>
                  <a:defRPr/>
                </a:pPr>
                <a:r>
                  <a:rPr lang="en-US" altLang="ko-KR" sz="4400" dirty="0">
                    <a:gradFill>
                      <a:gsLst>
                        <a:gs pos="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6200000" scaled="1"/>
                    </a:gradFill>
                    <a:latin typeface="HY견고딕" pitchFamily="18" charset="-127"/>
                    <a:ea typeface="HY견고딕" pitchFamily="18" charset="-127"/>
                  </a:rPr>
                  <a:t>Junit</a:t>
                </a:r>
                <a:endParaRPr lang="ko-KR" altLang="en-US" sz="4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16200000" scaled="1"/>
                  </a:gradFill>
                  <a:latin typeface="HY견고딕" pitchFamily="18" charset="-127"/>
                  <a:ea typeface="HY견고딕" pitchFamily="18" charset="-127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4541CD06-C435-48C0-AA4F-7B628FBAD386}"/>
                  </a:ext>
                </a:extLst>
              </p:cNvPr>
              <p:cNvSpPr/>
              <p:nvPr/>
            </p:nvSpPr>
            <p:spPr>
              <a:xfrm>
                <a:off x="5516922" y="1640913"/>
                <a:ext cx="117307" cy="586335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5400" b="1" i="0" u="none" strike="noStrike" kern="0" normalizeH="0" baseline="0" noProof="0" dirty="0">
                  <a:ln w="2857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uLnTx/>
                  <a:uFillTx/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45648472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5472900" y="105748"/>
            <a:ext cx="133081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Junit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1151709" cy="5415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자바용 단위 테스트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API</a:t>
            </a: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단위 테스트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하나의 기능이 올바르게 동작하는지 독립적으로 테스트하는 것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Spring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 포함되어 있다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en-US" altLang="ko-KR" sz="2400" i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/>
            <a:r>
              <a:rPr lang="en-US" altLang="ko-KR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&lt;dependency&gt;</a:t>
            </a:r>
          </a:p>
          <a:p>
            <a:pPr algn="l"/>
            <a:r>
              <a:rPr lang="en-US" altLang="ko-KR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altLang="ko-KR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groupId</a:t>
            </a:r>
            <a:r>
              <a:rPr lang="en-US" altLang="ko-KR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r>
              <a:rPr lang="en-US" altLang="ko-KR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org.springframework</a:t>
            </a:r>
            <a:r>
              <a:rPr lang="en-US" altLang="ko-KR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&lt;/</a:t>
            </a:r>
            <a:r>
              <a:rPr lang="en-US" altLang="ko-KR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groupId</a:t>
            </a:r>
            <a:r>
              <a:rPr lang="en-US" altLang="ko-KR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</a:p>
          <a:p>
            <a:pPr algn="l"/>
            <a:r>
              <a:rPr lang="en-US" altLang="ko-KR" sz="1200" dirty="0">
                <a:highlight>
                  <a:srgbClr val="FFFF0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altLang="ko-KR" sz="1200" dirty="0" err="1">
                <a:highlight>
                  <a:srgbClr val="FFFF0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artifactId</a:t>
            </a:r>
            <a:r>
              <a:rPr lang="en-US" altLang="ko-KR" sz="1200" dirty="0">
                <a:highlight>
                  <a:srgbClr val="FFFF0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&gt;spring-test&lt;/</a:t>
            </a:r>
            <a:r>
              <a:rPr lang="en-US" altLang="ko-KR" sz="1200" dirty="0" err="1">
                <a:highlight>
                  <a:srgbClr val="FFFF0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artifactId</a:t>
            </a:r>
            <a:r>
              <a:rPr lang="en-US" altLang="ko-KR" sz="1200" dirty="0">
                <a:highlight>
                  <a:srgbClr val="FFFF0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</a:p>
          <a:p>
            <a:pPr algn="l"/>
            <a:r>
              <a:rPr lang="en-US" altLang="ko-KR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&lt;version&gt;${</a:t>
            </a:r>
            <a:r>
              <a:rPr lang="en-US" altLang="ko-KR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org.springframework</a:t>
            </a:r>
            <a:r>
              <a:rPr lang="en-US" altLang="ko-KR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-version}&lt;/version&gt;</a:t>
            </a:r>
          </a:p>
          <a:p>
            <a:pPr algn="l"/>
            <a:r>
              <a:rPr lang="en-US" altLang="ko-KR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&lt;scope&gt;test&lt;/scope&gt;</a:t>
            </a:r>
          </a:p>
          <a:p>
            <a:pPr algn="l"/>
            <a:r>
              <a:rPr lang="en-US" altLang="ko-KR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&lt;/dependency&gt;</a:t>
            </a:r>
          </a:p>
          <a:p>
            <a:pPr algn="l"/>
            <a:r>
              <a:rPr lang="en-US" altLang="ko-KR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&lt;dependency&gt;</a:t>
            </a:r>
          </a:p>
          <a:p>
            <a:pPr algn="l"/>
            <a:r>
              <a:rPr lang="en-US" altLang="ko-KR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altLang="ko-KR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groupId</a:t>
            </a:r>
            <a:r>
              <a:rPr lang="en-US" altLang="ko-KR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r>
              <a:rPr lang="en-US" altLang="ko-KR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junit</a:t>
            </a:r>
            <a:r>
              <a:rPr lang="en-US" altLang="ko-KR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&lt;/</a:t>
            </a:r>
            <a:r>
              <a:rPr lang="en-US" altLang="ko-KR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groupId</a:t>
            </a:r>
            <a:r>
              <a:rPr lang="en-US" altLang="ko-KR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</a:p>
          <a:p>
            <a:pPr algn="l"/>
            <a:r>
              <a:rPr lang="en-US" altLang="ko-KR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altLang="ko-KR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artifactId</a:t>
            </a:r>
            <a:r>
              <a:rPr lang="en-US" altLang="ko-KR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r>
              <a:rPr lang="en-US" altLang="ko-KR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junit</a:t>
            </a:r>
            <a:r>
              <a:rPr lang="en-US" altLang="ko-KR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&lt;/</a:t>
            </a:r>
            <a:r>
              <a:rPr lang="en-US" altLang="ko-KR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artifactId</a:t>
            </a:r>
            <a:r>
              <a:rPr lang="en-US" altLang="ko-KR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</a:p>
          <a:p>
            <a:pPr algn="l"/>
            <a:r>
              <a:rPr lang="en-US" altLang="ko-KR" sz="1200" dirty="0">
                <a:solidFill>
                  <a:srgbClr val="FF0000"/>
                </a:solidFill>
                <a:highlight>
                  <a:srgbClr val="FFFF0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&lt;version&gt;4.12&lt;/version&gt;  </a:t>
            </a:r>
          </a:p>
          <a:p>
            <a:pPr algn="l"/>
            <a:r>
              <a:rPr lang="en-US" altLang="ko-KR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&lt;scope&gt;test&lt;/scope&gt;</a:t>
            </a:r>
          </a:p>
          <a:p>
            <a:pPr algn="l"/>
            <a:r>
              <a:rPr lang="en-US" altLang="ko-KR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&lt;/dependency&gt; </a:t>
            </a:r>
          </a:p>
          <a:p>
            <a:pPr algn="l"/>
            <a:r>
              <a:rPr lang="en-US" altLang="ko-KR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&lt;!-- Servlet --&gt;</a:t>
            </a:r>
          </a:p>
          <a:p>
            <a:pPr algn="l"/>
            <a:r>
              <a:rPr lang="en-US" altLang="ko-KR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&lt;dependency&gt;</a:t>
            </a:r>
          </a:p>
          <a:p>
            <a:pPr algn="l"/>
            <a:r>
              <a:rPr lang="en-US" altLang="ko-KR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altLang="ko-KR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groupId</a:t>
            </a:r>
            <a:r>
              <a:rPr lang="en-US" altLang="ko-KR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r>
              <a:rPr lang="en-US" altLang="ko-KR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javax.servlet</a:t>
            </a:r>
            <a:r>
              <a:rPr lang="en-US" altLang="ko-KR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&lt;/</a:t>
            </a:r>
            <a:r>
              <a:rPr lang="en-US" altLang="ko-KR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groupId</a:t>
            </a:r>
            <a:r>
              <a:rPr lang="en-US" altLang="ko-KR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</a:p>
          <a:p>
            <a:pPr algn="l"/>
            <a:r>
              <a:rPr lang="en-US" altLang="ko-KR" sz="1200" dirty="0">
                <a:highlight>
                  <a:srgbClr val="FFFF0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altLang="ko-KR" sz="1200" dirty="0" err="1">
                <a:highlight>
                  <a:srgbClr val="FFFF0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artifactId</a:t>
            </a:r>
            <a:r>
              <a:rPr lang="en-US" altLang="ko-KR" sz="1200" dirty="0">
                <a:highlight>
                  <a:srgbClr val="FFFF0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r>
              <a:rPr lang="en-US" altLang="ko-KR" sz="1200" dirty="0" err="1">
                <a:highlight>
                  <a:srgbClr val="FFFF0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javax.servlet-api</a:t>
            </a:r>
            <a:r>
              <a:rPr lang="en-US" altLang="ko-KR" sz="1200" dirty="0">
                <a:highlight>
                  <a:srgbClr val="FFFF0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&lt;/</a:t>
            </a:r>
            <a:r>
              <a:rPr lang="en-US" altLang="ko-KR" sz="1200" dirty="0" err="1">
                <a:highlight>
                  <a:srgbClr val="FFFF0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artifactId</a:t>
            </a:r>
            <a:r>
              <a:rPr lang="en-US" altLang="ko-KR" sz="1200" dirty="0">
                <a:highlight>
                  <a:srgbClr val="FFFF0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</a:p>
          <a:p>
            <a:pPr algn="l"/>
            <a:r>
              <a:rPr lang="en-US" altLang="ko-KR" sz="1200" dirty="0">
                <a:highlight>
                  <a:srgbClr val="FFFF0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&lt;version&gt;3.1.0&lt;/version&gt;</a:t>
            </a:r>
          </a:p>
          <a:p>
            <a:pPr algn="l"/>
            <a:r>
              <a:rPr lang="en-US" altLang="ko-KR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&lt;scope&gt;provided&lt;/scope&gt;</a:t>
            </a:r>
          </a:p>
          <a:p>
            <a:pPr algn="l"/>
            <a:r>
              <a:rPr lang="en-US" altLang="ko-KR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&lt;/dependency&gt;</a:t>
            </a:r>
            <a:endParaRPr lang="en-US" altLang="ko-KR" i="1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061323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5472900" y="105748"/>
            <a:ext cx="133081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Junit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149028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sz="1800" dirty="0">
                <a:solidFill>
                  <a:srgbClr val="646464"/>
                </a:solidFill>
              </a:rPr>
              <a:t>@RunWith</a:t>
            </a:r>
            <a:r>
              <a:rPr lang="en-US" altLang="ko-KR" sz="1800" dirty="0">
                <a:solidFill>
                  <a:srgbClr val="000000"/>
                </a:solidFill>
              </a:rPr>
              <a:t>(SpringJUnit4ClassRunner.</a:t>
            </a:r>
            <a:r>
              <a:rPr lang="en-US" altLang="ko-KR" sz="1800" dirty="0">
                <a:solidFill>
                  <a:srgbClr val="7F0055"/>
                </a:solidFill>
              </a:rPr>
              <a:t>class</a:t>
            </a:r>
            <a:r>
              <a:rPr lang="en-US" altLang="ko-KR" sz="1800" dirty="0">
                <a:solidFill>
                  <a:srgbClr val="000000"/>
                </a:solidFill>
              </a:rPr>
              <a:t>)</a:t>
            </a:r>
          </a:p>
          <a:p>
            <a:pPr algn="l"/>
            <a:r>
              <a:rPr lang="en-US" altLang="ko-KR" sz="1800" dirty="0">
                <a:solidFill>
                  <a:srgbClr val="646464"/>
                </a:solidFill>
              </a:rPr>
              <a:t>@WebAppConfiguration</a:t>
            </a:r>
            <a:r>
              <a:rPr lang="en-US" altLang="ko-KR" sz="1800" dirty="0">
                <a:solidFill>
                  <a:srgbClr val="000000"/>
                </a:solidFill>
              </a:rPr>
              <a:t>  </a:t>
            </a:r>
          </a:p>
          <a:p>
            <a:pPr algn="l"/>
            <a:r>
              <a:rPr lang="en-US" altLang="ko-KR" sz="1800" dirty="0">
                <a:solidFill>
                  <a:srgbClr val="646464"/>
                </a:solidFill>
              </a:rPr>
              <a:t>@ContextConfiguration</a:t>
            </a:r>
            <a:r>
              <a:rPr lang="en-US" altLang="ko-KR" sz="1800" dirty="0">
                <a:solidFill>
                  <a:srgbClr val="000000"/>
                </a:solidFill>
              </a:rPr>
              <a:t>(locations = {</a:t>
            </a:r>
            <a:r>
              <a:rPr lang="en-US" altLang="ko-KR" sz="1800" dirty="0">
                <a:solidFill>
                  <a:srgbClr val="2A00FF"/>
                </a:solidFill>
              </a:rPr>
              <a:t>"file:src/main/webapp/WEB-INF/spring/appServlet/*.xml"</a:t>
            </a:r>
            <a:r>
              <a:rPr lang="en-US" altLang="ko-KR" sz="1800" dirty="0">
                <a:solidFill>
                  <a:srgbClr val="000000"/>
                </a:solidFill>
              </a:rPr>
              <a:t>})</a:t>
            </a:r>
          </a:p>
          <a:p>
            <a:pPr algn="l"/>
            <a:r>
              <a:rPr lang="en-US" altLang="ko-KR" sz="1800" dirty="0">
                <a:solidFill>
                  <a:srgbClr val="7F0055"/>
                </a:solidFill>
              </a:rPr>
              <a:t>public</a:t>
            </a:r>
            <a:r>
              <a:rPr lang="en-US" altLang="ko-KR" sz="1800" dirty="0">
                <a:solidFill>
                  <a:srgbClr val="000000"/>
                </a:solidFill>
              </a:rPr>
              <a:t> </a:t>
            </a:r>
            <a:r>
              <a:rPr lang="en-US" altLang="ko-KR" sz="1800" dirty="0">
                <a:solidFill>
                  <a:srgbClr val="7F0055"/>
                </a:solidFill>
              </a:rPr>
              <a:t>class</a:t>
            </a:r>
            <a:r>
              <a:rPr lang="en-US" altLang="ko-KR" sz="1800" dirty="0">
                <a:solidFill>
                  <a:srgbClr val="000000"/>
                </a:solidFill>
              </a:rPr>
              <a:t> </a:t>
            </a:r>
            <a:r>
              <a:rPr lang="en-US" altLang="ko-KR" sz="1800" dirty="0" err="1">
                <a:solidFill>
                  <a:srgbClr val="000000"/>
                </a:solidFill>
              </a:rPr>
              <a:t>BoardTest</a:t>
            </a:r>
            <a:r>
              <a:rPr lang="en-US" altLang="ko-KR" sz="1800" dirty="0">
                <a:solidFill>
                  <a:srgbClr val="000000"/>
                </a:solidFill>
              </a:rPr>
              <a:t> {</a:t>
            </a:r>
          </a:p>
          <a:p>
            <a:pPr algn="l"/>
            <a:r>
              <a:rPr lang="ko-KR" altLang="en-US" sz="1800" dirty="0">
                <a:solidFill>
                  <a:srgbClr val="000000"/>
                </a:solidFill>
              </a:rPr>
              <a:t> </a:t>
            </a:r>
            <a:r>
              <a:rPr lang="en-US" altLang="ko-KR" dirty="0">
                <a:solidFill>
                  <a:srgbClr val="000000"/>
                </a:solidFill>
              </a:rPr>
              <a:t>    </a:t>
            </a:r>
            <a:r>
              <a:rPr lang="en-US" altLang="ko-KR" dirty="0">
                <a:solidFill>
                  <a:srgbClr val="646464"/>
                </a:solidFill>
              </a:rPr>
              <a:t>@Autowired</a:t>
            </a:r>
          </a:p>
          <a:p>
            <a:pPr lvl="1"/>
            <a:r>
              <a:rPr lang="en-US" altLang="ko-KR" dirty="0" err="1">
                <a:solidFill>
                  <a:srgbClr val="000000"/>
                </a:solidFill>
              </a:rPr>
              <a:t>BoardService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en-US" altLang="ko-KR" dirty="0" err="1">
                <a:solidFill>
                  <a:srgbClr val="0000C0"/>
                </a:solidFill>
              </a:rPr>
              <a:t>bService</a:t>
            </a:r>
            <a:r>
              <a:rPr lang="en-US" altLang="ko-KR" dirty="0">
                <a:solidFill>
                  <a:srgbClr val="000000"/>
                </a:solidFill>
              </a:rPr>
              <a:t>;</a:t>
            </a:r>
          </a:p>
          <a:p>
            <a:pPr lvl="1"/>
            <a:endParaRPr lang="ko-KR" altLang="en-US" dirty="0"/>
          </a:p>
          <a:p>
            <a:pPr lvl="1"/>
            <a:r>
              <a:rPr lang="en-US" altLang="ko-KR" dirty="0">
                <a:solidFill>
                  <a:srgbClr val="000000"/>
                </a:solidFill>
              </a:rPr>
              <a:t>Logger </a:t>
            </a:r>
            <a:r>
              <a:rPr lang="en-US" altLang="ko-KR" dirty="0" err="1">
                <a:solidFill>
                  <a:srgbClr val="0000C0"/>
                </a:solidFill>
              </a:rPr>
              <a:t>logger</a:t>
            </a:r>
            <a:r>
              <a:rPr lang="en-US" altLang="ko-KR" dirty="0">
                <a:solidFill>
                  <a:srgbClr val="000000"/>
                </a:solidFill>
              </a:rPr>
              <a:t> = </a:t>
            </a:r>
            <a:r>
              <a:rPr lang="en-US" altLang="ko-KR" dirty="0" err="1">
                <a:solidFill>
                  <a:srgbClr val="000000"/>
                </a:solidFill>
              </a:rPr>
              <a:t>LoggerFactory.</a:t>
            </a:r>
            <a:r>
              <a:rPr lang="en-US" altLang="ko-KR" i="1" dirty="0" err="1">
                <a:solidFill>
                  <a:srgbClr val="000000"/>
                </a:solidFill>
              </a:rPr>
              <a:t>getLogger</a:t>
            </a:r>
            <a:r>
              <a:rPr lang="en-US" altLang="ko-KR" i="1" dirty="0">
                <a:solidFill>
                  <a:srgbClr val="000000"/>
                </a:solidFill>
              </a:rPr>
              <a:t>(</a:t>
            </a:r>
            <a:r>
              <a:rPr lang="en-US" altLang="ko-KR" i="1" dirty="0" err="1">
                <a:solidFill>
                  <a:srgbClr val="000000"/>
                </a:solidFill>
              </a:rPr>
              <a:t>BoardTest.</a:t>
            </a:r>
            <a:r>
              <a:rPr lang="en-US" altLang="ko-KR" i="1" dirty="0" err="1">
                <a:solidFill>
                  <a:srgbClr val="7F0055"/>
                </a:solidFill>
              </a:rPr>
              <a:t>class</a:t>
            </a:r>
            <a:r>
              <a:rPr lang="en-US" altLang="ko-KR" i="1" dirty="0">
                <a:solidFill>
                  <a:srgbClr val="000000"/>
                </a:solidFill>
              </a:rPr>
              <a:t>);</a:t>
            </a:r>
          </a:p>
          <a:p>
            <a:pPr lvl="1"/>
            <a:endParaRPr lang="en-US" altLang="ko-KR" dirty="0">
              <a:solidFill>
                <a:srgbClr val="646464"/>
              </a:solidFill>
            </a:endParaRPr>
          </a:p>
          <a:p>
            <a:pPr lvl="1"/>
            <a:r>
              <a:rPr lang="en-US" altLang="ko-KR" dirty="0">
                <a:solidFill>
                  <a:srgbClr val="646464"/>
                </a:solidFill>
              </a:rPr>
              <a:t>@Test</a:t>
            </a:r>
          </a:p>
          <a:p>
            <a:pPr lvl="1"/>
            <a:r>
              <a:rPr lang="en-US" altLang="ko-KR" dirty="0">
                <a:solidFill>
                  <a:srgbClr val="7F0055"/>
                </a:solidFill>
              </a:rPr>
              <a:t>public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en-US" altLang="ko-KR" dirty="0">
                <a:solidFill>
                  <a:srgbClr val="7F0055"/>
                </a:solidFill>
              </a:rPr>
              <a:t>void</a:t>
            </a:r>
            <a:r>
              <a:rPr lang="en-US" altLang="ko-KR" dirty="0">
                <a:solidFill>
                  <a:srgbClr val="000000"/>
                </a:solidFill>
              </a:rPr>
              <a:t> aa() {</a:t>
            </a:r>
          </a:p>
          <a:p>
            <a:pPr lvl="1"/>
            <a:r>
              <a:rPr lang="en-US" altLang="ko-KR" dirty="0">
                <a:solidFill>
                  <a:srgbClr val="7F0055"/>
                </a:solidFill>
              </a:rPr>
              <a:t>int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en-US" altLang="ko-KR" dirty="0">
                <a:solidFill>
                  <a:srgbClr val="6A3E3E"/>
                </a:solidFill>
              </a:rPr>
              <a:t>a</a:t>
            </a:r>
            <a:r>
              <a:rPr lang="en-US" altLang="ko-KR" dirty="0">
                <a:solidFill>
                  <a:srgbClr val="000000"/>
                </a:solidFill>
              </a:rPr>
              <a:t>=10;</a:t>
            </a:r>
          </a:p>
          <a:p>
            <a:pPr lvl="1"/>
            <a:r>
              <a:rPr lang="en-US" altLang="ko-KR" i="1" dirty="0" err="1">
                <a:solidFill>
                  <a:srgbClr val="000000"/>
                </a:solidFill>
              </a:rPr>
              <a:t>assertTrue</a:t>
            </a:r>
            <a:r>
              <a:rPr lang="en-US" altLang="ko-KR" i="1" dirty="0">
                <a:solidFill>
                  <a:srgbClr val="000000"/>
                </a:solidFill>
              </a:rPr>
              <a:t>(</a:t>
            </a:r>
            <a:r>
              <a:rPr lang="en-US" altLang="ko-KR" i="1" dirty="0">
                <a:solidFill>
                  <a:srgbClr val="6A3E3E"/>
                </a:solidFill>
              </a:rPr>
              <a:t>a</a:t>
            </a:r>
            <a:r>
              <a:rPr lang="en-US" altLang="ko-KR" i="1" dirty="0">
                <a:solidFill>
                  <a:srgbClr val="000000"/>
                </a:solidFill>
              </a:rPr>
              <a:t>==10);</a:t>
            </a:r>
          </a:p>
          <a:p>
            <a:pPr lvl="1"/>
            <a:endParaRPr lang="ko-KR" altLang="en-US" dirty="0"/>
          </a:p>
          <a:p>
            <a:pPr lvl="1"/>
            <a:r>
              <a:rPr lang="en-US" altLang="ko-KR" dirty="0">
                <a:solidFill>
                  <a:srgbClr val="7F0055"/>
                </a:solidFill>
              </a:rPr>
              <a:t>int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en-US" altLang="ko-KR" dirty="0">
                <a:solidFill>
                  <a:srgbClr val="6A3E3E"/>
                </a:solidFill>
              </a:rPr>
              <a:t>result</a:t>
            </a:r>
            <a:r>
              <a:rPr lang="en-US" altLang="ko-KR" dirty="0">
                <a:solidFill>
                  <a:srgbClr val="000000"/>
                </a:solidFill>
              </a:rPr>
              <a:t> = </a:t>
            </a:r>
            <a:r>
              <a:rPr lang="en-US" altLang="ko-KR" dirty="0" err="1">
                <a:solidFill>
                  <a:srgbClr val="0000C0"/>
                </a:solidFill>
              </a:rPr>
              <a:t>bService</a:t>
            </a:r>
            <a:r>
              <a:rPr lang="en-US" altLang="ko-KR" dirty="0" err="1">
                <a:solidFill>
                  <a:srgbClr val="000000"/>
                </a:solidFill>
              </a:rPr>
              <a:t>.findAll</a:t>
            </a:r>
            <a:r>
              <a:rPr lang="en-US" altLang="ko-KR" dirty="0">
                <a:solidFill>
                  <a:srgbClr val="000000"/>
                </a:solidFill>
              </a:rPr>
              <a:t>().size();</a:t>
            </a:r>
          </a:p>
          <a:p>
            <a:pPr lvl="1"/>
            <a:r>
              <a:rPr lang="en-US" altLang="ko-KR" dirty="0">
                <a:solidFill>
                  <a:srgbClr val="0000C0"/>
                </a:solidFill>
              </a:rPr>
              <a:t>logger</a:t>
            </a:r>
            <a:r>
              <a:rPr lang="en-US" altLang="ko-KR" dirty="0">
                <a:solidFill>
                  <a:srgbClr val="000000"/>
                </a:solidFill>
              </a:rPr>
              <a:t>.info(</a:t>
            </a:r>
            <a:r>
              <a:rPr lang="en-US" altLang="ko-KR" dirty="0">
                <a:solidFill>
                  <a:srgbClr val="2A00FF"/>
                </a:solidFill>
              </a:rPr>
              <a:t>"{}</a:t>
            </a:r>
            <a:r>
              <a:rPr lang="ko-KR" altLang="en-US" dirty="0">
                <a:solidFill>
                  <a:srgbClr val="2A00FF"/>
                </a:solidFill>
              </a:rPr>
              <a:t>건 조회됨</a:t>
            </a:r>
            <a:r>
              <a:rPr lang="en-US" altLang="ko-KR" dirty="0">
                <a:solidFill>
                  <a:srgbClr val="2A00FF"/>
                </a:solidFill>
              </a:rPr>
              <a:t>"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  <a:r>
              <a:rPr lang="en-US" altLang="ko-KR" dirty="0">
                <a:solidFill>
                  <a:srgbClr val="6A3E3E"/>
                </a:solidFill>
              </a:rPr>
              <a:t>result</a:t>
            </a:r>
            <a:r>
              <a:rPr lang="en-US" altLang="ko-KR" dirty="0">
                <a:solidFill>
                  <a:srgbClr val="000000"/>
                </a:solidFill>
              </a:rPr>
              <a:t>);</a:t>
            </a:r>
          </a:p>
          <a:p>
            <a:pPr lvl="1"/>
            <a:r>
              <a:rPr lang="en-US" altLang="ko-KR" dirty="0">
                <a:solidFill>
                  <a:srgbClr val="000000"/>
                </a:solidFill>
              </a:rPr>
              <a:t>}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</a:rPr>
              <a:t>}</a:t>
            </a:r>
            <a:endParaRPr lang="en-US" altLang="ko-KR" sz="2000" i="1" dirty="0"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2200722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92C4E-933B-70C6-7E54-C165BF0BF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0BFE437E-67DB-F916-8B39-71157DDA4A2F}"/>
              </a:ext>
            </a:extLst>
          </p:cNvPr>
          <p:cNvSpPr/>
          <p:nvPr/>
        </p:nvSpPr>
        <p:spPr>
          <a:xfrm>
            <a:off x="5472900" y="105748"/>
            <a:ext cx="133081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Junit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C7BAEEE-8828-92CE-C667-79E84356B416}"/>
              </a:ext>
            </a:extLst>
          </p:cNvPr>
          <p:cNvSpPr/>
          <p:nvPr/>
        </p:nvSpPr>
        <p:spPr>
          <a:xfrm>
            <a:off x="488356" y="1170422"/>
            <a:ext cx="11490284" cy="589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 err="1"/>
              <a:t>MockMvc</a:t>
            </a:r>
            <a:r>
              <a:rPr lang="en-US" altLang="ko-KR" sz="2400" dirty="0"/>
              <a:t> </a:t>
            </a:r>
            <a:r>
              <a:rPr lang="ko-KR" altLang="en-US" sz="2400" dirty="0"/>
              <a:t>객체를 사용하여 컨트롤러 </a:t>
            </a:r>
            <a:r>
              <a:rPr lang="en-US" altLang="ko-KR" sz="2400" dirty="0"/>
              <a:t>Test</a:t>
            </a:r>
            <a:endParaRPr lang="en-US" altLang="ko-KR" sz="2800" i="1" dirty="0">
              <a:ea typeface="나눔스퀘어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349C9D4-AA67-00E0-2D20-4F59BFC8E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218" y="2116282"/>
            <a:ext cx="8402223" cy="192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257008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3F3A9-6630-E463-7BB5-2DC16A4EF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30107E71-B0CB-AE2A-31DC-D33B80C4B400}"/>
              </a:ext>
            </a:extLst>
          </p:cNvPr>
          <p:cNvSpPr/>
          <p:nvPr/>
        </p:nvSpPr>
        <p:spPr>
          <a:xfrm>
            <a:off x="5472900" y="105748"/>
            <a:ext cx="133081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Junit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1E7403E-80DE-847C-1AE0-35EFA18D0B9D}"/>
              </a:ext>
            </a:extLst>
          </p:cNvPr>
          <p:cNvSpPr/>
          <p:nvPr/>
        </p:nvSpPr>
        <p:spPr>
          <a:xfrm>
            <a:off x="488356" y="1170422"/>
            <a:ext cx="11490284" cy="589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 err="1"/>
              <a:t>MockMvc</a:t>
            </a:r>
            <a:r>
              <a:rPr lang="en-US" altLang="ko-KR" sz="2400" dirty="0"/>
              <a:t> </a:t>
            </a:r>
            <a:r>
              <a:rPr lang="ko-KR" altLang="en-US" sz="2400" dirty="0"/>
              <a:t>객체를 사용하여 컨트롤러 </a:t>
            </a:r>
            <a:r>
              <a:rPr lang="en-US" altLang="ko-KR" sz="2400" dirty="0"/>
              <a:t>Test</a:t>
            </a:r>
            <a:endParaRPr lang="en-US" altLang="ko-KR" sz="2800" i="1" dirty="0">
              <a:ea typeface="나눔스퀘어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F45D33B-AEFB-2520-3762-A98CD8435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79" y="1841920"/>
            <a:ext cx="8406945" cy="470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573860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B9BF1-55D0-CCE3-0864-245F6591D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F325643-A3F4-15D9-9783-79E2A6574854}"/>
              </a:ext>
            </a:extLst>
          </p:cNvPr>
          <p:cNvSpPr/>
          <p:nvPr/>
        </p:nvSpPr>
        <p:spPr>
          <a:xfrm>
            <a:off x="5472900" y="105748"/>
            <a:ext cx="133081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Junit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2C1E2E-CFB4-DF9D-D5C7-CDD4D3E3842B}"/>
              </a:ext>
            </a:extLst>
          </p:cNvPr>
          <p:cNvSpPr/>
          <p:nvPr/>
        </p:nvSpPr>
        <p:spPr>
          <a:xfrm>
            <a:off x="488356" y="1170422"/>
            <a:ext cx="11490284" cy="589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 err="1"/>
              <a:t>MockMvc</a:t>
            </a:r>
            <a:r>
              <a:rPr lang="en-US" altLang="ko-KR" sz="2400" dirty="0"/>
              <a:t> </a:t>
            </a:r>
            <a:r>
              <a:rPr lang="ko-KR" altLang="en-US" sz="2400" dirty="0"/>
              <a:t>객체를 사용하여 컨트롤러 </a:t>
            </a:r>
            <a:r>
              <a:rPr lang="en-US" altLang="ko-KR" sz="2400" dirty="0"/>
              <a:t>Test</a:t>
            </a:r>
            <a:endParaRPr lang="en-US" altLang="ko-KR" sz="2800" i="1" dirty="0">
              <a:ea typeface="나눔스퀘어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F1BC68F-4668-7E69-4EC2-E9BC11903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704" y="2116282"/>
            <a:ext cx="7487695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29547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23780-960F-9E17-E958-C371F0D99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E1F62A0E-8D04-F339-EF83-CCC09AA26C47}"/>
              </a:ext>
            </a:extLst>
          </p:cNvPr>
          <p:cNvGrpSpPr/>
          <p:nvPr/>
        </p:nvGrpSpPr>
        <p:grpSpPr>
          <a:xfrm>
            <a:off x="3726874" y="2815838"/>
            <a:ext cx="7315199" cy="1226323"/>
            <a:chOff x="4793673" y="1246908"/>
            <a:chExt cx="6442363" cy="1080000"/>
          </a:xfrm>
        </p:grpSpPr>
        <p:sp>
          <p:nvSpPr>
            <p:cNvPr id="14" name="육각형 13">
              <a:extLst>
                <a:ext uri="{FF2B5EF4-FFF2-40B4-BE49-F238E27FC236}">
                  <a16:creationId xmlns:a16="http://schemas.microsoft.com/office/drawing/2014/main" id="{197E08D0-6364-5E33-EC17-FDFA39C6DA2F}"/>
                </a:ext>
              </a:extLst>
            </p:cNvPr>
            <p:cNvSpPr/>
            <p:nvPr/>
          </p:nvSpPr>
          <p:spPr>
            <a:xfrm>
              <a:off x="4793673" y="1246908"/>
              <a:ext cx="6442363" cy="1080000"/>
            </a:xfrm>
            <a:prstGeom prst="hexagon">
              <a:avLst>
                <a:gd name="adj" fmla="val 42671"/>
                <a:gd name="vf" fmla="val 11547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화살표: 오각형 14">
              <a:extLst>
                <a:ext uri="{FF2B5EF4-FFF2-40B4-BE49-F238E27FC236}">
                  <a16:creationId xmlns:a16="http://schemas.microsoft.com/office/drawing/2014/main" id="{E830766D-1481-714D-E806-8EE8AD295E7C}"/>
                </a:ext>
              </a:extLst>
            </p:cNvPr>
            <p:cNvSpPr/>
            <p:nvPr/>
          </p:nvSpPr>
          <p:spPr>
            <a:xfrm>
              <a:off x="5632954" y="1371410"/>
              <a:ext cx="5339846" cy="830996"/>
            </a:xfrm>
            <a:prstGeom prst="homePlat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A9244DD-4355-5DCF-FD29-F24B25D4C667}"/>
                </a:ext>
              </a:extLst>
            </p:cNvPr>
            <p:cNvSpPr/>
            <p:nvPr/>
          </p:nvSpPr>
          <p:spPr>
            <a:xfrm>
              <a:off x="5196182" y="1364345"/>
              <a:ext cx="845127" cy="845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DDF61615-4FAD-39CA-3114-4AE8B74319B8}"/>
                </a:ext>
              </a:extLst>
            </p:cNvPr>
            <p:cNvGrpSpPr/>
            <p:nvPr/>
          </p:nvGrpSpPr>
          <p:grpSpPr>
            <a:xfrm>
              <a:off x="5537393" y="1369809"/>
              <a:ext cx="5104389" cy="813160"/>
              <a:chOff x="5516922" y="1640913"/>
              <a:chExt cx="3680552" cy="586335"/>
            </a:xfrm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06DDBAE4-B9B6-6D98-346E-D8C405D74759}"/>
                  </a:ext>
                </a:extLst>
              </p:cNvPr>
              <p:cNvSpPr/>
              <p:nvPr/>
            </p:nvSpPr>
            <p:spPr>
              <a:xfrm>
                <a:off x="5881889" y="1689774"/>
                <a:ext cx="3315585" cy="488612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defTabSz="1076865" eaLnBrk="0" latinLnBrk="0" hangingPunct="0">
                  <a:spcAft>
                    <a:spcPts val="486"/>
                  </a:spcAft>
                  <a:buSzPct val="100000"/>
                  <a:defRPr/>
                </a:pPr>
                <a:r>
                  <a:rPr lang="en-US" altLang="ko-KR" sz="4400" dirty="0">
                    <a:gradFill>
                      <a:gsLst>
                        <a:gs pos="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6200000" scaled="1"/>
                    </a:gradFill>
                    <a:latin typeface="HY견고딕" pitchFamily="18" charset="-127"/>
                    <a:ea typeface="HY견고딕" pitchFamily="18" charset="-127"/>
                  </a:rPr>
                  <a:t>Spring Security</a:t>
                </a:r>
                <a:endParaRPr lang="ko-KR" altLang="en-US" sz="440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16200000" scaled="1"/>
                  </a:gradFill>
                  <a:latin typeface="HY견고딕" pitchFamily="18" charset="-127"/>
                  <a:ea typeface="HY견고딕" pitchFamily="18" charset="-127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39A96C7A-88EF-B6D8-2D26-48AC13361578}"/>
                  </a:ext>
                </a:extLst>
              </p:cNvPr>
              <p:cNvSpPr/>
              <p:nvPr/>
            </p:nvSpPr>
            <p:spPr>
              <a:xfrm>
                <a:off x="5516922" y="1640913"/>
                <a:ext cx="117307" cy="586335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5400" b="1" i="0" u="none" strike="noStrike" kern="0" normalizeH="0" baseline="0" noProof="0" dirty="0">
                  <a:ln w="2857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uLnTx/>
                  <a:uFillTx/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6033262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62317" y="105748"/>
            <a:ext cx="375198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Security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39826" y="1170422"/>
            <a:ext cx="11312347" cy="54804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b="0" i="0" dirty="0">
                <a:solidFill>
                  <a:srgbClr val="353638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인증</a:t>
            </a:r>
            <a:r>
              <a:rPr lang="en-US" altLang="ko-KR" sz="2400" b="0" i="0" dirty="0">
                <a:solidFill>
                  <a:srgbClr val="353638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(Authentication)</a:t>
            </a:r>
          </a:p>
          <a:p>
            <a:pPr marL="814388" lvl="1" indent="-3571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0" i="0" dirty="0">
                <a:solidFill>
                  <a:srgbClr val="353638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식별 가능한 정보 </a:t>
            </a:r>
            <a:r>
              <a:rPr lang="en-US" altLang="ko-KR" sz="2000" b="0" i="0" dirty="0">
                <a:solidFill>
                  <a:srgbClr val="353638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2000" b="0" i="0" dirty="0">
                <a:solidFill>
                  <a:srgbClr val="353638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이름 </a:t>
            </a:r>
            <a:r>
              <a:rPr lang="en-US" altLang="ko-KR" sz="2000" b="0" i="0" dirty="0">
                <a:solidFill>
                  <a:srgbClr val="353638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000" b="0" i="0" dirty="0">
                <a:solidFill>
                  <a:srgbClr val="353638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이메일</a:t>
            </a:r>
            <a:r>
              <a:rPr lang="en-US" altLang="ko-KR" sz="2000" b="0" i="0" dirty="0">
                <a:solidFill>
                  <a:srgbClr val="353638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2000" b="0" i="0" dirty="0">
                <a:solidFill>
                  <a:srgbClr val="353638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를 이용하여 서비스에 등록 유저의 신원 입증하는 과정</a:t>
            </a:r>
            <a:r>
              <a:rPr lang="en-US" altLang="ko-KR" sz="2000" b="0" i="0" dirty="0">
                <a:solidFill>
                  <a:srgbClr val="353638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814388" lvl="1" indent="-3571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0" i="0" dirty="0">
                <a:solidFill>
                  <a:srgbClr val="353638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서비스에 등록된 사용자에게만 서비스를 제공한다는 의미</a:t>
            </a:r>
            <a:r>
              <a:rPr lang="en-US" altLang="ko-KR" sz="2000" b="0" i="0" dirty="0">
                <a:solidFill>
                  <a:srgbClr val="353638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814388" lvl="1" indent="-3571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353638"/>
                </a:solidFill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인증방식 </a:t>
            </a:r>
            <a:r>
              <a:rPr lang="en-US" altLang="ko-KR" sz="2000" dirty="0">
                <a:solidFill>
                  <a:srgbClr val="353638"/>
                </a:solidFill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2000" dirty="0">
                <a:solidFill>
                  <a:srgbClr val="353638"/>
                </a:solidFill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세션</a:t>
            </a:r>
            <a:r>
              <a:rPr lang="en-US" altLang="ko-KR" sz="2000" dirty="0">
                <a:solidFill>
                  <a:srgbClr val="353638"/>
                </a:solidFill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-</a:t>
            </a:r>
            <a:r>
              <a:rPr lang="ko-KR" altLang="en-US" sz="2000" dirty="0">
                <a:solidFill>
                  <a:srgbClr val="353638"/>
                </a:solidFill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쿠키방식</a:t>
            </a:r>
            <a:r>
              <a:rPr lang="en-US" altLang="ko-KR" sz="2000" dirty="0">
                <a:solidFill>
                  <a:srgbClr val="353638"/>
                </a:solidFill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000" dirty="0">
                <a:solidFill>
                  <a:srgbClr val="353638"/>
                </a:solidFill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토큰</a:t>
            </a:r>
            <a:r>
              <a:rPr lang="en-US" altLang="ko-KR" sz="2000" dirty="0">
                <a:solidFill>
                  <a:srgbClr val="353638"/>
                </a:solidFill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en-US" altLang="ko-KR" sz="2000" dirty="0" err="1">
                <a:solidFill>
                  <a:srgbClr val="353638"/>
                </a:solidFill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jwt</a:t>
            </a:r>
            <a:r>
              <a:rPr lang="en-US" altLang="ko-KR" sz="2000" dirty="0">
                <a:solidFill>
                  <a:srgbClr val="353638"/>
                </a:solidFill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2000" dirty="0">
                <a:solidFill>
                  <a:srgbClr val="353638"/>
                </a:solidFill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방식</a:t>
            </a:r>
            <a:r>
              <a:rPr lang="en-US" altLang="ko-KR" sz="2000" dirty="0">
                <a:solidFill>
                  <a:srgbClr val="353638"/>
                </a:solidFill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000" dirty="0">
                <a:solidFill>
                  <a:srgbClr val="353638"/>
                </a:solidFill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자른 채널을 통한 인증</a:t>
            </a:r>
            <a:r>
              <a:rPr lang="en-US" altLang="ko-KR" sz="2000" dirty="0">
                <a:solidFill>
                  <a:srgbClr val="353638"/>
                </a:solidFill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en-US" altLang="ko-KR" sz="2000" dirty="0" err="1">
                <a:solidFill>
                  <a:srgbClr val="353638"/>
                </a:solidFill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Oauth</a:t>
            </a:r>
            <a:r>
              <a:rPr lang="en-US" altLang="ko-KR" sz="2000" dirty="0">
                <a:solidFill>
                  <a:srgbClr val="353638"/>
                </a:solidFill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).</a:t>
            </a:r>
          </a:p>
          <a:p>
            <a:pPr marL="814388" lvl="1" indent="-3571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53638"/>
                </a:solidFill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security</a:t>
            </a:r>
            <a:r>
              <a:rPr lang="ko-KR" altLang="en-US" sz="2000" dirty="0">
                <a:solidFill>
                  <a:srgbClr val="353638"/>
                </a:solidFill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는 기본적으로 세션</a:t>
            </a:r>
            <a:r>
              <a:rPr lang="en-US" altLang="ko-KR" sz="2000" dirty="0">
                <a:solidFill>
                  <a:srgbClr val="353638"/>
                </a:solidFill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-</a:t>
            </a:r>
            <a:r>
              <a:rPr lang="ko-KR" altLang="en-US" sz="2000" dirty="0">
                <a:solidFill>
                  <a:srgbClr val="353638"/>
                </a:solidFill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쿠키방식을 사용</a:t>
            </a:r>
            <a:r>
              <a:rPr lang="en-US" altLang="ko-KR" sz="2000" dirty="0">
                <a:solidFill>
                  <a:srgbClr val="353638"/>
                </a:solidFill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b="0" i="0" dirty="0">
                <a:solidFill>
                  <a:srgbClr val="353638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인가</a:t>
            </a:r>
            <a:r>
              <a:rPr lang="en-US" altLang="ko-KR" sz="2400" b="0" i="0" dirty="0">
                <a:solidFill>
                  <a:srgbClr val="353638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(Authorization)</a:t>
            </a:r>
          </a:p>
          <a:p>
            <a:pPr marL="814388" lvl="1" indent="-3571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0" i="0" dirty="0">
                <a:solidFill>
                  <a:srgbClr val="353638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인증된 사용자가 접근하려는 자원에 대한 권한이 있는지 확인하는 절차</a:t>
            </a:r>
            <a:r>
              <a:rPr lang="en-US" altLang="ko-KR" sz="2000" dirty="0">
                <a:solidFill>
                  <a:srgbClr val="353638"/>
                </a:solidFill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2000" dirty="0" err="1">
                <a:solidFill>
                  <a:srgbClr val="353638"/>
                </a:solidFill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예를들면</a:t>
            </a:r>
            <a:r>
              <a:rPr lang="ko-KR" altLang="en-US" sz="2000" dirty="0">
                <a:solidFill>
                  <a:srgbClr val="353638"/>
                </a:solidFill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dirty="0">
                <a:solidFill>
                  <a:srgbClr val="353638"/>
                </a:solidFill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User, Manager ,Admin</a:t>
            </a:r>
            <a:r>
              <a:rPr lang="ko-KR" altLang="en-US" sz="2000" dirty="0">
                <a:solidFill>
                  <a:srgbClr val="353638"/>
                </a:solidFill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권한</a:t>
            </a:r>
            <a:r>
              <a:rPr lang="en-US" altLang="ko-KR" sz="2000" dirty="0">
                <a:solidFill>
                  <a:srgbClr val="353638"/>
                </a:solidFill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en-US" altLang="ko-KR" sz="2000" b="0" i="0" dirty="0">
              <a:solidFill>
                <a:srgbClr val="353638"/>
              </a:solidFill>
              <a:effectLst/>
              <a:highlight>
                <a:srgbClr val="FFFFFF"/>
              </a:highligh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2400" b="0" i="0" dirty="0">
              <a:solidFill>
                <a:srgbClr val="353638"/>
              </a:solidFill>
              <a:effectLst/>
              <a:highlight>
                <a:srgbClr val="FFFFFF"/>
              </a:highlight>
              <a:latin typeface="Noto Sans KR"/>
            </a:endParaRPr>
          </a:p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230608169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62317" y="105748"/>
            <a:ext cx="375198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Security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39826" y="1170422"/>
            <a:ext cx="11312347" cy="3956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SpringSecurity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14388" lvl="1" indent="-3571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서블릿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필터 기반이다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  <a:r>
              <a:rPr lang="ko-KR" altLang="en-US" b="0" i="0" dirty="0" err="1"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서블릿</a:t>
            </a:r>
            <a:r>
              <a:rPr lang="ko-KR" altLang="en-US" b="0" i="0" dirty="0"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 필터는 스프링 컨테이너에서 생성된 빈이 아니므로</a:t>
            </a:r>
            <a:r>
              <a:rPr lang="en-US" altLang="ko-KR" b="0" i="0" dirty="0"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b="0" i="0" dirty="0"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스프링 빈을 주입 받을 수 없다</a:t>
            </a:r>
            <a:r>
              <a:rPr lang="en-US" altLang="ko-KR" b="0" i="0" dirty="0"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0" i="0" dirty="0" err="1"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서블릿</a:t>
            </a:r>
            <a:r>
              <a:rPr lang="ko-KR" altLang="en-US" b="0" i="0" dirty="0"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 필터에 프록시를 등록하고</a:t>
            </a:r>
            <a:r>
              <a:rPr lang="en-US" altLang="ko-KR" b="0" i="0" dirty="0"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b="0" i="0" dirty="0"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해당 프록시를 통해 스프링 컨테이너에서 </a:t>
            </a:r>
            <a:r>
              <a:rPr lang="ko-KR" altLang="en-US" b="0" i="0" dirty="0" err="1"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서블릿을</a:t>
            </a:r>
            <a:r>
              <a:rPr lang="ko-KR" altLang="en-US" b="0" i="0" dirty="0"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 처리한다</a:t>
            </a:r>
            <a:r>
              <a:rPr lang="en-US" altLang="ko-KR" b="0" i="0" dirty="0"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i="0" dirty="0" err="1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시큐리티에서는</a:t>
            </a:r>
            <a:r>
              <a:rPr lang="ko-KR" altLang="en-US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 </a:t>
            </a:r>
            <a:r>
              <a:rPr lang="en-US" altLang="ko-KR" i="0" dirty="0" err="1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springSecurityFilterChain</a:t>
            </a:r>
            <a:r>
              <a:rPr lang="ko-KR" altLang="en-US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이라는 이름의 객체가 </a:t>
            </a:r>
            <a:r>
              <a:rPr lang="en-US" altLang="ko-KR" i="0" dirty="0" err="1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FilterChainProxy</a:t>
            </a:r>
            <a:r>
              <a:rPr lang="ko-KR" altLang="en-US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를 구현하여 스프링 빈으로 등록되어 있다</a:t>
            </a:r>
            <a:r>
              <a:rPr lang="en-US" altLang="ko-KR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i="0" dirty="0" err="1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DelegatingFilterProxy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 </a:t>
            </a:r>
            <a:r>
              <a:rPr lang="en-US" altLang="ko-KR" i="0" dirty="0" err="1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FilterChainProxy</a:t>
            </a:r>
            <a:r>
              <a:rPr lang="en-US" altLang="ko-KR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빈을 대리자로 등록하여 </a:t>
            </a:r>
            <a:r>
              <a:rPr lang="ko-KR" altLang="en-US" b="0" i="0" dirty="0"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표준 </a:t>
            </a:r>
            <a:r>
              <a:rPr lang="ko-KR" altLang="en-US" b="0" i="0" dirty="0" err="1"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서블릿</a:t>
            </a:r>
            <a:r>
              <a:rPr lang="ko-KR" altLang="en-US" b="0" i="0" dirty="0"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 컨테이너와 </a:t>
            </a:r>
            <a:r>
              <a:rPr lang="en-US" altLang="ko-KR" b="0" i="0" dirty="0"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IOC </a:t>
            </a:r>
            <a:r>
              <a:rPr lang="ko-KR" altLang="en-US" b="0" i="0" dirty="0"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컨테이너의 다리 역할을 한다</a:t>
            </a:r>
            <a:r>
              <a:rPr lang="en-US" altLang="ko-KR" b="0" i="0" dirty="0"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.(</a:t>
            </a:r>
            <a:r>
              <a:rPr lang="en-US" altLang="ko-KR" b="0" i="0" dirty="0" err="1"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DelegatingFilterProxy</a:t>
            </a:r>
            <a:r>
              <a:rPr lang="ko-KR" altLang="en-US" b="0" i="0" dirty="0"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안에 </a:t>
            </a:r>
            <a:r>
              <a:rPr lang="en-US" altLang="ko-KR" b="0" i="0" dirty="0"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Bean Filter</a:t>
            </a:r>
            <a:r>
              <a:rPr lang="ko-KR" altLang="en-US" b="0" i="0" dirty="0"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는 </a:t>
            </a:r>
            <a:r>
              <a:rPr lang="en-US" altLang="ko-KR" b="0" i="0" dirty="0" err="1"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FilterChainProxy</a:t>
            </a:r>
            <a:r>
              <a:rPr lang="ko-KR" altLang="en-US" b="0" i="0" dirty="0"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가 된다</a:t>
            </a:r>
            <a:r>
              <a:rPr lang="en-US" altLang="ko-KR" b="0" i="0" dirty="0"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en-US" altLang="ko-KR" i="0" dirty="0">
              <a:effectLst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반드시 </a:t>
            </a:r>
            <a:r>
              <a:rPr lang="en-US" altLang="ko-KR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Filter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-name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을 </a:t>
            </a:r>
            <a:r>
              <a:rPr lang="en-US" altLang="ko-KR" b="1" i="0" dirty="0" err="1">
                <a:solidFill>
                  <a:srgbClr val="FF0000"/>
                </a:solidFill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springSecurityFilterChain</a:t>
            </a:r>
            <a:r>
              <a:rPr lang="ko-KR" altLang="en-US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으로 등록한다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en-US" altLang="ko-KR" i="0" dirty="0">
              <a:effectLst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848366381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62317" y="105748"/>
            <a:ext cx="375198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Security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39826" y="1170422"/>
            <a:ext cx="11312347" cy="593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0" i="0" dirty="0" err="1"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DelegatingFilterProxy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EFF6A67-5455-588D-80FC-9E98A3D5E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664" y="2120257"/>
            <a:ext cx="7106642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828444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62317" y="105748"/>
            <a:ext cx="375198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Security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39826" y="1170422"/>
            <a:ext cx="11312347" cy="1048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SpringSecurity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Filter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2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14DDC0B-587D-F67F-E891-0C4C64693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68" y="1793256"/>
            <a:ext cx="4510896" cy="4724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984881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62317" y="105748"/>
            <a:ext cx="375198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Security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39826" y="1170422"/>
            <a:ext cx="11312347" cy="1048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SpringSecurity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인증처리  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2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C6C2155-799C-6960-FC4F-7FE89109E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431" y="1813883"/>
            <a:ext cx="6878010" cy="361047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9681FD7-E413-E7CA-08EF-867CAA0BB4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7046" y="1389186"/>
            <a:ext cx="4435421" cy="514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652168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62317" y="105748"/>
            <a:ext cx="375198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Security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1151709" cy="1463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Library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>
                <a:solidFill>
                  <a:srgbClr val="008080"/>
                </a:solidFill>
                <a:latin typeface="Courier New" panose="02070309020205020404" pitchFamily="49" charset="0"/>
              </a:rPr>
              <a:t>&lt;</a:t>
            </a:r>
            <a:r>
              <a:rPr lang="en-US" altLang="ko-KR" sz="1600" dirty="0" err="1">
                <a:solidFill>
                  <a:srgbClr val="3F7F7F"/>
                </a:solidFill>
                <a:latin typeface="Courier New" panose="02070309020205020404" pitchFamily="49" charset="0"/>
              </a:rPr>
              <a:t>org.springsecurity</a:t>
            </a:r>
            <a:r>
              <a:rPr lang="en-US" altLang="ko-KR" sz="1600" dirty="0">
                <a:solidFill>
                  <a:srgbClr val="3F7F7F"/>
                </a:solidFill>
                <a:latin typeface="Courier New" panose="02070309020205020404" pitchFamily="49" charset="0"/>
              </a:rPr>
              <a:t>-version</a:t>
            </a:r>
            <a:r>
              <a:rPr lang="en-US" altLang="ko-KR" sz="16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5.7.3</a:t>
            </a:r>
            <a:r>
              <a:rPr lang="en-US" altLang="ko-KR" sz="1600" dirty="0">
                <a:solidFill>
                  <a:srgbClr val="008080"/>
                </a:solidFill>
                <a:latin typeface="Courier New" panose="02070309020205020404" pitchFamily="49" charset="0"/>
              </a:rPr>
              <a:t>&lt;/</a:t>
            </a:r>
            <a:r>
              <a:rPr lang="en-US" altLang="ko-KR" sz="1600" dirty="0" err="1">
                <a:solidFill>
                  <a:srgbClr val="3F7F7F"/>
                </a:solidFill>
                <a:latin typeface="Courier New" panose="02070309020205020404" pitchFamily="49" charset="0"/>
              </a:rPr>
              <a:t>org.springsecurity</a:t>
            </a:r>
            <a:r>
              <a:rPr lang="en-US" altLang="ko-KR" sz="1600" dirty="0">
                <a:solidFill>
                  <a:srgbClr val="3F7F7F"/>
                </a:solidFill>
                <a:latin typeface="Courier New" panose="02070309020205020404" pitchFamily="49" charset="0"/>
              </a:rPr>
              <a:t>-version</a:t>
            </a:r>
            <a:r>
              <a:rPr lang="en-US" altLang="ko-KR" sz="1600" dirty="0">
                <a:solidFill>
                  <a:srgbClr val="008080"/>
                </a:solidFill>
                <a:latin typeface="Courier New" panose="02070309020205020404" pitchFamily="49" charset="0"/>
              </a:rPr>
              <a:t>&gt;</a:t>
            </a:r>
            <a:r>
              <a:rPr lang="en-US" altLang="ko-K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2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8B4FC6E-F94A-E490-F423-A4E8D067B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108" y="2242789"/>
            <a:ext cx="4502280" cy="4217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182091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62317" y="105748"/>
            <a:ext cx="375198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Security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1151709" cy="18794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web.xml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Filter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추가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14388" lvl="1" indent="-3571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0" i="0" dirty="0" err="1"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DelegatingFilterProxy</a:t>
            </a:r>
            <a:r>
              <a:rPr lang="ko-KR" altLang="en-US" b="0" i="0" dirty="0"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를</a:t>
            </a:r>
            <a:r>
              <a:rPr lang="en-US" altLang="ko-KR" b="0" i="0" dirty="0"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b="0" i="0" dirty="0"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등록한다</a:t>
            </a:r>
            <a:r>
              <a:rPr lang="en-US" altLang="ko-KR" b="0" i="0" dirty="0"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en-US" altLang="ko-KR" b="0" i="0" dirty="0">
              <a:solidFill>
                <a:srgbClr val="3C484E"/>
              </a:solidFill>
              <a:effectLst/>
              <a:highlight>
                <a:srgbClr val="FFFFFF"/>
              </a:highlight>
              <a:latin typeface="Nanum Gothic"/>
            </a:endParaRPr>
          </a:p>
          <a:p>
            <a:pPr marL="814388" lvl="1" indent="-3571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0" i="0" dirty="0" err="1">
                <a:solidFill>
                  <a:srgbClr val="3C484E"/>
                </a:solidFill>
                <a:effectLst/>
                <a:highlight>
                  <a:srgbClr val="FFFFFF"/>
                </a:highlight>
                <a:latin typeface="Nanum Gothic"/>
              </a:rPr>
              <a:t>시큐리티</a:t>
            </a:r>
            <a:r>
              <a:rPr lang="ko-KR" altLang="en-US" b="0" i="0" dirty="0">
                <a:solidFill>
                  <a:srgbClr val="3C484E"/>
                </a:solidFill>
                <a:effectLst/>
                <a:highlight>
                  <a:srgbClr val="FFFFFF"/>
                </a:highlight>
                <a:latin typeface="Nanum Gothic"/>
              </a:rPr>
              <a:t> 컨텍스트 파일을</a:t>
            </a:r>
            <a:r>
              <a:rPr lang="en-US" altLang="ko-KR" b="0" i="0" dirty="0">
                <a:solidFill>
                  <a:srgbClr val="3C484E"/>
                </a:solidFill>
                <a:effectLst/>
                <a:highlight>
                  <a:srgbClr val="FFFFFF"/>
                </a:highlight>
                <a:latin typeface="Nanum Gothic"/>
              </a:rPr>
              <a:t> </a:t>
            </a:r>
            <a:r>
              <a:rPr lang="ko-KR" altLang="en-US" b="0" i="0" dirty="0">
                <a:solidFill>
                  <a:srgbClr val="3C484E"/>
                </a:solidFill>
                <a:effectLst/>
                <a:highlight>
                  <a:srgbClr val="FFFFFF"/>
                </a:highlight>
                <a:latin typeface="Nanum Gothic"/>
              </a:rPr>
              <a:t>만들고 등록한다</a:t>
            </a:r>
            <a:r>
              <a:rPr lang="en-US" altLang="ko-KR" b="0" i="0" dirty="0">
                <a:solidFill>
                  <a:srgbClr val="3C484E"/>
                </a:solidFill>
                <a:effectLst/>
                <a:highlight>
                  <a:srgbClr val="FFFFFF"/>
                </a:highlight>
                <a:latin typeface="Nanum Gothic"/>
              </a:rPr>
              <a:t>. 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2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8A2976E-A4FD-EFE8-D353-BD6A97044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5923" y="2578838"/>
            <a:ext cx="8467320" cy="4026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366122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62317" y="105748"/>
            <a:ext cx="375198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Security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1151709" cy="1048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b="0" i="0" dirty="0">
                <a:solidFill>
                  <a:srgbClr val="3C484E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Form Login</a:t>
            </a:r>
            <a:r>
              <a:rPr lang="ko-KR" altLang="en-US" sz="2400" dirty="0">
                <a:solidFill>
                  <a:srgbClr val="3C484E"/>
                </a:solidFill>
                <a:highlight>
                  <a:srgbClr val="FFFFFF"/>
                </a:highlight>
                <a:latin typeface="나눔스퀘어" panose="020B0600000101010101" pitchFamily="50" charset="-127"/>
                <a:ea typeface="나눔스퀘어" panose="020B0600000101010101" pitchFamily="50" charset="-127"/>
              </a:rPr>
              <a:t>인증</a:t>
            </a:r>
            <a:r>
              <a:rPr lang="en-US" altLang="ko-KR" b="0" i="0" dirty="0">
                <a:solidFill>
                  <a:srgbClr val="3C484E"/>
                </a:solidFill>
                <a:effectLst/>
                <a:highlight>
                  <a:srgbClr val="FFFFFF"/>
                </a:highlight>
                <a:latin typeface="Nanum Gothic"/>
              </a:rPr>
              <a:t> 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2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C2C0BFC-7FF7-8FE9-A6FB-9EFE00A3C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65" y="1938877"/>
            <a:ext cx="6849431" cy="441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050426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62317" y="105748"/>
            <a:ext cx="375198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Security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1151709" cy="1048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security-context.xml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2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EF965BB-ECD2-4654-B3CD-71C8AC4B8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88" y="1900995"/>
            <a:ext cx="9916909" cy="38962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A265B7-FB92-00CF-437B-BB123BD25848}"/>
              </a:ext>
            </a:extLst>
          </p:cNvPr>
          <p:cNvSpPr txBox="1"/>
          <p:nvPr/>
        </p:nvSpPr>
        <p:spPr>
          <a:xfrm>
            <a:off x="6786897" y="5842299"/>
            <a:ext cx="441018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http : </a:t>
            </a:r>
            <a:r>
              <a:rPr lang="ko-KR" altLang="en-US" sz="1400" b="0" i="0" dirty="0">
                <a:solidFill>
                  <a:srgbClr val="3C484E"/>
                </a:solidFill>
                <a:effectLst/>
                <a:highlight>
                  <a:srgbClr val="FFFFFF"/>
                </a:highlight>
              </a:rPr>
              <a:t>경로를 매핑하여 필터체인의 실행여부를 설정</a:t>
            </a:r>
            <a:r>
              <a:rPr lang="ko-KR" altLang="en-US" sz="1400" dirty="0"/>
              <a:t> </a:t>
            </a:r>
            <a:endParaRPr lang="en-US" altLang="ko-KR" sz="1400" dirty="0"/>
          </a:p>
          <a:p>
            <a:r>
              <a:rPr lang="en-US" altLang="ko-KR" sz="1400" dirty="0"/>
              <a:t>auto-config : </a:t>
            </a:r>
            <a:r>
              <a:rPr lang="ko-KR" altLang="en-US" sz="1400" b="0" i="0" dirty="0">
                <a:solidFill>
                  <a:srgbClr val="3C484E"/>
                </a:solidFill>
                <a:effectLst/>
                <a:highlight>
                  <a:srgbClr val="FFFFFF"/>
                </a:highlight>
              </a:rPr>
              <a:t>필터체인의 </a:t>
            </a:r>
            <a:r>
              <a:rPr lang="en-US" altLang="ko-KR" sz="1400" b="0" i="0" dirty="0">
                <a:solidFill>
                  <a:srgbClr val="3C484E"/>
                </a:solidFill>
                <a:effectLst/>
                <a:highlight>
                  <a:srgbClr val="FFFFFF"/>
                </a:highlight>
              </a:rPr>
              <a:t>default </a:t>
            </a:r>
            <a:r>
              <a:rPr lang="ko-KR" altLang="en-US" sz="1400" b="0" i="0" dirty="0">
                <a:solidFill>
                  <a:srgbClr val="3C484E"/>
                </a:solidFill>
                <a:effectLst/>
                <a:highlight>
                  <a:srgbClr val="FFFFFF"/>
                </a:highlight>
              </a:rPr>
              <a:t>값이 설정</a:t>
            </a:r>
            <a:endParaRPr lang="en-US" altLang="ko-KR" sz="1400" b="0" i="0" dirty="0">
              <a:solidFill>
                <a:srgbClr val="3C484E"/>
              </a:solidFill>
              <a:effectLst/>
              <a:highlight>
                <a:srgbClr val="FFFFFF"/>
              </a:highlight>
            </a:endParaRPr>
          </a:p>
          <a:p>
            <a:r>
              <a:rPr lang="en-US" altLang="ko-KR" sz="1400" dirty="0">
                <a:solidFill>
                  <a:srgbClr val="3C484E"/>
                </a:solidFill>
                <a:highlight>
                  <a:srgbClr val="FFFFFF"/>
                </a:highlight>
              </a:rPr>
              <a:t>Intercept-</a:t>
            </a:r>
            <a:r>
              <a:rPr lang="en-US" altLang="ko-KR" sz="1400" dirty="0" err="1">
                <a:solidFill>
                  <a:srgbClr val="3C484E"/>
                </a:solidFill>
                <a:highlight>
                  <a:srgbClr val="FFFFFF"/>
                </a:highlight>
              </a:rPr>
              <a:t>url</a:t>
            </a:r>
            <a:r>
              <a:rPr lang="en-US" altLang="ko-KR" sz="1400" dirty="0">
                <a:solidFill>
                  <a:srgbClr val="3C484E"/>
                </a:solidFill>
                <a:highlight>
                  <a:srgbClr val="FFFFFF"/>
                </a:highlight>
              </a:rPr>
              <a:t>  pattern : </a:t>
            </a:r>
            <a:r>
              <a:rPr lang="ko-KR" altLang="en-US" sz="1400" dirty="0">
                <a:solidFill>
                  <a:srgbClr val="3C484E"/>
                </a:solidFill>
                <a:highlight>
                  <a:srgbClr val="FFFFFF"/>
                </a:highlight>
              </a:rPr>
              <a:t>경로에 대한 </a:t>
            </a:r>
            <a:r>
              <a:rPr lang="ko-KR" altLang="en-US" sz="1400" dirty="0" err="1">
                <a:solidFill>
                  <a:srgbClr val="3C484E"/>
                </a:solidFill>
                <a:highlight>
                  <a:srgbClr val="FFFFFF"/>
                </a:highlight>
              </a:rPr>
              <a:t>인터셉터</a:t>
            </a:r>
            <a:endParaRPr lang="en-US" altLang="ko-KR" sz="1400" dirty="0">
              <a:solidFill>
                <a:srgbClr val="3C484E"/>
              </a:solidFill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75142983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62317" y="105748"/>
            <a:ext cx="375198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Security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1151709" cy="1048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security-context.xml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2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4601302-AECF-3C4E-E087-4DA7E0D71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921" y="1914872"/>
            <a:ext cx="10040751" cy="42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691429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62317" y="105748"/>
            <a:ext cx="375198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Security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1151709" cy="1048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MemberDTO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2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35C7295-75DF-A6FC-9FF3-D2C777B4F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470" y="2058930"/>
            <a:ext cx="3381847" cy="204816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ECBADD9-6004-485F-3A8A-4DDBEDA13A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3866" y="2575702"/>
            <a:ext cx="4296375" cy="9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735778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62317" y="105748"/>
            <a:ext cx="375198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Security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1151709" cy="1048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Member Mapper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2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5F37B99-3158-B6D0-8729-F2E1DA6BB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264" y="2006197"/>
            <a:ext cx="9612066" cy="33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130902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62317" y="105748"/>
            <a:ext cx="375198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Security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1151709" cy="1048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MemberDAO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2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8E616B3-4A3A-E3E1-1666-1A1452270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901" y="1957392"/>
            <a:ext cx="8849960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616544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62317" y="105748"/>
            <a:ext cx="375198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Security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1151709" cy="1048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UserSecurityDetails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2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F811A4C-DA7B-5F58-B82E-0483ADFE4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451" y="2029467"/>
            <a:ext cx="9478698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717719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62317" y="105748"/>
            <a:ext cx="375198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Security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1151709" cy="1048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MemberService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2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16766D5-8940-F73A-258F-37C4CDF75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134" y="1903616"/>
            <a:ext cx="8888065" cy="32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056250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62317" y="105748"/>
            <a:ext cx="375198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Security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1151709" cy="1048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MemberService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2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893A9A1-646D-B9F4-491D-A91AC9C1E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311" y="1805320"/>
            <a:ext cx="7554570" cy="4896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752953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62317" y="105748"/>
            <a:ext cx="375198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Security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1151709" cy="1048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MemberController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2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89307A5-D4A3-D4F2-04F8-E8BD04C50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818" y="1791729"/>
            <a:ext cx="4890538" cy="477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437697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62317" y="105748"/>
            <a:ext cx="375198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Security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1151709" cy="1048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회원가입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페이지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2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3CE689C-7AA0-F7AA-EB55-013F325277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751" y="2085861"/>
            <a:ext cx="8878539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930636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62317" y="105748"/>
            <a:ext cx="375198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Security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1151709" cy="1048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로그인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페이지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2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B2B633A-4ED4-91CD-C00F-4FD27C395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300" y="2218914"/>
            <a:ext cx="7773485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361200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262317" y="105748"/>
            <a:ext cx="375198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Security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1151709" cy="1441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JSP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페이지에서 인증정보 얻기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it-IT" altLang="ko-KR" sz="1800" dirty="0">
                <a:solidFill>
                  <a:srgbClr val="BF5F3F"/>
                </a:solidFill>
                <a:latin typeface="Courier New" panose="02070309020205020404" pitchFamily="49" charset="0"/>
              </a:rPr>
              <a:t>&lt;%@ </a:t>
            </a:r>
            <a:r>
              <a:rPr lang="it-IT" altLang="ko-KR" sz="1800" dirty="0">
                <a:solidFill>
                  <a:srgbClr val="3F7F7F"/>
                </a:solidFill>
                <a:latin typeface="Courier New" panose="02070309020205020404" pitchFamily="49" charset="0"/>
              </a:rPr>
              <a:t>taglib </a:t>
            </a:r>
            <a:r>
              <a:rPr lang="it-IT" altLang="ko-KR" sz="1800" dirty="0">
                <a:solidFill>
                  <a:srgbClr val="7F007F"/>
                </a:solidFill>
                <a:latin typeface="Courier New" panose="02070309020205020404" pitchFamily="49" charset="0"/>
              </a:rPr>
              <a:t>prefix</a:t>
            </a:r>
            <a:r>
              <a:rPr lang="it-IT" altLang="ko-KR" sz="1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it-IT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"sec" </a:t>
            </a:r>
            <a:r>
              <a:rPr lang="it-IT" altLang="ko-KR" sz="1800" i="1" dirty="0">
                <a:solidFill>
                  <a:srgbClr val="7F007F"/>
                </a:solidFill>
                <a:latin typeface="Courier New" panose="02070309020205020404" pitchFamily="49" charset="0"/>
              </a:rPr>
              <a:t>uri</a:t>
            </a:r>
            <a:r>
              <a:rPr lang="it-IT" altLang="ko-KR" sz="1800" i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it-IT" altLang="ko-KR" sz="1800" i="1" dirty="0">
                <a:solidFill>
                  <a:srgbClr val="2A00FF"/>
                </a:solidFill>
                <a:latin typeface="Courier New" panose="02070309020205020404" pitchFamily="49" charset="0"/>
              </a:rPr>
              <a:t>"http://www.springframework.org/security/tags" </a:t>
            </a:r>
            <a:r>
              <a:rPr lang="it-IT" altLang="ko-KR" sz="1800" i="1" dirty="0">
                <a:solidFill>
                  <a:srgbClr val="BF5F3F"/>
                </a:solidFill>
                <a:latin typeface="Courier New" panose="02070309020205020404" pitchFamily="49" charset="0"/>
              </a:rPr>
              <a:t>%&gt;</a:t>
            </a:r>
            <a:endParaRPr lang="ko-KR" altLang="en-US" sz="2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1B905D2-A4BF-F1AE-65A8-DEBF8D351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67" y="3130791"/>
            <a:ext cx="8287907" cy="14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498961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990130" y="105748"/>
            <a:ext cx="429636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비동기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처리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1151709" cy="593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비동기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설정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47A15D8-6C7D-9E62-BCE8-64A7823CA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258" y="1763469"/>
            <a:ext cx="10492570" cy="4073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158799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990130" y="105748"/>
            <a:ext cx="429636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비동기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처리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1151709" cy="593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비동기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서비스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BC99DBD-36D0-78ED-A376-92A6D6FC8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692" y="2120257"/>
            <a:ext cx="7068536" cy="381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867659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990130" y="105748"/>
            <a:ext cx="429636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Spring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비동기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처리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1151709" cy="593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비동기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Controller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E984E58-BD46-9052-372B-FCE316C29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06" y="1899928"/>
            <a:ext cx="9192908" cy="44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110932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318903" y="105748"/>
            <a:ext cx="363881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강의중 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Test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화면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1151709" cy="593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조건조회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83EF6C6-2C3A-D650-9B38-655982C77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03" y="1876204"/>
            <a:ext cx="6257878" cy="438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162292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318903" y="105748"/>
            <a:ext cx="363881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강의중 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Test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화면</a:t>
            </a:r>
            <a:endParaRPr lang="ko-KR" altLang="en-US" sz="4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1151709" cy="593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상세보기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입력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46D3FF0-1933-D302-0E15-B81DE83DC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196" y="1948395"/>
            <a:ext cx="4403858" cy="468718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A00C9B9-912B-4631-302C-B4519C6B72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7480" y="1892412"/>
            <a:ext cx="4846402" cy="4743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706418"/>
      </p:ext>
    </p:extLst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585374" y="105748"/>
            <a:ext cx="510588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자바파일</a:t>
            </a:r>
            <a:r>
              <a:rPr lang="en-US" altLang="ko-KR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4000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한글깨짐</a:t>
            </a:r>
            <a:r>
              <a:rPr lang="ko-KR" altLang="en-US" sz="4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주의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135C6-32EB-4E9D-8781-73E05ED4CD11}"/>
              </a:ext>
            </a:extLst>
          </p:cNvPr>
          <p:cNvSpPr/>
          <p:nvPr/>
        </p:nvSpPr>
        <p:spPr>
          <a:xfrm>
            <a:off x="488356" y="1170422"/>
            <a:ext cx="11151709" cy="593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indent="-357188">
              <a:lnSpc>
                <a:spcPct val="150000"/>
              </a:lnSpc>
              <a:buFont typeface="맑은 고딕" panose="020B0503020000020004" pitchFamily="50" charset="-127"/>
              <a:buChar char="▶"/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팀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Project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시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git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공유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…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자바파일 </a:t>
            </a:r>
            <a:r>
              <a:rPr lang="ko-KR" altLang="en-US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한글깨짐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주의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setting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62778BD-387F-F4B3-1E54-89BC067C3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497" y="2120257"/>
            <a:ext cx="4494716" cy="4319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524641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E24CE-4EA4-B1A7-B82E-0A9E46F4D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0E5BCCD8-8B86-F0D9-7948-CEFFAE4124E2}"/>
              </a:ext>
            </a:extLst>
          </p:cNvPr>
          <p:cNvSpPr/>
          <p:nvPr/>
        </p:nvSpPr>
        <p:spPr>
          <a:xfrm>
            <a:off x="3918001" y="105748"/>
            <a:ext cx="444063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400" b="1" dirty="0" err="1">
                <a:solidFill>
                  <a:schemeClr val="bg2"/>
                </a:solidFill>
              </a:rPr>
              <a:t>ｐ</a:t>
            </a:r>
            <a:r>
              <a:rPr lang="en-US" altLang="ko-KR" sz="4400" b="1" dirty="0">
                <a:solidFill>
                  <a:schemeClr val="bg2"/>
                </a:solidFill>
              </a:rPr>
              <a:t>om</a:t>
            </a:r>
            <a:r>
              <a:rPr lang="ko-KR" altLang="en-US" sz="4400" b="1" dirty="0">
                <a:solidFill>
                  <a:schemeClr val="bg2"/>
                </a:solidFill>
              </a:rPr>
              <a:t>　오류해결</a:t>
            </a:r>
            <a:endParaRPr lang="ko-KR" altLang="en-US" sz="80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bg2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ea typeface="나눔스퀘어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B5D4C3-FF63-C377-06AE-2D3BF430B40B}"/>
              </a:ext>
            </a:extLst>
          </p:cNvPr>
          <p:cNvSpPr txBox="1"/>
          <p:nvPr/>
        </p:nvSpPr>
        <p:spPr>
          <a:xfrm>
            <a:off x="783235" y="1344969"/>
            <a:ext cx="822585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2000" dirty="0">
                <a:solidFill>
                  <a:srgbClr val="008080"/>
                </a:solidFill>
                <a:latin typeface="Comic Sans MS" panose="030F0702030302020204" pitchFamily="66" charset="0"/>
              </a:rPr>
              <a:t>&lt;</a:t>
            </a:r>
            <a:r>
              <a:rPr lang="en-US" altLang="ko-KR" sz="2000" dirty="0">
                <a:solidFill>
                  <a:srgbClr val="3F7F7F"/>
                </a:solidFill>
                <a:latin typeface="Comic Sans MS" panose="030F0702030302020204" pitchFamily="66" charset="0"/>
              </a:rPr>
              <a:t>dependency</a:t>
            </a:r>
            <a:r>
              <a:rPr lang="en-US" altLang="ko-KR" sz="2000" dirty="0">
                <a:solidFill>
                  <a:srgbClr val="008080"/>
                </a:solidFill>
                <a:latin typeface="Comic Sans MS" panose="030F0702030302020204" pitchFamily="66" charset="0"/>
              </a:rPr>
              <a:t>&gt;</a:t>
            </a:r>
          </a:p>
          <a:p>
            <a:pPr lvl="1"/>
            <a:r>
              <a:rPr lang="en-US" altLang="ko-KR" sz="2000" u="sng" dirty="0">
                <a:solidFill>
                  <a:srgbClr val="000000"/>
                </a:solidFill>
                <a:latin typeface="Comic Sans MS" panose="030F0702030302020204" pitchFamily="66" charset="0"/>
              </a:rPr>
              <a:t>&lt;</a:t>
            </a:r>
            <a:r>
              <a:rPr lang="en-US" altLang="ko-KR" sz="2000" u="sng" dirty="0" err="1">
                <a:solidFill>
                  <a:srgbClr val="000000"/>
                </a:solidFill>
                <a:latin typeface="Comic Sans MS" panose="030F0702030302020204" pitchFamily="66" charset="0"/>
              </a:rPr>
              <a:t>groupId</a:t>
            </a:r>
            <a:r>
              <a:rPr lang="en-US" altLang="ko-KR" sz="2000" u="sng" dirty="0">
                <a:solidFill>
                  <a:srgbClr val="000000"/>
                </a:solidFill>
                <a:latin typeface="Comic Sans MS" panose="030F0702030302020204" pitchFamily="66" charset="0"/>
              </a:rPr>
              <a:t>&gt;</a:t>
            </a:r>
            <a:r>
              <a:rPr lang="en-US" altLang="ko-KR" sz="2000" u="sng" dirty="0" err="1">
                <a:solidFill>
                  <a:srgbClr val="000000"/>
                </a:solidFill>
                <a:latin typeface="Comic Sans MS" panose="030F0702030302020204" pitchFamily="66" charset="0"/>
              </a:rPr>
              <a:t>org.apache.maven.plugins</a:t>
            </a:r>
            <a:r>
              <a:rPr lang="en-US" altLang="ko-KR" sz="2000" u="sng" dirty="0">
                <a:solidFill>
                  <a:srgbClr val="000000"/>
                </a:solidFill>
                <a:latin typeface="Comic Sans MS" panose="030F0702030302020204" pitchFamily="66" charset="0"/>
              </a:rPr>
              <a:t>&lt;/</a:t>
            </a:r>
            <a:r>
              <a:rPr lang="en-US" altLang="ko-KR" sz="2000" u="sng" dirty="0" err="1">
                <a:solidFill>
                  <a:srgbClr val="000000"/>
                </a:solidFill>
                <a:latin typeface="Comic Sans MS" panose="030F0702030302020204" pitchFamily="66" charset="0"/>
              </a:rPr>
              <a:t>groupId</a:t>
            </a:r>
            <a:r>
              <a:rPr lang="en-US" altLang="ko-KR" sz="2000" u="sng" dirty="0">
                <a:solidFill>
                  <a:srgbClr val="000000"/>
                </a:solidFill>
                <a:latin typeface="Comic Sans MS" panose="030F0702030302020204" pitchFamily="66" charset="0"/>
              </a:rPr>
              <a:t>&gt;</a:t>
            </a:r>
          </a:p>
          <a:p>
            <a:pPr lvl="1"/>
            <a:r>
              <a:rPr lang="en-US" altLang="ko-KR" sz="2000" u="sng" dirty="0">
                <a:solidFill>
                  <a:srgbClr val="000000"/>
                </a:solidFill>
                <a:latin typeface="Comic Sans MS" panose="030F0702030302020204" pitchFamily="66" charset="0"/>
              </a:rPr>
              <a:t>&lt;</a:t>
            </a:r>
            <a:r>
              <a:rPr lang="en-US" altLang="ko-KR" sz="2000" u="sng" dirty="0" err="1">
                <a:solidFill>
                  <a:srgbClr val="000000"/>
                </a:solidFill>
                <a:latin typeface="Comic Sans MS" panose="030F0702030302020204" pitchFamily="66" charset="0"/>
              </a:rPr>
              <a:t>artifactId</a:t>
            </a:r>
            <a:r>
              <a:rPr lang="en-US" altLang="ko-KR" sz="2000" u="sng" dirty="0">
                <a:solidFill>
                  <a:srgbClr val="000000"/>
                </a:solidFill>
                <a:latin typeface="Comic Sans MS" panose="030F0702030302020204" pitchFamily="66" charset="0"/>
              </a:rPr>
              <a:t>&gt;maven-war-plugin&lt;/</a:t>
            </a:r>
            <a:r>
              <a:rPr lang="en-US" altLang="ko-KR" sz="2000" u="sng" dirty="0" err="1">
                <a:solidFill>
                  <a:srgbClr val="000000"/>
                </a:solidFill>
                <a:latin typeface="Comic Sans MS" panose="030F0702030302020204" pitchFamily="66" charset="0"/>
              </a:rPr>
              <a:t>artifactId</a:t>
            </a:r>
            <a:r>
              <a:rPr lang="en-US" altLang="ko-KR" sz="2000" u="sng" dirty="0">
                <a:solidFill>
                  <a:srgbClr val="000000"/>
                </a:solidFill>
                <a:latin typeface="Comic Sans MS" panose="030F0702030302020204" pitchFamily="66" charset="0"/>
              </a:rPr>
              <a:t>&gt;</a:t>
            </a:r>
          </a:p>
          <a:p>
            <a:pPr lvl="1"/>
            <a:r>
              <a:rPr lang="en-US" altLang="ko-KR" sz="2000" u="sng" dirty="0">
                <a:solidFill>
                  <a:srgbClr val="000000"/>
                </a:solidFill>
                <a:latin typeface="Comic Sans MS" panose="030F0702030302020204" pitchFamily="66" charset="0"/>
              </a:rPr>
              <a:t>&lt;version&gt;3.3.2&lt;/version&gt;</a:t>
            </a:r>
          </a:p>
          <a:p>
            <a:pPr algn="l"/>
            <a:r>
              <a:rPr lang="en-US" altLang="ko-KR" sz="2000" dirty="0">
                <a:solidFill>
                  <a:srgbClr val="008080"/>
                </a:solidFill>
                <a:latin typeface="Comic Sans MS" panose="030F0702030302020204" pitchFamily="66" charset="0"/>
              </a:rPr>
              <a:t>&lt;/</a:t>
            </a:r>
            <a:r>
              <a:rPr lang="en-US" altLang="ko-KR" sz="2000" dirty="0">
                <a:solidFill>
                  <a:srgbClr val="3F7F7F"/>
                </a:solidFill>
                <a:latin typeface="Comic Sans MS" panose="030F0702030302020204" pitchFamily="66" charset="0"/>
              </a:rPr>
              <a:t>dependency</a:t>
            </a:r>
            <a:r>
              <a:rPr lang="en-US" altLang="ko-KR" sz="2000" dirty="0">
                <a:solidFill>
                  <a:srgbClr val="008080"/>
                </a:solidFill>
                <a:latin typeface="Comic Sans MS" panose="030F0702030302020204" pitchFamily="66" charset="0"/>
              </a:rPr>
              <a:t>&gt;</a:t>
            </a:r>
          </a:p>
          <a:p>
            <a:pPr algn="l"/>
            <a:endParaRPr lang="en-US" altLang="ko-KR" sz="2000" dirty="0">
              <a:solidFill>
                <a:srgbClr val="008080"/>
              </a:solidFill>
              <a:latin typeface="Comic Sans MS" panose="030F0702030302020204" pitchFamily="66" charset="0"/>
            </a:endParaRPr>
          </a:p>
          <a:p>
            <a:pPr algn="l"/>
            <a:r>
              <a:rPr lang="en-US" altLang="ko-KR" sz="2000" dirty="0">
                <a:solidFill>
                  <a:srgbClr val="008080"/>
                </a:solidFill>
                <a:latin typeface="Comic Sans MS" panose="030F0702030302020204" pitchFamily="66" charset="0"/>
              </a:rPr>
              <a:t>&lt;</a:t>
            </a:r>
            <a:r>
              <a:rPr lang="en-US" altLang="ko-KR" sz="2000" dirty="0">
                <a:solidFill>
                  <a:srgbClr val="3F7F7F"/>
                </a:solidFill>
                <a:latin typeface="Comic Sans MS" panose="030F0702030302020204" pitchFamily="66" charset="0"/>
              </a:rPr>
              <a:t>plugin</a:t>
            </a:r>
            <a:r>
              <a:rPr lang="en-US" altLang="ko-KR" sz="2000" dirty="0">
                <a:solidFill>
                  <a:srgbClr val="008080"/>
                </a:solidFill>
                <a:latin typeface="Comic Sans MS" panose="030F0702030302020204" pitchFamily="66" charset="0"/>
              </a:rPr>
              <a:t>&gt;</a:t>
            </a:r>
          </a:p>
          <a:p>
            <a:pPr lvl="1"/>
            <a:r>
              <a:rPr lang="en-US" altLang="ko-KR" sz="2000" dirty="0">
                <a:solidFill>
                  <a:srgbClr val="008080"/>
                </a:solidFill>
                <a:latin typeface="Comic Sans MS" panose="030F0702030302020204" pitchFamily="66" charset="0"/>
              </a:rPr>
              <a:t>&lt;</a:t>
            </a:r>
            <a:r>
              <a:rPr lang="en-US" altLang="ko-KR" sz="2000" dirty="0" err="1">
                <a:solidFill>
                  <a:srgbClr val="3F7F7F"/>
                </a:solidFill>
                <a:latin typeface="Comic Sans MS" panose="030F0702030302020204" pitchFamily="66" charset="0"/>
              </a:rPr>
              <a:t>groupId</a:t>
            </a:r>
            <a:r>
              <a:rPr lang="en-US" altLang="ko-KR" sz="2000" dirty="0">
                <a:solidFill>
                  <a:srgbClr val="008080"/>
                </a:solidFill>
                <a:latin typeface="Comic Sans MS" panose="030F0702030302020204" pitchFamily="66" charset="0"/>
              </a:rPr>
              <a:t>&gt;</a:t>
            </a:r>
            <a:r>
              <a:rPr lang="en-US" altLang="ko-KR" sz="2000" dirty="0" err="1">
                <a:solidFill>
                  <a:srgbClr val="000000"/>
                </a:solidFill>
                <a:latin typeface="Comic Sans MS" panose="030F0702030302020204" pitchFamily="66" charset="0"/>
              </a:rPr>
              <a:t>org.apache.maven.plugins</a:t>
            </a:r>
            <a:r>
              <a:rPr lang="en-US" altLang="ko-KR" sz="2000" dirty="0">
                <a:solidFill>
                  <a:srgbClr val="008080"/>
                </a:solidFill>
                <a:latin typeface="Comic Sans MS" panose="030F0702030302020204" pitchFamily="66" charset="0"/>
              </a:rPr>
              <a:t>&lt;/</a:t>
            </a:r>
            <a:r>
              <a:rPr lang="en-US" altLang="ko-KR" sz="2000" dirty="0" err="1">
                <a:solidFill>
                  <a:srgbClr val="3F7F7F"/>
                </a:solidFill>
                <a:latin typeface="Comic Sans MS" panose="030F0702030302020204" pitchFamily="66" charset="0"/>
              </a:rPr>
              <a:t>groupId</a:t>
            </a:r>
            <a:r>
              <a:rPr lang="en-US" altLang="ko-KR" sz="2000" dirty="0">
                <a:solidFill>
                  <a:srgbClr val="008080"/>
                </a:solidFill>
                <a:latin typeface="Comic Sans MS" panose="030F0702030302020204" pitchFamily="66" charset="0"/>
              </a:rPr>
              <a:t>&gt;</a:t>
            </a:r>
          </a:p>
          <a:p>
            <a:pPr lvl="1"/>
            <a:r>
              <a:rPr lang="en-US" altLang="ko-KR" sz="2000" dirty="0">
                <a:solidFill>
                  <a:srgbClr val="008080"/>
                </a:solidFill>
                <a:latin typeface="Comic Sans MS" panose="030F0702030302020204" pitchFamily="66" charset="0"/>
              </a:rPr>
              <a:t>&lt;</a:t>
            </a:r>
            <a:r>
              <a:rPr lang="en-US" altLang="ko-KR" sz="2000" dirty="0" err="1">
                <a:solidFill>
                  <a:srgbClr val="3F7F7F"/>
                </a:solidFill>
                <a:latin typeface="Comic Sans MS" panose="030F0702030302020204" pitchFamily="66" charset="0"/>
              </a:rPr>
              <a:t>artifactId</a:t>
            </a:r>
            <a:r>
              <a:rPr lang="en-US" altLang="ko-KR" sz="2000" dirty="0">
                <a:solidFill>
                  <a:srgbClr val="008080"/>
                </a:solidFill>
                <a:latin typeface="Comic Sans MS" panose="030F0702030302020204" pitchFamily="66" charset="0"/>
              </a:rPr>
              <a:t>&gt;</a:t>
            </a:r>
            <a:r>
              <a:rPr lang="en-US" altLang="ko-KR" sz="2000" dirty="0">
                <a:solidFill>
                  <a:srgbClr val="000000"/>
                </a:solidFill>
                <a:latin typeface="Comic Sans MS" panose="030F0702030302020204" pitchFamily="66" charset="0"/>
              </a:rPr>
              <a:t>maven-war-plugin</a:t>
            </a:r>
            <a:r>
              <a:rPr lang="en-US" altLang="ko-KR" sz="2000" dirty="0">
                <a:solidFill>
                  <a:srgbClr val="008080"/>
                </a:solidFill>
                <a:latin typeface="Comic Sans MS" panose="030F0702030302020204" pitchFamily="66" charset="0"/>
              </a:rPr>
              <a:t>&lt;/</a:t>
            </a:r>
            <a:r>
              <a:rPr lang="en-US" altLang="ko-KR" sz="2000" dirty="0" err="1">
                <a:solidFill>
                  <a:srgbClr val="3F7F7F"/>
                </a:solidFill>
                <a:latin typeface="Comic Sans MS" panose="030F0702030302020204" pitchFamily="66" charset="0"/>
              </a:rPr>
              <a:t>artifactId</a:t>
            </a:r>
            <a:r>
              <a:rPr lang="en-US" altLang="ko-KR" sz="2000" dirty="0">
                <a:solidFill>
                  <a:srgbClr val="008080"/>
                </a:solidFill>
                <a:latin typeface="Comic Sans MS" panose="030F0702030302020204" pitchFamily="66" charset="0"/>
              </a:rPr>
              <a:t>&gt;</a:t>
            </a:r>
          </a:p>
          <a:p>
            <a:pPr lvl="1"/>
            <a:r>
              <a:rPr lang="en-US" altLang="ko-KR" sz="2000" dirty="0">
                <a:solidFill>
                  <a:srgbClr val="008080"/>
                </a:solidFill>
                <a:latin typeface="Comic Sans MS" panose="030F0702030302020204" pitchFamily="66" charset="0"/>
              </a:rPr>
              <a:t>&lt;</a:t>
            </a:r>
            <a:r>
              <a:rPr lang="en-US" altLang="ko-KR" sz="2000" dirty="0">
                <a:solidFill>
                  <a:srgbClr val="3F7F7F"/>
                </a:solidFill>
                <a:latin typeface="Comic Sans MS" panose="030F0702030302020204" pitchFamily="66" charset="0"/>
              </a:rPr>
              <a:t>version</a:t>
            </a:r>
            <a:r>
              <a:rPr lang="en-US" altLang="ko-KR" sz="2000" dirty="0">
                <a:solidFill>
                  <a:srgbClr val="008080"/>
                </a:solidFill>
                <a:latin typeface="Comic Sans MS" panose="030F0702030302020204" pitchFamily="66" charset="0"/>
              </a:rPr>
              <a:t>&gt;</a:t>
            </a:r>
            <a:r>
              <a:rPr lang="en-US" altLang="ko-KR" sz="2000" dirty="0">
                <a:solidFill>
                  <a:srgbClr val="000000"/>
                </a:solidFill>
                <a:latin typeface="Comic Sans MS" panose="030F0702030302020204" pitchFamily="66" charset="0"/>
              </a:rPr>
              <a:t>3.3.2</a:t>
            </a:r>
            <a:r>
              <a:rPr lang="en-US" altLang="ko-KR" sz="2000" dirty="0">
                <a:solidFill>
                  <a:srgbClr val="008080"/>
                </a:solidFill>
                <a:latin typeface="Comic Sans MS" panose="030F0702030302020204" pitchFamily="66" charset="0"/>
              </a:rPr>
              <a:t>&lt;/</a:t>
            </a:r>
            <a:r>
              <a:rPr lang="en-US" altLang="ko-KR" sz="2000" dirty="0">
                <a:solidFill>
                  <a:srgbClr val="3F7F7F"/>
                </a:solidFill>
                <a:latin typeface="Comic Sans MS" panose="030F0702030302020204" pitchFamily="66" charset="0"/>
              </a:rPr>
              <a:t>version</a:t>
            </a:r>
            <a:r>
              <a:rPr lang="en-US" altLang="ko-KR" sz="2000" dirty="0">
                <a:solidFill>
                  <a:srgbClr val="008080"/>
                </a:solidFill>
                <a:latin typeface="Comic Sans MS" panose="030F0702030302020204" pitchFamily="66" charset="0"/>
              </a:rPr>
              <a:t>&gt;</a:t>
            </a:r>
          </a:p>
          <a:p>
            <a:pPr algn="l"/>
            <a:r>
              <a:rPr lang="en-US" altLang="ko-KR" sz="2000" dirty="0">
                <a:solidFill>
                  <a:srgbClr val="008080"/>
                </a:solidFill>
                <a:latin typeface="Comic Sans MS" panose="030F0702030302020204" pitchFamily="66" charset="0"/>
              </a:rPr>
              <a:t>&lt;/</a:t>
            </a:r>
            <a:r>
              <a:rPr lang="en-US" altLang="ko-KR" sz="2000" dirty="0">
                <a:solidFill>
                  <a:srgbClr val="3F7F7F"/>
                </a:solidFill>
                <a:latin typeface="Comic Sans MS" panose="030F0702030302020204" pitchFamily="66" charset="0"/>
              </a:rPr>
              <a:t>plugin</a:t>
            </a:r>
            <a:r>
              <a:rPr lang="en-US" altLang="ko-KR" sz="2000" dirty="0">
                <a:solidFill>
                  <a:srgbClr val="008080"/>
                </a:solidFill>
                <a:latin typeface="Comic Sans MS" panose="030F0702030302020204" pitchFamily="66" charset="0"/>
              </a:rPr>
              <a:t>&gt;</a:t>
            </a:r>
            <a:endParaRPr lang="ko-KR" altLang="en-US" sz="2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3661122"/>
      </p:ext>
    </p:extLst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8C67E-D49A-E366-61C1-96460A7AF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7A2F8491-B81F-4D0C-2002-98862230ADC1}"/>
              </a:ext>
            </a:extLst>
          </p:cNvPr>
          <p:cNvSpPr/>
          <p:nvPr/>
        </p:nvSpPr>
        <p:spPr>
          <a:xfrm>
            <a:off x="4046693" y="105748"/>
            <a:ext cx="418326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bg2"/>
                </a:solidFill>
              </a:rPr>
              <a:t>JWT token</a:t>
            </a:r>
            <a:r>
              <a:rPr lang="ko-KR" altLang="en-US" sz="4400" b="1" dirty="0">
                <a:solidFill>
                  <a:schemeClr val="bg2"/>
                </a:solidFill>
              </a:rPr>
              <a:t>사용</a:t>
            </a:r>
            <a:endParaRPr lang="ko-KR" altLang="en-US" sz="80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bg2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ea typeface="나눔스퀘어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120E922-E7B4-E97B-C130-E12B1E1DE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998" y="1547528"/>
            <a:ext cx="3629532" cy="406774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540F1E3-40A8-7ECD-DEBD-D3B5327EFF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998" y="6030399"/>
            <a:ext cx="8221222" cy="51442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22C60AE-3916-D82E-ACA6-273E9F59CB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3411" y="1547528"/>
            <a:ext cx="7268589" cy="233395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23C6C8B-8242-AA17-10C5-1CD9C1AFBC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3411" y="4222411"/>
            <a:ext cx="5763429" cy="73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51570"/>
      </p:ext>
    </p:extLst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C58F4-CBCC-3048-CF6A-927F58229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D44E9451-14B4-5297-E7FC-45E3A6264BCC}"/>
              </a:ext>
            </a:extLst>
          </p:cNvPr>
          <p:cNvSpPr/>
          <p:nvPr/>
        </p:nvSpPr>
        <p:spPr>
          <a:xfrm>
            <a:off x="4046693" y="105748"/>
            <a:ext cx="418326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bg2"/>
                </a:solidFill>
              </a:rPr>
              <a:t>JWT token</a:t>
            </a:r>
            <a:r>
              <a:rPr lang="ko-KR" altLang="en-US" sz="4400" b="1" dirty="0">
                <a:solidFill>
                  <a:schemeClr val="bg2"/>
                </a:solidFill>
              </a:rPr>
              <a:t>사용</a:t>
            </a:r>
            <a:endParaRPr lang="ko-KR" altLang="en-US" sz="80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bg2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ea typeface="나눔스퀘어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85C9802-22B8-E65F-BD26-94BDBF3CD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3" y="1398630"/>
            <a:ext cx="10002646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108744"/>
      </p:ext>
    </p:extLst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EE938-573A-601C-CC55-CCB5EAE6C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D5326D26-A29C-3020-AE05-C4E34325A2B2}"/>
              </a:ext>
            </a:extLst>
          </p:cNvPr>
          <p:cNvSpPr/>
          <p:nvPr/>
        </p:nvSpPr>
        <p:spPr>
          <a:xfrm>
            <a:off x="4046693" y="105748"/>
            <a:ext cx="418326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bg2"/>
                </a:solidFill>
              </a:rPr>
              <a:t>JWT token</a:t>
            </a:r>
            <a:r>
              <a:rPr lang="ko-KR" altLang="en-US" sz="4400" b="1" dirty="0">
                <a:solidFill>
                  <a:schemeClr val="bg2"/>
                </a:solidFill>
              </a:rPr>
              <a:t>사용</a:t>
            </a:r>
            <a:endParaRPr lang="ko-KR" altLang="en-US" sz="80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bg2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ea typeface="나눔스퀘어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7C158DB-7678-5FA5-409F-16091B2F0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61" y="1651857"/>
            <a:ext cx="6897063" cy="264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198662"/>
      </p:ext>
    </p:extLst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4E8E-A390-D71C-7F7B-634EA024D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79DFAD62-C087-55B8-0A95-C52273A98D07}"/>
              </a:ext>
            </a:extLst>
          </p:cNvPr>
          <p:cNvGrpSpPr/>
          <p:nvPr/>
        </p:nvGrpSpPr>
        <p:grpSpPr>
          <a:xfrm>
            <a:off x="3726874" y="2815838"/>
            <a:ext cx="7315199" cy="1226323"/>
            <a:chOff x="4793673" y="1246908"/>
            <a:chExt cx="6442363" cy="1080000"/>
          </a:xfrm>
        </p:grpSpPr>
        <p:sp>
          <p:nvSpPr>
            <p:cNvPr id="14" name="육각형 13">
              <a:extLst>
                <a:ext uri="{FF2B5EF4-FFF2-40B4-BE49-F238E27FC236}">
                  <a16:creationId xmlns:a16="http://schemas.microsoft.com/office/drawing/2014/main" id="{4C755C82-7E15-8673-03B2-27EA6DEA1366}"/>
                </a:ext>
              </a:extLst>
            </p:cNvPr>
            <p:cNvSpPr/>
            <p:nvPr/>
          </p:nvSpPr>
          <p:spPr>
            <a:xfrm>
              <a:off x="4793673" y="1246908"/>
              <a:ext cx="6442363" cy="1080000"/>
            </a:xfrm>
            <a:prstGeom prst="hexagon">
              <a:avLst>
                <a:gd name="adj" fmla="val 42671"/>
                <a:gd name="vf" fmla="val 11547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화살표: 오각형 14">
              <a:extLst>
                <a:ext uri="{FF2B5EF4-FFF2-40B4-BE49-F238E27FC236}">
                  <a16:creationId xmlns:a16="http://schemas.microsoft.com/office/drawing/2014/main" id="{9A2EEAB7-E6F8-6881-582F-8CBB62B564D9}"/>
                </a:ext>
              </a:extLst>
            </p:cNvPr>
            <p:cNvSpPr/>
            <p:nvPr/>
          </p:nvSpPr>
          <p:spPr>
            <a:xfrm>
              <a:off x="5632954" y="1371410"/>
              <a:ext cx="5339846" cy="830996"/>
            </a:xfrm>
            <a:prstGeom prst="homePlat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182AD0BF-EE95-C689-5647-00BAFA6F9825}"/>
                </a:ext>
              </a:extLst>
            </p:cNvPr>
            <p:cNvSpPr/>
            <p:nvPr/>
          </p:nvSpPr>
          <p:spPr>
            <a:xfrm>
              <a:off x="5196182" y="1364345"/>
              <a:ext cx="845127" cy="845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FCE6B50E-49DB-3F7C-F3A1-00AF4DEC761D}"/>
                </a:ext>
              </a:extLst>
            </p:cNvPr>
            <p:cNvGrpSpPr/>
            <p:nvPr/>
          </p:nvGrpSpPr>
          <p:grpSpPr>
            <a:xfrm>
              <a:off x="5537393" y="1369809"/>
              <a:ext cx="5104389" cy="813160"/>
              <a:chOff x="5516922" y="1640913"/>
              <a:chExt cx="3680552" cy="586335"/>
            </a:xfrm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0C4C12BD-4537-3B89-20D9-C835E20C40E4}"/>
                  </a:ext>
                </a:extLst>
              </p:cNvPr>
              <p:cNvSpPr/>
              <p:nvPr/>
            </p:nvSpPr>
            <p:spPr>
              <a:xfrm>
                <a:off x="5881889" y="1689774"/>
                <a:ext cx="3315585" cy="488612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defTabSz="1076865" eaLnBrk="0" latinLnBrk="0" hangingPunct="0">
                  <a:spcAft>
                    <a:spcPts val="486"/>
                  </a:spcAft>
                  <a:buSzPct val="100000"/>
                  <a:defRPr/>
                </a:pPr>
                <a:r>
                  <a:rPr lang="en-US" altLang="ko-KR" sz="4400" dirty="0">
                    <a:gradFill>
                      <a:gsLst>
                        <a:gs pos="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6200000" scaled="1"/>
                    </a:gradFill>
                    <a:latin typeface="HY견고딕" pitchFamily="18" charset="-127"/>
                    <a:ea typeface="HY견고딕" pitchFamily="18" charset="-127"/>
                  </a:rPr>
                  <a:t>AWS</a:t>
                </a:r>
                <a:r>
                  <a:rPr lang="ko-KR" altLang="en-US" sz="4400" dirty="0">
                    <a:gradFill>
                      <a:gsLst>
                        <a:gs pos="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6200000" scaled="1"/>
                    </a:gradFill>
                    <a:latin typeface="HY견고딕" pitchFamily="18" charset="-127"/>
                    <a:ea typeface="HY견고딕" pitchFamily="18" charset="-127"/>
                  </a:rPr>
                  <a:t>배포</a:t>
                </a: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76274518-51DB-F11D-FEAE-CC45117397D5}"/>
                  </a:ext>
                </a:extLst>
              </p:cNvPr>
              <p:cNvSpPr/>
              <p:nvPr/>
            </p:nvSpPr>
            <p:spPr>
              <a:xfrm>
                <a:off x="5516922" y="1640913"/>
                <a:ext cx="117307" cy="586335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5400" b="1" i="0" u="none" strike="noStrike" kern="0" normalizeH="0" baseline="0" noProof="0" dirty="0">
                  <a:ln w="2857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uLnTx/>
                  <a:uFillTx/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22182444"/>
      </p:ext>
    </p:extLst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B079E-1112-4243-B583-8693440ED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E19A2ECF-22AF-FD55-141E-14E34EBFB23B}"/>
              </a:ext>
            </a:extLst>
          </p:cNvPr>
          <p:cNvSpPr/>
          <p:nvPr/>
        </p:nvSpPr>
        <p:spPr>
          <a:xfrm>
            <a:off x="3521712" y="105748"/>
            <a:ext cx="523322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bg2"/>
                </a:solidFill>
              </a:rPr>
              <a:t>AWS </a:t>
            </a:r>
            <a:r>
              <a:rPr lang="ko-KR" altLang="en-US" sz="4400" b="1" dirty="0">
                <a:solidFill>
                  <a:schemeClr val="bg2"/>
                </a:solidFill>
              </a:rPr>
              <a:t>인스턴스 생성</a:t>
            </a:r>
            <a:endParaRPr lang="ko-KR" altLang="en-US" sz="80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bg2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ea typeface="나눔스퀘어" panose="020B0600000101010101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2ECB51B-11DF-FEFE-6679-363513E50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024" y="1337123"/>
            <a:ext cx="4882808" cy="485164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3BCCE39-F85E-D7BE-3450-6BBA69AC8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4813" y="2215241"/>
            <a:ext cx="5306165" cy="330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798351"/>
      </p:ext>
    </p:extLst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CC3A7-C52C-10AF-5C71-3746E02CA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CED8132-8357-CCFD-F5E0-9752F7A9EFAD}"/>
              </a:ext>
            </a:extLst>
          </p:cNvPr>
          <p:cNvSpPr/>
          <p:nvPr/>
        </p:nvSpPr>
        <p:spPr>
          <a:xfrm>
            <a:off x="3521712" y="105748"/>
            <a:ext cx="523322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bg2"/>
                </a:solidFill>
              </a:rPr>
              <a:t>AWS </a:t>
            </a:r>
            <a:r>
              <a:rPr lang="ko-KR" altLang="en-US" sz="4400" b="1" dirty="0">
                <a:solidFill>
                  <a:schemeClr val="bg2"/>
                </a:solidFill>
              </a:rPr>
              <a:t>인스턴스 생성</a:t>
            </a:r>
            <a:endParaRPr lang="ko-KR" altLang="en-US" sz="80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bg2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ea typeface="나눔스퀘어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27CAC17-926A-E690-D5FF-120D6D3BF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236" y="1493588"/>
            <a:ext cx="4563112" cy="25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001538"/>
      </p:ext>
    </p:extLst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ED1AB-25AC-3691-96C5-B55FC237E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CB2A51B4-B1CF-5FE3-B553-7430C3C2EA14}"/>
              </a:ext>
            </a:extLst>
          </p:cNvPr>
          <p:cNvSpPr/>
          <p:nvPr/>
        </p:nvSpPr>
        <p:spPr>
          <a:xfrm>
            <a:off x="4918281" y="105748"/>
            <a:ext cx="244009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ko-KR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JDK </a:t>
            </a:r>
            <a:r>
              <a:rPr lang="ko-KR" altLang="en-US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설치</a:t>
            </a:r>
            <a:endParaRPr lang="ko-KR" altLang="en-US" sz="80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bg2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ea typeface="나눔스퀘어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8FE99C1-0F56-8FD2-E4A0-B11A92577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75" y="1573377"/>
            <a:ext cx="4163006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330147"/>
      </p:ext>
    </p:extLst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6DE4A-A8ED-5CCE-EC10-0FCB29381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69F10C02-231D-200E-98EC-96C46B2EE0DE}"/>
              </a:ext>
            </a:extLst>
          </p:cNvPr>
          <p:cNvSpPr/>
          <p:nvPr/>
        </p:nvSpPr>
        <p:spPr>
          <a:xfrm>
            <a:off x="4461203" y="105748"/>
            <a:ext cx="335425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ko-KR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Tomcat </a:t>
            </a:r>
            <a:r>
              <a:rPr lang="ko-KR" altLang="en-US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설치</a:t>
            </a:r>
            <a:endParaRPr lang="ko-KR" altLang="en-US" sz="80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bg2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ea typeface="나눔스퀘어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835CE0C-03BE-290E-3C8C-1C64B8750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782" y="1438781"/>
            <a:ext cx="5144218" cy="164805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9B7B489-600C-BD28-2235-FCF8CCB6C2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7952" y="1640371"/>
            <a:ext cx="5960689" cy="453183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70CB6ED-573F-359A-86AC-119F98ECA1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782" y="3543765"/>
            <a:ext cx="2705818" cy="293829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E71E48F-ED5F-E69A-82E2-FD73BA17B2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7952" y="6371199"/>
            <a:ext cx="2486372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345567"/>
      </p:ext>
    </p:extLst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00170-A162-2FCF-92FF-1929DAA83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D8710575-5C84-013E-364E-FD2A98521160}"/>
              </a:ext>
            </a:extLst>
          </p:cNvPr>
          <p:cNvSpPr/>
          <p:nvPr/>
        </p:nvSpPr>
        <p:spPr>
          <a:xfrm>
            <a:off x="4274518" y="105748"/>
            <a:ext cx="372762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ko-KR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MariaDB </a:t>
            </a:r>
            <a:r>
              <a:rPr lang="ko-KR" altLang="en-US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설치</a:t>
            </a:r>
            <a:endParaRPr lang="ko-KR" altLang="en-US" sz="80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bg2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ea typeface="나눔스퀘어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E4B6509-7780-B1FF-0AC6-797D8A8EF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177" y="1242638"/>
            <a:ext cx="6058746" cy="537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181634"/>
      </p:ext>
    </p:extLst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9B7B3-851E-65BB-A0CF-2BFB23C3F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0F1BA82E-C9D1-5E98-FC2F-C7F930EAADC1}"/>
              </a:ext>
            </a:extLst>
          </p:cNvPr>
          <p:cNvSpPr/>
          <p:nvPr/>
        </p:nvSpPr>
        <p:spPr>
          <a:xfrm>
            <a:off x="4274518" y="105748"/>
            <a:ext cx="372762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ko-KR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MariaDB </a:t>
            </a:r>
            <a:r>
              <a:rPr lang="ko-KR" altLang="en-US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설치</a:t>
            </a:r>
            <a:endParaRPr lang="ko-KR" altLang="en-US" sz="80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bg2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ea typeface="나눔스퀘어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1253F61-8324-33C3-2C26-0ACE3F2E8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776" y="1484148"/>
            <a:ext cx="10624322" cy="2067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419894"/>
      </p:ext>
    </p:extLst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0DC39-849F-7207-1DB6-73F81A3B4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F3791B1F-3977-8602-C285-D6CD421483BC}"/>
              </a:ext>
            </a:extLst>
          </p:cNvPr>
          <p:cNvSpPr/>
          <p:nvPr/>
        </p:nvSpPr>
        <p:spPr>
          <a:xfrm>
            <a:off x="4274518" y="105748"/>
            <a:ext cx="372762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ko-KR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MariaDB </a:t>
            </a:r>
            <a:r>
              <a:rPr lang="ko-KR" altLang="en-US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설치</a:t>
            </a:r>
            <a:endParaRPr lang="ko-KR" altLang="en-US" sz="80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bg2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ea typeface="나눔스퀘어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8AB4240-308D-A707-2B4A-521E50BE2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54" y="1431562"/>
            <a:ext cx="4010585" cy="123842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9C005DD-D44F-86B6-B5D2-35A604F1A7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440" y="3483067"/>
            <a:ext cx="6115904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40831"/>
      </p:ext>
    </p:extLst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24A66-6413-C260-EF25-B36C99B23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CE4F5E8C-4A45-C5A2-608E-0BBE5C411123}"/>
              </a:ext>
            </a:extLst>
          </p:cNvPr>
          <p:cNvSpPr/>
          <p:nvPr/>
        </p:nvSpPr>
        <p:spPr>
          <a:xfrm>
            <a:off x="4895011" y="105748"/>
            <a:ext cx="248664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ko-KR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War </a:t>
            </a:r>
            <a:r>
              <a:rPr lang="ko-KR" altLang="en-US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배포</a:t>
            </a:r>
            <a:endParaRPr lang="ko-KR" altLang="en-US" sz="80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bg2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ea typeface="나눔스퀘어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E5EE8F4-B6A2-E1DC-26A2-8BA1F15A2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32" y="1624587"/>
            <a:ext cx="8604737" cy="114511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55A2EEE-2A63-3B68-FB64-F7A9514713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132" y="3174857"/>
            <a:ext cx="8604737" cy="120091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B42ADC2-601F-E507-2A04-79D618D074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132" y="4926908"/>
            <a:ext cx="6944904" cy="68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16984"/>
      </p:ext>
    </p:extLst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C885D-0D5A-6FF6-1315-1984F9229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96E76501-2E56-5C8C-FB61-65E2E9ACDEA0}"/>
              </a:ext>
            </a:extLst>
          </p:cNvPr>
          <p:cNvGrpSpPr/>
          <p:nvPr/>
        </p:nvGrpSpPr>
        <p:grpSpPr>
          <a:xfrm>
            <a:off x="3237472" y="2815838"/>
            <a:ext cx="7799718" cy="1226323"/>
            <a:chOff x="4793673" y="1246908"/>
            <a:chExt cx="6442365" cy="1080000"/>
          </a:xfrm>
        </p:grpSpPr>
        <p:sp>
          <p:nvSpPr>
            <p:cNvPr id="14" name="육각형 13">
              <a:extLst>
                <a:ext uri="{FF2B5EF4-FFF2-40B4-BE49-F238E27FC236}">
                  <a16:creationId xmlns:a16="http://schemas.microsoft.com/office/drawing/2014/main" id="{FEE8C534-B511-2E16-2DB3-5C40F2E33966}"/>
                </a:ext>
              </a:extLst>
            </p:cNvPr>
            <p:cNvSpPr/>
            <p:nvPr/>
          </p:nvSpPr>
          <p:spPr>
            <a:xfrm>
              <a:off x="4793673" y="1246908"/>
              <a:ext cx="6442363" cy="1080000"/>
            </a:xfrm>
            <a:prstGeom prst="hexagon">
              <a:avLst>
                <a:gd name="adj" fmla="val 42671"/>
                <a:gd name="vf" fmla="val 11547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화살표: 오각형 14">
              <a:extLst>
                <a:ext uri="{FF2B5EF4-FFF2-40B4-BE49-F238E27FC236}">
                  <a16:creationId xmlns:a16="http://schemas.microsoft.com/office/drawing/2014/main" id="{E8F8A223-ECA7-CE94-036D-1C90D8848C8A}"/>
                </a:ext>
              </a:extLst>
            </p:cNvPr>
            <p:cNvSpPr/>
            <p:nvPr/>
          </p:nvSpPr>
          <p:spPr>
            <a:xfrm>
              <a:off x="5632954" y="1371410"/>
              <a:ext cx="5339846" cy="830996"/>
            </a:xfrm>
            <a:prstGeom prst="homePlat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7AB13E55-643D-DCBF-29E7-C03F94C241D8}"/>
                </a:ext>
              </a:extLst>
            </p:cNvPr>
            <p:cNvSpPr/>
            <p:nvPr/>
          </p:nvSpPr>
          <p:spPr>
            <a:xfrm>
              <a:off x="5196182" y="1364345"/>
              <a:ext cx="845127" cy="845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9DE2146D-EACE-53F2-FC4C-D230969B8CBB}"/>
                </a:ext>
              </a:extLst>
            </p:cNvPr>
            <p:cNvGrpSpPr/>
            <p:nvPr/>
          </p:nvGrpSpPr>
          <p:grpSpPr>
            <a:xfrm>
              <a:off x="5537394" y="1369809"/>
              <a:ext cx="5698644" cy="813160"/>
              <a:chOff x="5516922" y="1640913"/>
              <a:chExt cx="4109043" cy="586335"/>
            </a:xfrm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D32B7751-6A0E-25C1-E73B-26F21D283415}"/>
                  </a:ext>
                </a:extLst>
              </p:cNvPr>
              <p:cNvSpPr/>
              <p:nvPr/>
            </p:nvSpPr>
            <p:spPr>
              <a:xfrm>
                <a:off x="5881889" y="1689774"/>
                <a:ext cx="3744076" cy="488612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defTabSz="1076865" eaLnBrk="0" latinLnBrk="0" hangingPunct="0">
                  <a:spcAft>
                    <a:spcPts val="486"/>
                  </a:spcAft>
                  <a:buSzPct val="100000"/>
                  <a:defRPr/>
                </a:pPr>
                <a:r>
                  <a:rPr lang="en-US" altLang="ko-KR" sz="4400" dirty="0" err="1">
                    <a:gradFill>
                      <a:gsLst>
                        <a:gs pos="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6200000" scaled="1"/>
                    </a:gradFill>
                    <a:latin typeface="HY견고딕" pitchFamily="18" charset="-127"/>
                    <a:ea typeface="HY견고딕" pitchFamily="18" charset="-127"/>
                  </a:rPr>
                  <a:t>GitAction</a:t>
                </a:r>
                <a:r>
                  <a:rPr lang="en-US" altLang="ko-KR" sz="4400" dirty="0">
                    <a:gradFill>
                      <a:gsLst>
                        <a:gs pos="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6200000" scaled="1"/>
                    </a:gradFill>
                    <a:latin typeface="HY견고딕" pitchFamily="18" charset="-127"/>
                    <a:ea typeface="HY견고딕" pitchFamily="18" charset="-127"/>
                  </a:rPr>
                  <a:t> </a:t>
                </a:r>
                <a:r>
                  <a:rPr lang="ko-KR" altLang="en-US" sz="4400" dirty="0">
                    <a:gradFill>
                      <a:gsLst>
                        <a:gs pos="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6200000" scaled="1"/>
                    </a:gradFill>
                    <a:latin typeface="HY견고딕" pitchFamily="18" charset="-127"/>
                    <a:ea typeface="HY견고딕" pitchFamily="18" charset="-127"/>
                  </a:rPr>
                  <a:t>자동배포</a:t>
                </a: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34B06B01-93DC-9EDF-A669-FCD41AA6045A}"/>
                  </a:ext>
                </a:extLst>
              </p:cNvPr>
              <p:cNvSpPr/>
              <p:nvPr/>
            </p:nvSpPr>
            <p:spPr>
              <a:xfrm>
                <a:off x="5516922" y="1640913"/>
                <a:ext cx="117307" cy="586335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5400" b="1" i="0" u="none" strike="noStrike" kern="0" normalizeH="0" baseline="0" noProof="0" dirty="0">
                  <a:ln w="2857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uLnTx/>
                  <a:uFillTx/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25638524"/>
      </p:ext>
    </p:extLst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F1BA6-31EA-77E7-E666-A44A86A8A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01FF7D1E-99E4-F403-5405-044B171B68D3}"/>
              </a:ext>
            </a:extLst>
          </p:cNvPr>
          <p:cNvSpPr/>
          <p:nvPr/>
        </p:nvSpPr>
        <p:spPr>
          <a:xfrm>
            <a:off x="3360976" y="105748"/>
            <a:ext cx="555472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ko-KR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Git Action </a:t>
            </a:r>
            <a:r>
              <a:rPr lang="ko-KR" altLang="en-US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자동</a:t>
            </a:r>
            <a:r>
              <a:rPr lang="en-US" altLang="ko-KR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 </a:t>
            </a:r>
            <a:r>
              <a:rPr lang="ko-KR" altLang="en-US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배포</a:t>
            </a:r>
            <a:r>
              <a:rPr lang="en-US" altLang="ko-KR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 </a:t>
            </a:r>
            <a:endParaRPr lang="ko-KR" altLang="en-US" sz="80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bg2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ea typeface="나눔스퀘어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FBEAB4-6B9A-3186-5EC1-15A22F0CB1C0}"/>
              </a:ext>
            </a:extLst>
          </p:cNvPr>
          <p:cNvSpPr txBox="1"/>
          <p:nvPr/>
        </p:nvSpPr>
        <p:spPr>
          <a:xfrm>
            <a:off x="556591" y="1404730"/>
            <a:ext cx="67342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ookieRun Regular" panose="020B0600000101010101" pitchFamily="50" charset="-127"/>
              <a:buChar char="▶"/>
            </a:pP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GitHub </a:t>
            </a:r>
            <a:r>
              <a:rPr lang="ko-KR" altLang="en-US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저장소 설정</a:t>
            </a: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 Secrets </a:t>
            </a:r>
            <a:r>
              <a:rPr lang="ko-KR" altLang="en-US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등록</a:t>
            </a: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  </a:t>
            </a:r>
          </a:p>
          <a:p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	GitHub &gt; Repository &gt; Settings &gt; Secrets &gt; Actions</a:t>
            </a:r>
            <a:endParaRPr lang="ko-KR" altLang="en-US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CA1F14E-5AC2-C41C-3D4C-A5AF0A59C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9467" y="4204951"/>
            <a:ext cx="7592485" cy="190526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A3D3673-EA58-FF04-7648-889F738263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158" y="4172198"/>
            <a:ext cx="3343742" cy="210531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7D4CD22-DB5B-D1A8-A180-0821E7EC81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1744" y="2962210"/>
            <a:ext cx="7763958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572840"/>
      </p:ext>
    </p:extLst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4D25B-6320-0A6A-9A1D-BB4CC1334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ED39808B-77CD-05F4-92D7-5D0526EFBC29}"/>
              </a:ext>
            </a:extLst>
          </p:cNvPr>
          <p:cNvSpPr/>
          <p:nvPr/>
        </p:nvSpPr>
        <p:spPr>
          <a:xfrm>
            <a:off x="3360976" y="105748"/>
            <a:ext cx="555472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ko-KR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Git Action </a:t>
            </a:r>
            <a:r>
              <a:rPr lang="ko-KR" altLang="en-US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자동</a:t>
            </a:r>
            <a:r>
              <a:rPr lang="en-US" altLang="ko-KR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 </a:t>
            </a:r>
            <a:r>
              <a:rPr lang="ko-KR" altLang="en-US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배포</a:t>
            </a:r>
            <a:r>
              <a:rPr lang="en-US" altLang="ko-KR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 </a:t>
            </a:r>
            <a:endParaRPr lang="ko-KR" altLang="en-US" sz="80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bg2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ea typeface="나눔스퀘어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8B3D61-F0DA-304A-F652-CE0A2861BCB5}"/>
              </a:ext>
            </a:extLst>
          </p:cNvPr>
          <p:cNvSpPr txBox="1"/>
          <p:nvPr/>
        </p:nvSpPr>
        <p:spPr>
          <a:xfrm>
            <a:off x="556591" y="1404730"/>
            <a:ext cx="7036926" cy="28161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ookieRun Regular" panose="020B0600000101010101" pitchFamily="50" charset="-127"/>
              <a:buChar char="▶"/>
            </a:pPr>
            <a:r>
              <a:rPr lang="en-US" altLang="ko-KR" sz="2400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deply.yml</a:t>
            </a: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ko-KR" altLang="en-US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작성</a:t>
            </a:r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	.</a:t>
            </a: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github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/workflows/</a:t>
            </a: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deploy.yml</a:t>
            </a:r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master </a:t>
            </a:r>
            <a:r>
              <a:rPr lang="ko-KR" altLang="en-US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브랜치에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push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가 발생하면 이 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workflow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가 자동으로 실행됨</a:t>
            </a:r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GitHub Actions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에서 제공하는 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ubuntu-latest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환경에서 실행</a:t>
            </a:r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endParaRPr lang="ko-KR" altLang="en-US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8099E01-4063-BD6F-A75D-E119E8F5F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348" y="2579146"/>
            <a:ext cx="2896004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298573"/>
      </p:ext>
    </p:extLst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E6E12-53C1-E248-6F26-AAE0576F2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FF90347D-327D-A9B1-62C7-5EC4D88FC6C0}"/>
              </a:ext>
            </a:extLst>
          </p:cNvPr>
          <p:cNvSpPr/>
          <p:nvPr/>
        </p:nvSpPr>
        <p:spPr>
          <a:xfrm>
            <a:off x="3360976" y="105748"/>
            <a:ext cx="555472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ko-KR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Git Action </a:t>
            </a:r>
            <a:r>
              <a:rPr lang="ko-KR" altLang="en-US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자동</a:t>
            </a:r>
            <a:r>
              <a:rPr lang="en-US" altLang="ko-KR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 </a:t>
            </a:r>
            <a:r>
              <a:rPr lang="ko-KR" altLang="en-US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배포</a:t>
            </a:r>
            <a:r>
              <a:rPr lang="en-US" altLang="ko-KR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 </a:t>
            </a:r>
            <a:endParaRPr lang="ko-KR" altLang="en-US" sz="80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bg2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ea typeface="나눔스퀘어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EEAAB5-0213-F423-45B1-0ED73359E442}"/>
              </a:ext>
            </a:extLst>
          </p:cNvPr>
          <p:cNvSpPr txBox="1"/>
          <p:nvPr/>
        </p:nvSpPr>
        <p:spPr>
          <a:xfrm>
            <a:off x="556591" y="1404730"/>
            <a:ext cx="7355027" cy="39241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ookieRun Regular" panose="020B0600000101010101" pitchFamily="50" charset="-127"/>
              <a:buChar char="▶"/>
            </a:pPr>
            <a:r>
              <a:rPr lang="en-US" altLang="ko-KR" sz="2400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deply.yml</a:t>
            </a: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ko-KR" altLang="en-US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작성</a:t>
            </a:r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	.</a:t>
            </a: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github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/workflows/</a:t>
            </a: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deploy.yml</a:t>
            </a:r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코드 체크아웃 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: GitHub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저장소 코드를 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runner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에 가져오는 작업</a:t>
            </a:r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JDK 11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설정 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: Maven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빌드를 위한 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Java 11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환경 구성</a:t>
            </a:r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Maven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으로 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WAR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빌드 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: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테스트 생략하고 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Maven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으로 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target/*.war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생성</a:t>
            </a:r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WAR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존재 여부 확인 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(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디버깅용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GitHub Artifacts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로 업로드 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(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선택적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) :</a:t>
            </a:r>
          </a:p>
          <a:p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   GitHub Actions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결과 페이지에서 </a:t>
            </a:r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   .war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파일을 다운로드 할 수 있게 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upload</a:t>
            </a:r>
            <a:endParaRPr lang="ko-KR" altLang="en-US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5F11C72-1320-510C-C4FD-68B989A42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3057" y="1705631"/>
            <a:ext cx="4134427" cy="40391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EA21F9B-A6D6-EE7C-0B6C-2CEDBAE94F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6046" y="4613049"/>
            <a:ext cx="2739908" cy="71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156954"/>
      </p:ext>
    </p:extLst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B81FB-EF20-F653-99D4-5AD6547F9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DBD254E8-C166-45C5-C333-2707710FBAF2}"/>
              </a:ext>
            </a:extLst>
          </p:cNvPr>
          <p:cNvSpPr/>
          <p:nvPr/>
        </p:nvSpPr>
        <p:spPr>
          <a:xfrm>
            <a:off x="3360976" y="105748"/>
            <a:ext cx="555472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ko-KR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Git Action </a:t>
            </a:r>
            <a:r>
              <a:rPr lang="ko-KR" altLang="en-US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자동</a:t>
            </a:r>
            <a:r>
              <a:rPr lang="en-US" altLang="ko-KR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 </a:t>
            </a:r>
            <a:r>
              <a:rPr lang="ko-KR" altLang="en-US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배포</a:t>
            </a:r>
            <a:r>
              <a:rPr lang="en-US" altLang="ko-KR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 </a:t>
            </a:r>
            <a:endParaRPr lang="ko-KR" altLang="en-US" sz="80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bg2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ea typeface="나눔스퀘어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D4174C-D9FB-60EE-5995-E6DF4D555F71}"/>
              </a:ext>
            </a:extLst>
          </p:cNvPr>
          <p:cNvSpPr txBox="1"/>
          <p:nvPr/>
        </p:nvSpPr>
        <p:spPr>
          <a:xfrm>
            <a:off x="556591" y="1404730"/>
            <a:ext cx="6876434" cy="41654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ookieRun Regular" panose="020B0600000101010101" pitchFamily="50" charset="-127"/>
              <a:buChar char="▶"/>
            </a:pPr>
            <a:r>
              <a:rPr lang="en-US" altLang="ko-KR" sz="2400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deply.yml</a:t>
            </a: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ko-KR" altLang="en-US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작성</a:t>
            </a:r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	.</a:t>
            </a: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github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/workflows/</a:t>
            </a: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deploy.yml</a:t>
            </a:r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EC2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로 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.war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복사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(SCP)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strip_components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: 1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은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tar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로 압축 전 디렉토리 계층을 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1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단계 제거</a:t>
            </a:r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   이를 설정하지 않으면 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war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파일이 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targe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폴더 아래에 복사</a:t>
            </a:r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EC2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에서 배포 스크립트 실행 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(SSH) : 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 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해당 스크립트는 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.war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복사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,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압축해제 확인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  Tomcat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재시작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,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설정파일 복사 등 자동화 처리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FE463CE-5431-55CD-E3E8-64872B5A7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5278" y="1775486"/>
            <a:ext cx="3181794" cy="366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006630"/>
      </p:ext>
    </p:extLst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EAD9C-2A82-D811-F30D-DF0C3A8A7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E20C09C7-1A72-2196-1E33-AC79E88B659D}"/>
              </a:ext>
            </a:extLst>
          </p:cNvPr>
          <p:cNvSpPr/>
          <p:nvPr/>
        </p:nvSpPr>
        <p:spPr>
          <a:xfrm>
            <a:off x="3360976" y="105748"/>
            <a:ext cx="555472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ko-KR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Git Action </a:t>
            </a:r>
            <a:r>
              <a:rPr lang="ko-KR" altLang="en-US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자동</a:t>
            </a:r>
            <a:r>
              <a:rPr lang="en-US" altLang="ko-KR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 </a:t>
            </a:r>
            <a:r>
              <a:rPr lang="ko-KR" altLang="en-US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배포</a:t>
            </a:r>
            <a:r>
              <a:rPr lang="en-US" altLang="ko-KR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 </a:t>
            </a:r>
            <a:endParaRPr lang="ko-KR" altLang="en-US" sz="80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bg2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ea typeface="나눔스퀘어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A546FF-40E6-D06C-7D15-50C6A47FF2A9}"/>
              </a:ext>
            </a:extLst>
          </p:cNvPr>
          <p:cNvSpPr txBox="1"/>
          <p:nvPr/>
        </p:nvSpPr>
        <p:spPr>
          <a:xfrm>
            <a:off x="453561" y="1216363"/>
            <a:ext cx="3088129" cy="5032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okieRun Regular" panose="020B0600000101010101" pitchFamily="50" charset="-127"/>
              <a:buChar char="▶"/>
            </a:pP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deply.sh </a:t>
            </a:r>
            <a:r>
              <a:rPr lang="ko-KR" altLang="en-US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작성</a:t>
            </a:r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	/home/ubuntu</a:t>
            </a:r>
          </a:p>
          <a:p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기존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war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파일 삭제</a:t>
            </a:r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War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파일 복사</a:t>
            </a:r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Tomcat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재시작 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(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압축 해제 유도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WAR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압축 해제 대기</a:t>
            </a:r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소유권 변경</a:t>
            </a:r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권한 설정</a:t>
            </a:r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.properties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파일 복사</a:t>
            </a:r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최종 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Tomcat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재시작</a:t>
            </a:r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endParaRPr lang="ko-KR" altLang="en-US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123890-F5CA-67E0-0078-58DE9AB01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9899" y="1216363"/>
            <a:ext cx="3953427" cy="11050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187165-B1E8-31AF-FF5D-76BBB387BF62}"/>
              </a:ext>
            </a:extLst>
          </p:cNvPr>
          <p:cNvSpPr txBox="1"/>
          <p:nvPr/>
        </p:nvSpPr>
        <p:spPr>
          <a:xfrm>
            <a:off x="3760631" y="2568193"/>
            <a:ext cx="82296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rm -f $WEBAPPS_PATH/$WAR_NAME</a:t>
            </a:r>
          </a:p>
          <a:p>
            <a:r>
              <a:rPr lang="en-US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cp /home/ubuntu/build/$WAR_NAME $WEBAPPS_PATH/</a:t>
            </a:r>
          </a:p>
          <a:p>
            <a:r>
              <a:rPr lang="en-US" altLang="ko-KR" sz="1600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sudo</a:t>
            </a:r>
            <a:r>
              <a:rPr lang="en-US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$TOMCAT_PATH/bin/shutdown.sh</a:t>
            </a:r>
          </a:p>
          <a:p>
            <a:r>
              <a:rPr lang="en-US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sleep 5</a:t>
            </a:r>
          </a:p>
          <a:p>
            <a:r>
              <a:rPr lang="en-US" altLang="ko-KR" sz="1600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sudo</a:t>
            </a:r>
            <a:r>
              <a:rPr lang="en-US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$TOMCAT_PATH/bin/startup.sh</a:t>
            </a:r>
          </a:p>
          <a:p>
            <a:r>
              <a:rPr lang="en-US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sleep 10</a:t>
            </a:r>
          </a:p>
          <a:p>
            <a:r>
              <a:rPr lang="en-US" altLang="ko-KR" sz="1600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sudo</a:t>
            </a:r>
            <a:r>
              <a:rPr lang="en-US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en-US" altLang="ko-KR" sz="1600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chown</a:t>
            </a:r>
            <a:r>
              <a:rPr lang="en-US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-R </a:t>
            </a:r>
            <a:r>
              <a:rPr lang="en-US" altLang="ko-KR" sz="1600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ubuntu:ubuntu</a:t>
            </a:r>
            <a:r>
              <a:rPr lang="en-US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$WEBAPPS_PATH/$APP_NAME</a:t>
            </a:r>
          </a:p>
          <a:p>
            <a:r>
              <a:rPr lang="en-US" altLang="ko-KR" sz="1600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sudo</a:t>
            </a:r>
            <a:r>
              <a:rPr lang="en-US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find $WEBAPPS_PATH/$APP_NAME -type d -exec </a:t>
            </a:r>
            <a:r>
              <a:rPr lang="en-US" altLang="ko-KR" sz="1600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chmod</a:t>
            </a:r>
            <a:r>
              <a:rPr lang="en-US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755 {} \;</a:t>
            </a:r>
          </a:p>
          <a:p>
            <a:r>
              <a:rPr lang="en-US" altLang="ko-KR" sz="1600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sudo</a:t>
            </a:r>
            <a:r>
              <a:rPr lang="en-US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find $WEBAPPS_PATH/$APP_NAME -type f -exec </a:t>
            </a:r>
            <a:r>
              <a:rPr lang="en-US" altLang="ko-KR" sz="1600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chmod</a:t>
            </a:r>
            <a:r>
              <a:rPr lang="en-US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644 {} \;</a:t>
            </a:r>
          </a:p>
          <a:p>
            <a:r>
              <a:rPr lang="en-US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cp $CONFIG_PATH/*.properties $WEBAPPS_PATH/$APP_NAME/WEB-INF/classes/</a:t>
            </a:r>
          </a:p>
          <a:p>
            <a:endParaRPr lang="en-US" altLang="ko-KR" sz="1600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r>
              <a:rPr lang="en-US" altLang="ko-KR" sz="1600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sudo</a:t>
            </a:r>
            <a:r>
              <a:rPr lang="en-US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$TOMCAT_PATH/bin/shutdown.sh</a:t>
            </a:r>
          </a:p>
          <a:p>
            <a:r>
              <a:rPr lang="en-US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sleep 5</a:t>
            </a:r>
          </a:p>
          <a:p>
            <a:r>
              <a:rPr lang="en-US" altLang="ko-KR" sz="1600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sudo</a:t>
            </a:r>
            <a:r>
              <a:rPr lang="en-US" altLang="ko-KR" sz="16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$TOMCAT_PATH/bin/startup.sh</a:t>
            </a:r>
          </a:p>
        </p:txBody>
      </p:sp>
    </p:spTree>
    <p:extLst>
      <p:ext uri="{BB962C8B-B14F-4D97-AF65-F5344CB8AC3E}">
        <p14:creationId xmlns:p14="http://schemas.microsoft.com/office/powerpoint/2010/main" val="2883670847"/>
      </p:ext>
    </p:extLst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A6BC1-3FA9-353E-7545-EAE9A3CE4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250F322E-0039-5EE9-5945-58D85F345649}"/>
              </a:ext>
            </a:extLst>
          </p:cNvPr>
          <p:cNvSpPr/>
          <p:nvPr/>
        </p:nvSpPr>
        <p:spPr>
          <a:xfrm>
            <a:off x="3360976" y="105748"/>
            <a:ext cx="555472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ko-KR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Git Action </a:t>
            </a:r>
            <a:r>
              <a:rPr lang="ko-KR" altLang="en-US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자동</a:t>
            </a:r>
            <a:r>
              <a:rPr lang="en-US" altLang="ko-KR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 </a:t>
            </a:r>
            <a:r>
              <a:rPr lang="ko-KR" altLang="en-US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배포</a:t>
            </a:r>
            <a:r>
              <a:rPr lang="en-US" altLang="ko-KR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 </a:t>
            </a:r>
            <a:endParaRPr lang="ko-KR" altLang="en-US" sz="80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bg2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ea typeface="나눔스퀘어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473D76-0A54-5FB3-5F3E-0EC469AFB9C2}"/>
              </a:ext>
            </a:extLst>
          </p:cNvPr>
          <p:cNvSpPr txBox="1"/>
          <p:nvPr/>
        </p:nvSpPr>
        <p:spPr>
          <a:xfrm>
            <a:off x="556591" y="1404730"/>
            <a:ext cx="11328229" cy="28161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ookieRun Regular" panose="020B0600000101010101" pitchFamily="50" charset="-127"/>
              <a:buChar char="▶"/>
            </a:pP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.properties </a:t>
            </a:r>
            <a:r>
              <a:rPr lang="ko-KR" altLang="en-US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파일 </a:t>
            </a: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EC2</a:t>
            </a:r>
            <a:r>
              <a:rPr lang="ko-KR" altLang="en-US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에 직접 복사 </a:t>
            </a:r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	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보안상 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Git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에 올리지 않기</a:t>
            </a:r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EC2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에 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config 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폴더 생성</a:t>
            </a:r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PC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의 파일들을 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EC2</a:t>
            </a:r>
            <a:r>
              <a:rPr lang="ko-KR" altLang="en-US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로 수동 복사</a:t>
            </a:r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$ </a:t>
            </a: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scp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-</a:t>
            </a: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i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/c/temp/EC2shinhan5.pem C:/temp/*.properties ubuntu@13.239.3.22:/home/ubuntu/config/</a:t>
            </a:r>
          </a:p>
          <a:p>
            <a:endParaRPr lang="ko-KR" altLang="en-US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8E9FB2E-808E-6C5E-68F5-CA26E3F06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524" y="4082386"/>
            <a:ext cx="6225061" cy="150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320283"/>
      </p:ext>
    </p:extLst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196F7-D2B6-BB2C-9A39-3CE7240E6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3895BF39-EFF2-3F58-304F-D5973648F32E}"/>
              </a:ext>
            </a:extLst>
          </p:cNvPr>
          <p:cNvGrpSpPr/>
          <p:nvPr/>
        </p:nvGrpSpPr>
        <p:grpSpPr>
          <a:xfrm>
            <a:off x="3237472" y="2815838"/>
            <a:ext cx="7799718" cy="1226323"/>
            <a:chOff x="4793673" y="1246908"/>
            <a:chExt cx="6442365" cy="1080000"/>
          </a:xfrm>
        </p:grpSpPr>
        <p:sp>
          <p:nvSpPr>
            <p:cNvPr id="14" name="육각형 13">
              <a:extLst>
                <a:ext uri="{FF2B5EF4-FFF2-40B4-BE49-F238E27FC236}">
                  <a16:creationId xmlns:a16="http://schemas.microsoft.com/office/drawing/2014/main" id="{343E3193-1CD4-4FA3-3BED-EBFB3DA26120}"/>
                </a:ext>
              </a:extLst>
            </p:cNvPr>
            <p:cNvSpPr/>
            <p:nvPr/>
          </p:nvSpPr>
          <p:spPr>
            <a:xfrm>
              <a:off x="4793673" y="1246908"/>
              <a:ext cx="6442363" cy="1080000"/>
            </a:xfrm>
            <a:prstGeom prst="hexagon">
              <a:avLst>
                <a:gd name="adj" fmla="val 42671"/>
                <a:gd name="vf" fmla="val 11547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화살표: 오각형 14">
              <a:extLst>
                <a:ext uri="{FF2B5EF4-FFF2-40B4-BE49-F238E27FC236}">
                  <a16:creationId xmlns:a16="http://schemas.microsoft.com/office/drawing/2014/main" id="{07ECB4C4-B5BB-38C4-E6AD-9B5CA1E1BF1A}"/>
                </a:ext>
              </a:extLst>
            </p:cNvPr>
            <p:cNvSpPr/>
            <p:nvPr/>
          </p:nvSpPr>
          <p:spPr>
            <a:xfrm>
              <a:off x="5632954" y="1371410"/>
              <a:ext cx="5339846" cy="830996"/>
            </a:xfrm>
            <a:prstGeom prst="homePlat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BFCCADD9-577C-5539-33E9-BF6A165B3053}"/>
                </a:ext>
              </a:extLst>
            </p:cNvPr>
            <p:cNvSpPr/>
            <p:nvPr/>
          </p:nvSpPr>
          <p:spPr>
            <a:xfrm>
              <a:off x="5196182" y="1364345"/>
              <a:ext cx="845127" cy="845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9479A526-D37B-183C-D226-1A197000ACF6}"/>
                </a:ext>
              </a:extLst>
            </p:cNvPr>
            <p:cNvGrpSpPr/>
            <p:nvPr/>
          </p:nvGrpSpPr>
          <p:grpSpPr>
            <a:xfrm>
              <a:off x="5537394" y="1369809"/>
              <a:ext cx="5698644" cy="813160"/>
              <a:chOff x="5516922" y="1640913"/>
              <a:chExt cx="4109043" cy="586335"/>
            </a:xfrm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1BC8F2E6-D001-3F72-5070-3D6A5F764B36}"/>
                  </a:ext>
                </a:extLst>
              </p:cNvPr>
              <p:cNvSpPr/>
              <p:nvPr/>
            </p:nvSpPr>
            <p:spPr>
              <a:xfrm>
                <a:off x="5881889" y="1689774"/>
                <a:ext cx="3744076" cy="488612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defTabSz="1076865" eaLnBrk="0" latinLnBrk="0" hangingPunct="0">
                  <a:spcAft>
                    <a:spcPts val="486"/>
                  </a:spcAft>
                  <a:buSzPct val="100000"/>
                  <a:defRPr/>
                </a:pPr>
                <a:r>
                  <a:rPr lang="en-US" altLang="ko-KR" sz="4400" dirty="0">
                    <a:gradFill>
                      <a:gsLst>
                        <a:gs pos="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6200000" scaled="1"/>
                    </a:gradFill>
                    <a:latin typeface="HY견고딕" pitchFamily="18" charset="-127"/>
                    <a:ea typeface="HY견고딕" pitchFamily="18" charset="-127"/>
                  </a:rPr>
                  <a:t>Docker </a:t>
                </a:r>
                <a:r>
                  <a:rPr lang="ko-KR" altLang="en-US" sz="4400" dirty="0">
                    <a:gradFill>
                      <a:gsLst>
                        <a:gs pos="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6200000" scaled="1"/>
                    </a:gradFill>
                    <a:latin typeface="HY견고딕" pitchFamily="18" charset="-127"/>
                    <a:ea typeface="HY견고딕" pitchFamily="18" charset="-127"/>
                  </a:rPr>
                  <a:t>이용</a:t>
                </a:r>
                <a:r>
                  <a:rPr lang="en-US" altLang="ko-KR" sz="4400" dirty="0">
                    <a:gradFill>
                      <a:gsLst>
                        <a:gs pos="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6200000" scaled="1"/>
                    </a:gradFill>
                    <a:latin typeface="HY견고딕" pitchFamily="18" charset="-127"/>
                    <a:ea typeface="HY견고딕" pitchFamily="18" charset="-127"/>
                  </a:rPr>
                  <a:t> </a:t>
                </a:r>
                <a:r>
                  <a:rPr lang="ko-KR" altLang="en-US" sz="4400" dirty="0">
                    <a:gradFill>
                      <a:gsLst>
                        <a:gs pos="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6200000" scaled="1"/>
                    </a:gradFill>
                    <a:latin typeface="HY견고딕" pitchFamily="18" charset="-127"/>
                    <a:ea typeface="HY견고딕" pitchFamily="18" charset="-127"/>
                  </a:rPr>
                  <a:t>배포</a:t>
                </a: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19A9E4AA-C92A-ED58-85A0-5CD1A0372937}"/>
                  </a:ext>
                </a:extLst>
              </p:cNvPr>
              <p:cNvSpPr/>
              <p:nvPr/>
            </p:nvSpPr>
            <p:spPr>
              <a:xfrm>
                <a:off x="5516922" y="1640913"/>
                <a:ext cx="117307" cy="586335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5400" b="1" i="0" u="none" strike="noStrike" kern="0" normalizeH="0" baseline="0" noProof="0" dirty="0">
                  <a:ln w="2857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uLnTx/>
                  <a:uFillTx/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46024085"/>
      </p:ext>
    </p:extLst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5DD9A-00D1-D513-DC7C-E041ACECB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9DB49D0B-9777-00A1-01BF-3F6521D950F4}"/>
              </a:ext>
            </a:extLst>
          </p:cNvPr>
          <p:cNvSpPr/>
          <p:nvPr/>
        </p:nvSpPr>
        <p:spPr>
          <a:xfrm>
            <a:off x="3777374" y="105748"/>
            <a:ext cx="47219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ko-KR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Docker</a:t>
            </a:r>
            <a:r>
              <a:rPr lang="ko-KR" altLang="en-US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 이용 배포</a:t>
            </a:r>
            <a:r>
              <a:rPr lang="en-US" altLang="ko-KR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 </a:t>
            </a:r>
            <a:endParaRPr lang="ko-KR" altLang="en-US" sz="80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bg2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ea typeface="나눔스퀘어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501E64-ACF4-908E-EB86-F2576EE1FC68}"/>
              </a:ext>
            </a:extLst>
          </p:cNvPr>
          <p:cNvSpPr txBox="1"/>
          <p:nvPr/>
        </p:nvSpPr>
        <p:spPr>
          <a:xfrm>
            <a:off x="556591" y="1404730"/>
            <a:ext cx="208582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ookieRun Regular" panose="020B0600000101010101" pitchFamily="50" charset="-127"/>
              <a:buChar char="▶"/>
            </a:pP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DB</a:t>
            </a:r>
            <a:r>
              <a:rPr lang="ko-KR" altLang="en-US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설정 변경</a:t>
            </a:r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	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BC6C053-EB17-CB59-BD2D-0B0B41235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69" y="1963040"/>
            <a:ext cx="11412543" cy="213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677403"/>
      </p:ext>
    </p:extLst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2B9E6-48DF-3163-C6F4-F9EF60D4B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017C7462-876C-9055-1AAD-C57C1C16DB80}"/>
              </a:ext>
            </a:extLst>
          </p:cNvPr>
          <p:cNvSpPr/>
          <p:nvPr/>
        </p:nvSpPr>
        <p:spPr>
          <a:xfrm>
            <a:off x="3777374" y="105748"/>
            <a:ext cx="47219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ko-KR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Docker</a:t>
            </a:r>
            <a:r>
              <a:rPr lang="ko-KR" altLang="en-US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 이용 배포</a:t>
            </a:r>
            <a:r>
              <a:rPr lang="en-US" altLang="ko-KR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 </a:t>
            </a:r>
            <a:endParaRPr lang="ko-KR" altLang="en-US" sz="80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bg2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ea typeface="나눔스퀘어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2E3B74-FA51-F4AF-52BA-A30489820ABD}"/>
              </a:ext>
            </a:extLst>
          </p:cNvPr>
          <p:cNvSpPr txBox="1"/>
          <p:nvPr/>
        </p:nvSpPr>
        <p:spPr>
          <a:xfrm>
            <a:off x="556591" y="1404730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ookieRun Regular" panose="020B0600000101010101" pitchFamily="50" charset="-127"/>
              <a:buChar char="▶"/>
            </a:pPr>
            <a:r>
              <a:rPr lang="en-US" altLang="ko-KR" sz="2400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Dockerfile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	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E995C9F-E67C-CC80-72E3-D6CA49340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11" y="2060785"/>
            <a:ext cx="7326021" cy="427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847112"/>
      </p:ext>
    </p:extLst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17115-D085-0CE0-84A3-25A6B8369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33780DFF-AA98-2EB5-FB77-4AC0F87BA8E9}"/>
              </a:ext>
            </a:extLst>
          </p:cNvPr>
          <p:cNvSpPr/>
          <p:nvPr/>
        </p:nvSpPr>
        <p:spPr>
          <a:xfrm>
            <a:off x="3777374" y="105748"/>
            <a:ext cx="47219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ko-KR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Docker</a:t>
            </a:r>
            <a:r>
              <a:rPr lang="ko-KR" altLang="en-US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 이용 배포</a:t>
            </a:r>
            <a:r>
              <a:rPr lang="en-US" altLang="ko-KR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 </a:t>
            </a:r>
            <a:endParaRPr lang="ko-KR" altLang="en-US" sz="80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bg2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ea typeface="나눔스퀘어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328B26-AE10-68F3-3736-BE4EEECD2866}"/>
              </a:ext>
            </a:extLst>
          </p:cNvPr>
          <p:cNvSpPr txBox="1"/>
          <p:nvPr/>
        </p:nvSpPr>
        <p:spPr>
          <a:xfrm>
            <a:off x="556591" y="1404730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ookieRun Regular" panose="020B0600000101010101" pitchFamily="50" charset="-127"/>
              <a:buChar char="▶"/>
            </a:pP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docker-</a:t>
            </a:r>
            <a:r>
              <a:rPr lang="en-US" altLang="ko-KR" sz="2400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compose.yml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	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900971C-2588-94F5-8B54-5E4B06AC6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635" y="2061971"/>
            <a:ext cx="5636409" cy="339129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5E46408-7EDF-8F26-850E-5724E8AC0A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463" y="2179499"/>
            <a:ext cx="5210902" cy="362953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E4D5649-52CA-476A-75AE-706CEA2B82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1152" y="6051665"/>
            <a:ext cx="5477670" cy="7005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45C1768-FCEE-7C52-7AAE-747EAF20E501}"/>
              </a:ext>
            </a:extLst>
          </p:cNvPr>
          <p:cNvSpPr txBox="1"/>
          <p:nvPr/>
        </p:nvSpPr>
        <p:spPr>
          <a:xfrm>
            <a:off x="7315200" y="6246254"/>
            <a:ext cx="4070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http://localhost:8080/emp/emplist.do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22219786"/>
      </p:ext>
    </p:extLst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7DCC4-1E01-4C71-FCEF-A91D8319F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4E332C32-325B-2E0C-4591-6787754B9FDC}"/>
              </a:ext>
            </a:extLst>
          </p:cNvPr>
          <p:cNvSpPr/>
          <p:nvPr/>
        </p:nvSpPr>
        <p:spPr>
          <a:xfrm>
            <a:off x="3144638" y="105748"/>
            <a:ext cx="598740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ko-KR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Docker</a:t>
            </a:r>
            <a:r>
              <a:rPr lang="ko-KR" altLang="en-US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 이용 </a:t>
            </a:r>
            <a:r>
              <a:rPr lang="en-US" altLang="ko-KR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AWS</a:t>
            </a:r>
            <a:r>
              <a:rPr lang="ko-KR" altLang="en-US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배포</a:t>
            </a:r>
            <a:r>
              <a:rPr lang="en-US" altLang="ko-KR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 </a:t>
            </a:r>
            <a:endParaRPr lang="ko-KR" altLang="en-US" sz="80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bg2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ea typeface="나눔스퀘어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5BB504-4050-9A90-6DCE-83BA85999417}"/>
              </a:ext>
            </a:extLst>
          </p:cNvPr>
          <p:cNvSpPr txBox="1"/>
          <p:nvPr/>
        </p:nvSpPr>
        <p:spPr>
          <a:xfrm>
            <a:off x="530833" y="1366094"/>
            <a:ext cx="16484641" cy="39346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CookieRun Regular" panose="020B0600000101010101" pitchFamily="50" charset="-127"/>
              <a:buChar char="▶"/>
            </a:pP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AWS</a:t>
            </a:r>
            <a:r>
              <a:rPr lang="ko-KR" altLang="en-US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배포</a:t>
            </a:r>
            <a:r>
              <a:rPr lang="en-US" altLang="ko-KR" sz="2400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…</a:t>
            </a:r>
            <a:r>
              <a:rPr lang="ko-KR" altLang="en-US" sz="2400">
                <a:latin typeface="CookieRun Regular" panose="020B0600000101010101" pitchFamily="50" charset="-127"/>
                <a:ea typeface="CookieRun Regular" panose="020B0600000101010101" pitchFamily="50" charset="-127"/>
              </a:rPr>
              <a:t>다시 </a:t>
            </a:r>
            <a:endParaRPr lang="en-US" altLang="ko-KR" sz="2400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cmd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&gt;docker tag </a:t>
            </a: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springlegacyproject-spring_legacy_app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jinjeoung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/spring-legacy-app:1.0</a:t>
            </a: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cmd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&gt;docker push </a:t>
            </a: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jinjeoung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/spring-legacy-app:1.0</a:t>
            </a: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&gt;ubuntu@ip-172-31-88-39:~$ </a:t>
            </a: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sudo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docker pull </a:t>
            </a: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jinjeoung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/spring-legacy-app:1.0</a:t>
            </a: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sudo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docker network create </a:t>
            </a: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springboot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-</a:t>
            </a: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mysql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-net </a:t>
            </a: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sudo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docker volume create </a:t>
            </a: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vtest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sudo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docker volume create </a:t>
            </a: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fileupload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-volume</a:t>
            </a: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sudo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docker run -d --name </a:t>
            </a: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mysql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-container -p 3306:3306 -v </a:t>
            </a: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vtest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:/var/lib/</a:t>
            </a: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mysql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 --net </a:t>
            </a: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springboot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-</a:t>
            </a: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mysql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-net </a:t>
            </a: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jinjeoung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/buildmysql:1.0 </a:t>
            </a: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sudo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docker run -d --name springedu2-container --net </a:t>
            </a: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springboot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-</a:t>
            </a: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mysql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-net -p 8080:8080 </a:t>
            </a: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jinjeoung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/spring-legacy-app:1.0</a:t>
            </a:r>
          </a:p>
        </p:txBody>
      </p:sp>
    </p:spTree>
    <p:extLst>
      <p:ext uri="{BB962C8B-B14F-4D97-AF65-F5344CB8AC3E}">
        <p14:creationId xmlns:p14="http://schemas.microsoft.com/office/powerpoint/2010/main" val="2162909308"/>
      </p:ext>
    </p:extLst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20C23-CDA7-3634-9380-F45F0C3B5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66F3257C-B08D-68D6-FC43-759CE85D1B10}"/>
              </a:ext>
            </a:extLst>
          </p:cNvPr>
          <p:cNvGrpSpPr/>
          <p:nvPr/>
        </p:nvGrpSpPr>
        <p:grpSpPr>
          <a:xfrm>
            <a:off x="3726874" y="2815838"/>
            <a:ext cx="7315201" cy="1226323"/>
            <a:chOff x="4793673" y="1246908"/>
            <a:chExt cx="6442365" cy="1080000"/>
          </a:xfrm>
        </p:grpSpPr>
        <p:sp>
          <p:nvSpPr>
            <p:cNvPr id="14" name="육각형 13">
              <a:extLst>
                <a:ext uri="{FF2B5EF4-FFF2-40B4-BE49-F238E27FC236}">
                  <a16:creationId xmlns:a16="http://schemas.microsoft.com/office/drawing/2014/main" id="{AD9ED840-0B02-493D-E38F-6E201C8D7DB0}"/>
                </a:ext>
              </a:extLst>
            </p:cNvPr>
            <p:cNvSpPr/>
            <p:nvPr/>
          </p:nvSpPr>
          <p:spPr>
            <a:xfrm>
              <a:off x="4793673" y="1246908"/>
              <a:ext cx="6442363" cy="1080000"/>
            </a:xfrm>
            <a:prstGeom prst="hexagon">
              <a:avLst>
                <a:gd name="adj" fmla="val 42671"/>
                <a:gd name="vf" fmla="val 11547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화살표: 오각형 14">
              <a:extLst>
                <a:ext uri="{FF2B5EF4-FFF2-40B4-BE49-F238E27FC236}">
                  <a16:creationId xmlns:a16="http://schemas.microsoft.com/office/drawing/2014/main" id="{E54B854B-BCD9-9CB0-DAAD-4E21CD12BECE}"/>
                </a:ext>
              </a:extLst>
            </p:cNvPr>
            <p:cNvSpPr/>
            <p:nvPr/>
          </p:nvSpPr>
          <p:spPr>
            <a:xfrm>
              <a:off x="5632954" y="1371410"/>
              <a:ext cx="5339846" cy="830996"/>
            </a:xfrm>
            <a:prstGeom prst="homePlat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9DF42B5F-9B76-4B40-D5DD-15AF5AFD51D7}"/>
                </a:ext>
              </a:extLst>
            </p:cNvPr>
            <p:cNvSpPr/>
            <p:nvPr/>
          </p:nvSpPr>
          <p:spPr>
            <a:xfrm>
              <a:off x="5196182" y="1364345"/>
              <a:ext cx="845127" cy="845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64C69C97-867F-50BB-3C60-889F81348249}"/>
                </a:ext>
              </a:extLst>
            </p:cNvPr>
            <p:cNvGrpSpPr/>
            <p:nvPr/>
          </p:nvGrpSpPr>
          <p:grpSpPr>
            <a:xfrm>
              <a:off x="5537394" y="1369809"/>
              <a:ext cx="5698644" cy="813160"/>
              <a:chOff x="5516922" y="1640913"/>
              <a:chExt cx="4109043" cy="586335"/>
            </a:xfrm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BE612070-A5D0-464D-EA73-B4F49F4E16C3}"/>
                  </a:ext>
                </a:extLst>
              </p:cNvPr>
              <p:cNvSpPr/>
              <p:nvPr/>
            </p:nvSpPr>
            <p:spPr>
              <a:xfrm>
                <a:off x="5881889" y="1689774"/>
                <a:ext cx="3744076" cy="488612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defTabSz="1076865" eaLnBrk="0" latinLnBrk="0" hangingPunct="0">
                  <a:spcAft>
                    <a:spcPts val="486"/>
                  </a:spcAft>
                  <a:buSzPct val="100000"/>
                  <a:defRPr/>
                </a:pPr>
                <a:r>
                  <a:rPr lang="ko-KR" altLang="en-US" sz="4400" dirty="0">
                    <a:gradFill>
                      <a:gsLst>
                        <a:gs pos="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6200000" scaled="1"/>
                    </a:gradFill>
                    <a:latin typeface="HY견고딕" pitchFamily="18" charset="-127"/>
                    <a:ea typeface="HY견고딕" pitchFamily="18" charset="-127"/>
                  </a:rPr>
                  <a:t>다른</a:t>
                </a:r>
                <a:r>
                  <a:rPr lang="en-US" altLang="ko-KR" sz="4400" dirty="0">
                    <a:gradFill>
                      <a:gsLst>
                        <a:gs pos="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6200000" scaled="1"/>
                    </a:gradFill>
                    <a:latin typeface="HY견고딕" pitchFamily="18" charset="-127"/>
                    <a:ea typeface="HY견고딕" pitchFamily="18" charset="-127"/>
                  </a:rPr>
                  <a:t> </a:t>
                </a:r>
                <a:r>
                  <a:rPr lang="ko-KR" altLang="en-US" sz="4400" dirty="0">
                    <a:gradFill>
                      <a:gsLst>
                        <a:gs pos="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6200000" scaled="1"/>
                    </a:gradFill>
                    <a:latin typeface="HY견고딕" pitchFamily="18" charset="-127"/>
                    <a:ea typeface="HY견고딕" pitchFamily="18" charset="-127"/>
                  </a:rPr>
                  <a:t>서비스 호출</a:t>
                </a: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AEAB46E8-85B9-6313-8139-FB6C8F84FF7E}"/>
                  </a:ext>
                </a:extLst>
              </p:cNvPr>
              <p:cNvSpPr/>
              <p:nvPr/>
            </p:nvSpPr>
            <p:spPr>
              <a:xfrm>
                <a:off x="5516922" y="1640913"/>
                <a:ext cx="117307" cy="586335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5400" b="1" i="0" u="none" strike="noStrike" kern="0" normalizeH="0" baseline="0" noProof="0" dirty="0">
                  <a:ln w="2857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uLnTx/>
                  <a:uFillTx/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54213329"/>
      </p:ext>
    </p:extLst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229D9-B9CE-D45E-A63E-A75AB7F2F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5B7450A0-571A-D875-5C37-F60C179E797C}"/>
              </a:ext>
            </a:extLst>
          </p:cNvPr>
          <p:cNvSpPr/>
          <p:nvPr/>
        </p:nvSpPr>
        <p:spPr>
          <a:xfrm>
            <a:off x="4046255" y="105748"/>
            <a:ext cx="418415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ko-KR" altLang="en-US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추천 서비스 예시</a:t>
            </a:r>
            <a:endParaRPr lang="ko-KR" altLang="en-US" sz="80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bg2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ea typeface="나눔스퀘어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5C184DC-5EBF-D0B9-41B2-B08A9DAB4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903" y="1518337"/>
            <a:ext cx="5401429" cy="103837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7B5C1E9-9D46-559C-575C-935E7FDA91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903" y="2889026"/>
            <a:ext cx="3439005" cy="221963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BC34A9C-6860-8136-6823-7341A1500C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1723" y="2889026"/>
            <a:ext cx="5010849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580323"/>
      </p:ext>
    </p:extLst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74902-9A59-8F98-183E-2CE66C02F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30F83DD3-88A5-77BF-E5A9-0030CFE10B34}"/>
              </a:ext>
            </a:extLst>
          </p:cNvPr>
          <p:cNvSpPr/>
          <p:nvPr/>
        </p:nvSpPr>
        <p:spPr>
          <a:xfrm>
            <a:off x="4046255" y="105748"/>
            <a:ext cx="418415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ko-KR" altLang="en-US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다른 서비스 호출</a:t>
            </a:r>
            <a:endParaRPr lang="ko-KR" altLang="en-US" sz="80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bg2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ea typeface="나눔스퀘어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E5E8103-1FFC-7739-44AA-F88E27216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66" y="1346184"/>
            <a:ext cx="8154538" cy="517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867834"/>
      </p:ext>
    </p:extLst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59CC5-893B-03CA-27AE-D4C4825D3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0C638BAE-C610-C4A9-2479-0B8FE4CC8498}"/>
              </a:ext>
            </a:extLst>
          </p:cNvPr>
          <p:cNvSpPr/>
          <p:nvPr/>
        </p:nvSpPr>
        <p:spPr>
          <a:xfrm>
            <a:off x="3130941" y="105748"/>
            <a:ext cx="601478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ko-KR" altLang="en-US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다른 서비스 호출 </a:t>
            </a:r>
            <a:r>
              <a:rPr lang="en-US" altLang="ko-KR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(</a:t>
            </a:r>
            <a:r>
              <a:rPr lang="ko-KR" altLang="en-US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배포</a:t>
            </a:r>
            <a:r>
              <a:rPr lang="en-US" altLang="ko-KR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) </a:t>
            </a:r>
            <a:endParaRPr lang="ko-KR" altLang="en-US" sz="80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bg2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ea typeface="나눔스퀘어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9D661B-49BE-DF57-4854-128AD723840B}"/>
              </a:ext>
            </a:extLst>
          </p:cNvPr>
          <p:cNvSpPr txBox="1"/>
          <p:nvPr/>
        </p:nvSpPr>
        <p:spPr>
          <a:xfrm>
            <a:off x="556591" y="1404730"/>
            <a:ext cx="9400971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$ scp -i EC2shinhan5.pem  -r springPy </a:t>
            </a:r>
            <a:r>
              <a:rPr lang="sv-SE" altLang="ko-KR" dirty="0">
                <a:latin typeface="CookieRun Regular" panose="020B0600000101010101" pitchFamily="50" charset="-127"/>
                <a:ea typeface="CookieRun Regular" panose="020B0600000101010101" pitchFamily="50" charset="-127"/>
                <a:hlinkClick r:id="rId3"/>
              </a:rPr>
              <a:t>ubuntu@13.239.3.22:/home/ubuntu</a:t>
            </a:r>
            <a:endParaRPr lang="sv-SE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endParaRPr lang="sv-SE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ubuntu@ip-172-31-2-228:~$ </a:t>
            </a: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sudo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apt install python3 python3-pip –y</a:t>
            </a:r>
          </a:p>
          <a:p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ubuntu@ip-172-31-2-228:~$ </a:t>
            </a: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sudo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apt install python3-virtualenv</a:t>
            </a:r>
          </a:p>
          <a:p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ubuntu@ip-172-31-2-228:~$ </a:t>
            </a: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virtualenv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venv</a:t>
            </a:r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(</a:t>
            </a: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venv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) ubuntu@ip-172-31-2-228:~$ pip install </a:t>
            </a: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fastapi</a:t>
            </a:r>
            <a:r>
              <a:rPr lang="en-US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en-US" altLang="ko-KR" dirty="0" err="1">
                <a:latin typeface="CookieRun Regular" panose="020B0600000101010101" pitchFamily="50" charset="-127"/>
                <a:ea typeface="CookieRun Regular" panose="020B0600000101010101" pitchFamily="50" charset="-127"/>
              </a:rPr>
              <a:t>uvicorn</a:t>
            </a:r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r>
              <a:rPr lang="fr-FR" altLang="ko-KR" dirty="0">
                <a:latin typeface="CookieRun Regular" panose="020B0600000101010101" pitchFamily="50" charset="-127"/>
                <a:ea typeface="CookieRun Regular" panose="020B0600000101010101" pitchFamily="50" charset="-127"/>
              </a:rPr>
              <a:t>(venv) ubuntu@ip-172-31-2-228:~$ uvicorn main:app --host 0.0.0.0 --port 8000</a:t>
            </a:r>
          </a:p>
          <a:p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endParaRPr lang="en-US" altLang="ko-KR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endParaRPr lang="ko-KR" altLang="en-US" dirty="0"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3312052"/>
      </p:ext>
    </p:extLst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AAD8D-FEDB-8116-3716-866317E6F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6D52748C-D0BE-23E6-D2D0-CC9BD5F3D012}"/>
              </a:ext>
            </a:extLst>
          </p:cNvPr>
          <p:cNvGrpSpPr/>
          <p:nvPr/>
        </p:nvGrpSpPr>
        <p:grpSpPr>
          <a:xfrm>
            <a:off x="3726874" y="2815838"/>
            <a:ext cx="7315201" cy="1226323"/>
            <a:chOff x="4793673" y="1246908"/>
            <a:chExt cx="6442365" cy="1080000"/>
          </a:xfrm>
        </p:grpSpPr>
        <p:sp>
          <p:nvSpPr>
            <p:cNvPr id="14" name="육각형 13">
              <a:extLst>
                <a:ext uri="{FF2B5EF4-FFF2-40B4-BE49-F238E27FC236}">
                  <a16:creationId xmlns:a16="http://schemas.microsoft.com/office/drawing/2014/main" id="{A6811A95-52DC-EF29-EB96-E811DC93990F}"/>
                </a:ext>
              </a:extLst>
            </p:cNvPr>
            <p:cNvSpPr/>
            <p:nvPr/>
          </p:nvSpPr>
          <p:spPr>
            <a:xfrm>
              <a:off x="4793673" y="1246908"/>
              <a:ext cx="6442363" cy="1080000"/>
            </a:xfrm>
            <a:prstGeom prst="hexagon">
              <a:avLst>
                <a:gd name="adj" fmla="val 42671"/>
                <a:gd name="vf" fmla="val 11547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화살표: 오각형 14">
              <a:extLst>
                <a:ext uri="{FF2B5EF4-FFF2-40B4-BE49-F238E27FC236}">
                  <a16:creationId xmlns:a16="http://schemas.microsoft.com/office/drawing/2014/main" id="{3E2AA74D-DF27-1B24-9C74-08C680DDB271}"/>
                </a:ext>
              </a:extLst>
            </p:cNvPr>
            <p:cNvSpPr/>
            <p:nvPr/>
          </p:nvSpPr>
          <p:spPr>
            <a:xfrm>
              <a:off x="5632954" y="1371410"/>
              <a:ext cx="5339846" cy="830996"/>
            </a:xfrm>
            <a:prstGeom prst="homePlat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BEC03E6A-A2CA-BC8E-C26A-84ECD041C5EE}"/>
                </a:ext>
              </a:extLst>
            </p:cNvPr>
            <p:cNvSpPr/>
            <p:nvPr/>
          </p:nvSpPr>
          <p:spPr>
            <a:xfrm>
              <a:off x="5196182" y="1364345"/>
              <a:ext cx="845127" cy="845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567FECD4-DB41-B1B1-A9E0-BA481D329EAC}"/>
                </a:ext>
              </a:extLst>
            </p:cNvPr>
            <p:cNvGrpSpPr/>
            <p:nvPr/>
          </p:nvGrpSpPr>
          <p:grpSpPr>
            <a:xfrm>
              <a:off x="5537394" y="1369809"/>
              <a:ext cx="5698644" cy="813160"/>
              <a:chOff x="5516922" y="1640913"/>
              <a:chExt cx="4109043" cy="586335"/>
            </a:xfrm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2A50157F-E251-04DE-478D-960460AE4E66}"/>
                  </a:ext>
                </a:extLst>
              </p:cNvPr>
              <p:cNvSpPr/>
              <p:nvPr/>
            </p:nvSpPr>
            <p:spPr>
              <a:xfrm>
                <a:off x="5881889" y="1689774"/>
                <a:ext cx="3744076" cy="488612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defTabSz="1076865" eaLnBrk="0" latinLnBrk="0" hangingPunct="0">
                  <a:spcAft>
                    <a:spcPts val="486"/>
                  </a:spcAft>
                  <a:buSzPct val="100000"/>
                  <a:defRPr/>
                </a:pPr>
                <a:r>
                  <a:rPr lang="en-US" altLang="ko-KR" sz="4400" dirty="0">
                    <a:gradFill>
                      <a:gsLst>
                        <a:gs pos="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6200000" scaled="1"/>
                    </a:gradFill>
                    <a:latin typeface="HY견고딕" pitchFamily="18" charset="-127"/>
                    <a:ea typeface="HY견고딕" pitchFamily="18" charset="-127"/>
                  </a:rPr>
                  <a:t>S3 </a:t>
                </a:r>
                <a:r>
                  <a:rPr lang="ko-KR" altLang="en-US" sz="4400" dirty="0">
                    <a:gradFill>
                      <a:gsLst>
                        <a:gs pos="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6200000" scaled="1"/>
                    </a:gradFill>
                    <a:latin typeface="HY견고딕" pitchFamily="18" charset="-127"/>
                    <a:ea typeface="HY견고딕" pitchFamily="18" charset="-127"/>
                  </a:rPr>
                  <a:t>서비스 사용</a:t>
                </a: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B0CFE5E5-DEF7-EBB8-4F22-F41D50B0B864}"/>
                  </a:ext>
                </a:extLst>
              </p:cNvPr>
              <p:cNvSpPr/>
              <p:nvPr/>
            </p:nvSpPr>
            <p:spPr>
              <a:xfrm>
                <a:off x="5516922" y="1640913"/>
                <a:ext cx="117307" cy="586335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5400" b="1" i="0" u="none" strike="noStrike" kern="0" normalizeH="0" baseline="0" noProof="0" dirty="0">
                  <a:ln w="2857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uLnTx/>
                  <a:uFillTx/>
                  <a:latin typeface="HY견명조" panose="02030600000101010101" pitchFamily="18" charset="-127"/>
                  <a:ea typeface="HY견명조" panose="02030600000101010101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86826731"/>
      </p:ext>
    </p:extLst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D8A20-EF93-6E56-76AD-D86251F80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4A79EBFA-8733-0FF5-D2AD-5682C9711C8D}"/>
              </a:ext>
            </a:extLst>
          </p:cNvPr>
          <p:cNvSpPr/>
          <p:nvPr/>
        </p:nvSpPr>
        <p:spPr>
          <a:xfrm>
            <a:off x="4237817" y="105748"/>
            <a:ext cx="380104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ko-KR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S3</a:t>
            </a:r>
            <a:r>
              <a:rPr lang="ko-KR" altLang="en-US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 서비스 사용</a:t>
            </a:r>
            <a:endParaRPr lang="ko-KR" altLang="en-US" sz="80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bg2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ea typeface="나눔스퀘어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795022-7356-85BA-0875-BF1438323C91}"/>
              </a:ext>
            </a:extLst>
          </p:cNvPr>
          <p:cNvSpPr txBox="1"/>
          <p:nvPr/>
        </p:nvSpPr>
        <p:spPr>
          <a:xfrm>
            <a:off x="556591" y="1404730"/>
            <a:ext cx="14125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ko-KR" dirty="0"/>
              <a:t>POM.xml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5FD8BBA-CBD4-70A0-2536-B3B21043D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591" y="1866395"/>
            <a:ext cx="3620005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915815"/>
      </p:ext>
    </p:extLst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E18CF-EEAF-6405-4F8F-EE1DF7528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EF1DD7EA-117A-14C5-D426-0B5B60E205F4}"/>
              </a:ext>
            </a:extLst>
          </p:cNvPr>
          <p:cNvSpPr/>
          <p:nvPr/>
        </p:nvSpPr>
        <p:spPr>
          <a:xfrm>
            <a:off x="4237817" y="105748"/>
            <a:ext cx="380104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ko-KR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S3</a:t>
            </a:r>
            <a:r>
              <a:rPr lang="ko-KR" altLang="en-US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 서비스 사용</a:t>
            </a:r>
            <a:endParaRPr lang="ko-KR" altLang="en-US" sz="80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bg2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ea typeface="나눔스퀘어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B07753-7C2B-94BD-5987-61B4CA3FA65C}"/>
              </a:ext>
            </a:extLst>
          </p:cNvPr>
          <p:cNvSpPr txBox="1"/>
          <p:nvPr/>
        </p:nvSpPr>
        <p:spPr>
          <a:xfrm>
            <a:off x="556591" y="1404730"/>
            <a:ext cx="1305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ko-KR" dirty="0"/>
              <a:t>Upload</a:t>
            </a:r>
            <a:r>
              <a:rPr lang="ko-KR" altLang="en-US" dirty="0"/>
              <a:t>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19EC60B-AC94-257D-BB35-E9C2E33F8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43" y="1956677"/>
            <a:ext cx="5021201" cy="458516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FA5535D-CF2F-AAD5-15AD-6FC61A84D4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8858" y="3770074"/>
            <a:ext cx="2410161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994615"/>
      </p:ext>
    </p:extLst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B2C64-85F2-4805-F2F1-0C96EFEBC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EA5DA228-0D23-24E1-8A7E-80E358F7F262}"/>
              </a:ext>
            </a:extLst>
          </p:cNvPr>
          <p:cNvSpPr/>
          <p:nvPr/>
        </p:nvSpPr>
        <p:spPr>
          <a:xfrm>
            <a:off x="4237817" y="105748"/>
            <a:ext cx="380104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ko-KR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S3</a:t>
            </a:r>
            <a:r>
              <a:rPr lang="ko-KR" altLang="en-US" sz="4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나눔스퀘어" panose="020B0600000101010101" pitchFamily="50" charset="-127"/>
              </a:rPr>
              <a:t> 서비스 사용</a:t>
            </a:r>
            <a:endParaRPr lang="ko-KR" altLang="en-US" sz="80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bg2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ea typeface="나눔스퀘어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A54FBE-E679-4980-8DBE-823A8628AA59}"/>
              </a:ext>
            </a:extLst>
          </p:cNvPr>
          <p:cNvSpPr txBox="1"/>
          <p:nvPr/>
        </p:nvSpPr>
        <p:spPr>
          <a:xfrm>
            <a:off x="556591" y="1404730"/>
            <a:ext cx="1305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ko-KR" dirty="0"/>
              <a:t>Upload</a:t>
            </a:r>
            <a:r>
              <a:rPr lang="ko-KR" altLang="en-US" dirty="0"/>
              <a:t>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5819C3C-9590-9652-566D-2429669AD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417" y="1774062"/>
            <a:ext cx="7986279" cy="4883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198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45740</TotalTime>
  <Words>25066</Words>
  <Application>Microsoft Office PowerPoint</Application>
  <PresentationFormat>와이드스크린</PresentationFormat>
  <Paragraphs>3927</Paragraphs>
  <Slides>277</Slides>
  <Notes>185</Notes>
  <HiddenSlides>0</HiddenSlides>
  <MMClips>0</MMClips>
  <ScaleCrop>false</ScaleCrop>
  <HeadingPairs>
    <vt:vector size="6" baseType="variant">
      <vt:variant>
        <vt:lpstr>사용한 글꼴</vt:lpstr>
      </vt:variant>
      <vt:variant>
        <vt:i4>18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277</vt:i4>
      </vt:variant>
    </vt:vector>
  </HeadingPairs>
  <TitlesOfParts>
    <vt:vector size="296" baseType="lpstr">
      <vt:lpstr>CookieRun Regular</vt:lpstr>
      <vt:lpstr>HY견고딕</vt:lpstr>
      <vt:lpstr>HY견명조</vt:lpstr>
      <vt:lpstr>HY헤드라인M</vt:lpstr>
      <vt:lpstr>Inter</vt:lpstr>
      <vt:lpstr>Nanum Gothic</vt:lpstr>
      <vt:lpstr>Noto Sans Demilight</vt:lpstr>
      <vt:lpstr>Noto Sans KR</vt:lpstr>
      <vt:lpstr>Noto Sans Light</vt:lpstr>
      <vt:lpstr>나눔스퀘어</vt:lpstr>
      <vt:lpstr>맑은 고딕</vt:lpstr>
      <vt:lpstr>서울남산 장체B</vt:lpstr>
      <vt:lpstr>Arial</vt:lpstr>
      <vt:lpstr>Cascadia Code</vt:lpstr>
      <vt:lpstr>Comic Sans MS</vt:lpstr>
      <vt:lpstr>Courier New</vt:lpstr>
      <vt:lpstr>Times New Roman</vt:lpstr>
      <vt:lpstr>Wingdings</vt:lpstr>
      <vt:lpstr>Office 테마</vt:lpstr>
      <vt:lpstr>Spring Framework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Spring Mybatis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a40</dc:creator>
  <cp:lastModifiedBy>아카데미01 퍼스트존</cp:lastModifiedBy>
  <cp:revision>1016</cp:revision>
  <dcterms:created xsi:type="dcterms:W3CDTF">2020-03-22T10:18:41Z</dcterms:created>
  <dcterms:modified xsi:type="dcterms:W3CDTF">2025-12-18T05:40:37Z</dcterms:modified>
</cp:coreProperties>
</file>