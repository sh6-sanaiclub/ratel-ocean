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58"/>
  </p:notesMasterIdLst>
  <p:sldIdLst>
    <p:sldId id="256" r:id="rId2"/>
    <p:sldId id="378" r:id="rId3"/>
    <p:sldId id="389" r:id="rId4"/>
    <p:sldId id="440" r:id="rId5"/>
    <p:sldId id="676" r:id="rId6"/>
    <p:sldId id="677" r:id="rId7"/>
    <p:sldId id="678" r:id="rId8"/>
    <p:sldId id="669" r:id="rId9"/>
    <p:sldId id="703" r:id="rId10"/>
    <p:sldId id="704" r:id="rId11"/>
    <p:sldId id="445" r:id="rId12"/>
    <p:sldId id="670" r:id="rId13"/>
    <p:sldId id="671" r:id="rId14"/>
    <p:sldId id="672" r:id="rId15"/>
    <p:sldId id="450" r:id="rId16"/>
    <p:sldId id="662" r:id="rId17"/>
    <p:sldId id="664" r:id="rId18"/>
    <p:sldId id="665" r:id="rId19"/>
    <p:sldId id="686" r:id="rId20"/>
    <p:sldId id="687" r:id="rId21"/>
    <p:sldId id="688" r:id="rId22"/>
    <p:sldId id="689" r:id="rId23"/>
    <p:sldId id="690" r:id="rId24"/>
    <p:sldId id="691" r:id="rId25"/>
    <p:sldId id="441" r:id="rId26"/>
    <p:sldId id="442" r:id="rId27"/>
    <p:sldId id="667" r:id="rId28"/>
    <p:sldId id="679" r:id="rId29"/>
    <p:sldId id="692" r:id="rId30"/>
    <p:sldId id="693" r:id="rId31"/>
    <p:sldId id="659" r:id="rId32"/>
    <p:sldId id="694" r:id="rId33"/>
    <p:sldId id="695" r:id="rId34"/>
    <p:sldId id="696" r:id="rId35"/>
    <p:sldId id="697" r:id="rId36"/>
    <p:sldId id="443" r:id="rId37"/>
    <p:sldId id="444" r:id="rId38"/>
    <p:sldId id="452" r:id="rId39"/>
    <p:sldId id="453" r:id="rId40"/>
    <p:sldId id="457" r:id="rId41"/>
    <p:sldId id="702" r:id="rId42"/>
    <p:sldId id="458" r:id="rId43"/>
    <p:sldId id="459" r:id="rId44"/>
    <p:sldId id="706" r:id="rId45"/>
    <p:sldId id="705" r:id="rId46"/>
    <p:sldId id="699" r:id="rId47"/>
    <p:sldId id="681" r:id="rId48"/>
    <p:sldId id="460" r:id="rId49"/>
    <p:sldId id="461" r:id="rId50"/>
    <p:sldId id="698" r:id="rId51"/>
    <p:sldId id="674" r:id="rId52"/>
    <p:sldId id="673" r:id="rId53"/>
    <p:sldId id="675" r:id="rId54"/>
    <p:sldId id="700" r:id="rId55"/>
    <p:sldId id="701" r:id="rId56"/>
    <p:sldId id="707" r:id="rId5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장 효은" initials="장효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736"/>
    <a:srgbClr val="53372B"/>
    <a:srgbClr val="7D5443"/>
    <a:srgbClr val="9B6B4D"/>
    <a:srgbClr val="765E4A"/>
    <a:srgbClr val="54462A"/>
    <a:srgbClr val="25357C"/>
    <a:srgbClr val="26367D"/>
    <a:srgbClr val="006699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70788" autoAdjust="0"/>
  </p:normalViewPr>
  <p:slideViewPr>
    <p:cSldViewPr snapToGrid="0">
      <p:cViewPr varScale="1">
        <p:scale>
          <a:sx n="70" d="100"/>
          <a:sy n="70" d="100"/>
        </p:scale>
        <p:origin x="1860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F6F58-96FD-4864-A281-7D455E11850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A73A8-F51F-4156-A768-408A56109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40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015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877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189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B5EA-F1CB-6766-6782-85803241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96B3EC-FDFE-B2F9-D39F-BC75FB378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932A03-B40D-CA46-230A-D29D5639C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FFA558-9E15-2BD9-D155-F9499002B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748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E5548-37F8-47A5-F200-14BE4E43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ACB21D-E682-C421-8EAC-E070C506D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298D68-3868-BC82-CBCF-8B36BBA3E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CA841-0EBF-2AE7-CFC5-568D73C49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278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F1146-A518-A0C8-147B-E67F73B15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EAD3F0-5B28-7224-9863-AF5EEFF7C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4A83B3-252C-EDF1-1B0D-3C018527F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7D846D-D622-B078-DEBE-D0D511098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933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EFD4D-981F-F538-FE9F-DE9F8D04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F23D61-784F-6DA6-B298-88EF4E339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0299D1-9CC8-235C-8AFF-BC2B93625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Mockito + JUnit5 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junit-jupiter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&lt;version&gt;5.4.2&lt;/version&gt;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&gt;spring-test&lt;/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&lt;version&gt;${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-version}&lt;/version&gt;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&lt;scope&gt;test&lt;/scope&gt;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mockito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-core&lt;/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&lt;version&gt;5.11.0&lt;/version&gt;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&lt;scope&gt;test&lt;/scope&gt;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mockito-junit-jupiter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&lt;version&gt;5.11.0&lt;/version&gt;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&lt;scope&gt;test&lt;/scope&gt;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A97DD-7401-E712-86C5-A10DE047B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302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97DD-2A2C-2C4C-3BE7-D28035C8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CED403-FFCC-86D0-3563-0989C7D6E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7314E9-DE62-58A2-DAA6-F47BF4F8F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TestInfo</a:t>
            </a:r>
            <a:endParaRPr lang="en-US" altLang="ko-K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 com.shinhan.orangeapp.section1;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static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org.junit.jupiter.api.Assertions.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static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org.junit.jupiter.api.Assertions.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assertThrows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org.junit.jupiter.api.AfterAll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org.junit.jupiter.api.AfterEach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org.junit.jupiter.api.BeforeAll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org.junit.jupiter.api.BeforeEach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org.junit.jupiter.api.Disabled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org.junit.jupiter.api.DisplayName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org.junit.jupiter.api.Test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//[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주의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NoSuchMethodError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 코드 문제가 아니라 런타임 클래스 충돌이다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설정과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버젼문제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//[@TestInstance]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//1.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테스트 메서드마다 테스트 클래스 인스턴스를 새로 생성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기본값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//@TestInstance(Lifecycle.PER_METHOD)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//@BeforeAll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@AfterAll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 제외되면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실행안함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//2.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테스트 클래스 인스턴스를 한번만 생성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(static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넣는 것과 같음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//@TestInstance(Lifecycle.PER_CLASS)</a:t>
            </a:r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//@TestInstance(Lifecycle.PER_CLASS)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Test1_LifeCycle 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 Calculator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@BeforeAll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 void f1()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 =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Calculator();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🔧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BeforeAll 1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회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@AfterAll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 void f2()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🧹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AfterAll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회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@BeforeEach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f3()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 =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Calculator();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🔧 테스트 시작 전 초기화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@AfterEach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f4() {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🧹 테스트 후 자원 정리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@DisplayName("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➕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함수 테스트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testAdd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calc.add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(2, 3));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@DisplayName("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➖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subtract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함수 테스트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testSubtract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calc.subtract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(4, 3));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@Disabled("❌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아직 구현되지 않음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@DisplayName("✖️ multiply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함수 테스트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비활성화됨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)")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testMultiply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(8,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calc.multiply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(2, 4));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@DisplayName("➗ divide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함수 예외 처리 테스트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testDivideByZero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assertThrows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ArithmeticException.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() -&gt;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calc.divide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(5, 0));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checkWorkingDir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("WORKING DIR = " +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System.getProperty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user.dir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46D350-6D4A-EACC-FAAA-D63A8DC5D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323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B243B-4F73-3595-F98D-1A308A38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9AADA6-2EF3-30D4-B567-98487B41C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489333-AB74-09B4-4B5A-017F90243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2276E-F0AE-AAC4-0E77-C7F2E8AD04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722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2842D-E15A-EFAD-ACD5-97116A14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948555-1472-2F5F-7657-2389670E5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79962B-8CA9-A13B-98F3-D38D9994F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Test2_Basic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f_assert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("Test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f_assert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()");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(10, sum(0), "10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과 같아야 한다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.");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assertNotEquals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(10, sum(10), "10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과 달라야 한다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.");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assertFalse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("false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이어야 한다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.", 10 &gt; sum(0));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assertNull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("null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이어야 한다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.", sum2(-1));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assertNotNull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(sum2(10), "null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아니어야 한다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sum(int a) 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a + 10;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 Object sum2(int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 result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 0)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+ 100;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result;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7AA8EE-B393-994E-1EAE-64AEBC783B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653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8757-4990-B3F6-9402-FE2DEF13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195588-9897-DF33-C928-91DA27CF3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A34A98-F874-197E-2D8B-F6EC333EE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Test3_ADD {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배열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f1() 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int[]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expectArray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{1,2,3,4};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int[]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actualArray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{1,2,3,4,5};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assertArrayEquals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expectArray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actualArray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,"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배열이 </a:t>
            </a:r>
            <a:r>
              <a:rPr lang="ko-KR" altLang="en-US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동일해야한다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리스트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f2()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List&lt;String&gt;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expectList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Arrays.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asList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("A","B","C", "D");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List&lt;String&gt;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actualList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Arrays.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asList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("A","B","C");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assertIterableEquals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expectList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actualList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,"List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 </a:t>
            </a:r>
            <a:r>
              <a:rPr lang="ko-KR" altLang="en-US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동일해야한다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예외발생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f3()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assertThrows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ArithmeticException.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()-&gt;{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result = 10/0; //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예외발생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(result);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("/ by zero ",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exception.getMessage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 //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문자가 </a:t>
            </a:r>
            <a:r>
              <a:rPr lang="ko-KR" altLang="en-US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완전같을것</a:t>
            </a:r>
            <a:endParaRPr lang="ko-KR" altLang="en-US" sz="1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시간제약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f4()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assertTimeout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Duration.ofMillis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(500), ()-&gt;{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(600);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여러개의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Assertion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실행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f5() {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assertAll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()-&gt;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(4, 4),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()-&gt;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assertTrue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 &gt; 1),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()-&gt;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assertNotNull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Junt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test6() {</a:t>
            </a:r>
          </a:p>
          <a:p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fail("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아직 </a:t>
            </a:r>
            <a:r>
              <a:rPr lang="ko-KR" altLang="en-US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구현되지않았어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FF2B9D-C08B-7CAE-EB57-D3FBB0CC9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879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F3056-0F70-1B98-4327-2436B448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22F6FF-C7F8-0EEE-4B9D-AACB03C7A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B07374-F05E-3498-FEE4-F07DA576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8D706-F0F3-932B-D9C9-4E637DDB1F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173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AB74-5E8C-9D01-FD1C-76BF206E9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B70EE4-4FB8-8BFC-0608-49A471B7B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372998-71D1-AA84-641C-B2035A008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@ParameterizedTest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@CsvSource(value = { "1,2,3", "10,20,30" })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addTwoNumbers3(int su1, int su2, int expected)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Calculator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Calculator();</a:t>
            </a:r>
          </a:p>
          <a:p>
            <a:r>
              <a:rPr lang="es-E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result = cal.add(su1, su2);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(expected, result);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@RepeatedTest(3)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@DisplayName("RepeatedTest!!!")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addTwoNumbers4(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RepetitionInfo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repetitionInfo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Calculator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Calculator();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result =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cal.add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(10, 30);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(40, result);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repetitionInfo.getCurrentRepetition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+"/" + 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repetitionInfo.getTotalRepetitions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BB90FC-BB99-E628-3A55-5FAD03F8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482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DA13-0D88-BA43-4BF4-9FFF7564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39BA9A-B48E-E5A9-8CF5-89A298E72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688A38-A6D1-C94E-66BC-E66FAB639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E8F46-74DF-7A96-21B4-44FA92B294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745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F797F-81A8-F10F-C272-2BACC1DDC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FA5D58-6C20-D8C3-8EEE-099DF6741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8362E6-EE81-59C1-7036-93105A2EE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490AD0-F5F2-8F98-A872-B5F40B7A4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170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C24E-6CC9-72DE-0FC1-402AFDAEA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C4E320-C3CE-A071-61B9-85A8FDA6D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9FA384-3147-07B6-EE4E-506EEF0AF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B209E9-6808-1EB1-4C3B-91374506A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655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403F4-899E-CE13-6BF2-B98959253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9CB726-B492-7AF5-DDF3-74C39D082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1EF5E-8434-2ECA-A45D-EBBB0B9E2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F9F2E8-1B0E-F06D-3B5C-83F84CFAA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444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C779-E18C-E566-DCB3-5A0D2981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3DAD0D-F384-95BB-90EB-E4EF50FD1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D64C3D-616D-494E-43A7-FE62A44A0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&gt;spring-test&lt;/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&lt;version&gt;${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-version}&lt;/version&gt;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&lt;scope&gt;test&lt;/scope&gt;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mockito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-core&lt;/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&lt;version&gt;5.11.0&lt;/version&gt;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&lt;scope&gt;test&lt;/scope&gt;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mockito-junit-jupiter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&lt;version&gt;5.11.0&lt;/version&gt;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&lt;scope&gt;test&lt;/scope&gt;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DB49BD-2C77-AF8A-9366-604E117AE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821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35475-B84B-9598-408D-410C3F13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BA4149-2425-B5A3-FF4E-F583037BB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0B723F-F909-A196-4592-6ECD32793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net.firstzone.app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java.util.List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com.shinhan.spring.model.emp.EmpDTO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Mockito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에서 </a:t>
            </a:r>
            <a:r>
              <a:rPr lang="ko-KR" altLang="en-US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모킹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대상이므로 구현체는 필요 없음 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interface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EmpRepositoryInterface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findById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empid);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List&lt;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findAll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insert(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emp);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update(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emp);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delete(int empid);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2B3FBB-7A9D-13E5-6D0B-EA830E8C0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530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85C6-272A-3702-41DF-B2F478BB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6E6228-BDA7-3A43-7508-8F7A66D4E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B065C7-BD6E-CC5B-9FDC-9497DA708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net.firstzone.app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java.util.List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org.springframework.beans.factory.annotation.Autowired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org.springframework.stereotype.Service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com.shinhan.spring.model.emp.EmpDTO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lombok.extern.slf4j.Slf4j;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@Slf4j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@Service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EmpServiceMockito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@Autowired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EmpRepositoryInterface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f1() {</a:t>
            </a:r>
          </a:p>
          <a:p>
            <a:r>
              <a:rPr lang="pt-B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 emp =   empRepository.findById(100);</a:t>
            </a:r>
          </a:p>
          <a:p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log.info(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emp.toString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emp;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List&lt;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f2()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emplist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empRepository.findAll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log.info(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emplist.size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()+"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건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emplist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insertEmp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emp)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empRepository.insert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(emp);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updateEmp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emp)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empRepository.update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(emp);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deleteEmp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empId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empRepository.delete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CB156F-6746-23BB-0886-9DB9B84A6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2372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0514-8F99-E57F-DECB-E0197062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4B6E3A-628A-5C15-68E9-6098B0547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858080-9BED-DE21-1793-2E2439750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 com.shinhan.orangeapp.section2;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static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org.junit.jupiter.api.Assertions.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static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org.junit.jupiter.api.Assertions.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assertNotNull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static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org.mockito.Mockito.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doNothing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static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org.mockito.Mockito.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static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org.mockito.Mockito.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verify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static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org.mockito.Mockito.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java.util.Arrays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java.util.List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org.junit.jupiter.api.Test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org.junit.jupiter.api.extension.ExtendWith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org.mockito.InjectMocks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org.mockito.Mock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org.mockito.junit.jupiter.MockitoExtension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com.shinhan.orangeapp.dto.EmpDTO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@ExtendWith(MockitoExtension.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EmpServiceTest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@Mock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EmpRepositoryInterface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//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가짜 객체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@InjectMocks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EmpServiceMockito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empService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// @Mock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 주입된 실제 테스트 대상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testF1()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dummy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dummy.setEmployee_id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dummy.</a:t>
            </a:r>
            <a:r>
              <a:rPr lang="en-US" altLang="ko-KR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setFirst_name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("Steven");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dummy.setLast_name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("King");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empRepository.findById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(100)).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thenReturn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(dummy);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result = empService.f1();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assertNotNull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(result);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("Steven",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result.getFirst_name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testF2()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dummy1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dummy1.setEmployee_id(100);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dummy1.setFirst_name("Steven");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dummy1.setLast_name("King");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dummy2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dummy2.setEmployee_id(100);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dummy2.setFirst_name("Neena");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dummy2.setLast_name("Kochhar");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List&lt;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dummyList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Arrays.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asList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(dummy1 , dummy2);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empRepository.findAll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thenReturn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dummyList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List&lt;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result = empService.f2();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result.size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("Neena",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result.get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(1).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getFirst_name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void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메서드는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doNothing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doThrow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사용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testInsert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newEmp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builder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employee_id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(1).build();   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doNothing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().when(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).insert(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newEmp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empService.insertEmp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newEmp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실제로 호출되었는지 검증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verify(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times(1)).insert(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newEmp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testUpdate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updatedEmp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EmpDTO.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builder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employee_id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(1).build();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doNothing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().when(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).update(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updatedEmp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empService.updateEmp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updatedEmp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empService.updateEmp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updatedEmp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verify(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times(2)).update(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updatedEmp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);//2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회 호출 검증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@Test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//@DisplayName("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삭제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testDelete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empId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100;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doNothing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().when(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).delete(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empId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empService.deleteEmp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verify(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empRepository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times(1)).delete(100);  //1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회 호출 검증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A3263-4611-CB2C-8C48-BC3742027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0605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F502-2583-A453-2286-956D6D45D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6DFDA8-FD2F-D890-45FA-2FAEA204C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5EF597-BB80-9A80-1500-2660F7006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5690CE-9C8B-867D-F3B8-CD72DE9E5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193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0024F-EB2B-9A14-974E-E7DCF499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23998D-E343-DB84-8752-4B2103D44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F15069-7A13-CBFF-9D5A-53AA7EC2C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330D09-D8C5-1139-9B37-90D9DE739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909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C9341-1058-2E7D-DFA5-A1C08A5B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1EBF40-ED03-673C-F96F-6530CB005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1A80D5-C96E-E0BC-92B4-4E70D1CBB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170BC7-80BB-4BF4-8145-52CD36BA9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0188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2A570-AA97-9712-A990-8B2352D56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F545B0-41B5-52EE-38FC-D215D3081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DA40A6-2D1D-D3DB-FDB6-1FC06C0F6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BB9B9B-5018-240C-0605-4BE88AAE9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780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0777B-25D0-3BB0-2E8F-35BBEB5F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83A14-82DA-1905-6483-498E42177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B8FEF0-23E1-7418-5B02-8B801F2DA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package com.shinhan.spring.section2;</a:t>
            </a:r>
          </a:p>
          <a:p>
            <a:endParaRPr lang="en-US" altLang="ko-KR" dirty="0"/>
          </a:p>
          <a:p>
            <a:r>
              <a:rPr lang="en-US" altLang="ko-KR" dirty="0"/>
              <a:t>import static </a:t>
            </a:r>
            <a:r>
              <a:rPr lang="en-US" altLang="ko-KR" dirty="0" err="1"/>
              <a:t>org.junit.Assert.assertNull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static </a:t>
            </a:r>
            <a:r>
              <a:rPr lang="en-US" altLang="ko-KR" dirty="0" err="1"/>
              <a:t>org.junit.jupiter.api.Assertions.assertEquals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static </a:t>
            </a:r>
            <a:r>
              <a:rPr lang="en-US" altLang="ko-KR" dirty="0" err="1"/>
              <a:t>org.junit.jupiter.api.Assertions.assertNotNull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static </a:t>
            </a:r>
            <a:r>
              <a:rPr lang="en-US" altLang="ko-KR" dirty="0" err="1"/>
              <a:t>org.junit.jupiter.api.Assertions.assertTrue</a:t>
            </a:r>
            <a:r>
              <a:rPr lang="en-US" altLang="ko-KR" dirty="0"/>
              <a:t>;</a:t>
            </a:r>
          </a:p>
          <a:p>
            <a:endParaRPr lang="en-US" altLang="ko-KR" dirty="0"/>
          </a:p>
          <a:p>
            <a:r>
              <a:rPr lang="en-US" altLang="ko-KR" dirty="0"/>
              <a:t>import </a:t>
            </a:r>
            <a:r>
              <a:rPr lang="en-US" altLang="ko-KR" dirty="0" err="1"/>
              <a:t>java.util.List</a:t>
            </a:r>
            <a:r>
              <a:rPr lang="en-US" altLang="ko-KR" dirty="0"/>
              <a:t>;</a:t>
            </a:r>
          </a:p>
          <a:p>
            <a:endParaRPr lang="en-US" altLang="ko-KR" dirty="0"/>
          </a:p>
          <a:p>
            <a:r>
              <a:rPr lang="en-US" altLang="ko-KR" dirty="0"/>
              <a:t>import </a:t>
            </a:r>
            <a:r>
              <a:rPr lang="en-US" altLang="ko-KR" dirty="0" err="1"/>
              <a:t>org.junit.jupiter.api.Test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org.junit.jupiter.api.extension.ExtendWith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org.springframework.beans.factory.annotation.Autowired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org.springframework.test.context.ContextConfiguration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org.springframework.test.context.junit.jupiter.SpringExtension</a:t>
            </a:r>
            <a:r>
              <a:rPr lang="en-US" altLang="ko-KR" dirty="0"/>
              <a:t>;</a:t>
            </a:r>
          </a:p>
          <a:p>
            <a:endParaRPr lang="en-US" altLang="ko-KR" dirty="0"/>
          </a:p>
          <a:p>
            <a:r>
              <a:rPr lang="en-US" altLang="ko-KR" dirty="0"/>
              <a:t>import </a:t>
            </a:r>
            <a:r>
              <a:rPr lang="en-US" altLang="ko-KR" dirty="0" err="1"/>
              <a:t>com.shinhan.spring.model.emp.EmpDTO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com.shinhan.spring.model.emp.EmpService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com.shinhan.spring.util.DateUtil</a:t>
            </a:r>
            <a:r>
              <a:rPr lang="en-US" altLang="ko-KR" dirty="0"/>
              <a:t>;</a:t>
            </a:r>
          </a:p>
          <a:p>
            <a:endParaRPr lang="en-US" altLang="ko-KR" dirty="0"/>
          </a:p>
          <a:p>
            <a:r>
              <a:rPr lang="en-US" altLang="ko-KR" dirty="0"/>
              <a:t>@ExtendWith(SpringExtension.class)</a:t>
            </a:r>
          </a:p>
          <a:p>
            <a:r>
              <a:rPr lang="en-US" altLang="ko-KR" dirty="0"/>
              <a:t>@ContextConfiguration(locations = {</a:t>
            </a:r>
          </a:p>
          <a:p>
            <a:r>
              <a:rPr lang="en-US" altLang="ko-KR" dirty="0"/>
              <a:t>    "file:src/main/webapp/WEB-INF/spring/root-context-oracle.xml",</a:t>
            </a:r>
          </a:p>
          <a:p>
            <a:r>
              <a:rPr lang="en-US" altLang="ko-KR" dirty="0"/>
              <a:t>    "file:src/main/webapp/WEB-INF/spring/root-context-tx.xml",</a:t>
            </a:r>
          </a:p>
          <a:p>
            <a:r>
              <a:rPr lang="en-US" altLang="ko-KR" dirty="0"/>
              <a:t>    "file:src/main/webapp/WEB-INF/spring/appServlet/servlet-context.xml",</a:t>
            </a:r>
          </a:p>
          <a:p>
            <a:r>
              <a:rPr lang="en-US" altLang="ko-KR" dirty="0"/>
              <a:t>    "file:src/main/webapp/WEB-INF/spring/appServlet/servlet-context-no.xml"</a:t>
            </a:r>
          </a:p>
          <a:p>
            <a:r>
              <a:rPr lang="en-US" altLang="ko-KR" dirty="0"/>
              <a:t>})</a:t>
            </a:r>
          </a:p>
          <a:p>
            <a:r>
              <a:rPr lang="en-US" altLang="ko-KR" dirty="0"/>
              <a:t>public class </a:t>
            </a:r>
            <a:r>
              <a:rPr lang="en-US" altLang="ko-KR" dirty="0" err="1"/>
              <a:t>EmpServiceTestIntegration</a:t>
            </a:r>
            <a:r>
              <a:rPr lang="en-US" altLang="ko-KR" dirty="0"/>
              <a:t> {</a:t>
            </a:r>
          </a:p>
          <a:p>
            <a:r>
              <a:rPr lang="en-US" altLang="ko-KR" dirty="0"/>
              <a:t>	 </a:t>
            </a:r>
          </a:p>
          <a:p>
            <a:r>
              <a:rPr lang="en-US" altLang="ko-KR" dirty="0"/>
              <a:t>	@Autowired </a:t>
            </a:r>
          </a:p>
          <a:p>
            <a:r>
              <a:rPr lang="en-US" altLang="ko-KR" dirty="0"/>
              <a:t>	 </a:t>
            </a:r>
            <a:r>
              <a:rPr lang="en-US" altLang="ko-KR" dirty="0" err="1"/>
              <a:t>EmpService</a:t>
            </a:r>
            <a:r>
              <a:rPr lang="en-US" altLang="ko-KR" dirty="0"/>
              <a:t> </a:t>
            </a:r>
            <a:r>
              <a:rPr lang="en-US" altLang="ko-KR" dirty="0" err="1"/>
              <a:t>empService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 @Test</a:t>
            </a:r>
          </a:p>
          <a:p>
            <a:r>
              <a:rPr lang="en-US" altLang="ko-KR" dirty="0"/>
              <a:t>	    void </a:t>
            </a:r>
            <a:r>
              <a:rPr lang="en-US" altLang="ko-KR" dirty="0" err="1"/>
              <a:t>testFindById</a:t>
            </a:r>
            <a:r>
              <a:rPr lang="en-US" altLang="ko-KR" dirty="0"/>
              <a:t>() {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EmpDTO</a:t>
            </a:r>
            <a:r>
              <a:rPr lang="en-US" altLang="ko-KR" dirty="0"/>
              <a:t> emp = </a:t>
            </a:r>
            <a:r>
              <a:rPr lang="en-US" altLang="ko-KR" dirty="0" err="1"/>
              <a:t>empService.selectById</a:t>
            </a:r>
            <a:r>
              <a:rPr lang="en-US" altLang="ko-KR" dirty="0"/>
              <a:t>(100);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assertNotNull</a:t>
            </a:r>
            <a:r>
              <a:rPr lang="en-US" altLang="ko-KR" dirty="0"/>
              <a:t>(emp);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assertEquals</a:t>
            </a:r>
            <a:r>
              <a:rPr lang="en-US" altLang="ko-KR" dirty="0"/>
              <a:t>("Steven", </a:t>
            </a:r>
            <a:r>
              <a:rPr lang="en-US" altLang="ko-KR" dirty="0" err="1"/>
              <a:t>emp.getFirst_name</a:t>
            </a:r>
            <a:r>
              <a:rPr lang="en-US" altLang="ko-KR" dirty="0"/>
              <a:t>());</a:t>
            </a:r>
          </a:p>
          <a:p>
            <a:r>
              <a:rPr lang="en-US" altLang="ko-KR" dirty="0"/>
              <a:t>	    }</a:t>
            </a:r>
          </a:p>
          <a:p>
            <a:endParaRPr lang="en-US" altLang="ko-KR" dirty="0"/>
          </a:p>
          <a:p>
            <a:r>
              <a:rPr lang="en-US" altLang="ko-KR" dirty="0"/>
              <a:t>	    @Test</a:t>
            </a:r>
          </a:p>
          <a:p>
            <a:r>
              <a:rPr lang="en-US" altLang="ko-KR" dirty="0"/>
              <a:t>	    void </a:t>
            </a:r>
            <a:r>
              <a:rPr lang="en-US" altLang="ko-KR" dirty="0" err="1"/>
              <a:t>testFindAll</a:t>
            </a:r>
            <a:r>
              <a:rPr lang="en-US" altLang="ko-KR" dirty="0"/>
              <a:t>() {</a:t>
            </a:r>
          </a:p>
          <a:p>
            <a:r>
              <a:rPr lang="en-US" altLang="ko-KR" dirty="0"/>
              <a:t>	        List&lt;</a:t>
            </a:r>
            <a:r>
              <a:rPr lang="en-US" altLang="ko-KR" dirty="0" err="1"/>
              <a:t>EmpDTO</a:t>
            </a:r>
            <a:r>
              <a:rPr lang="en-US" altLang="ko-KR" dirty="0"/>
              <a:t>&gt; list = </a:t>
            </a:r>
            <a:r>
              <a:rPr lang="en-US" altLang="ko-KR" dirty="0" err="1"/>
              <a:t>empService.selectAll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assertNotNull</a:t>
            </a:r>
            <a:r>
              <a:rPr lang="en-US" altLang="ko-KR" dirty="0"/>
              <a:t>(list);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assertTrue</a:t>
            </a:r>
            <a:r>
              <a:rPr lang="en-US" altLang="ko-KR" dirty="0"/>
              <a:t>(</a:t>
            </a:r>
            <a:r>
              <a:rPr lang="en-US" altLang="ko-KR" dirty="0" err="1"/>
              <a:t>list.size</a:t>
            </a:r>
            <a:r>
              <a:rPr lang="en-US" altLang="ko-KR" dirty="0"/>
              <a:t>() &gt; 0);</a:t>
            </a:r>
          </a:p>
          <a:p>
            <a:r>
              <a:rPr lang="en-US" altLang="ko-KR" dirty="0"/>
              <a:t>	    }</a:t>
            </a:r>
          </a:p>
          <a:p>
            <a:endParaRPr lang="en-US" altLang="ko-KR" dirty="0"/>
          </a:p>
          <a:p>
            <a:r>
              <a:rPr lang="en-US" altLang="ko-KR" dirty="0"/>
              <a:t>	    //@Test</a:t>
            </a:r>
          </a:p>
          <a:p>
            <a:r>
              <a:rPr lang="en-US" altLang="ko-KR" dirty="0"/>
              <a:t>	    void </a:t>
            </a:r>
            <a:r>
              <a:rPr lang="en-US" altLang="ko-KR" dirty="0" err="1"/>
              <a:t>testInsert</a:t>
            </a:r>
            <a:r>
              <a:rPr lang="en-US" altLang="ko-KR" dirty="0"/>
              <a:t>() {</a:t>
            </a:r>
          </a:p>
          <a:p>
            <a:r>
              <a:rPr lang="en-US" altLang="ko-KR" dirty="0"/>
              <a:t>	    	int empid= 34;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EmpDTO</a:t>
            </a:r>
            <a:r>
              <a:rPr lang="en-US" altLang="ko-KR" dirty="0"/>
              <a:t> </a:t>
            </a:r>
            <a:r>
              <a:rPr lang="en-US" altLang="ko-KR" dirty="0" err="1"/>
              <a:t>newEmp</a:t>
            </a:r>
            <a:r>
              <a:rPr lang="en-US" altLang="ko-KR" dirty="0"/>
              <a:t> = </a:t>
            </a:r>
            <a:r>
              <a:rPr lang="en-US" altLang="ko-KR" dirty="0" err="1"/>
              <a:t>EmpDTO.builder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	        		.</a:t>
            </a:r>
            <a:r>
              <a:rPr lang="en-US" altLang="ko-KR" dirty="0" err="1"/>
              <a:t>employee_id</a:t>
            </a:r>
            <a:r>
              <a:rPr lang="en-US" altLang="ko-KR" dirty="0"/>
              <a:t>(empid)</a:t>
            </a:r>
          </a:p>
          <a:p>
            <a:r>
              <a:rPr lang="en-US" altLang="ko-KR" dirty="0"/>
              <a:t>	        		.</a:t>
            </a:r>
            <a:r>
              <a:rPr lang="en-US" altLang="ko-KR" dirty="0" err="1"/>
              <a:t>first_name</a:t>
            </a:r>
            <a:r>
              <a:rPr lang="en-US" altLang="ko-KR" dirty="0"/>
              <a:t>("</a:t>
            </a:r>
            <a:r>
              <a:rPr lang="en-US" altLang="ko-KR" dirty="0" err="1"/>
              <a:t>jin</a:t>
            </a:r>
            <a:r>
              <a:rPr lang="en-US" altLang="ko-KR" dirty="0"/>
              <a:t>")</a:t>
            </a:r>
          </a:p>
          <a:p>
            <a:r>
              <a:rPr lang="en-US" altLang="ko-KR" dirty="0"/>
              <a:t>	        		.</a:t>
            </a:r>
            <a:r>
              <a:rPr lang="en-US" altLang="ko-KR" dirty="0" err="1"/>
              <a:t>last_name</a:t>
            </a:r>
            <a:r>
              <a:rPr lang="en-US" altLang="ko-KR" dirty="0"/>
              <a:t>("j")</a:t>
            </a:r>
          </a:p>
          <a:p>
            <a:r>
              <a:rPr lang="en-US" altLang="ko-KR" dirty="0"/>
              <a:t>	        		.</a:t>
            </a:r>
            <a:r>
              <a:rPr lang="en-US" altLang="ko-KR" dirty="0" err="1"/>
              <a:t>hire_date</a:t>
            </a:r>
            <a:r>
              <a:rPr lang="en-US" altLang="ko-KR" dirty="0"/>
              <a:t>(</a:t>
            </a:r>
            <a:r>
              <a:rPr lang="en-US" altLang="ko-KR" dirty="0" err="1"/>
              <a:t>DateUtil.convertToSQLDate</a:t>
            </a:r>
            <a:r>
              <a:rPr lang="en-US" altLang="ko-KR" dirty="0"/>
              <a:t>("2025-01-01"))</a:t>
            </a:r>
          </a:p>
          <a:p>
            <a:r>
              <a:rPr lang="en-US" altLang="ko-KR" dirty="0"/>
              <a:t>	        		.</a:t>
            </a:r>
            <a:r>
              <a:rPr lang="en-US" altLang="ko-KR" dirty="0" err="1"/>
              <a:t>job_id</a:t>
            </a:r>
            <a:r>
              <a:rPr lang="en-US" altLang="ko-KR" dirty="0"/>
              <a:t>("IT_PROG")</a:t>
            </a:r>
          </a:p>
          <a:p>
            <a:r>
              <a:rPr lang="en-US" altLang="ko-KR" dirty="0"/>
              <a:t>	        		.email("web040634@daum.net")</a:t>
            </a:r>
          </a:p>
          <a:p>
            <a:r>
              <a:rPr lang="en-US" altLang="ko-KR" dirty="0"/>
              <a:t>	        		.build();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empService.empInsert</a:t>
            </a:r>
            <a:r>
              <a:rPr lang="en-US" altLang="ko-KR" dirty="0"/>
              <a:t>(</a:t>
            </a:r>
            <a:r>
              <a:rPr lang="en-US" altLang="ko-KR" dirty="0" err="1"/>
              <a:t>newEmp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EmpDTO</a:t>
            </a:r>
            <a:r>
              <a:rPr lang="en-US" altLang="ko-KR" dirty="0"/>
              <a:t> result = </a:t>
            </a:r>
            <a:r>
              <a:rPr lang="en-US" altLang="ko-KR" dirty="0" err="1"/>
              <a:t>empService.selectById</a:t>
            </a:r>
            <a:r>
              <a:rPr lang="en-US" altLang="ko-KR" dirty="0"/>
              <a:t>(empid);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assertNotNull</a:t>
            </a:r>
            <a:r>
              <a:rPr lang="en-US" altLang="ko-KR" dirty="0"/>
              <a:t>(result);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assertEquals</a:t>
            </a:r>
            <a:r>
              <a:rPr lang="en-US" altLang="ko-KR" dirty="0"/>
              <a:t>("</a:t>
            </a:r>
            <a:r>
              <a:rPr lang="en-US" altLang="ko-KR" dirty="0" err="1"/>
              <a:t>jin</a:t>
            </a:r>
            <a:r>
              <a:rPr lang="en-US" altLang="ko-KR" dirty="0"/>
              <a:t>", </a:t>
            </a:r>
            <a:r>
              <a:rPr lang="en-US" altLang="ko-KR" dirty="0" err="1"/>
              <a:t>result.getFirst_name</a:t>
            </a:r>
            <a:r>
              <a:rPr lang="en-US" altLang="ko-KR" dirty="0"/>
              <a:t>());</a:t>
            </a:r>
          </a:p>
          <a:p>
            <a:r>
              <a:rPr lang="en-US" altLang="ko-KR" dirty="0"/>
              <a:t>	    }</a:t>
            </a:r>
          </a:p>
          <a:p>
            <a:endParaRPr lang="en-US" altLang="ko-KR" dirty="0"/>
          </a:p>
          <a:p>
            <a:r>
              <a:rPr lang="en-US" altLang="ko-KR" dirty="0"/>
              <a:t>	    @Test</a:t>
            </a:r>
          </a:p>
          <a:p>
            <a:r>
              <a:rPr lang="en-US" altLang="ko-KR" dirty="0"/>
              <a:t>	    void </a:t>
            </a:r>
            <a:r>
              <a:rPr lang="en-US" altLang="ko-KR" dirty="0" err="1"/>
              <a:t>testUpdate</a:t>
            </a:r>
            <a:r>
              <a:rPr lang="en-US" altLang="ko-KR" dirty="0"/>
              <a:t>() {</a:t>
            </a:r>
          </a:p>
          <a:p>
            <a:r>
              <a:rPr lang="en-US" altLang="ko-KR" dirty="0"/>
              <a:t>	    	int empid= 34;</a:t>
            </a:r>
          </a:p>
          <a:p>
            <a:r>
              <a:rPr lang="en-US" altLang="ko-KR" dirty="0"/>
              <a:t>	    	 </a:t>
            </a:r>
            <a:r>
              <a:rPr lang="en-US" altLang="ko-KR" dirty="0" err="1"/>
              <a:t>EmpDTO</a:t>
            </a:r>
            <a:r>
              <a:rPr lang="en-US" altLang="ko-KR" dirty="0"/>
              <a:t> emp = </a:t>
            </a:r>
            <a:r>
              <a:rPr lang="en-US" altLang="ko-KR" dirty="0" err="1"/>
              <a:t>EmpDTO.builder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		        		.</a:t>
            </a:r>
            <a:r>
              <a:rPr lang="en-US" altLang="ko-KR" dirty="0" err="1"/>
              <a:t>employee_id</a:t>
            </a:r>
            <a:r>
              <a:rPr lang="en-US" altLang="ko-KR" dirty="0"/>
              <a:t>(empid)</a:t>
            </a:r>
          </a:p>
          <a:p>
            <a:r>
              <a:rPr lang="en-US" altLang="ko-KR" dirty="0"/>
              <a:t>		        		.</a:t>
            </a:r>
            <a:r>
              <a:rPr lang="en-US" altLang="ko-KR" dirty="0" err="1"/>
              <a:t>first_name</a:t>
            </a:r>
            <a:r>
              <a:rPr lang="en-US" altLang="ko-KR" dirty="0"/>
              <a:t>("jin2")</a:t>
            </a:r>
          </a:p>
          <a:p>
            <a:r>
              <a:rPr lang="en-US" altLang="ko-KR" dirty="0"/>
              <a:t>		        		.</a:t>
            </a:r>
            <a:r>
              <a:rPr lang="en-US" altLang="ko-KR" dirty="0" err="1"/>
              <a:t>last_name</a:t>
            </a:r>
            <a:r>
              <a:rPr lang="en-US" altLang="ko-KR" dirty="0"/>
              <a:t>("j2")</a:t>
            </a:r>
          </a:p>
          <a:p>
            <a:r>
              <a:rPr lang="en-US" altLang="ko-KR" dirty="0"/>
              <a:t>		        		.</a:t>
            </a:r>
            <a:r>
              <a:rPr lang="en-US" altLang="ko-KR" dirty="0" err="1"/>
              <a:t>hire_date</a:t>
            </a:r>
            <a:r>
              <a:rPr lang="en-US" altLang="ko-KR" dirty="0"/>
              <a:t>(</a:t>
            </a:r>
            <a:r>
              <a:rPr lang="en-US" altLang="ko-KR" dirty="0" err="1"/>
              <a:t>DateUtil.convertToSQLDate</a:t>
            </a:r>
            <a:r>
              <a:rPr lang="en-US" altLang="ko-KR" dirty="0"/>
              <a:t>("2025-01-01"))</a:t>
            </a:r>
          </a:p>
          <a:p>
            <a:r>
              <a:rPr lang="en-US" altLang="ko-KR" dirty="0"/>
              <a:t>		        		.</a:t>
            </a:r>
            <a:r>
              <a:rPr lang="en-US" altLang="ko-KR" dirty="0" err="1"/>
              <a:t>job_id</a:t>
            </a:r>
            <a:r>
              <a:rPr lang="en-US" altLang="ko-KR" dirty="0"/>
              <a:t>("IT_PROG")</a:t>
            </a:r>
          </a:p>
          <a:p>
            <a:r>
              <a:rPr lang="en-US" altLang="ko-KR" dirty="0"/>
              <a:t>		        		.email("web0406AA@daum.net")</a:t>
            </a:r>
          </a:p>
          <a:p>
            <a:r>
              <a:rPr lang="en-US" altLang="ko-KR" dirty="0"/>
              <a:t>		        		.build();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empService.empUpdate</a:t>
            </a:r>
            <a:r>
              <a:rPr lang="en-US" altLang="ko-KR" dirty="0"/>
              <a:t>(emp);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EmpDTO</a:t>
            </a:r>
            <a:r>
              <a:rPr lang="en-US" altLang="ko-KR" dirty="0"/>
              <a:t> result = </a:t>
            </a:r>
            <a:r>
              <a:rPr lang="en-US" altLang="ko-KR" dirty="0" err="1"/>
              <a:t>empService.selectById</a:t>
            </a:r>
            <a:r>
              <a:rPr lang="en-US" altLang="ko-KR" dirty="0"/>
              <a:t>(empid);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assertEquals</a:t>
            </a:r>
            <a:r>
              <a:rPr lang="en-US" altLang="ko-KR" dirty="0"/>
              <a:t>("jin2", </a:t>
            </a:r>
            <a:r>
              <a:rPr lang="en-US" altLang="ko-KR" dirty="0" err="1"/>
              <a:t>result.getFirst_name</a:t>
            </a:r>
            <a:r>
              <a:rPr lang="en-US" altLang="ko-KR" dirty="0"/>
              <a:t>());</a:t>
            </a:r>
          </a:p>
          <a:p>
            <a:r>
              <a:rPr lang="en-US" altLang="ko-KR" dirty="0"/>
              <a:t>	    }</a:t>
            </a:r>
          </a:p>
          <a:p>
            <a:endParaRPr lang="en-US" altLang="ko-KR" dirty="0"/>
          </a:p>
          <a:p>
            <a:r>
              <a:rPr lang="en-US" altLang="ko-KR" dirty="0"/>
              <a:t>	    //@Test</a:t>
            </a:r>
          </a:p>
          <a:p>
            <a:r>
              <a:rPr lang="en-US" altLang="ko-KR" dirty="0"/>
              <a:t>	    void </a:t>
            </a:r>
            <a:r>
              <a:rPr lang="en-US" altLang="ko-KR" dirty="0" err="1"/>
              <a:t>testDelete</a:t>
            </a:r>
            <a:r>
              <a:rPr lang="en-US" altLang="ko-KR" dirty="0"/>
              <a:t>() {</a:t>
            </a:r>
          </a:p>
          <a:p>
            <a:r>
              <a:rPr lang="en-US" altLang="ko-KR" dirty="0"/>
              <a:t>	    	int empid= 33;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empService.empDeleteById</a:t>
            </a:r>
            <a:r>
              <a:rPr lang="en-US" altLang="ko-KR" dirty="0"/>
              <a:t>(empid);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EmpDTO</a:t>
            </a:r>
            <a:r>
              <a:rPr lang="en-US" altLang="ko-KR" dirty="0"/>
              <a:t> result = </a:t>
            </a:r>
            <a:r>
              <a:rPr lang="en-US" altLang="ko-KR" dirty="0" err="1"/>
              <a:t>empService.selectById</a:t>
            </a:r>
            <a:r>
              <a:rPr lang="en-US" altLang="ko-KR" dirty="0"/>
              <a:t>(empid);</a:t>
            </a:r>
          </a:p>
          <a:p>
            <a:r>
              <a:rPr lang="en-US" altLang="ko-KR" dirty="0"/>
              <a:t>	        </a:t>
            </a:r>
            <a:r>
              <a:rPr lang="en-US" altLang="ko-KR" dirty="0" err="1"/>
              <a:t>assertNull</a:t>
            </a:r>
            <a:r>
              <a:rPr lang="en-US" altLang="ko-KR" dirty="0"/>
              <a:t>(result);</a:t>
            </a:r>
          </a:p>
          <a:p>
            <a:r>
              <a:rPr lang="en-US" altLang="ko-KR" dirty="0"/>
              <a:t>	    }</a:t>
            </a:r>
          </a:p>
          <a:p>
            <a:r>
              <a:rPr lang="en-US" altLang="ko-KR" dirty="0"/>
              <a:t>	    </a:t>
            </a:r>
          </a:p>
          <a:p>
            <a:r>
              <a:rPr lang="en-US" altLang="ko-KR" dirty="0"/>
              <a:t>	    </a:t>
            </a:r>
          </a:p>
          <a:p>
            <a:r>
              <a:rPr lang="en-US" altLang="ko-KR" dirty="0"/>
              <a:t>}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53F00B-3C2D-2A9D-F452-826C44DD0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2601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01E6-BCEB-383B-E0B3-F16C90B2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1B64EB-ABEE-6B23-A4A8-4EA957F6B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564CB0-54FC-F0EF-8471-81EDEA64D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E3CA91-DEC8-AA76-EA85-1187E26EEF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4040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48E8-074A-2FC4-8721-F5B4CC21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001EE9-8030-993B-3F66-F4F7E1E87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B5726D-D407-1392-87B8-AC70ECA8A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6ABACB-D959-B665-337B-BE5A97666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4468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29C6-66F6-B44B-2096-932A5D92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5F5317-594E-48EA-9F3A-D2CCC586A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4A6768-FFE1-F038-D718-96B95CCD1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CCC6D-0FA8-DD57-7DC1-C1862F7CE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0685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B251-C8E2-147C-45FA-C5157A59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E65F3A-E88A-85D9-F050-C56EDDE64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985264-50B6-C851-705E-224A354FA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8F574-67B9-29C1-BD9C-57AB91B03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7185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33FA2-B296-09BB-20F5-43F51DE3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27D835-3974-B663-C4A3-754EB994E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764C2E-9519-B605-1E2C-AD00A0A24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BEDAC-19DC-33E4-81BA-5436B9A41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0507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C2898-250B-D771-5692-0EEED308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B25A6E-1453-C420-25F2-325FCF6A1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F334C1-ECE6-F467-4DA0-15F641E1B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5E48BD-7C21-F554-9EE1-731ABFD93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655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4F1C-CADB-1FC3-64CA-FAFB94FF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03803E-F946-126F-868A-C44247754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0D5D33-85F8-AC6F-0EE9-CCC604D11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B39472-33C5-5E4A-F95E-F710AD837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9522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C3C7-398D-3628-399E-9B216ABD9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CB628D-173E-C110-18A5-B6B760C1D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B4D19C-FBEC-7B40-51EC-1574B707E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B00DD5-F18A-6BA0-5D70-8EF258453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9913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5970-5EFA-B385-F1A7-A94410CC1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DAC280-26A6-5350-9036-8F114E839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12ECCC-282D-E3C2-E4E5-1A4A0935D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029D2-ED22-85E0-D549-8EDC9434D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178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2E2AD-02EA-535C-A609-87919DBC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DCA315-55F8-7FD2-A7CF-152454848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1178C8-9D0F-1DD3-5525-A4437BEF3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062B9D-FEB4-DB44-8B44-3168D41CB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9138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38EF-2026-24CC-613D-A51CBF7C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698658-9329-7A5E-C32C-CE9D1F57F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DF509A-537D-C95C-1CB3-642AF86E0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9CD03F-F192-3135-0D5A-F70B6AE88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7378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D210-7A51-9FC6-FE02-A5570693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1A26D9-A0FE-DB7A-0F80-4D74C870C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52039-F70D-B04F-5F93-3791A2D4A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09D3F2-7C36-B572-BD25-68315C380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4424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82A33-E5ED-93D4-5D16-B10EE32F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8C89C6-2A1D-7D40-7FC6-CB8B1E06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C502D5-A762-9E33-75B9-42BC69BE0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493262-C424-AB78-A8B1-27F129B2B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9318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2BB6-C0A2-EC5E-9BE8-F923D1EF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83AA3A-96C9-1FF9-C07C-13086B433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CFF519-F643-8082-8716-3AF0A7E69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573A7-88F2-A304-3651-79BFD8D05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5941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DA2D2-3E6F-CEC3-8D41-971FAD6C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143930-BD11-4981-A2BF-D2CD5799F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C8C0D3-E11D-5E1C-2448-28A193AAB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50E0C4-9A64-3E82-33D6-260487DFA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0625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8AF68-C244-C2D7-B049-73A0E83B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50F34A-6AB5-7EC8-FE45-0D2DC61AA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E207A-CAFE-4988-2E64-226D1DF13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797BF1-FDB6-A181-97FF-31BF6762F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3221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CEA9-E843-372C-D86F-E9AFA5A3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1ADEC3-ECE3-0163-4053-6139BD769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675576-EB72-4E47-02BA-DC9315947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74B4F3-699A-D205-C954-711BB10796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5762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CF64-BEFC-D193-D797-032582392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957276-C53D-7F0A-F3BB-4EF962DA3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F0BC85-2E5B-5FED-DC25-F1F049F08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3A64E2-E055-2502-6D70-D092A6A466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4162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5285-321F-7DCC-762F-F4F64453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6F61A6-B971-CE83-AEAC-B31577DB5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529AB2-6EF5-A339-4A45-5D9109E1E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1D5B1E-D2FC-1FC5-34D4-603FA8D19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6531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A036-A487-680E-9CE8-8FE02F57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693A60-84CE-CC33-51F1-41B356948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E33CEA-F66A-0105-A7B0-D0573D3E5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79ED8-A9EB-4539-78A4-ADF25D21BA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2919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7D3F-B1C5-73CF-02C6-28D99D1D6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E0596F-3856-D36C-1F3D-22FD11ED4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C62DB5-5FCE-094B-0DD1-03BC16E9E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02C832-E638-7AC6-C784-3A61DB614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5500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B155-8AF2-9E5B-237E-1260F48B5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70826D-ED80-0FD3-3D4A-95DCB41EC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02E5D-2FD0-D52C-3899-A29CB376B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5C4D03-3454-CA33-0557-9AEA093A6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76900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2846-05CE-737D-CFDF-6B88590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8592DF-9353-AADE-6D52-3E72439C5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BE17D9-2E98-F0A7-D207-202918573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6D202-0197-8E2B-050F-C1AE76A6D4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997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BDA0-AEAB-0CA3-ECDE-77D933B9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F5B96E-0C24-2A96-3AD0-7B11AFE2D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6D7DB3-4BA1-CA38-0376-35AD8EFA3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DA3FDF-6C3A-C078-4068-58F9A90B6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4044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AE07-9916-D495-D7AA-107E4D20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66F702-D364-FF7D-26F8-7109311D0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78AD5B-30B9-48BF-E385-663EE1F1C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FF3AE2-007C-84B5-900A-53CBEA526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45907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ADF4-277F-3201-ED8F-D2E24048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208813-9ABA-6D0E-20FE-986358187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CDF69B-7DA8-A1AF-4222-46146080B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6ADE15-B1DF-934E-A453-94ADEE55B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5150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6271-012F-8874-4C97-615DEB8A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B03FB7-D4D2-5BD8-C374-E5C61D308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59CE95-2CE1-59B5-1761-823E75D43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alter table employees modify  EMAIL VARCHAR2(100) ;</a:t>
            </a:r>
          </a:p>
          <a:p>
            <a:endParaRPr lang="en-US" altLang="ko-KR" dirty="0"/>
          </a:p>
          <a:p>
            <a:r>
              <a:rPr lang="en-US" altLang="ko-KR" dirty="0"/>
              <a:t>---data</a:t>
            </a:r>
            <a:r>
              <a:rPr lang="ko-KR" altLang="en-US" dirty="0"/>
              <a:t>증식 </a:t>
            </a:r>
          </a:p>
          <a:p>
            <a:r>
              <a:rPr lang="en-US" altLang="ko-KR" dirty="0"/>
              <a:t>INSERT INTO employees (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employee_id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first_name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last_name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email,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phone_number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hire_date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job_id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salary,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commission_pct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manager_id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department_id</a:t>
            </a:r>
            <a:endParaRPr lang="en-US" altLang="ko-KR" dirty="0"/>
          </a:p>
          <a:p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SELECT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e.employee_id</a:t>
            </a:r>
            <a:r>
              <a:rPr lang="en-US" altLang="ko-KR" dirty="0"/>
              <a:t> + (t.lv * 1000),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e.first_name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e.last_name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e.email</a:t>
            </a:r>
            <a:r>
              <a:rPr lang="en-US" altLang="ko-KR" dirty="0"/>
              <a:t> || '_' || (</a:t>
            </a:r>
            <a:r>
              <a:rPr lang="en-US" altLang="ko-KR" dirty="0" err="1"/>
              <a:t>e.employee_id</a:t>
            </a:r>
            <a:r>
              <a:rPr lang="en-US" altLang="ko-KR" dirty="0"/>
              <a:t> + (t.lv * 1000)),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e.phone_number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e.hire_date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e.job_id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e.salary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e.commission_pct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e.manager_id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e.department_id</a:t>
            </a:r>
            <a:endParaRPr lang="en-US" altLang="ko-KR" dirty="0"/>
          </a:p>
          <a:p>
            <a:r>
              <a:rPr lang="en-US" altLang="ko-KR" dirty="0"/>
              <a:t>FROM employees e</a:t>
            </a:r>
          </a:p>
          <a:p>
            <a:r>
              <a:rPr lang="en-US" altLang="ko-KR" dirty="0"/>
              <a:t>CROSS JOIN (</a:t>
            </a:r>
          </a:p>
          <a:p>
            <a:r>
              <a:rPr lang="en-US" altLang="ko-KR" dirty="0"/>
              <a:t>    SELECT LEVEL lv</a:t>
            </a:r>
          </a:p>
          <a:p>
            <a:r>
              <a:rPr lang="en-US" altLang="ko-KR" dirty="0"/>
              <a:t>    FROM dual</a:t>
            </a:r>
          </a:p>
          <a:p>
            <a:r>
              <a:rPr lang="en-US" altLang="ko-KR" dirty="0"/>
              <a:t>    CONNECT BY LEVEL &lt;= 50</a:t>
            </a:r>
          </a:p>
          <a:p>
            <a:r>
              <a:rPr lang="en-US" altLang="ko-KR" dirty="0"/>
              <a:t>) t;</a:t>
            </a:r>
          </a:p>
          <a:p>
            <a:r>
              <a:rPr lang="en-US" altLang="ko-KR" dirty="0"/>
              <a:t>commit;</a:t>
            </a:r>
          </a:p>
          <a:p>
            <a:endParaRPr lang="en-US" altLang="ko-KR" dirty="0"/>
          </a:p>
          <a:p>
            <a:r>
              <a:rPr lang="en-US" altLang="ko-KR" dirty="0"/>
              <a:t>delete from employees where </a:t>
            </a:r>
            <a:r>
              <a:rPr lang="en-US" altLang="ko-KR" dirty="0" err="1"/>
              <a:t>employee_id</a:t>
            </a:r>
            <a:r>
              <a:rPr lang="en-US" altLang="ko-KR" dirty="0"/>
              <a:t> &gt;=1000;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0A8F1F-0798-8986-2366-C5D425441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851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85C255CA-3593-4620-B4C5-DFFCDDE2520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83"/>
          <a:stretch/>
        </p:blipFill>
        <p:spPr bwMode="auto">
          <a:xfrm>
            <a:off x="0" y="0"/>
            <a:ext cx="12192000" cy="686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4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672E61D-4285-4382-B7CB-104CF2FC1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03158" y="162344"/>
            <a:ext cx="10379242" cy="653411"/>
          </a:xfrm>
        </p:spPr>
        <p:txBody>
          <a:bodyPr>
            <a:normAutofit/>
          </a:bodyPr>
          <a:lstStyle>
            <a:lvl1pPr algn="l">
              <a:defRPr lang="ko-KR" altLang="en-US" sz="4000" b="0" kern="1200" cap="none" spc="0" dirty="0">
                <a:ln>
                  <a:noFill/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3B716EA-673D-4CC4-8D7B-19B8B4EFE0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0275" y="1555750"/>
            <a:ext cx="10652125" cy="4395788"/>
          </a:xfrm>
        </p:spPr>
        <p:txBody>
          <a:bodyPr/>
          <a:lstStyle>
            <a:lvl1pPr marL="342900" indent="-342900">
              <a:lnSpc>
                <a:spcPct val="130000"/>
              </a:lnSpc>
              <a:spcBef>
                <a:spcPts val="1200"/>
              </a:spcBef>
              <a:buFont typeface="HY헤드라인M" panose="02030600000101010101" pitchFamily="18" charset="-127"/>
              <a:buChar char="▶"/>
              <a:defRPr kumimoji="0" lang="ko-KR" altLang="en-US" sz="2400" b="1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  <a:lvl2pPr marL="546100" indent="-273050">
              <a:lnSpc>
                <a:spcPct val="130000"/>
              </a:lnSpc>
              <a:spcBef>
                <a:spcPts val="600"/>
              </a:spcBef>
              <a:defRPr kumimoji="0" lang="ko-KR" altLang="en-US" sz="2200" b="1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ysClr val="windowText" lastClr="000000">
                        <a:lumMod val="75000"/>
                        <a:lumOff val="25000"/>
                        <a:shade val="30000"/>
                        <a:satMod val="115000"/>
                      </a:sysClr>
                    </a:gs>
                    <a:gs pos="50000">
                      <a:sysClr val="windowText" lastClr="000000">
                        <a:lumMod val="75000"/>
                        <a:lumOff val="25000"/>
                        <a:shade val="67500"/>
                        <a:satMod val="115000"/>
                      </a:sysClr>
                    </a:gs>
                    <a:gs pos="100000">
                      <a:sysClr val="windowText" lastClr="000000">
                        <a:lumMod val="75000"/>
                        <a:lumOff val="25000"/>
                        <a:shade val="100000"/>
                        <a:satMod val="115000"/>
                      </a:sys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2pPr>
            <a:lvl3pPr>
              <a:lnSpc>
                <a:spcPct val="130000"/>
              </a:lnSpc>
              <a:spcBef>
                <a:spcPts val="600"/>
              </a:spcBef>
              <a:defRPr kumimoji="0" lang="ko-KR" altLang="en-US" sz="2200" b="1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ysClr val="windowText" lastClr="000000">
                        <a:lumMod val="75000"/>
                        <a:lumOff val="25000"/>
                        <a:shade val="30000"/>
                        <a:satMod val="115000"/>
                      </a:sysClr>
                    </a:gs>
                    <a:gs pos="50000">
                      <a:sysClr val="windowText" lastClr="000000">
                        <a:lumMod val="75000"/>
                        <a:lumOff val="25000"/>
                        <a:shade val="67500"/>
                        <a:satMod val="115000"/>
                      </a:sysClr>
                    </a:gs>
                    <a:gs pos="100000">
                      <a:sysClr val="windowText" lastClr="000000">
                        <a:lumMod val="75000"/>
                        <a:lumOff val="25000"/>
                        <a:shade val="100000"/>
                        <a:satMod val="115000"/>
                      </a:sys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3pPr>
            <a:lvl4pPr>
              <a:lnSpc>
                <a:spcPct val="130000"/>
              </a:lnSpc>
              <a:spcBef>
                <a:spcPts val="600"/>
              </a:spcBef>
              <a:defRPr kumimoji="0" lang="ko-KR" altLang="en-US" sz="2200" b="1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ysClr val="windowText" lastClr="000000">
                        <a:lumMod val="75000"/>
                        <a:lumOff val="25000"/>
                        <a:shade val="30000"/>
                        <a:satMod val="115000"/>
                      </a:sysClr>
                    </a:gs>
                    <a:gs pos="50000">
                      <a:sysClr val="windowText" lastClr="000000">
                        <a:lumMod val="75000"/>
                        <a:lumOff val="25000"/>
                        <a:shade val="67500"/>
                        <a:satMod val="115000"/>
                      </a:sysClr>
                    </a:gs>
                    <a:gs pos="100000">
                      <a:sysClr val="windowText" lastClr="000000">
                        <a:lumMod val="75000"/>
                        <a:lumOff val="25000"/>
                        <a:shade val="100000"/>
                        <a:satMod val="115000"/>
                      </a:sys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4pPr>
            <a:lvl5pPr>
              <a:lnSpc>
                <a:spcPct val="130000"/>
              </a:lnSpc>
              <a:spcBef>
                <a:spcPts val="600"/>
              </a:spcBef>
              <a:defRPr kumimoji="0" lang="ko-KR" altLang="en-US" sz="2200" b="1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0">
                      <a:sysClr val="windowText" lastClr="000000">
                        <a:lumMod val="75000"/>
                        <a:lumOff val="25000"/>
                        <a:shade val="30000"/>
                        <a:satMod val="115000"/>
                      </a:sysClr>
                    </a:gs>
                    <a:gs pos="50000">
                      <a:sysClr val="windowText" lastClr="000000">
                        <a:lumMod val="75000"/>
                        <a:lumOff val="25000"/>
                        <a:shade val="67500"/>
                        <a:satMod val="115000"/>
                      </a:sysClr>
                    </a:gs>
                    <a:gs pos="100000">
                      <a:sysClr val="windowText" lastClr="000000">
                        <a:lumMod val="75000"/>
                        <a:lumOff val="25000"/>
                        <a:shade val="100000"/>
                        <a:satMod val="115000"/>
                      </a:sys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62837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49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05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38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연한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6412" y="218364"/>
            <a:ext cx="9990161" cy="600502"/>
          </a:xfrm>
        </p:spPr>
        <p:txBody>
          <a:bodyPr>
            <a:noAutofit/>
          </a:bodyPr>
          <a:lstStyle>
            <a:lvl1pPr algn="l">
              <a:defRPr sz="4000" b="0" cap="none" spc="0">
                <a:ln>
                  <a:noFill/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72233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연한배경">
    <p:bg>
      <p:bgPr>
        <a:solidFill>
          <a:srgbClr val="022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6412" y="218364"/>
            <a:ext cx="9990161" cy="600502"/>
          </a:xfrm>
        </p:spPr>
        <p:txBody>
          <a:bodyPr>
            <a:noAutofit/>
          </a:bodyPr>
          <a:lstStyle>
            <a:lvl1pPr algn="l">
              <a:defRPr sz="4000" b="0" cap="none" spc="0">
                <a:ln>
                  <a:noFill/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492956-99EE-49CD-AFA9-0A122D331AAE}"/>
              </a:ext>
            </a:extLst>
          </p:cNvPr>
          <p:cNvSpPr/>
          <p:nvPr userDrawn="1"/>
        </p:nvSpPr>
        <p:spPr>
          <a:xfrm>
            <a:off x="0" y="928049"/>
            <a:ext cx="12192000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6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665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진한배경2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F713B0-4BC1-40CA-96AA-0FC38D0674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148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밝은 배경 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92C800-68F7-47C2-A459-1C26CFCFC4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684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밝은 배경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6BFAF8-C166-44DF-ADA9-C583873272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73" b="5455"/>
          <a:stretch/>
        </p:blipFill>
        <p:spPr bwMode="auto">
          <a:xfrm flipV="1">
            <a:off x="0" y="-1"/>
            <a:ext cx="12193588" cy="2565810"/>
          </a:xfrm>
          <a:custGeom>
            <a:avLst/>
            <a:gdLst>
              <a:gd name="connsiteX0" fmla="*/ 0 w 12193588"/>
              <a:gd name="connsiteY0" fmla="*/ 2565810 h 2565810"/>
              <a:gd name="connsiteX1" fmla="*/ 12193588 w 12193588"/>
              <a:gd name="connsiteY1" fmla="*/ 2565810 h 2565810"/>
              <a:gd name="connsiteX2" fmla="*/ 12193588 w 12193588"/>
              <a:gd name="connsiteY2" fmla="*/ 874791 h 2565810"/>
              <a:gd name="connsiteX3" fmla="*/ 12003185 w 12193588"/>
              <a:gd name="connsiteY3" fmla="*/ 1001983 h 2565810"/>
              <a:gd name="connsiteX4" fmla="*/ 343633 w 12193588"/>
              <a:gd name="connsiteY4" fmla="*/ 206214 h 2565810"/>
              <a:gd name="connsiteX5" fmla="*/ 0 w 12193588"/>
              <a:gd name="connsiteY5" fmla="*/ 0 h 25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2565810">
                <a:moveTo>
                  <a:pt x="0" y="2565810"/>
                </a:moveTo>
                <a:lnTo>
                  <a:pt x="12193588" y="2565810"/>
                </a:lnTo>
                <a:lnTo>
                  <a:pt x="12193588" y="874791"/>
                </a:lnTo>
                <a:lnTo>
                  <a:pt x="12003185" y="1001983"/>
                </a:lnTo>
                <a:cubicBezTo>
                  <a:pt x="9628673" y="2485947"/>
                  <a:pt x="4622845" y="2670114"/>
                  <a:pt x="343633" y="206214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8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진한배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5"/>
          <a:stretch/>
        </p:blipFill>
        <p:spPr bwMode="auto">
          <a:xfrm flipV="1">
            <a:off x="0" y="-1"/>
            <a:ext cx="12193588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1641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목차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51FCAF1F-909C-43F2-9FBB-3A98FCF616A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24"/>
          <a:stretch/>
        </p:blipFill>
        <p:spPr bwMode="auto">
          <a:xfrm>
            <a:off x="0" y="1"/>
            <a:ext cx="9906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132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0CC4F9EC-738D-4980-9967-A879B6BE640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62"/>
          <a:stretch/>
        </p:blipFill>
        <p:spPr bwMode="auto">
          <a:xfrm>
            <a:off x="0" y="0"/>
            <a:ext cx="60274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943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 슬라이드 2">
    <p:bg>
      <p:bgPr>
        <a:solidFill>
          <a:srgbClr val="2535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ECD9BA7-A012-47C1-A45E-BFB3AB3FEA4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28"/>
          <a:stretch/>
        </p:blipFill>
        <p:spPr bwMode="auto">
          <a:xfrm>
            <a:off x="1" y="0"/>
            <a:ext cx="5877039" cy="6858000"/>
          </a:xfrm>
          <a:custGeom>
            <a:avLst/>
            <a:gdLst>
              <a:gd name="connsiteX0" fmla="*/ 0 w 5877039"/>
              <a:gd name="connsiteY0" fmla="*/ 0 h 6858000"/>
              <a:gd name="connsiteX1" fmla="*/ 5877039 w 5877039"/>
              <a:gd name="connsiteY1" fmla="*/ 0 h 6858000"/>
              <a:gd name="connsiteX2" fmla="*/ 5641042 w 5877039"/>
              <a:gd name="connsiteY2" fmla="*/ 113441 h 6858000"/>
              <a:gd name="connsiteX3" fmla="*/ 1485900 w 5877039"/>
              <a:gd name="connsiteY3" fmla="*/ 4406900 h 6858000"/>
              <a:gd name="connsiteX4" fmla="*/ 4114800 w 5877039"/>
              <a:gd name="connsiteY4" fmla="*/ 6858000 h 6858000"/>
              <a:gd name="connsiteX5" fmla="*/ 0 w 5877039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77039" h="6858000">
                <a:moveTo>
                  <a:pt x="0" y="0"/>
                </a:moveTo>
                <a:lnTo>
                  <a:pt x="5877039" y="0"/>
                </a:lnTo>
                <a:lnTo>
                  <a:pt x="5641042" y="113441"/>
                </a:lnTo>
                <a:cubicBezTo>
                  <a:pt x="4042520" y="895797"/>
                  <a:pt x="2144712" y="2065337"/>
                  <a:pt x="1485900" y="4406900"/>
                </a:cubicBezTo>
                <a:cubicBezTo>
                  <a:pt x="2336800" y="5350933"/>
                  <a:pt x="3073400" y="6117167"/>
                  <a:pt x="4114800" y="6858000"/>
                </a:cubicBez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810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간지 슬라이드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611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788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602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109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24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9DCCA-67EE-4E2A-8755-FA3F98C3DF1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7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51" r:id="rId7"/>
    <p:sldLayoutId id="2147483745" r:id="rId8"/>
    <p:sldLayoutId id="2147483747" r:id="rId9"/>
    <p:sldLayoutId id="2147483749" r:id="rId10"/>
    <p:sldLayoutId id="2147483739" r:id="rId11"/>
    <p:sldLayoutId id="2147483744" r:id="rId12"/>
    <p:sldLayoutId id="2147483746" r:id="rId13"/>
    <p:sldLayoutId id="2147483748" r:id="rId14"/>
    <p:sldLayoutId id="2147483750" r:id="rId15"/>
    <p:sldLayoutId id="2147483740" r:id="rId16"/>
    <p:sldLayoutId id="2147483741" r:id="rId17"/>
    <p:sldLayoutId id="2147483742" r:id="rId18"/>
    <p:sldLayoutId id="2147483743" r:id="rId1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jmeter.apache.org/download_jmeter.cgi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7921128" cy="1470025"/>
          </a:xfrm>
        </p:spPr>
        <p:txBody>
          <a:bodyPr>
            <a:normAutofit/>
          </a:bodyPr>
          <a:lstStyle/>
          <a:p>
            <a:pPr algn="l"/>
            <a:r>
              <a:rPr lang="ko-KR" altLang="en-US" sz="4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효율적인 </a:t>
            </a:r>
            <a:r>
              <a:rPr lang="en-US" altLang="ko-KR" sz="4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Test</a:t>
            </a:r>
            <a:endParaRPr lang="ko-KR" altLang="en-US" sz="4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762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43A4F-252A-44A1-ADAD-9A068450D88C}"/>
              </a:ext>
            </a:extLst>
          </p:cNvPr>
          <p:cNvSpPr txBox="1"/>
          <p:nvPr/>
        </p:nvSpPr>
        <p:spPr>
          <a:xfrm>
            <a:off x="238667" y="630657"/>
            <a:ext cx="3889988" cy="8309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800" b="1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학습 순서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3A16852-3B19-4B91-81AF-44A92A6D7C03}"/>
              </a:ext>
            </a:extLst>
          </p:cNvPr>
          <p:cNvGrpSpPr/>
          <p:nvPr/>
        </p:nvGrpSpPr>
        <p:grpSpPr>
          <a:xfrm>
            <a:off x="4793673" y="1191996"/>
            <a:ext cx="6442363" cy="810340"/>
            <a:chOff x="4793673" y="1205344"/>
            <a:chExt cx="6442363" cy="1080000"/>
          </a:xfrm>
        </p:grpSpPr>
        <p:sp>
          <p:nvSpPr>
            <p:cNvPr id="33" name="육각형 32"/>
            <p:cNvSpPr/>
            <p:nvPr/>
          </p:nvSpPr>
          <p:spPr>
            <a:xfrm>
              <a:off x="4793673" y="1205344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" name="화살표: 오각형 3">
              <a:extLst>
                <a:ext uri="{FF2B5EF4-FFF2-40B4-BE49-F238E27FC236}">
                  <a16:creationId xmlns:a16="http://schemas.microsoft.com/office/drawing/2014/main" id="{3F788CB8-73AE-41C5-807C-AF14D1C85671}"/>
                </a:ext>
              </a:extLst>
            </p:cNvPr>
            <p:cNvSpPr/>
            <p:nvPr/>
          </p:nvSpPr>
          <p:spPr>
            <a:xfrm>
              <a:off x="5632954" y="1329846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C2C025D7-84D4-4546-BFD3-14F210208BCA}"/>
                </a:ext>
              </a:extLst>
            </p:cNvPr>
            <p:cNvSpPr/>
            <p:nvPr/>
          </p:nvSpPr>
          <p:spPr>
            <a:xfrm>
              <a:off x="5196182" y="1322781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5249895" y="1252938"/>
            <a:ext cx="4047618" cy="646331"/>
            <a:chOff x="5309613" y="1537405"/>
            <a:chExt cx="3206601" cy="793348"/>
          </a:xfrm>
        </p:grpSpPr>
        <p:sp>
          <p:nvSpPr>
            <p:cNvPr id="18" name="직사각형 17"/>
            <p:cNvSpPr/>
            <p:nvPr/>
          </p:nvSpPr>
          <p:spPr>
            <a:xfrm>
              <a:off x="6030979" y="1537405"/>
              <a:ext cx="2485235" cy="79334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1076865" eaLnBrk="0" latinLnBrk="0" hangingPunct="0">
                <a:spcAft>
                  <a:spcPts val="486"/>
                </a:spcAft>
                <a:buSzPct val="100000"/>
                <a:defRPr/>
              </a:pPr>
              <a:r>
                <a:rPr lang="ko-KR" altLang="en-US" sz="36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단위 테스트</a:t>
              </a: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309613" y="1656674"/>
              <a:ext cx="531925" cy="55481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rPr>
                <a:t>Ⅰ</a:t>
              </a:r>
              <a:endParaRPr kumimoji="0" lang="ko-KR" altLang="en-US" sz="4400" b="1" i="0" u="none" strike="noStrike" kern="0" normalizeH="0" baseline="0" noProof="0" dirty="0">
                <a:ln w="285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313E1BF-4A3B-4B72-8DFF-AC09F12DF342}"/>
              </a:ext>
            </a:extLst>
          </p:cNvPr>
          <p:cNvSpPr/>
          <p:nvPr/>
        </p:nvSpPr>
        <p:spPr>
          <a:xfrm>
            <a:off x="5526361" y="2652431"/>
            <a:ext cx="184730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400" b="1" i="0" u="none" strike="noStrike" kern="0" normalizeH="0" baseline="0" noProof="0" dirty="0">
              <a:ln w="2857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3A16852-3B19-4B91-81AF-44A92A6D7C03}"/>
              </a:ext>
            </a:extLst>
          </p:cNvPr>
          <p:cNvGrpSpPr/>
          <p:nvPr/>
        </p:nvGrpSpPr>
        <p:grpSpPr>
          <a:xfrm>
            <a:off x="4785897" y="2098558"/>
            <a:ext cx="6442363" cy="810340"/>
            <a:chOff x="4793673" y="1205344"/>
            <a:chExt cx="6442363" cy="1080000"/>
          </a:xfrm>
        </p:grpSpPr>
        <p:sp>
          <p:nvSpPr>
            <p:cNvPr id="36" name="육각형 35"/>
            <p:cNvSpPr/>
            <p:nvPr/>
          </p:nvSpPr>
          <p:spPr>
            <a:xfrm>
              <a:off x="4793673" y="1205344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7" name="화살표: 오각형 3">
              <a:extLst>
                <a:ext uri="{FF2B5EF4-FFF2-40B4-BE49-F238E27FC236}">
                  <a16:creationId xmlns:a16="http://schemas.microsoft.com/office/drawing/2014/main" id="{3F788CB8-73AE-41C5-807C-AF14D1C85671}"/>
                </a:ext>
              </a:extLst>
            </p:cNvPr>
            <p:cNvSpPr/>
            <p:nvPr/>
          </p:nvSpPr>
          <p:spPr>
            <a:xfrm>
              <a:off x="5632954" y="1329846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2C025D7-84D4-4546-BFD3-14F210208BCA}"/>
                </a:ext>
              </a:extLst>
            </p:cNvPr>
            <p:cNvSpPr/>
            <p:nvPr/>
          </p:nvSpPr>
          <p:spPr>
            <a:xfrm>
              <a:off x="5196182" y="1322781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5208986" y="2097945"/>
            <a:ext cx="4080752" cy="769441"/>
            <a:chOff x="5283364" y="1461848"/>
            <a:chExt cx="3232850" cy="944461"/>
          </a:xfrm>
        </p:grpSpPr>
        <p:sp>
          <p:nvSpPr>
            <p:cNvPr id="40" name="직사각형 39"/>
            <p:cNvSpPr/>
            <p:nvPr/>
          </p:nvSpPr>
          <p:spPr>
            <a:xfrm>
              <a:off x="6030979" y="1537405"/>
              <a:ext cx="2485235" cy="79334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1076865" eaLnBrk="0" latinLnBrk="0" hangingPunct="0">
                <a:spcAft>
                  <a:spcPts val="486"/>
                </a:spcAft>
                <a:buSzPct val="100000"/>
                <a:defRPr/>
              </a:pPr>
              <a:r>
                <a:rPr lang="ko-KR" altLang="en-US" sz="36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통합 테스트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283364" y="1461848"/>
              <a:ext cx="584422" cy="94446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4400" b="1" kern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HY견명조" panose="02030600000101010101" pitchFamily="18" charset="-127"/>
                  <a:ea typeface="HY견명조" panose="02030600000101010101" pitchFamily="18" charset="-127"/>
                </a:rPr>
                <a:t>Ⅱ</a:t>
              </a:r>
              <a:endParaRPr kumimoji="0" lang="ko-KR" altLang="en-US" sz="4400" b="1" i="0" u="none" strike="noStrike" kern="0" normalizeH="0" baseline="0" noProof="0" dirty="0">
                <a:ln w="285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3A16852-3B19-4B91-81AF-44A92A6D7C03}"/>
              </a:ext>
            </a:extLst>
          </p:cNvPr>
          <p:cNvGrpSpPr/>
          <p:nvPr/>
        </p:nvGrpSpPr>
        <p:grpSpPr>
          <a:xfrm>
            <a:off x="4784795" y="3005120"/>
            <a:ext cx="6442363" cy="810340"/>
            <a:chOff x="4793673" y="1205344"/>
            <a:chExt cx="6442363" cy="1080000"/>
          </a:xfrm>
        </p:grpSpPr>
        <p:sp>
          <p:nvSpPr>
            <p:cNvPr id="44" name="육각형 43"/>
            <p:cNvSpPr/>
            <p:nvPr/>
          </p:nvSpPr>
          <p:spPr>
            <a:xfrm>
              <a:off x="4793673" y="1205344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5" name="화살표: 오각형 3">
              <a:extLst>
                <a:ext uri="{FF2B5EF4-FFF2-40B4-BE49-F238E27FC236}">
                  <a16:creationId xmlns:a16="http://schemas.microsoft.com/office/drawing/2014/main" id="{3F788CB8-73AE-41C5-807C-AF14D1C85671}"/>
                </a:ext>
              </a:extLst>
            </p:cNvPr>
            <p:cNvSpPr/>
            <p:nvPr/>
          </p:nvSpPr>
          <p:spPr>
            <a:xfrm>
              <a:off x="5632954" y="1329846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2C025D7-84D4-4546-BFD3-14F210208BCA}"/>
                </a:ext>
              </a:extLst>
            </p:cNvPr>
            <p:cNvSpPr/>
            <p:nvPr/>
          </p:nvSpPr>
          <p:spPr>
            <a:xfrm>
              <a:off x="5196182" y="1322781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5207884" y="3004507"/>
            <a:ext cx="5517266" cy="769441"/>
            <a:chOff x="5283364" y="1461848"/>
            <a:chExt cx="4370884" cy="944461"/>
          </a:xfrm>
        </p:grpSpPr>
        <p:sp>
          <p:nvSpPr>
            <p:cNvPr id="48" name="직사각형 47"/>
            <p:cNvSpPr/>
            <p:nvPr/>
          </p:nvSpPr>
          <p:spPr>
            <a:xfrm>
              <a:off x="6030979" y="1537404"/>
              <a:ext cx="3623269" cy="79334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1076865" eaLnBrk="0" latinLnBrk="0" hangingPunct="0">
                <a:spcAft>
                  <a:spcPts val="486"/>
                </a:spcAft>
                <a:buSzPct val="100000"/>
                <a:defRPr/>
              </a:pPr>
              <a:r>
                <a:rPr lang="ko-KR" altLang="en-US" sz="36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성능 테스트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283364" y="1461848"/>
              <a:ext cx="584422" cy="94446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4400" b="1" kern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HY견명조" panose="02030600000101010101" pitchFamily="18" charset="-127"/>
                  <a:ea typeface="HY견명조" panose="02030600000101010101" pitchFamily="18" charset="-127"/>
                </a:rPr>
                <a:t>Ⅲ</a:t>
              </a:r>
              <a:endParaRPr kumimoji="0" lang="ko-KR" altLang="en-US" sz="4400" b="1" i="0" u="none" strike="noStrike" kern="0" normalizeH="0" baseline="0" noProof="0" dirty="0">
                <a:ln w="285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071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6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단위 테스트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66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4960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단위 테스트란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?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애플리케이션의 개별 구성 요소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(Controller, Service, Repository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등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를 독립적으로 테스트하는 방법이다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코드 품질과 안정성 확보할 수 있다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버그 발견과 디버깅 시간을 단축할 수 있다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코드를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리 </a:t>
            </a:r>
            <a:r>
              <a:rPr lang="ko-KR" altLang="en-US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팩토링시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기존 기능이 정상 작동하는지 확인할 수 있다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27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340B7-10D3-C653-205E-A219030A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B5EA16F-83EF-8923-6A8A-7CAF8A71B3DD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03256C-8FBA-05DC-8CB4-27E5F7467154}"/>
              </a:ext>
            </a:extLst>
          </p:cNvPr>
          <p:cNvSpPr/>
          <p:nvPr/>
        </p:nvSpPr>
        <p:spPr>
          <a:xfrm>
            <a:off x="714165" y="1250515"/>
            <a:ext cx="10699149" cy="2453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좋은 단위 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특징</a:t>
            </a:r>
            <a:endParaRPr lang="en-US" altLang="ko-KR" sz="2400" b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독립적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다른 테스트나 외부 환경에 영향을 받지 않아야 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반복 가능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언제든지 반복 실행할 수 있어야 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빠름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 실행 속도가 빨라야 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명확한 목적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특정 기능이나 모듈의 동작을 명확하게 검증해야 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9495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F296A-197A-7844-E839-A93FFA881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9B09A28-657D-F935-32D7-C4D7DA6F37F4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422007-5685-30BC-2ECA-E993774B4167}"/>
              </a:ext>
            </a:extLst>
          </p:cNvPr>
          <p:cNvSpPr/>
          <p:nvPr/>
        </p:nvSpPr>
        <p:spPr>
          <a:xfrm>
            <a:off x="714165" y="1250515"/>
            <a:ext cx="10699149" cy="5145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Junit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사용법</a:t>
            </a:r>
            <a:r>
              <a:rPr lang="en-US" altLang="ko-KR" dirty="0"/>
              <a:t>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Java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용 단위테스트 프레임워크로 테스트 케이스를 작성하고 실행하는데 사용한다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@Test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0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어노테이션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 메서드로 지정함을 의미한다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Assertions : </a:t>
            </a:r>
            <a:r>
              <a:rPr lang="en-US" altLang="ko-KR" sz="20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assertEquals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en-US" altLang="ko-KR" sz="20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assertTrue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en-US" altLang="ko-KR" sz="20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assertFalse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등을 사용하여 예상 결과와 실제 결과를 비교한다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Mockito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를 사용한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 생성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: Mockito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는 모의 객체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(Mock Object)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를 생성하여 단위 테스트를 보다 효율적으로 작성할 수 있게 해주며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이를 통해 외부 의존성을 모의하여 테스트할 수 있다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06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2B0F-42A0-80B8-AA2B-EBF4D0F8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51C9905-10E1-738D-7251-5AC40B311C5B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266250-B48E-D869-449D-E300F3321709}"/>
              </a:ext>
            </a:extLst>
          </p:cNvPr>
          <p:cNvSpPr/>
          <p:nvPr/>
        </p:nvSpPr>
        <p:spPr>
          <a:xfrm>
            <a:off x="714165" y="1250515"/>
            <a:ext cx="10699149" cy="4268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단위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테스트 시나리오 작성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정상 동작 시나리오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기대한 대로의 동작을 테스트한다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예외 상황 시나리오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예외나 에러 상황을 테스트한다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경계 값 테스트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입력 값의 경계 상황을 테스트한다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46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6006-B99A-6981-2515-39EAFE51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029A58F-5508-4345-2D5B-8B758A5F60CC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E873EB-4716-442B-163B-F59F16C6CB53}"/>
              </a:ext>
            </a:extLst>
          </p:cNvPr>
          <p:cNvSpPr/>
          <p:nvPr/>
        </p:nvSpPr>
        <p:spPr>
          <a:xfrm>
            <a:off x="714165" y="1250515"/>
            <a:ext cx="10699149" cy="2052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Junit5 + </a:t>
            </a:r>
            <a:r>
              <a:rPr lang="en-US" altLang="ko-KR" sz="2400" b="1" dirty="0" err="1">
                <a:latin typeface="CookieRun Regular" panose="020B0600000101010101" pitchFamily="34" charset="-127"/>
                <a:ea typeface="CookieRun Regular" panose="020B0600000101010101" pitchFamily="34" charset="-127"/>
              </a:rPr>
              <a:t>Mokito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실습준비</a:t>
            </a:r>
            <a:endParaRPr lang="en-US" altLang="ko-KR" sz="2400" b="1" dirty="0">
              <a:latin typeface="CookieRun Regular" panose="020B0600000101010101" pitchFamily="34" charset="-127"/>
              <a:ea typeface="CookieRun Regular" panose="020B0600000101010101" pitchFamily="34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  <p:pic>
        <p:nvPicPr>
          <p:cNvPr id="6" name="그림 5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620992-E01C-D678-3C75-C13A36612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03" y="1914392"/>
            <a:ext cx="5422399" cy="466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0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A7A7-8B15-C27B-4A9C-67BD955F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907C44C-674D-2FA4-08DF-522C93187551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C78175-9E7C-9448-3D74-70737DEC76E3}"/>
              </a:ext>
            </a:extLst>
          </p:cNvPr>
          <p:cNvSpPr/>
          <p:nvPr/>
        </p:nvSpPr>
        <p:spPr>
          <a:xfrm>
            <a:off x="714165" y="1250515"/>
            <a:ext cx="10699149" cy="177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Junit5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의 기본 </a:t>
            </a:r>
            <a:r>
              <a:rPr lang="en-US" altLang="ko-KR" sz="2400" b="1" dirty="0" err="1">
                <a:latin typeface="CookieRun Regular" panose="020B0600000101010101" pitchFamily="34" charset="-127"/>
                <a:ea typeface="CookieRun Regular" panose="020B0600000101010101" pitchFamily="34" charset="-127"/>
              </a:rPr>
              <a:t>LifeCycle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2EB360-79D9-C521-E2AA-0637B2192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60" y="1895351"/>
            <a:ext cx="7440063" cy="4505954"/>
          </a:xfrm>
          <a:prstGeom prst="rect">
            <a:avLst/>
          </a:prstGeom>
        </p:spPr>
      </p:pic>
      <p:pic>
        <p:nvPicPr>
          <p:cNvPr id="9" name="그림 8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7EE301-2AD0-35C0-3B81-743851515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240" y="4148328"/>
            <a:ext cx="5753903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06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30797-E9BF-EB46-0BAE-9126A86F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F60793C-4EA1-973F-F8D9-55DF22C8C6BE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EE27B3-D1E1-C934-98EC-C5BB075D609F}"/>
              </a:ext>
            </a:extLst>
          </p:cNvPr>
          <p:cNvSpPr/>
          <p:nvPr/>
        </p:nvSpPr>
        <p:spPr>
          <a:xfrm>
            <a:off x="714165" y="1250515"/>
            <a:ext cx="10699149" cy="177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Junit5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의 기본 </a:t>
            </a:r>
            <a:r>
              <a:rPr lang="en-US" altLang="ko-KR" sz="2400" b="1" dirty="0" err="1">
                <a:latin typeface="CookieRun Regular" panose="020B0600000101010101" pitchFamily="34" charset="-127"/>
                <a:ea typeface="CookieRun Regular" panose="020B0600000101010101" pitchFamily="34" charset="-127"/>
              </a:rPr>
              <a:t>LifeCycle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F737D3-1A36-E3BB-7A77-49CDACC99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7" y="1918436"/>
            <a:ext cx="5783099" cy="4476572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4F5296-7477-44D3-20E9-9D721B251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088" y="2159406"/>
            <a:ext cx="4146407" cy="21791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FB173B-C1B8-852D-3368-D86081097A58}"/>
              </a:ext>
            </a:extLst>
          </p:cNvPr>
          <p:cNvSpPr txBox="1"/>
          <p:nvPr/>
        </p:nvSpPr>
        <p:spPr>
          <a:xfrm>
            <a:off x="6987088" y="4640682"/>
            <a:ext cx="21721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//test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진행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@Test</a:t>
            </a: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//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출력이름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@DisplayName(“”)</a:t>
            </a: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//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비활성화 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@Disabled(“”)</a:t>
            </a:r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9663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12200-CF63-BDBD-8DFE-875B50A3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4AD9BAD-175F-87EC-C82A-602B102E82B4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F68C69-8A99-F16F-344D-4DA67E5ED036}"/>
              </a:ext>
            </a:extLst>
          </p:cNvPr>
          <p:cNvSpPr/>
          <p:nvPr/>
        </p:nvSpPr>
        <p:spPr>
          <a:xfrm>
            <a:off x="714165" y="1250515"/>
            <a:ext cx="10699149" cy="2052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Junit5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기본</a:t>
            </a:r>
            <a:endParaRPr lang="en-US" altLang="ko-KR" sz="2400" b="1" dirty="0">
              <a:latin typeface="CookieRun Regular" panose="020B0600000101010101" pitchFamily="34" charset="-127"/>
              <a:ea typeface="CookieRun Regular" panose="020B0600000101010101" pitchFamily="34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58C24D-519B-4B48-3AD5-D52F92E9E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82" y="1912877"/>
            <a:ext cx="5772956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315D5-228E-4BA2-A651-971439F3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31F308C-4EC8-9FFE-1325-A3AB8E2565BC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DC75D5-26C3-582C-C96A-DA4C1AB06991}"/>
              </a:ext>
            </a:extLst>
          </p:cNvPr>
          <p:cNvSpPr/>
          <p:nvPr/>
        </p:nvSpPr>
        <p:spPr>
          <a:xfrm>
            <a:off x="714165" y="1250515"/>
            <a:ext cx="10699149" cy="2052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Junit5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배열과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리스트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6CC056-5E32-184B-EB43-C1B072B8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29" y="2276661"/>
            <a:ext cx="758295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4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2D47-EAF7-DC65-88C8-7A0B332D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E4DACEB-A44A-F762-DFD9-96111E205A09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862D72-139A-7E52-C163-C7760825F370}"/>
              </a:ext>
            </a:extLst>
          </p:cNvPr>
          <p:cNvSpPr/>
          <p:nvPr/>
        </p:nvSpPr>
        <p:spPr>
          <a:xfrm>
            <a:off x="714165" y="1250515"/>
            <a:ext cx="10699149" cy="2052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Junit5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예외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,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시간제약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B06929-CC60-6DC6-DB9F-8F42359B0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83" y="1997993"/>
            <a:ext cx="8497486" cy="21815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97D1A2-56EF-2D21-D686-F0FF204FA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65" y="4266969"/>
            <a:ext cx="6106377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69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C94C0-125F-035A-65A9-080BF4E4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5917D4D-116D-F014-AD89-99AB2D3BBEE6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3DC8DF-491F-9A9A-14DC-E91B2C6DDEB9}"/>
              </a:ext>
            </a:extLst>
          </p:cNvPr>
          <p:cNvSpPr/>
          <p:nvPr/>
        </p:nvSpPr>
        <p:spPr>
          <a:xfrm>
            <a:off x="714165" y="1250515"/>
            <a:ext cx="10699149" cy="177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Junit5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여러 개의 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Assertion,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강제실패 </a:t>
            </a:r>
            <a:endParaRPr lang="en-US" altLang="ko-KR" sz="2400" b="1" dirty="0">
              <a:latin typeface="CookieRun Regular" panose="020B0600000101010101" pitchFamily="34" charset="-127"/>
              <a:ea typeface="CookieRun Regular" panose="020B0600000101010101" pitchFamily="34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99E5F6-8E12-D8F8-00BF-823E95DB0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7" y="2003122"/>
            <a:ext cx="5106113" cy="3277057"/>
          </a:xfrm>
          <a:prstGeom prst="rect">
            <a:avLst/>
          </a:prstGeom>
        </p:spPr>
      </p:pic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4167A3-B85C-35CE-ECB1-2D8E403B4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302" y="2859607"/>
            <a:ext cx="5406287" cy="314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83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AFEB-642A-C766-DA39-3B0C51227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0FE9AE1-7C82-85E6-E3DE-70EB9B760DAE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A67A9E-78F8-5857-376C-C3EB9B8C9035}"/>
              </a:ext>
            </a:extLst>
          </p:cNvPr>
          <p:cNvSpPr/>
          <p:nvPr/>
        </p:nvSpPr>
        <p:spPr>
          <a:xfrm>
            <a:off x="714165" y="1250515"/>
            <a:ext cx="10699149" cy="4545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효과적인 테스트 작성 </a:t>
            </a:r>
            <a:endParaRPr lang="en-US" altLang="ko-KR" sz="2400" b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 </a:t>
            </a:r>
            <a:r>
              <a:rPr lang="ko-KR" altLang="en-US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은</a:t>
            </a:r>
            <a:r>
              <a:rPr lang="en-US" altLang="ko-KR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진짜 기능은 하지 않지만 테스트를 위해 동작을 흉내내는 객체</a:t>
            </a:r>
            <a:endParaRPr lang="en-US" altLang="ko-KR" dirty="0">
              <a:solidFill>
                <a:srgbClr val="FF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Mocking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활용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외부 시스템 의존성 제거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명확한 테스트 분리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Service, Controller, Repository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별로 테스트 작성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명명 규칙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테스트 이름에 의도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행동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결과 포함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/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>
              <a:latin typeface="CookieRun Regular" panose="020B0600000101010101" pitchFamily="34" charset="-127"/>
              <a:ea typeface="CookieRun Regular" panose="020B0600000101010101" pitchFamily="34" charset="-127"/>
            </a:endParaRPr>
          </a:p>
          <a:p>
            <a:pPr lvl="1"/>
            <a:endParaRPr lang="en-US" altLang="ko-KR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dirty="0">
              <a:ea typeface="KoPub돋움체_Pro Medium" panose="02020603020101020101" pitchFamily="18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altLang="ko-KR" sz="2400" b="1" dirty="0">
              <a:ea typeface="HY헤드라인M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0335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36F53-975D-BA56-938B-00076314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98E8F99-B3CB-C5EC-BF9F-162ABC306A2B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53F1E6-A3BC-7B7C-261B-4534C44B5BCE}"/>
              </a:ext>
            </a:extLst>
          </p:cNvPr>
          <p:cNvSpPr/>
          <p:nvPr/>
        </p:nvSpPr>
        <p:spPr>
          <a:xfrm>
            <a:off x="714165" y="1250515"/>
            <a:ext cx="10699149" cy="5181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Mockito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란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Java Application</a:t>
            </a:r>
            <a:r>
              <a:rPr lang="ko-KR" altLang="en-US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 단위 테스트를 작성하기 위해 사용되는 테스트 프레임워크</a:t>
            </a:r>
            <a:endParaRPr lang="en-US" altLang="ko-KR" dirty="0">
              <a:solidFill>
                <a:srgbClr val="FF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Mocking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객체를 쉽게 생성하고 관리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실제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DB,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파일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API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와 연결하지 않고 테스트 가능하다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주로 </a:t>
            </a:r>
            <a:r>
              <a:rPr lang="en-US" altLang="ko-KR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Service </a:t>
            </a:r>
            <a:r>
              <a:rPr lang="ko-KR" altLang="en-US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테스트시 </a:t>
            </a:r>
            <a:r>
              <a:rPr lang="en-US" altLang="ko-KR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DAO, Repository</a:t>
            </a:r>
            <a:r>
              <a:rPr lang="ko-KR" altLang="en-US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등을 </a:t>
            </a:r>
            <a:r>
              <a:rPr lang="en-US" altLang="ko-KR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</a:t>
            </a:r>
            <a:r>
              <a:rPr lang="ko-KR" altLang="en-US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처리한다</a:t>
            </a:r>
            <a:r>
              <a:rPr lang="en-US" altLang="ko-KR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모의 객체를 생성하여 모의 객체의 행위를 정의함으로써 의존 객체로부터 독립적으로 테스트수행</a:t>
            </a:r>
            <a:r>
              <a:rPr lang="en-US" altLang="ko-KR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i="0" dirty="0">
                <a:solidFill>
                  <a:srgbClr val="212529"/>
                </a:solidFill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 JUnit5, Mockito (boot-starter-test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모두 포함되어 있음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Mockito </a:t>
            </a:r>
            <a:r>
              <a:rPr lang="ko-KR" altLang="en-US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장점</a:t>
            </a:r>
            <a:endParaRPr lang="en-US" altLang="ko-KR" dirty="0">
              <a:latin typeface="CookieRun Regular" panose="020B0600000101010101" pitchFamily="34" charset="-127"/>
              <a:ea typeface="CookieRun Regular" panose="020B0600000101010101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의존성 분리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외부 종속성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데이터베이스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네트워크 등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을 분리하여 테스트 환경을 간단히 구성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 속도 향상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실제 객체 대신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객체를 사용해 빠르고 독립적인 테스트 가능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 복잡성 감소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간단한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API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 복잡한 테스트 시나리오를 처리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>
              <a:latin typeface="CookieRun Regular" panose="020B0600000101010101" pitchFamily="34" charset="-127"/>
              <a:ea typeface="CookieRun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9353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5148-C6BA-F599-F09D-3A30B79A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5F80C79-945F-EE95-F7EC-B722C81CE55E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C24847-C90E-236A-1CCD-47D704D6105A}"/>
              </a:ext>
            </a:extLst>
          </p:cNvPr>
          <p:cNvSpPr/>
          <p:nvPr/>
        </p:nvSpPr>
        <p:spPr>
          <a:xfrm>
            <a:off x="714165" y="1250515"/>
            <a:ext cx="10699149" cy="1469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모의 객체 사용이란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?</a:t>
            </a: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DB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데이터의 변경이 발생하더라도 독립적인 테스트가 가능</a:t>
            </a:r>
            <a:endParaRPr lang="en-US" altLang="ko-KR" sz="2400" b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b="1" dirty="0">
              <a:latin typeface="CookieRun Regular" panose="020B0600000101010101" pitchFamily="34" charset="-127"/>
              <a:ea typeface="CookieRun Regular" panose="020B0600000101010101" pitchFamily="34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816194-98C1-A961-193A-E5E36BA03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224" y="2649522"/>
            <a:ext cx="6479899" cy="3924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898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FA8C-032A-FA36-4555-3655D88CD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0A8F349-6586-4DC4-E94E-C6181BFF2815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D74AD6-DF7F-150C-CEE4-67EDA48D5726}"/>
              </a:ext>
            </a:extLst>
          </p:cNvPr>
          <p:cNvSpPr/>
          <p:nvPr/>
        </p:nvSpPr>
        <p:spPr>
          <a:xfrm>
            <a:off x="714165" y="1250515"/>
            <a:ext cx="11056077" cy="1152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주요 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Annotation</a:t>
            </a: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CookieRun Regular" panose="020B0600000101010101" pitchFamily="34" charset="-127"/>
              <a:ea typeface="CookieRun Regular" panose="020B0600000101010101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B930BEC-81DF-4EC5-CEEB-34E914D56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677415"/>
              </p:ext>
            </p:extLst>
          </p:nvPr>
        </p:nvGraphicFramePr>
        <p:xfrm>
          <a:off x="982493" y="1779981"/>
          <a:ext cx="955256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907">
                  <a:extLst>
                    <a:ext uri="{9D8B030D-6E8A-4147-A177-3AD203B41FA5}">
                      <a16:colId xmlns:a16="http://schemas.microsoft.com/office/drawing/2014/main" val="85965339"/>
                    </a:ext>
                  </a:extLst>
                </a:gridCol>
                <a:gridCol w="5048655">
                  <a:extLst>
                    <a:ext uri="{9D8B030D-6E8A-4147-A177-3AD203B41FA5}">
                      <a16:colId xmlns:a16="http://schemas.microsoft.com/office/drawing/2014/main" val="1294294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용어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역할</a:t>
                      </a:r>
                      <a:r>
                        <a:rPr lang="en-US" altLang="ko-KR" sz="160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endParaRPr lang="ko-KR" altLang="en-US" sz="160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060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@Mock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가짜 객체 생성 </a:t>
                      </a:r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(ex. DAO)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277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@InjectMocks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테스트 대상 객체 생성 </a:t>
                      </a:r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+ Mock </a:t>
                      </a:r>
                      <a:r>
                        <a:rPr lang="ko-KR" altLang="en-US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주입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751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@ExtendWith(MockitoExtension.class)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Mockito</a:t>
                      </a:r>
                      <a:r>
                        <a:rPr lang="ko-KR" altLang="en-US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와 </a:t>
                      </a:r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JUnit5 </a:t>
                      </a:r>
                      <a:r>
                        <a:rPr lang="ko-KR" altLang="en-US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연결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CookieRun Regular" panose="020B0600000101010101" pitchFamily="50" charset="-127"/>
                        <a:ea typeface="CookieRun Regular" panose="020B0600000101010101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58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when().</a:t>
                      </a:r>
                      <a:r>
                        <a:rPr lang="en-US" altLang="ko-KR" sz="1800" b="0" dirty="0" err="1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thenReturn</a:t>
                      </a:r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()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가짜 객체의 동작 정의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verify()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메서드 호출 여부 검증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82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57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F52F9-B3E6-482D-FA7D-CF8A7EB42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288C4-FA38-C38B-31C7-B73B1589B625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9DEFC8-461D-0697-1B47-060FDF8E7D59}"/>
              </a:ext>
            </a:extLst>
          </p:cNvPr>
          <p:cNvSpPr/>
          <p:nvPr/>
        </p:nvSpPr>
        <p:spPr>
          <a:xfrm>
            <a:off x="714165" y="1250515"/>
            <a:ext cx="10699149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단위테스트 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(</a:t>
            </a:r>
            <a:r>
              <a:rPr lang="en-US" altLang="ko-KR" sz="2400" b="1" dirty="0" err="1">
                <a:latin typeface="CookieRun Regular" panose="020B0600000101010101" pitchFamily="34" charset="-127"/>
                <a:ea typeface="CookieRun Regular" panose="020B0600000101010101" pitchFamily="34" charset="-127"/>
              </a:rPr>
              <a:t>Mokito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사용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)</a:t>
            </a:r>
          </a:p>
        </p:txBody>
      </p:sp>
      <p:pic>
        <p:nvPicPr>
          <p:cNvPr id="4" name="그림 3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7579B3-D003-986D-00D9-C45AD265F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47" y="2034242"/>
            <a:ext cx="5925377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08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9D53-4C4A-34BA-E458-AFE03305C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0A25CE5-DB08-F23D-5253-3987E1E87CA0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E8DC5A-8F42-4DA3-168E-D7B4B8DA3D34}"/>
              </a:ext>
            </a:extLst>
          </p:cNvPr>
          <p:cNvSpPr/>
          <p:nvPr/>
        </p:nvSpPr>
        <p:spPr>
          <a:xfrm>
            <a:off x="714165" y="1250515"/>
            <a:ext cx="10699149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단위테스트 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(</a:t>
            </a:r>
            <a:r>
              <a:rPr lang="en-US" altLang="ko-KR" sz="2400" b="1" dirty="0" err="1">
                <a:latin typeface="CookieRun Regular" panose="020B0600000101010101" pitchFamily="34" charset="-127"/>
                <a:ea typeface="CookieRun Regular" panose="020B0600000101010101" pitchFamily="34" charset="-127"/>
              </a:rPr>
              <a:t>Mokito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사용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84E6DD-F857-D6A8-53E3-941F0DA2D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88" y="2071353"/>
            <a:ext cx="5572903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67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25FC-9FB3-AE43-C753-D7F527C04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03AA1DD-8C5C-C273-FC24-AD6195A1DE2C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E551F3-890B-1685-2AF6-B54F9774CA86}"/>
              </a:ext>
            </a:extLst>
          </p:cNvPr>
          <p:cNvSpPr/>
          <p:nvPr/>
        </p:nvSpPr>
        <p:spPr>
          <a:xfrm>
            <a:off x="714165" y="1250515"/>
            <a:ext cx="10699149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단위테스트 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(</a:t>
            </a:r>
            <a:r>
              <a:rPr lang="en-US" altLang="ko-KR" sz="2400" b="1" dirty="0" err="1">
                <a:latin typeface="CookieRun Regular" panose="020B0600000101010101" pitchFamily="34" charset="-127"/>
                <a:ea typeface="CookieRun Regular" panose="020B0600000101010101" pitchFamily="34" charset="-127"/>
              </a:rPr>
              <a:t>Mokito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사용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F8261D-CEEC-93B2-2E67-828927E3C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11" y="1978466"/>
            <a:ext cx="4858938" cy="36290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1F2CA3-FEA7-D5AD-E8C3-8884EBB78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290" y="2387842"/>
            <a:ext cx="4292069" cy="263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3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AEF58-D53B-B443-E50C-D2ABF417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B152375-4A64-398E-2F3F-B5B3D0E1336D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FB594D-53A8-0CD4-5ED6-090891BD66F3}"/>
              </a:ext>
            </a:extLst>
          </p:cNvPr>
          <p:cNvSpPr/>
          <p:nvPr/>
        </p:nvSpPr>
        <p:spPr>
          <a:xfrm>
            <a:off x="714165" y="1250515"/>
            <a:ext cx="10699149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단위테스트 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(</a:t>
            </a:r>
            <a:r>
              <a:rPr lang="en-US" altLang="ko-KR" sz="2400" b="1" dirty="0" err="1">
                <a:latin typeface="CookieRun Regular" panose="020B0600000101010101" pitchFamily="34" charset="-127"/>
                <a:ea typeface="CookieRun Regular" panose="020B0600000101010101" pitchFamily="34" charset="-127"/>
              </a:rPr>
              <a:t>Mokito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사용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)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D29F19-BA45-D9C0-54F6-4D1FC734C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46" y="1979951"/>
            <a:ext cx="6782747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28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146DE-E170-F275-5031-3E9768EB0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C575533-0D6F-16A4-579A-C3345AD9E693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4B2C1B-62F4-4093-F870-C49BE5E6EF91}"/>
              </a:ext>
            </a:extLst>
          </p:cNvPr>
          <p:cNvSpPr/>
          <p:nvPr/>
        </p:nvSpPr>
        <p:spPr>
          <a:xfrm>
            <a:off x="714165" y="1250515"/>
            <a:ext cx="10699149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단위테스트 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(</a:t>
            </a:r>
            <a:r>
              <a:rPr lang="en-US" altLang="ko-KR" sz="2400" b="1" dirty="0" err="1">
                <a:latin typeface="CookieRun Regular" panose="020B0600000101010101" pitchFamily="34" charset="-127"/>
                <a:ea typeface="CookieRun Regular" panose="020B0600000101010101" pitchFamily="34" charset="-127"/>
              </a:rPr>
              <a:t>Mokito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사용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)</a:t>
            </a:r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8B1AC7-CBF2-A95A-777B-12F3BF02C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88" y="2045368"/>
            <a:ext cx="6658904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02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AA66-E90A-D3DD-104A-85DCFC91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EEB6B8E-FFEF-0E24-2724-E4A053EFF0F9}"/>
              </a:ext>
            </a:extLst>
          </p:cNvPr>
          <p:cNvSpPr/>
          <p:nvPr/>
        </p:nvSpPr>
        <p:spPr>
          <a:xfrm>
            <a:off x="4763554" y="105748"/>
            <a:ext cx="27494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단위테스트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EB5F0E-8C1D-95D3-2576-6A7567AAC12B}"/>
              </a:ext>
            </a:extLst>
          </p:cNvPr>
          <p:cNvSpPr/>
          <p:nvPr/>
        </p:nvSpPr>
        <p:spPr>
          <a:xfrm>
            <a:off x="714165" y="1250515"/>
            <a:ext cx="10699149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단위테스트 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(</a:t>
            </a:r>
            <a:r>
              <a:rPr lang="en-US" altLang="ko-KR" sz="2400" b="1" dirty="0" err="1">
                <a:latin typeface="CookieRun Regular" panose="020B0600000101010101" pitchFamily="34" charset="-127"/>
                <a:ea typeface="CookieRun Regular" panose="020B0600000101010101" pitchFamily="34" charset="-127"/>
              </a:rPr>
              <a:t>Mokito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사용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)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8D1A24-DE97-F640-6EC1-618EAFBD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65" y="2055267"/>
            <a:ext cx="6296235" cy="453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68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34B9-EFEF-7DFD-B482-F4678B11F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5EA5C94B-E351-2CD2-7D22-B6B9BFC02919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AFE42A5D-165C-9B2C-42A6-106337C91798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F9771B42-2EC4-BC83-8503-8CFB878D3A0D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7627CA6-A321-CE43-4745-110266000F6C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B6674EB-963E-ECC9-4C1B-13D7FF8A29F0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9414169-28AA-C812-6ED5-309543BF33FE}"/>
                  </a:ext>
                </a:extLst>
              </p:cNvPr>
              <p:cNvSpPr/>
              <p:nvPr/>
            </p:nvSpPr>
            <p:spPr>
              <a:xfrm>
                <a:off x="6030979" y="1689776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통합 테스트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622E03D3-32B9-39CD-FAAE-7C070BF5069F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8074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D0D9-2779-26ED-06E4-BDF4AB753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92A96C6-5525-A6A2-B7CE-25FED863D1D3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9704FD-A427-0F34-2750-70D3DEE2A83E}"/>
              </a:ext>
            </a:extLst>
          </p:cNvPr>
          <p:cNvSpPr/>
          <p:nvPr/>
        </p:nvSpPr>
        <p:spPr>
          <a:xfrm>
            <a:off x="714165" y="1250515"/>
            <a:ext cx="10699149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ea typeface="CookieRun Regular" panose="020B0600000101010101" pitchFamily="34" charset="-127"/>
              </a:rPr>
              <a:t>통합</a:t>
            </a:r>
            <a:r>
              <a:rPr lang="en-US" altLang="ko-KR" sz="2400" b="1" dirty="0">
                <a:ea typeface="CookieRun Regular" panose="020B0600000101010101" pitchFamily="34" charset="-127"/>
              </a:rPr>
              <a:t>Test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개별 모듈이 합쳐져서 하나의 시스템으로 통합될 때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이들이 함께 올바르게 작동하는지를 확인하는 테스트이다</a:t>
            </a:r>
            <a:endParaRPr lang="en-US" altLang="ko-KR" sz="20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모듈 간의 인터페이스와 상호작용이 올바른 지 검증할 수 있다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전체 시스템의 안정성을 확보할 수 있다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SpringBootTest</a:t>
            </a:r>
            <a:r>
              <a:rPr lang="en-US" altLang="ko-KR" sz="20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0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어노테이션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통합 테스트 클래스에 사용하여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Spring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컨텍스트를 </a:t>
            </a:r>
            <a:r>
              <a:rPr lang="ko-KR" altLang="en-US" sz="20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로드한다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MockMvc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Spring MVC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컨트롤러를 테스트하기 위한 도구로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HTTP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요청을 모의하여 테스트한다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JUnit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통합 테스트는 “웹 서버가 없다”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실제 실행 환경은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/WEB-INF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접근가능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&lt;value&gt;</a:t>
            </a:r>
            <a:r>
              <a:rPr lang="en-US" altLang="ko-KR" sz="20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classpath:oracleDB.properties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&lt;/value&gt;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WebSocket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은 웹 서버가 있어야만 초기화 가능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(Spring Scan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 </a:t>
            </a:r>
            <a:r>
              <a:rPr lang="ko-KR" altLang="en-US" sz="20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제외할것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5178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2903A-BD32-91EE-495C-420B0555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D19D291-D2E2-98D5-3472-C122C58CFB2D}"/>
              </a:ext>
            </a:extLst>
          </p:cNvPr>
          <p:cNvSpPr/>
          <p:nvPr/>
        </p:nvSpPr>
        <p:spPr>
          <a:xfrm>
            <a:off x="4677794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913D49-AEA9-6C33-87D8-1CF16A3204EE}"/>
              </a:ext>
            </a:extLst>
          </p:cNvPr>
          <p:cNvSpPr/>
          <p:nvPr/>
        </p:nvSpPr>
        <p:spPr>
          <a:xfrm>
            <a:off x="714165" y="1250515"/>
            <a:ext cx="10699149" cy="1128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주요 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Annotation</a:t>
            </a:r>
          </a:p>
          <a:p>
            <a:pPr>
              <a:lnSpc>
                <a:spcPct val="150000"/>
              </a:lnSpc>
            </a:pPr>
            <a:endParaRPr lang="en-US" altLang="ko-KR" sz="2400" b="0" i="0" dirty="0">
              <a:effectLst/>
              <a:ea typeface="D2Coding" panose="020B0609020101020101" pitchFamily="49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D2825F5-C1B7-73A0-CC45-032029FA6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80368"/>
              </p:ext>
            </p:extLst>
          </p:nvPr>
        </p:nvGraphicFramePr>
        <p:xfrm>
          <a:off x="884135" y="2139904"/>
          <a:ext cx="10593699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1720">
                  <a:extLst>
                    <a:ext uri="{9D8B030D-6E8A-4147-A177-3AD203B41FA5}">
                      <a16:colId xmlns:a16="http://schemas.microsoft.com/office/drawing/2014/main" val="1172507533"/>
                    </a:ext>
                  </a:extLst>
                </a:gridCol>
                <a:gridCol w="5971979">
                  <a:extLst>
                    <a:ext uri="{9D8B030D-6E8A-4147-A177-3AD203B41FA5}">
                      <a16:colId xmlns:a16="http://schemas.microsoft.com/office/drawing/2014/main" val="1895599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Annotation </a:t>
                      </a:r>
                      <a:r>
                        <a:rPr lang="ko-KR" altLang="en-US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@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Mock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mock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객체를 생성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3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@MockBean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스프링 </a:t>
                      </a:r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ApplicationContext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에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mock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빈을 주입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349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@InjectMocks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mock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객체를 주입 받을 대상에 사용하며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, </a:t>
                      </a:r>
                    </a:p>
                    <a:p>
                      <a:pPr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주입 받을 필드에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mock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객체가 자동으로 주입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179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@ExtendWith(MockitoExtension.class)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JUnit5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와 </a:t>
                      </a:r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mockito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를 통합하기 위해 사용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53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@ (Class&lt;?&gt;[])</a:t>
                      </a:r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컨트롤러 레이어를 테스트할 때 사용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해당 컨트롤러와 관련된 빈들을 로드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ko-KR" altLang="en-US" sz="1800" b="0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643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586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507BE-C6B8-A7A7-A2FF-CCC58B15B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7B6BF9C-2EC3-F853-3F0F-B8C479B28C2B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BA566C-20CC-2F92-76EC-67AA6F464A52}"/>
              </a:ext>
            </a:extLst>
          </p:cNvPr>
          <p:cNvSpPr/>
          <p:nvPr/>
        </p:nvSpPr>
        <p:spPr>
          <a:xfrm>
            <a:off x="714165" y="1250515"/>
            <a:ext cx="10699149" cy="574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/>
              <a:t> 통합테스트 </a:t>
            </a:r>
            <a:r>
              <a:rPr lang="en-US" altLang="ko-KR" sz="2400" b="1" dirty="0"/>
              <a:t>LAB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C374D1-BADE-50FC-4CA8-F70465500A1F}"/>
              </a:ext>
            </a:extLst>
          </p:cNvPr>
          <p:cNvSpPr txBox="1"/>
          <p:nvPr/>
        </p:nvSpPr>
        <p:spPr>
          <a:xfrm>
            <a:off x="788714" y="1825481"/>
            <a:ext cx="10699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Tomcat + </a:t>
            </a:r>
            <a:r>
              <a:rPr lang="ko-KR" altLang="en-US" sz="1600" dirty="0"/>
              <a:t>실제 웹 실행에서는 </a:t>
            </a:r>
            <a:r>
              <a:rPr lang="en-US" altLang="ko-KR" sz="1600" dirty="0"/>
              <a:t>/WEB-INF</a:t>
            </a:r>
            <a:r>
              <a:rPr lang="ko-KR" altLang="en-US" sz="1600" dirty="0"/>
              <a:t>접근가능</a:t>
            </a:r>
            <a:r>
              <a:rPr lang="en-US" altLang="ko-KR" sz="1600" dirty="0"/>
              <a:t>, JUNIT </a:t>
            </a:r>
            <a:r>
              <a:rPr lang="ko-KR" altLang="en-US" sz="1600" dirty="0"/>
              <a:t>통합테스트에서 접근불가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해결 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src</a:t>
            </a:r>
            <a:r>
              <a:rPr lang="en-US" altLang="ko-KR" sz="1600" dirty="0"/>
              <a:t>/main/resources/</a:t>
            </a:r>
            <a:r>
              <a:rPr lang="ko-KR" altLang="en-US" sz="1600" dirty="0"/>
              <a:t>로 이동</a:t>
            </a:r>
            <a:r>
              <a:rPr lang="en-US" altLang="ko-KR" sz="1600" dirty="0"/>
              <a:t>,  &lt;value&gt;</a:t>
            </a:r>
            <a:r>
              <a:rPr lang="en-US" altLang="ko-KR" sz="1600" dirty="0" err="1"/>
              <a:t>classpath:oracleDB.properties</a:t>
            </a:r>
            <a:r>
              <a:rPr lang="en-US" altLang="ko-KR" sz="1600" dirty="0"/>
              <a:t>&lt;/value&gt;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085F53-B00E-CB64-D59C-BB1662031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3" y="2469543"/>
            <a:ext cx="7891990" cy="428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62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7FAC-ED36-B33C-7457-2464675F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3E1EBE6-CA1E-74FF-E88F-B5528F065556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F642A8-9D10-461E-7B49-DD1C2C22BE56}"/>
              </a:ext>
            </a:extLst>
          </p:cNvPr>
          <p:cNvSpPr/>
          <p:nvPr/>
        </p:nvSpPr>
        <p:spPr>
          <a:xfrm>
            <a:off x="714165" y="1250515"/>
            <a:ext cx="10699149" cy="574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/>
              <a:t> 통합테스트 </a:t>
            </a:r>
            <a:r>
              <a:rPr lang="en-US" altLang="ko-KR" sz="2400" b="1" dirty="0"/>
              <a:t>LAB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93559B-F492-4DA0-1D89-A6D184409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67" y="1963828"/>
            <a:ext cx="5771881" cy="436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05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C3981-CA0C-E1B4-8AE9-54668A6E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55C70-EE88-BFAE-9A76-22AA7596A8D4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080E3B-E020-7AB2-A5E5-D3711A927D6E}"/>
              </a:ext>
            </a:extLst>
          </p:cNvPr>
          <p:cNvSpPr/>
          <p:nvPr/>
        </p:nvSpPr>
        <p:spPr>
          <a:xfrm>
            <a:off x="714165" y="1250515"/>
            <a:ext cx="10699149" cy="574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/>
              <a:t> 통합테스트 </a:t>
            </a:r>
            <a:r>
              <a:rPr lang="en-US" altLang="ko-KR" sz="2400" b="1" dirty="0"/>
              <a:t>LAB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43986A-313D-79A1-4D37-6619C6DF3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53" y="1989510"/>
            <a:ext cx="5912110" cy="40044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929DA9-0093-A93F-2B9C-71D7C11EA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561" y="1989510"/>
            <a:ext cx="4385086" cy="171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95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C4E-933B-70C6-7E54-C165BF0B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BFE437E-67DB-F916-8B39-71157DDA4A2F}"/>
              </a:ext>
            </a:extLst>
          </p:cNvPr>
          <p:cNvSpPr/>
          <p:nvPr/>
        </p:nvSpPr>
        <p:spPr>
          <a:xfrm>
            <a:off x="4677811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7BAEEE-8828-92CE-C667-79E84356B416}"/>
              </a:ext>
            </a:extLst>
          </p:cNvPr>
          <p:cNvSpPr/>
          <p:nvPr/>
        </p:nvSpPr>
        <p:spPr>
          <a:xfrm>
            <a:off x="488356" y="1170422"/>
            <a:ext cx="11490284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MockMvc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객체를 사용하여 컨트롤러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Test</a:t>
            </a:r>
            <a:endParaRPr lang="en-US" altLang="ko-KR" sz="2800" i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0B059E-03C2-7189-0D6E-EAB64C352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05" y="1874594"/>
            <a:ext cx="8459381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57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7BA4B-4871-D40F-B8B4-FEB9D35F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F04B3A2-F0F7-4114-C43C-686BCB3950D1}"/>
              </a:ext>
            </a:extLst>
          </p:cNvPr>
          <p:cNvSpPr/>
          <p:nvPr/>
        </p:nvSpPr>
        <p:spPr>
          <a:xfrm>
            <a:off x="4677811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6B003F-298A-E461-756B-76245C1556F0}"/>
              </a:ext>
            </a:extLst>
          </p:cNvPr>
          <p:cNvSpPr/>
          <p:nvPr/>
        </p:nvSpPr>
        <p:spPr>
          <a:xfrm>
            <a:off x="488356" y="1170422"/>
            <a:ext cx="11490284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MockMvc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객체를 사용하여 컨트롤러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Test</a:t>
            </a:r>
            <a:endParaRPr lang="en-US" altLang="ko-KR" sz="2800" i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75BA2D-3F9C-174D-CE44-DF1DF3B6B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71" y="2034178"/>
            <a:ext cx="6830378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313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28EC1-5DCF-B9F5-14B0-2344A25E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672177E-3335-1883-940B-8BA96C2856EC}"/>
              </a:ext>
            </a:extLst>
          </p:cNvPr>
          <p:cNvSpPr/>
          <p:nvPr/>
        </p:nvSpPr>
        <p:spPr>
          <a:xfrm>
            <a:off x="4677811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18DE33-5A53-AB39-4AFD-8DA4FA792ECD}"/>
              </a:ext>
            </a:extLst>
          </p:cNvPr>
          <p:cNvSpPr/>
          <p:nvPr/>
        </p:nvSpPr>
        <p:spPr>
          <a:xfrm>
            <a:off x="488356" y="1170422"/>
            <a:ext cx="11490284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MockMvc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객체를 사용하여 컨트롤러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Test</a:t>
            </a:r>
            <a:endParaRPr lang="en-US" altLang="ko-KR" sz="2800" i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55F32D-815F-6F60-380B-130FC3E0E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76" y="1931576"/>
            <a:ext cx="6982799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38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FC7A-E139-497C-2539-00D16DC8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2F051AD-A7B8-32CC-09F0-4A71DDCFCF1F}"/>
              </a:ext>
            </a:extLst>
          </p:cNvPr>
          <p:cNvSpPr/>
          <p:nvPr/>
        </p:nvSpPr>
        <p:spPr>
          <a:xfrm>
            <a:off x="4677811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8E808F-777E-A1C4-29F9-77136586A8DA}"/>
              </a:ext>
            </a:extLst>
          </p:cNvPr>
          <p:cNvSpPr/>
          <p:nvPr/>
        </p:nvSpPr>
        <p:spPr>
          <a:xfrm>
            <a:off x="488356" y="1170422"/>
            <a:ext cx="11490284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MockMvc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객체를 사용하여 컨트롤러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Test (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상세보기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  <a:endParaRPr lang="en-US" altLang="ko-KR" sz="2800" i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1A9025-EDB9-FAAF-BAF0-C68465516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62" y="2004288"/>
            <a:ext cx="7144747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52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FDF54-086F-4756-65FB-F99B2A9ED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F7A02D6-6ECF-898B-85E4-F86F4B96AD46}"/>
              </a:ext>
            </a:extLst>
          </p:cNvPr>
          <p:cNvSpPr/>
          <p:nvPr/>
        </p:nvSpPr>
        <p:spPr>
          <a:xfrm>
            <a:off x="4677811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통합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5DEFF4-F750-790A-DCFD-88C73051383F}"/>
              </a:ext>
            </a:extLst>
          </p:cNvPr>
          <p:cNvSpPr/>
          <p:nvPr/>
        </p:nvSpPr>
        <p:spPr>
          <a:xfrm>
            <a:off x="488356" y="1170422"/>
            <a:ext cx="11490284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MockMvc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객체를 사용하여 컨트롤러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Test</a:t>
            </a:r>
            <a:endParaRPr lang="en-US" altLang="ko-KR" sz="2800" i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42D3E4-D41A-45D1-2671-EADF64F58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8" y="2039074"/>
            <a:ext cx="7163800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51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B34A-7F30-3911-13DC-762D7F1F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5DA4473E-4B34-D684-F3E6-3101D1D9CD0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F899EE69-C12C-228A-E736-86B98DF75E22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FEB1B20E-EF3C-46F3-2ADB-18A6A511B630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1ADBE92-C5E4-F358-EDBA-FEF23CF27D59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2797F53-51F3-4BB8-D4DA-49C88D4E853E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B3B907F9-66B6-A4D9-D813-538610A51C17}"/>
                  </a:ext>
                </a:extLst>
              </p:cNvPr>
              <p:cNvSpPr/>
              <p:nvPr/>
            </p:nvSpPr>
            <p:spPr>
              <a:xfrm>
                <a:off x="6030979" y="1689776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성능 테스트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7F425A41-8A3A-F0C6-B2FD-F73D1FB2ED5A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8102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8FA20-108A-3AD1-1809-2ED568C62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15F4D0B-F1D1-10D6-96F1-A4C49C8FFE25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B3B3DF-F689-8023-CC5D-EDDDD9BC3CF9}"/>
              </a:ext>
            </a:extLst>
          </p:cNvPr>
          <p:cNvSpPr/>
          <p:nvPr/>
        </p:nvSpPr>
        <p:spPr>
          <a:xfrm>
            <a:off x="714165" y="1250515"/>
            <a:ext cx="10699149" cy="522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/>
              </a:rPr>
              <a:t>Spring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/>
              </a:rPr>
              <a:t> 성능 테스트란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/>
              </a:rPr>
              <a:t>?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/>
              </a:rPr>
              <a:t> </a:t>
            </a:r>
            <a:endParaRPr lang="en-US" altLang="ko-KR" sz="2400" b="1" dirty="0">
              <a:latin typeface="CookieRun Regular" panose="020B0600000101010101" pitchFamily="34" charset="-127"/>
              <a:ea typeface="CookieRun Regular" panose="020B0600000101010101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애플리케이션이 실제 사용 환경에서 어떻게 동작하는지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얼마나 효율적으로 실행되는지를 확인하기 위한 테스트 방법이다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(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단순히 속도의 문제가 아니라 안정적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효율적 동작 검증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동시에 요청이 몰려도 버티는가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응답 속도가 급격히 느려지지 않는가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어디에서 병목이 발생하는가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응답시간 측정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(Response Time)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처리량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(Throughput)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에러율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(Error Rate)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자원 사용률</a:t>
            </a:r>
            <a:endParaRPr lang="en-US" altLang="ko-KR" sz="20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확장성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(Scalability)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검증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사용자 수 증가 시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2176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4746-9123-3F7B-CAE0-1D82AECE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DB5FFA1-AF5B-0964-B874-8787932449C3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2AA3ED-6398-5A19-0672-5C1590DD4513}"/>
              </a:ext>
            </a:extLst>
          </p:cNvPr>
          <p:cNvSpPr/>
          <p:nvPr/>
        </p:nvSpPr>
        <p:spPr>
          <a:xfrm>
            <a:off x="714165" y="1250515"/>
            <a:ext cx="10699149" cy="111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/>
              <a:t>Junit </a:t>
            </a:r>
            <a:r>
              <a:rPr lang="ko-KR" altLang="en-US" sz="2400" b="1" dirty="0"/>
              <a:t>및 </a:t>
            </a:r>
            <a:r>
              <a:rPr lang="en-US" altLang="ko-KR" sz="2400" b="1" dirty="0" err="1"/>
              <a:t>StopWatch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활용</a:t>
            </a:r>
            <a:r>
              <a:rPr lang="en-US" altLang="ko-KR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34" charset="-127"/>
                <a:ea typeface="CookieRun Regular" panose="020B0600000101010101" pitchFamily="34" charset="-127"/>
              </a:rPr>
              <a:t> </a:t>
            </a:r>
            <a:endParaRPr lang="en-US" altLang="ko-KR" sz="2400" b="1" dirty="0">
              <a:latin typeface="CookieRun Regular" panose="020B0600000101010101" pitchFamily="34" charset="-127"/>
              <a:ea typeface="CookieRun Regular" panose="020B0600000101010101" pitchFamily="34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4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6ECE78-4D74-04CF-3298-BFF380CE5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22" y="2098535"/>
            <a:ext cx="5075324" cy="403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9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081FD-45FE-0BC5-F354-2F542A52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AC77B1C-49A1-5E2B-0F59-808627CB8C75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DC8E1F-60B3-C915-8A66-5097AD306F7E}"/>
              </a:ext>
            </a:extLst>
          </p:cNvPr>
          <p:cNvSpPr/>
          <p:nvPr/>
        </p:nvSpPr>
        <p:spPr>
          <a:xfrm>
            <a:off x="714165" y="1250515"/>
            <a:ext cx="10699149" cy="3354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  </a:t>
            </a: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실제 사용자가 동시에 접속한 것처럼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HTTP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요청을 대량으로 발생시켜 서버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sz="20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백엔드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의 성능을 측정하는 부하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성능 테스트 도구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브라우저가 아님</a:t>
            </a:r>
            <a:endParaRPr lang="en-US" altLang="ko-KR" sz="20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네트워크 레벨에서 요청만 전송</a:t>
            </a:r>
            <a:endParaRPr lang="en-US" altLang="ko-KR" sz="20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UI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렌더링 안 함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(JSP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는 서버 성능 테스트가 아니라 브라우저 렌더링 대상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JSON API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를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이용하여 테스트 </a:t>
            </a:r>
            <a:endParaRPr lang="en-US" altLang="ko-KR" sz="2400" b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3" name="그림 2" descr="텍스트, 폰트, 화이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51FF17-1908-DF97-92E2-3E46C4DA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105" y="4776720"/>
            <a:ext cx="2962688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720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8B6A-B792-7D70-E29F-FA8F3036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18057BD-6988-F5B4-2918-8B42E9196A3A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76BB7C-444A-FF52-C905-419C09A34639}"/>
              </a:ext>
            </a:extLst>
          </p:cNvPr>
          <p:cNvSpPr/>
          <p:nvPr/>
        </p:nvSpPr>
        <p:spPr>
          <a:xfrm>
            <a:off x="714165" y="1250515"/>
            <a:ext cx="10699149" cy="1706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설치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  <a:hlinkClick r:id="rId3"/>
              </a:rPr>
              <a:t>https://jmeter.apache.org/download_jmeter.cgi</a:t>
            </a:r>
            <a:endParaRPr lang="en-US" altLang="ko-KR" sz="24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실행파일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(jmeter.bat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또는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jmeter.sh)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 </a:t>
            </a: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GUI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실행 </a:t>
            </a:r>
            <a:endParaRPr lang="en-US" altLang="ko-KR" sz="24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AEE8BE-16EB-9655-AFDB-E8840EBEB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650" y="3429000"/>
            <a:ext cx="4934639" cy="17433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4B75D41-A550-4E15-C321-A8E0EB6D7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629" y="3109260"/>
            <a:ext cx="4742883" cy="32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82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E6CC1-CE55-116B-693E-393F2CF7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3C52FBB-B67E-AA4C-C3CA-F8952C67FBC9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352F07-F5E4-4E4B-8BBA-0391CBAB9F82}"/>
              </a:ext>
            </a:extLst>
          </p:cNvPr>
          <p:cNvSpPr/>
          <p:nvPr/>
        </p:nvSpPr>
        <p:spPr>
          <a:xfrm>
            <a:off x="746425" y="1217858"/>
            <a:ext cx="10699149" cy="3922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용어 </a:t>
            </a:r>
            <a:endParaRPr lang="en-US" altLang="ko-KR" sz="2400" b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Thread Group :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테스트에 사용될 쓰레드 개수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쓰레드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1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개당 사용자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1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명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Sampler :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사용자의 액션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예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로그인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게시물 작성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게시물 조회 등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Listener :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응답을 받아 리포팅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검증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그래프 등 다양한 처리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Configuration : Sampler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또는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Listener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가 사용할 설정 값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쿠키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JDBC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커넥션 등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Assertion :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응답 확인 방법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응답 코드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본문 내용 비교 등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64297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CAA8-B658-10C7-B450-3AC1B43A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21EA4D0-79D0-5CB0-C521-EE9F90B7A7AC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AF87A8-7C64-3D56-66AE-06F26316CD59}"/>
              </a:ext>
            </a:extLst>
          </p:cNvPr>
          <p:cNvSpPr/>
          <p:nvPr/>
        </p:nvSpPr>
        <p:spPr>
          <a:xfrm>
            <a:off x="714165" y="1250515"/>
            <a:ext cx="10699149" cy="2184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사용자 만들기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File -&gt; New -&gt; Test Plan Name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설정</a:t>
            </a: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위의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오른쪽 클릭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-&gt; Add -&gt; Threads (Users) -&gt; Thread Group</a:t>
            </a:r>
          </a:p>
          <a:p>
            <a:pPr lvl="1">
              <a:lnSpc>
                <a:spcPct val="150000"/>
              </a:lnSpc>
            </a:pPr>
            <a:endParaRPr lang="en-US" altLang="ko-KR" sz="1600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10</a:t>
            </a:r>
            <a:r>
              <a:rPr lang="ko-KR" altLang="en-US" sz="1600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명의 유저가 </a:t>
            </a:r>
            <a:r>
              <a:rPr lang="en-US" altLang="ko-KR" sz="1600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1</a:t>
            </a:r>
            <a:r>
              <a:rPr lang="ko-KR" altLang="en-US" sz="1600" b="0" i="0" dirty="0" err="1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초만에</a:t>
            </a:r>
            <a:r>
              <a:rPr lang="ko-KR" altLang="en-US" sz="1600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1600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2</a:t>
            </a:r>
            <a:r>
              <a:rPr lang="ko-KR" altLang="en-US" sz="1600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번 반복해서 에러가 발생해도 계속 요청을 보낸다고 설정</a:t>
            </a:r>
            <a:endParaRPr lang="en-US" altLang="ko-KR" sz="16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C0CF51-B309-E148-BDA4-4727A304F230}"/>
              </a:ext>
            </a:extLst>
          </p:cNvPr>
          <p:cNvSpPr txBox="1"/>
          <p:nvPr/>
        </p:nvSpPr>
        <p:spPr>
          <a:xfrm>
            <a:off x="5332411" y="3801029"/>
            <a:ext cx="618902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latinLnBrk="1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Number of Threads :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쓰레드 개수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접속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할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사용자 수</a:t>
            </a: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Ramp-up period :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한번의 실행을 몇 초 동안 완료 시킬 것인지에 대한 설정 값</a:t>
            </a: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Loop Count :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한 사용자가 몇 번 반복하는지 설정하는 값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(Infinite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는 무한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  <a:endParaRPr lang="ko-KR" altLang="en-US" sz="20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A546F2-92DB-0E30-EA57-6418A2A38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84" y="3493853"/>
            <a:ext cx="4091353" cy="279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62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6BE72-13B8-16A3-2C83-C50508DC1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3AFC83B-AF6A-C2EE-E4C4-BB1AAC474F47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4C92FA-C788-085D-4F79-E1B47AB85996}"/>
              </a:ext>
            </a:extLst>
          </p:cNvPr>
          <p:cNvSpPr/>
          <p:nvPr/>
        </p:nvSpPr>
        <p:spPr>
          <a:xfrm>
            <a:off x="714165" y="1250515"/>
            <a:ext cx="10699149" cy="1849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 Sampler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사용자의 행동 만들기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Thread Group </a:t>
            </a:r>
            <a:r>
              <a:rPr lang="ko-KR" altLang="en-US" b="0" i="0" dirty="0" err="1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우클릭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-&gt; Add -&gt; Sampler -&gt; HTTP Request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클릭</a:t>
            </a: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b="0" i="0" dirty="0">
              <a:solidFill>
                <a:srgbClr val="333333"/>
              </a:solidFill>
              <a:effectLst/>
              <a:latin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b="0" i="0" dirty="0">
              <a:solidFill>
                <a:srgbClr val="555555"/>
              </a:solidFill>
              <a:effectLst/>
              <a:latin typeface="CookieRun Regular" panose="020B0600000101010101" pitchFamily="50" charset="-127"/>
            </a:endParaRP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74D0DC-DB26-903C-FB2A-D73E2BAC5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93" y="2536323"/>
            <a:ext cx="9507277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04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86CE6-0D68-FDED-049C-B6D7C9783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C9E958E-ECB6-B3E7-E26D-67D845042CC6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A4BC1F-0526-3890-BF73-237ED3DEFBE4}"/>
              </a:ext>
            </a:extLst>
          </p:cNvPr>
          <p:cNvSpPr/>
          <p:nvPr/>
        </p:nvSpPr>
        <p:spPr>
          <a:xfrm>
            <a:off x="714165" y="1250515"/>
            <a:ext cx="10699149" cy="1849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 Sampler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사용자의 행동 만들기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Thread Group </a:t>
            </a:r>
            <a:r>
              <a:rPr lang="ko-KR" altLang="en-US" b="0" i="0" dirty="0" err="1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우클릭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-&gt; Add -&gt; Sampler -&gt; HTTP Request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클릭</a:t>
            </a: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b="0" i="0" dirty="0">
              <a:solidFill>
                <a:srgbClr val="333333"/>
              </a:solidFill>
              <a:effectLst/>
              <a:latin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b="0" i="0" dirty="0">
              <a:solidFill>
                <a:srgbClr val="555555"/>
              </a:solidFill>
              <a:effectLst/>
              <a:latin typeface="CookieRun Regular" panose="020B0600000101010101" pitchFamily="50" charset="-127"/>
            </a:endParaRPr>
          </a:p>
        </p:txBody>
      </p:sp>
      <p:pic>
        <p:nvPicPr>
          <p:cNvPr id="3" name="그림 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442C43-AA1F-1BDB-FC85-8BDD3D3CD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82" y="2450151"/>
            <a:ext cx="9469171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111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F0545-8D4D-D108-05E3-92E5889A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8684200-3E77-1AC4-7823-AFC530D28F1A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1B24AA-FFD5-68FA-7B5E-B9E6401D4638}"/>
              </a:ext>
            </a:extLst>
          </p:cNvPr>
          <p:cNvSpPr/>
          <p:nvPr/>
        </p:nvSpPr>
        <p:spPr>
          <a:xfrm>
            <a:off x="714165" y="1250515"/>
            <a:ext cx="10699149" cy="1849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 Sampler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사용자의 행동 만들기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Thread Group </a:t>
            </a:r>
            <a:r>
              <a:rPr lang="ko-KR" altLang="en-US" b="0" i="0" dirty="0" err="1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우클릭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-&gt; Add -&gt; Sampler -&gt; HTTP Request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클릭</a:t>
            </a: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b="0" i="0" dirty="0">
              <a:solidFill>
                <a:srgbClr val="333333"/>
              </a:solidFill>
              <a:effectLst/>
              <a:latin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b="0" i="0" dirty="0">
              <a:solidFill>
                <a:srgbClr val="555555"/>
              </a:solidFill>
              <a:effectLst/>
              <a:latin typeface="CookieRun Regular" panose="020B0600000101010101" pitchFamily="50" charset="-127"/>
            </a:endParaRPr>
          </a:p>
        </p:txBody>
      </p:sp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4EF226-4549-6770-4228-C3FC0E751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93" y="2343046"/>
            <a:ext cx="9593014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850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37AE-C5F6-78AD-3545-287525F9A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9CC0312-88F0-A45E-C98E-4C02A7210562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76E74E-8101-DE3B-E315-5B21B4B79CBE}"/>
              </a:ext>
            </a:extLst>
          </p:cNvPr>
          <p:cNvSpPr/>
          <p:nvPr/>
        </p:nvSpPr>
        <p:spPr>
          <a:xfrm>
            <a:off x="714165" y="1250515"/>
            <a:ext cx="10699149" cy="10261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 Sampler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사용자의 행동 만들기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lvl="1">
              <a:lnSpc>
                <a:spcPct val="150000"/>
              </a:lnSpc>
            </a:pPr>
            <a:endParaRPr lang="en-US" altLang="ko-KR" b="0" i="0" dirty="0">
              <a:solidFill>
                <a:srgbClr val="555555"/>
              </a:solidFill>
              <a:effectLst/>
              <a:latin typeface="CookieRun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4DFA7B8-2321-F147-F507-19C7F53AD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55784"/>
              </p:ext>
            </p:extLst>
          </p:nvPr>
        </p:nvGraphicFramePr>
        <p:xfrm>
          <a:off x="1097280" y="2159854"/>
          <a:ext cx="100076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4752">
                  <a:extLst>
                    <a:ext uri="{9D8B030D-6E8A-4147-A177-3AD203B41FA5}">
                      <a16:colId xmlns:a16="http://schemas.microsoft.com/office/drawing/2014/main" val="1780981011"/>
                    </a:ext>
                  </a:extLst>
                </a:gridCol>
                <a:gridCol w="1981412">
                  <a:extLst>
                    <a:ext uri="{9D8B030D-6E8A-4147-A177-3AD203B41FA5}">
                      <a16:colId xmlns:a16="http://schemas.microsoft.com/office/drawing/2014/main" val="903024684"/>
                    </a:ext>
                  </a:extLst>
                </a:gridCol>
                <a:gridCol w="5061436">
                  <a:extLst>
                    <a:ext uri="{9D8B030D-6E8A-4147-A177-3AD203B41FA5}">
                      <a16:colId xmlns:a16="http://schemas.microsoft.com/office/drawing/2014/main" val="364612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서버</a:t>
                      </a:r>
                      <a:r>
                        <a:rPr lang="en-US" altLang="ko-KR" dirty="0"/>
                        <a:t> /port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경로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53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HTTP </a:t>
                      </a:r>
                      <a:r>
                        <a:rPr lang="ko-KR" altLang="en-US" dirty="0"/>
                        <a:t>요청</a:t>
                      </a:r>
                      <a:r>
                        <a:rPr lang="en-US" altLang="ko-KR" dirty="0"/>
                        <a:t>_</a:t>
                      </a:r>
                      <a:r>
                        <a:rPr lang="ko-KR" altLang="en-US" dirty="0"/>
                        <a:t>직원전체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127.0.0.1/9999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/spring/emp/emplist.do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610305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HTTP </a:t>
                      </a:r>
                      <a:r>
                        <a:rPr lang="ko-KR" altLang="en-US" dirty="0"/>
                        <a:t>요청</a:t>
                      </a:r>
                      <a:r>
                        <a:rPr lang="en-US" altLang="ko-KR" dirty="0"/>
                        <a:t>_</a:t>
                      </a:r>
                      <a:r>
                        <a:rPr lang="ko-KR" altLang="en-US" dirty="0" err="1"/>
                        <a:t>직원상세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127.0.0.1/9999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/spring/emp/empdetail.do </a:t>
                      </a:r>
                    </a:p>
                    <a:p>
                      <a:pPr latinLnBrk="1"/>
                      <a:r>
                        <a:rPr lang="ko-KR" altLang="en-US" dirty="0"/>
                        <a:t>파라메터</a:t>
                      </a:r>
                      <a:r>
                        <a:rPr lang="en-US" altLang="ko-KR" dirty="0"/>
                        <a:t>(empid2:100)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005463"/>
                  </a:ext>
                </a:extLst>
              </a:tr>
              <a:tr h="253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HTTP </a:t>
                      </a:r>
                      <a:r>
                        <a:rPr lang="ko-KR" altLang="en-US" dirty="0"/>
                        <a:t>요청</a:t>
                      </a:r>
                      <a:r>
                        <a:rPr lang="en-US" altLang="ko-KR" dirty="0"/>
                        <a:t>_condition2.do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127.0.0.1/9999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/spring/emp/selectByCondition2.do</a:t>
                      </a:r>
                    </a:p>
                    <a:p>
                      <a:pPr latinLnBrk="1"/>
                      <a:r>
                        <a:rPr lang="en-US" altLang="ko-KR" dirty="0"/>
                        <a:t>POST</a:t>
                      </a:r>
                    </a:p>
                    <a:p>
                      <a:pPr latinLnBrk="1"/>
                      <a:r>
                        <a:rPr lang="ko-KR" altLang="en-US" dirty="0"/>
                        <a:t>요청</a:t>
                      </a:r>
                      <a:r>
                        <a:rPr lang="en-US" altLang="ko-KR" dirty="0"/>
                        <a:t>Body</a:t>
                      </a:r>
                    </a:p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altLang="ko-KR" dirty="0"/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deptid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": [0],</a:t>
                      </a:r>
                      <a:br>
                        <a:rPr lang="en-US" altLang="ko-KR" dirty="0"/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jobid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": "all",</a:t>
                      </a:r>
                      <a:br>
                        <a:rPr lang="en-US" altLang="ko-KR" dirty="0"/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"salary": 1000,</a:t>
                      </a:r>
                      <a:br>
                        <a:rPr lang="en-US" altLang="ko-KR" dirty="0"/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hire_date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": "2000-01-01",</a:t>
                      </a:r>
                      <a:br>
                        <a:rPr lang="en-US" altLang="ko-KR" dirty="0"/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date_check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": "true"</a:t>
                      </a:r>
                      <a:br>
                        <a:rPr lang="en-US" altLang="ko-KR" dirty="0"/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438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931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4410-916E-D955-EEFC-CCDA53C5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11A10B8-05D3-8B0C-13AD-4C6F5EFD78F6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FE97EF-CBC4-BAF0-659E-ABD01ED9CDBA}"/>
              </a:ext>
            </a:extLst>
          </p:cNvPr>
          <p:cNvSpPr/>
          <p:nvPr/>
        </p:nvSpPr>
        <p:spPr>
          <a:xfrm>
            <a:off x="714165" y="1250515"/>
            <a:ext cx="10699149" cy="2265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(HTTP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header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Manager)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웹 브라우저나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Postman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에서는 자동으로 추가되는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User-Agent, Accept, Content-Type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등의 헤더가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에서는 기본적으로 미 포함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특히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Cookie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또는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Authorization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헤더가 빠져서 인증이 필요한 요청으로 인식될 가능성이 큼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  <a:endParaRPr lang="en-US" altLang="ko-KR" b="0" i="0" dirty="0">
              <a:solidFill>
                <a:srgbClr val="333333"/>
              </a:solidFill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b="0" i="0" dirty="0">
              <a:solidFill>
                <a:srgbClr val="555555"/>
              </a:solidFill>
              <a:effectLst/>
              <a:latin typeface="CookieRun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6B08A2-446D-304D-DF2B-A49CAF3D8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86" y="3429000"/>
            <a:ext cx="5377261" cy="226536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793F51F-9D95-FBD4-4ED9-2A7DD8967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098" y="3429000"/>
            <a:ext cx="5243897" cy="226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921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6E1A0-84AE-5EF7-70BE-C0C298CF6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741D022-6D32-1D0C-71F8-B7D83C81C8D0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AAC420-DEFE-3194-EC80-5510049E96DF}"/>
              </a:ext>
            </a:extLst>
          </p:cNvPr>
          <p:cNvSpPr/>
          <p:nvPr/>
        </p:nvSpPr>
        <p:spPr>
          <a:xfrm>
            <a:off x="714165" y="1250515"/>
            <a:ext cx="10699149" cy="2265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 Listener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만들기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Sampler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가 받아오는 리턴 값을 바탕으로 그래프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b="0" i="0" dirty="0" err="1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레포팅을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만들어주는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Listener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HTTP Request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 오른쪽 클릭 </a:t>
            </a:r>
            <a:r>
              <a:rPr lang="en-US" altLang="ko-KR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-&gt; Add -&gt; Listener -&gt; View Results Tree, Summary Report, View Results in Table </a:t>
            </a:r>
            <a:r>
              <a:rPr lang="ko-KR" altLang="en-US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생성</a:t>
            </a: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BADD40-C113-73E9-88D1-D67ECF94B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196" y="2899049"/>
            <a:ext cx="5945178" cy="385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646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9F854-6F5C-DE30-5F1C-36902C9A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2C18D1D-AE7E-5201-FFC8-F7B5E297F4F4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6E49AD-ECF2-CCB5-E2BB-5BDFBC8BEF41}"/>
              </a:ext>
            </a:extLst>
          </p:cNvPr>
          <p:cNvSpPr/>
          <p:nvPr/>
        </p:nvSpPr>
        <p:spPr>
          <a:xfrm>
            <a:off x="714165" y="1250515"/>
            <a:ext cx="11096835" cy="2999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 Assertion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만들기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 결과가 기대한 대로 나왔는지 검증하는 데 사용의미</a:t>
            </a:r>
            <a:endParaRPr lang="en-US" altLang="ko-KR" sz="20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HTTP Request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하위에 붙인다</a:t>
            </a:r>
            <a:endParaRPr lang="en-US" altLang="ko-KR" sz="20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Response Assertion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은 응답 내용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응답 코드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응답 메시지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헤더 등과 일치하는지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판단 </a:t>
            </a:r>
            <a:endParaRPr lang="en-US" altLang="ko-KR" sz="20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Patterns to Test  :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서버 응답 값이 기대한 결과인지 비교할 문자열 또는 정규식을 입력하는 필드</a:t>
            </a:r>
            <a:endParaRPr lang="en-US" altLang="ko-KR" sz="200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2E80666-7877-18C0-7EAB-3B778F8B5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080846"/>
              </p:ext>
            </p:extLst>
          </p:nvPr>
        </p:nvGraphicFramePr>
        <p:xfrm>
          <a:off x="1494535" y="3833548"/>
          <a:ext cx="903224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516">
                  <a:extLst>
                    <a:ext uri="{9D8B030D-6E8A-4147-A177-3AD203B41FA5}">
                      <a16:colId xmlns:a16="http://schemas.microsoft.com/office/drawing/2014/main" val="79145860"/>
                    </a:ext>
                  </a:extLst>
                </a:gridCol>
                <a:gridCol w="5969726">
                  <a:extLst>
                    <a:ext uri="{9D8B030D-6E8A-4147-A177-3AD203B41FA5}">
                      <a16:colId xmlns:a16="http://schemas.microsoft.com/office/drawing/2014/main" val="3082235757"/>
                    </a:ext>
                  </a:extLst>
                </a:gridCol>
              </a:tblGrid>
              <a:tr h="2864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패턴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580311"/>
                  </a:ext>
                </a:extLst>
              </a:tr>
              <a:tr h="2904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Success</a:t>
                      </a:r>
                      <a:endParaRPr lang="ko-KR" altLang="en-US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정확히 </a:t>
                      </a:r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"Success"</a:t>
                      </a:r>
                      <a:r>
                        <a:rPr lang="ko-KR" altLang="en-US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라는 문자열 포함 여부 검사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589952"/>
                  </a:ext>
                </a:extLst>
              </a:tr>
              <a:tr h="2904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(?</a:t>
                      </a:r>
                      <a:r>
                        <a:rPr lang="en-US" altLang="ko-KR" dirty="0" err="1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i</a:t>
                      </a:r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)success</a:t>
                      </a:r>
                      <a:endParaRPr lang="ko-KR" altLang="en-US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대소문자 구분 없이 </a:t>
                      </a:r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"success"</a:t>
                      </a:r>
                      <a:endParaRPr lang="ko-KR" altLang="en-US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886453"/>
                  </a:ext>
                </a:extLst>
              </a:tr>
              <a:tr h="2904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^200$</a:t>
                      </a:r>
                      <a:endParaRPr lang="ko-KR" altLang="en-US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응답 코드가 정확히 </a:t>
                      </a:r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"200"</a:t>
                      </a:r>
                      <a:r>
                        <a:rPr lang="ko-KR" altLang="en-US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인지 검사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362463"/>
                  </a:ext>
                </a:extLst>
              </a:tr>
              <a:tr h="2904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.*Login.*</a:t>
                      </a:r>
                      <a:endParaRPr lang="ko-KR" altLang="en-US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"Login"</a:t>
                      </a:r>
                      <a:r>
                        <a:rPr lang="ko-KR" altLang="en-US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이라는 단어가 포함되어야 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116925"/>
                  </a:ext>
                </a:extLst>
              </a:tr>
              <a:tr h="2904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{"</a:t>
                      </a:r>
                      <a:r>
                        <a:rPr lang="en-US" altLang="ko-KR" dirty="0" err="1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result":"ok</a:t>
                      </a:r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"}</a:t>
                      </a:r>
                      <a:endParaRPr lang="ko-KR" altLang="en-US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JSON </a:t>
                      </a:r>
                      <a:r>
                        <a:rPr lang="ko-KR" altLang="en-US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응답이 정확히 이 문자열과 같아야 통과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137961"/>
                  </a:ext>
                </a:extLst>
              </a:tr>
              <a:tr h="2904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^\{.*"error".*:\s*".*"\}</a:t>
                      </a:r>
                      <a:endParaRPr lang="ko-KR" altLang="en-US" dirty="0"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JSON </a:t>
                      </a:r>
                      <a:r>
                        <a:rPr lang="ko-KR" altLang="en-US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응답에 </a:t>
                      </a:r>
                      <a:r>
                        <a:rPr lang="en-US" altLang="ko-KR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"error" </a:t>
                      </a:r>
                      <a:r>
                        <a:rPr lang="ko-KR" altLang="en-US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필드가 있는지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03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3025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70A5-3B08-00D1-485D-888F63F9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0C450D7-3597-790E-AD5B-C9E9A48228AB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74676A-C55B-DE1F-CB91-FC4B57EA3BD8}"/>
              </a:ext>
            </a:extLst>
          </p:cNvPr>
          <p:cNvSpPr/>
          <p:nvPr/>
        </p:nvSpPr>
        <p:spPr>
          <a:xfrm>
            <a:off x="714165" y="1250515"/>
            <a:ext cx="10699149" cy="2272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 Assertion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만들기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응답 값이 제대로 왔는지 검증</a:t>
            </a:r>
            <a:endParaRPr lang="en-US" altLang="ko-KR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HTTP Request </a:t>
            </a:r>
            <a:r>
              <a:rPr lang="ko-KR" altLang="en-US" i="0" dirty="0" err="1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우클릭</a:t>
            </a:r>
            <a:r>
              <a:rPr lang="ko-KR" altLang="en-US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-&gt; Add -&gt; Assertions -&gt; Response Assertion </a:t>
            </a:r>
            <a:r>
              <a:rPr lang="ko-KR" altLang="en-US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클릭</a:t>
            </a:r>
            <a:endParaRPr lang="en-US" altLang="ko-KR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4" name="그림 3" descr="텍스트, 소프트웨어, 멀티미디어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9113A1-1AE2-C966-07B1-4B30B4733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52" y="2766182"/>
            <a:ext cx="10545647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2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325C2-CC46-2738-149D-4D1B477C9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98FE632-55C0-3004-D959-E6476D36344B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D5FA89-9E46-A791-EAB2-9C48201D9170}"/>
              </a:ext>
            </a:extLst>
          </p:cNvPr>
          <p:cNvSpPr/>
          <p:nvPr/>
        </p:nvSpPr>
        <p:spPr>
          <a:xfrm>
            <a:off x="714165" y="1250515"/>
            <a:ext cx="10699149" cy="1068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/>
              <a:t>Jmeter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테스트 </a:t>
            </a:r>
            <a:r>
              <a:rPr lang="en-US" altLang="ko-KR" sz="2400" b="1" dirty="0"/>
              <a:t>(View Result Tree)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하나의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Request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의 테스트 시작 시간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응답 속도 등 다양한 정보들을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Display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한다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  <a:endParaRPr lang="en-US" altLang="ko-KR" sz="2000" b="0" i="0" dirty="0">
              <a:solidFill>
                <a:srgbClr val="555555"/>
              </a:solidFill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6A6054-C142-F7DA-D3CE-9F3B11AE6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886" y="2594925"/>
            <a:ext cx="9612085" cy="40682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9A9E41-801C-A5A1-81ED-3C0742024CBC}"/>
              </a:ext>
            </a:extLst>
          </p:cNvPr>
          <p:cNvSpPr txBox="1"/>
          <p:nvPr/>
        </p:nvSpPr>
        <p:spPr>
          <a:xfrm>
            <a:off x="6456786" y="4964841"/>
            <a:ext cx="4690185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</a:rPr>
              <a:t>Load time : </a:t>
            </a:r>
            <a:r>
              <a:rPr lang="ko-KR" altLang="en-US" dirty="0">
                <a:solidFill>
                  <a:schemeClr val="bg1"/>
                </a:solidFill>
              </a:rPr>
              <a:t> </a:t>
            </a:r>
            <a:r>
              <a:rPr lang="en-US" altLang="ko-KR" dirty="0">
                <a:solidFill>
                  <a:schemeClr val="bg1"/>
                </a:solidFill>
              </a:rPr>
              <a:t>Request </a:t>
            </a:r>
            <a:r>
              <a:rPr lang="ko-KR" altLang="en-US" dirty="0">
                <a:solidFill>
                  <a:schemeClr val="bg1"/>
                </a:solidFill>
              </a:rPr>
              <a:t>요청 후 상대 서버로부터 결과 받아서 작업이 완전히 종료될 때 까지 걸린 시간</a:t>
            </a:r>
          </a:p>
        </p:txBody>
      </p:sp>
    </p:spTree>
    <p:extLst>
      <p:ext uri="{BB962C8B-B14F-4D97-AF65-F5344CB8AC3E}">
        <p14:creationId xmlns:p14="http://schemas.microsoft.com/office/powerpoint/2010/main" val="25833771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86AD-7165-B009-8103-911BBA3F5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2D6681-8702-90D5-D9E6-56A91DB930F1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65C6BC-63E6-8B23-F031-29C8C1ABFA76}"/>
              </a:ext>
            </a:extLst>
          </p:cNvPr>
          <p:cNvSpPr/>
          <p:nvPr/>
        </p:nvSpPr>
        <p:spPr>
          <a:xfrm>
            <a:off x="714165" y="1250515"/>
            <a:ext cx="10699149" cy="1068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 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(View Result Table)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View Results Tree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를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Table 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형식</a:t>
            </a:r>
            <a:r>
              <a:rPr lang="ko-KR" altLang="en-US" sz="200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으로 </a:t>
            </a:r>
            <a:r>
              <a:rPr lang="en-US" altLang="ko-KR" sz="200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Display</a:t>
            </a:r>
            <a:r>
              <a:rPr lang="ko-KR" altLang="en-US" sz="200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한다</a:t>
            </a:r>
            <a:r>
              <a:rPr lang="en-US" altLang="ko-KR" sz="2000" b="1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  <a:endParaRPr lang="en-US" altLang="ko-KR" sz="2000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6F6E62-A726-D3DA-2699-17D5B9A6C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761" y="2456115"/>
            <a:ext cx="9706759" cy="422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999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205B-FF30-21FF-D047-17067D4C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115358E-3184-D06F-3242-6ACFEED94321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3392FA-B6E8-20F2-48CE-C57392352C9E}"/>
              </a:ext>
            </a:extLst>
          </p:cNvPr>
          <p:cNvSpPr/>
          <p:nvPr/>
        </p:nvSpPr>
        <p:spPr>
          <a:xfrm>
            <a:off x="714165" y="1250515"/>
            <a:ext cx="10699149" cy="593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/>
              <a:t>Jmeter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테스트 </a:t>
            </a:r>
            <a:r>
              <a:rPr lang="en-US" altLang="ko-KR" sz="2400" b="1" dirty="0"/>
              <a:t>(View Result Report)</a:t>
            </a:r>
            <a:endParaRPr lang="en-US" altLang="ko-KR" b="0" i="0" dirty="0">
              <a:solidFill>
                <a:srgbClr val="555555"/>
              </a:solidFill>
              <a:effectLst/>
              <a:latin typeface="CookieRun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68813F-FEF2-814E-E84A-0413143DF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11" y="2132922"/>
            <a:ext cx="10844977" cy="2764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371D03-297A-EFA2-D4FE-22E011D0EBEA}"/>
              </a:ext>
            </a:extLst>
          </p:cNvPr>
          <p:cNvSpPr txBox="1"/>
          <p:nvPr/>
        </p:nvSpPr>
        <p:spPr>
          <a:xfrm>
            <a:off x="673511" y="5094514"/>
            <a:ext cx="7558479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 err="1"/>
              <a:t>표본수</a:t>
            </a:r>
            <a:r>
              <a:rPr lang="ko-KR" altLang="en-US" sz="1100" dirty="0"/>
              <a:t> </a:t>
            </a:r>
            <a:r>
              <a:rPr lang="en-US" altLang="ko-KR" sz="1100" dirty="0"/>
              <a:t>(Sample)  </a:t>
            </a:r>
            <a:endParaRPr lang="ko-KR" altLang="en-US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/>
              <a:t>average : access </a:t>
            </a:r>
            <a:r>
              <a:rPr lang="ko-KR" altLang="en-US" sz="1100" dirty="0"/>
              <a:t>걸린 시간 평균값 </a:t>
            </a:r>
            <a:r>
              <a:rPr lang="en-US" altLang="ko-KR" sz="1100" dirty="0"/>
              <a:t>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/>
              <a:t>min : </a:t>
            </a:r>
            <a:r>
              <a:rPr lang="ko-KR" altLang="en-US" sz="1100" dirty="0"/>
              <a:t>가장 빨리 </a:t>
            </a:r>
            <a:r>
              <a:rPr lang="en-US" altLang="ko-KR" sz="1100" dirty="0"/>
              <a:t>access </a:t>
            </a:r>
            <a:r>
              <a:rPr lang="ko-KR" altLang="en-US" sz="1100" dirty="0"/>
              <a:t>가 끝난 시간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/>
              <a:t>max : </a:t>
            </a:r>
            <a:r>
              <a:rPr lang="ko-KR" altLang="en-US" sz="1100" dirty="0"/>
              <a:t>가장 오래 걸린 것이 </a:t>
            </a:r>
            <a:r>
              <a:rPr lang="en-US" altLang="ko-KR" sz="1100" dirty="0"/>
              <a:t>max </a:t>
            </a:r>
            <a:r>
              <a:rPr lang="ko-KR" altLang="en-US" sz="1100" dirty="0"/>
              <a:t>값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/>
              <a:t>throughput : </a:t>
            </a:r>
            <a:r>
              <a:rPr lang="ko-KR" altLang="en-US" sz="1100" dirty="0"/>
              <a:t>단위시간동안 몇 번의  </a:t>
            </a:r>
            <a:r>
              <a:rPr lang="en-US" altLang="ko-KR" sz="1100" dirty="0"/>
              <a:t>access</a:t>
            </a:r>
            <a:r>
              <a:rPr lang="ko-KR" altLang="en-US" sz="1100" dirty="0"/>
              <a:t>를 했다는 뜻</a:t>
            </a:r>
            <a:r>
              <a:rPr lang="en-US" altLang="ko-KR" sz="1100" dirty="0"/>
              <a:t>, -&gt; throughput</a:t>
            </a:r>
            <a:r>
              <a:rPr lang="ko-KR" altLang="en-US" sz="1100" dirty="0"/>
              <a:t>이 높을수록 좋다</a:t>
            </a:r>
            <a:r>
              <a:rPr lang="en-US" altLang="ko-KR" sz="1100" dirty="0"/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/>
              <a:t>std dev </a:t>
            </a:r>
            <a:r>
              <a:rPr lang="ko-KR" altLang="en-US" sz="1100" dirty="0"/>
              <a:t>평균으로부터 각각의 요청하는 시간이 얼마나 떨어져 있냐</a:t>
            </a:r>
            <a:r>
              <a:rPr lang="en-US" altLang="ko-KR" sz="1100" dirty="0"/>
              <a:t>, 0</a:t>
            </a:r>
            <a:r>
              <a:rPr lang="ko-KR" altLang="en-US" sz="1100" dirty="0"/>
              <a:t>이면 모두 평균과 똑같은 간격으로 요청한 것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0869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76053-08F8-F646-B6E4-65C7CC1F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1BA3BE2-EF5A-F64D-48F8-6886FFA0E71E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BEBD37-F437-7DE3-C846-0D5D6A1D6618}"/>
              </a:ext>
            </a:extLst>
          </p:cNvPr>
          <p:cNvSpPr/>
          <p:nvPr/>
        </p:nvSpPr>
        <p:spPr>
          <a:xfrm>
            <a:off x="714165" y="1250515"/>
            <a:ext cx="10699149" cy="593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/>
              <a:t>Jmeter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테스트 </a:t>
            </a:r>
            <a:r>
              <a:rPr lang="en-US" altLang="ko-KR" sz="2400" b="1" dirty="0"/>
              <a:t> </a:t>
            </a:r>
            <a:endParaRPr lang="en-US" altLang="ko-KR" b="0" i="0" dirty="0">
              <a:solidFill>
                <a:srgbClr val="555555"/>
              </a:solidFill>
              <a:effectLst/>
              <a:latin typeface="CookieRun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7B4F35-E549-F449-CFDC-E36302DA5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107" y="2160846"/>
            <a:ext cx="10383207" cy="323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547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022E-F67D-D34F-52AA-5D50FE71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6510286-678C-5FC8-C637-EAD7AF116543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D24351-86B3-D8BD-2DE6-8CAE753C0D14}"/>
              </a:ext>
            </a:extLst>
          </p:cNvPr>
          <p:cNvSpPr/>
          <p:nvPr/>
        </p:nvSpPr>
        <p:spPr>
          <a:xfrm>
            <a:off x="714165" y="1250515"/>
            <a:ext cx="10699149" cy="593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/>
              <a:t>Jmeter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테스트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결과그래프</a:t>
            </a:r>
            <a:r>
              <a:rPr lang="en-US" altLang="ko-KR" sz="2400" b="1" dirty="0"/>
              <a:t>) </a:t>
            </a:r>
            <a:endParaRPr lang="en-US" altLang="ko-KR" b="0" i="0" dirty="0">
              <a:solidFill>
                <a:srgbClr val="555555"/>
              </a:solidFill>
              <a:effectLst/>
              <a:latin typeface="CookieRun Regular" panose="020B0600000101010101" pitchFamily="50" charset="-127"/>
            </a:endParaRPr>
          </a:p>
        </p:txBody>
      </p:sp>
      <p:pic>
        <p:nvPicPr>
          <p:cNvPr id="4" name="그림 3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8B38FE-AEF3-2C63-D438-0A5D0B2D7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37" y="2048256"/>
            <a:ext cx="6506491" cy="430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423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1A4E2-C025-3850-F899-D961FBC7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F576C7D-0AE4-0983-D0CA-33DA748F3805}"/>
              </a:ext>
            </a:extLst>
          </p:cNvPr>
          <p:cNvSpPr/>
          <p:nvPr/>
        </p:nvSpPr>
        <p:spPr>
          <a:xfrm>
            <a:off x="4677793" y="105748"/>
            <a:ext cx="29209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성능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10FB17-39FB-D0F3-68BA-000320E77954}"/>
              </a:ext>
            </a:extLst>
          </p:cNvPr>
          <p:cNvSpPr/>
          <p:nvPr/>
        </p:nvSpPr>
        <p:spPr>
          <a:xfrm>
            <a:off x="714165" y="1250515"/>
            <a:ext cx="10699149" cy="4300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Jmeter</a:t>
            </a:r>
            <a:r>
              <a:rPr lang="en-US" altLang="ko-KR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b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</a:t>
            </a:r>
            <a:endParaRPr lang="en-US" altLang="ko-KR" sz="2400" b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Data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증식 </a:t>
            </a:r>
            <a:r>
              <a:rPr lang="en-US" altLang="ko-KR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sz="2000" dirty="0"/>
              <a:t>데이터 </a:t>
            </a:r>
            <a:r>
              <a:rPr lang="en-US" altLang="ko-KR" sz="2000" dirty="0"/>
              <a:t>100 → 1,000 → 5,000 → 10,000)</a:t>
            </a:r>
            <a:r>
              <a:rPr lang="ko-KR" altLang="en-US" sz="20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endParaRPr lang="en-US" altLang="ko-KR" sz="20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어디서부터 </a:t>
            </a:r>
            <a:r>
              <a:rPr lang="ko-KR" altLang="en-US" sz="2000" dirty="0" err="1"/>
              <a:t>느려지는지”를</a:t>
            </a:r>
            <a:r>
              <a:rPr lang="ko-KR" altLang="en-US" sz="2000" dirty="0"/>
              <a:t> </a:t>
            </a:r>
            <a:r>
              <a:rPr lang="ko-KR" altLang="en-US" sz="2000" b="1" dirty="0"/>
              <a:t>수치로 설명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① 평균 응답 시간 </a:t>
            </a:r>
            <a:r>
              <a:rPr lang="en-US" altLang="ko-KR" sz="2000" dirty="0"/>
              <a:t>(Average Response Time) :</a:t>
            </a:r>
            <a:r>
              <a:rPr lang="ko-KR" altLang="en-US" sz="2000" dirty="0"/>
              <a:t>가장 기본적인 체감 지표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② </a:t>
            </a:r>
            <a:r>
              <a:rPr lang="en-US" altLang="ko-KR" sz="2000" dirty="0"/>
              <a:t>90% / 95% </a:t>
            </a:r>
            <a:r>
              <a:rPr lang="ko-KR" altLang="en-US" sz="2000" dirty="0"/>
              <a:t>응답 시간</a:t>
            </a:r>
            <a:r>
              <a:rPr lang="en-US" altLang="ko-KR" sz="2000" dirty="0"/>
              <a:t>(Listener&gt;Aggregate Report)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일부 요청이 갑자기 매우 느려지는 지점은</a:t>
            </a:r>
            <a:r>
              <a:rPr lang="en-US" altLang="ko-KR" sz="2000" dirty="0"/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③ TPS / Throughput : “</a:t>
            </a:r>
            <a:r>
              <a:rPr lang="ko-KR" altLang="en-US" sz="2000" dirty="0"/>
              <a:t>서버가 버티는 </a:t>
            </a:r>
            <a:r>
              <a:rPr lang="ko-KR" altLang="en-US" sz="2000" dirty="0" err="1"/>
              <a:t>힘”을</a:t>
            </a:r>
            <a:r>
              <a:rPr lang="ko-KR" altLang="en-US" sz="2000" dirty="0"/>
              <a:t> 보는 핵심 지표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	</a:t>
            </a:r>
            <a:r>
              <a:rPr lang="en-US" altLang="ko-KR" sz="2000" dirty="0"/>
              <a:t>Aggregate Report (</a:t>
            </a:r>
            <a:r>
              <a:rPr lang="ko-KR" altLang="en-US" sz="2000" dirty="0"/>
              <a:t>종합보고서</a:t>
            </a:r>
            <a:r>
              <a:rPr lang="en-US" altLang="ko-KR" sz="2000" dirty="0"/>
              <a:t>) : </a:t>
            </a:r>
            <a:r>
              <a:rPr lang="ko-KR" altLang="en-US" sz="2000" dirty="0"/>
              <a:t>실제 테스트가 실행된 전체 시간</a:t>
            </a:r>
            <a:r>
              <a:rPr lang="en-US" altLang="ko-KR" sz="2000" dirty="0"/>
              <a:t>(</a:t>
            </a:r>
            <a:r>
              <a:rPr lang="ko-KR" altLang="en-US" sz="2000" dirty="0"/>
              <a:t>이부분이</a:t>
            </a:r>
            <a:r>
              <a:rPr lang="en-US" altLang="ko-KR" sz="2000" dirty="0"/>
              <a:t> </a:t>
            </a:r>
            <a:r>
              <a:rPr lang="ko-KR" altLang="en-US" sz="2000" dirty="0" err="1"/>
              <a:t>기준값</a:t>
            </a:r>
            <a:r>
              <a:rPr lang="en-US" altLang="ko-KR" sz="2000" dirty="0"/>
              <a:t>) </a:t>
            </a:r>
          </a:p>
          <a:p>
            <a:pPr lvl="1">
              <a:lnSpc>
                <a:spcPct val="150000"/>
              </a:lnSpc>
            </a:pPr>
            <a:r>
              <a:rPr lang="en-US" altLang="ko-KR" sz="2000" b="0" i="0" dirty="0">
                <a:effectLst/>
                <a:latin typeface="CookieRun Regular" panose="020B0600000101010101" pitchFamily="50" charset="-127"/>
                <a:ea typeface="CookieRun Regular" panose="020B0600000101010101" pitchFamily="50" charset="-127"/>
              </a:rPr>
              <a:t>      </a:t>
            </a:r>
            <a:r>
              <a:rPr lang="en-US" altLang="ko-KR" sz="2000" dirty="0"/>
              <a:t>Summary Report : </a:t>
            </a:r>
            <a:r>
              <a:rPr lang="ko-KR" altLang="en-US" sz="2000" dirty="0"/>
              <a:t>대략적인 </a:t>
            </a:r>
            <a:r>
              <a:rPr lang="en-US" altLang="ko-KR" sz="2000" dirty="0"/>
              <a:t>TPS</a:t>
            </a:r>
            <a:endParaRPr lang="en-US" altLang="ko-KR" sz="2000" b="0" i="0" dirty="0">
              <a:effectLst/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9866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38072</TotalTime>
  <Words>4788</Words>
  <Application>Microsoft Office PowerPoint</Application>
  <PresentationFormat>와이드스크린</PresentationFormat>
  <Paragraphs>858</Paragraphs>
  <Slides>56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6" baseType="lpstr">
      <vt:lpstr>CookieRun Regular</vt:lpstr>
      <vt:lpstr>D2Coding</vt:lpstr>
      <vt:lpstr>HY견고딕</vt:lpstr>
      <vt:lpstr>HY견명조</vt:lpstr>
      <vt:lpstr>HY헤드라인M</vt:lpstr>
      <vt:lpstr>KoPub돋움체_Pro Medium</vt:lpstr>
      <vt:lpstr>맑은 고딕</vt:lpstr>
      <vt:lpstr>Arial</vt:lpstr>
      <vt:lpstr>Wingdings</vt:lpstr>
      <vt:lpstr>Office 테마</vt:lpstr>
      <vt:lpstr>효율적인 Test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a40</dc:creator>
  <cp:lastModifiedBy>아카데미01 퍼스트존</cp:lastModifiedBy>
  <cp:revision>825</cp:revision>
  <dcterms:created xsi:type="dcterms:W3CDTF">2020-03-22T10:18:41Z</dcterms:created>
  <dcterms:modified xsi:type="dcterms:W3CDTF">2026-01-05T07:44:14Z</dcterms:modified>
</cp:coreProperties>
</file>